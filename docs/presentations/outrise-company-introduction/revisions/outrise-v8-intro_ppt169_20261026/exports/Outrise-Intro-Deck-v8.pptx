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embeddedFontLst>
    <p:embeddedFont>
      <p:font typeface="Instrument Sans" charset="1"/>
      <p:regular r:id="rIdOutriseFont1"/>
    </p:embeddedFont>
    <p:embeddedFont>
      <p:font typeface="Instrument Sans Medium" charset="1"/>
      <p:regular r:id="rIdOutriseFont2"/>
    </p:embeddedFont>
    <p:embeddedFont>
      <p:font typeface="Instrument Sans SemiBold" charset="1"/>
      <p:regular r:id="rIdOutriseFont3"/>
    </p:embeddedFont>
    <p:embeddedFont>
      <p:font typeface="Noto Sans SC" charset="1"/>
      <p:regular r:id="rIdOutriseFont4"/>
    </p:embeddedFont>
    <p:embeddedFont>
      <p:font typeface="Noto Sans SC Medium" charset="1"/>
      <p:regular r:id="rIdOutriseFont5"/>
    </p:embeddedFont>
    <p:embeddedFont>
      <p:font typeface="Noto Sans SC SemiBold" charset="1"/>
      <p:regular r:id="rIdOutriseFont6"/>
    </p:embeddedFont>
  </p:embeddedFontLst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OutriseFont1" Type="http://schemas.openxmlformats.org/officeDocument/2006/relationships/font" Target="fonts/outrise-1.fntdata"/><Relationship Id="rIdOutriseFont2" Type="http://schemas.openxmlformats.org/officeDocument/2006/relationships/font" Target="fonts/outrise-2.fntdata"/><Relationship Id="rIdOutriseFont3" Type="http://schemas.openxmlformats.org/officeDocument/2006/relationships/font" Target="fonts/outrise-3.fntdata"/><Relationship Id="rIdOutriseFont4" Type="http://schemas.openxmlformats.org/officeDocument/2006/relationships/font" Target="fonts/outrise-4.fntdata"/><Relationship Id="rIdOutriseFont5" Type="http://schemas.openxmlformats.org/officeDocument/2006/relationships/font" Target="fonts/outrise-5.fntdata"/><Relationship Id="rIdOutriseFont6" Type="http://schemas.openxmlformats.org/officeDocument/2006/relationships/font" Target="fonts/outrise-6.fntdata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utrise-v8-canva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utrise-v8-canva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  <Relationship Id="rId3" Type="http://schemas.openxmlformats.org/officeDocument/2006/relationships/image" Target="../media/image_d1b850f0abb79a84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  <Relationship Id="rId3" Type="http://schemas.openxmlformats.org/officeDocument/2006/relationships/image" Target="../media/image_d1b850f0abb79a84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  <Relationship Id="rId3" Type="http://schemas.openxmlformats.org/officeDocument/2006/relationships/image" Target="../media/image_d1b850f0abb79a84.png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brand"/>
          <p:cNvGrpSpPr/>
          <p:nvPr/>
        </p:nvGrpSpPr>
        <p:grpSpPr>
          <a:xfrm>
            <a:off x="609600" y="473075"/>
            <a:ext cx="10879904" cy="2524125"/>
            <a:chOff x="609600" y="473075"/>
            <a:chExt cx="10879904" cy="2524125"/>
          </a:xfrm>
        </p:grpSpPr>
        <p:sp>
          <p:nvSpPr>
            <p:cNvPr id="2" name="TextBox 2"/>
            <p:cNvSpPr txBox="1"/>
            <p:nvPr/>
          </p:nvSpPr>
          <p:spPr>
            <a:xfrm>
              <a:off x="9286714" y="473075"/>
              <a:ext cx="2829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 b="0">
                  <a:solidFill>
                    <a:srgbClr val="FFFFFF"/>
                  </a:solidFill>
                  <a:latin typeface="Instrument Sans Medium"/>
                  <a:ea typeface="Instrument Sans Medium"/>
                  <a:cs typeface="Instrument Sans Medium"/>
                </a:rPr>
                <a:t>NORTH AMERICA FOCUSED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981075"/>
              <a:ext cx="7620000" cy="2016125"/>
            </a:xfrm>
            <a:prstGeom prst="rect">
              <a:avLst/>
            </a:prstGeom>
          </p:spPr>
        </p:pic>
        <p:grpSp>
          <p:nvGrpSpPr>
            <p:cNvPr id="6" name="upward-field"/>
            <p:cNvGrpSpPr/>
            <p:nvPr/>
          </p:nvGrpSpPr>
          <p:grpSpPr>
            <a:xfrm>
              <a:off x="9385291" y="1546836"/>
              <a:ext cx="1746268" cy="1332497"/>
              <a:chOff x="9385291" y="1546836"/>
              <a:chExt cx="1746268" cy="1332497"/>
            </a:xfrm>
          </p:grpSpPr>
          <p:sp>
            <p:nvSpPr>
              <p:cNvPr id="4" name="Rectangle 4"/>
              <p:cNvSpPr/>
              <p:nvPr/>
            </p:nvSpPr>
            <p:spPr>
              <a:xfrm rot="-1440000">
                <a:off x="9353550" y="1905000"/>
                <a:ext cx="1809750" cy="22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" name="Rectangle 5"/>
              <p:cNvSpPr/>
              <p:nvPr/>
            </p:nvSpPr>
            <p:spPr>
              <a:xfrm rot="-1440000">
                <a:off x="9906000" y="2533650"/>
                <a:ext cx="1162050" cy="11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3" name="positioning"/>
          <p:cNvGrpSpPr/>
          <p:nvPr/>
        </p:nvGrpSpPr>
        <p:grpSpPr>
          <a:xfrm>
            <a:off x="590550" y="3521075"/>
            <a:ext cx="7336232" cy="2476881"/>
            <a:chOff x="590550" y="3521075"/>
            <a:chExt cx="7336232" cy="2476881"/>
          </a:xfrm>
        </p:grpSpPr>
        <p:grpSp>
          <p:nvGrpSpPr>
            <p:cNvPr id="11" name="Group 11"/>
            <p:cNvGrpSpPr/>
            <p:nvPr/>
          </p:nvGrpSpPr>
          <p:grpSpPr>
            <a:xfrm>
              <a:off x="590550" y="3521075"/>
              <a:ext cx="7336232" cy="1724025"/>
              <a:chOff x="590550" y="3521075"/>
              <a:chExt cx="7336232" cy="1724025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590550" y="3521075"/>
                <a:ext cx="7376998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dirty="0" b="0">
                    <a:solidFill>
                      <a:srgbClr val="FFFFFF"/>
                    </a:solidFill>
                    <a:latin typeface="Noto Sans SC SemiBold"/>
                    <a:ea typeface="Noto Sans SC SemiBold"/>
                    <a:cs typeface="Noto Sans SC SemiBold"/>
                  </a:rPr>
                  <a:t>专注北美市场的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90550" y="4311650"/>
                <a:ext cx="5472874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800" dirty="0" b="0">
                    <a:solidFill>
                      <a:srgbClr val="FFFFFF"/>
                    </a:solidFill>
                    <a:latin typeface="Instrument Sans SemiBold"/>
                    <a:ea typeface="Instrument Sans SemiBold"/>
                    <a:cs typeface="Instrument Sans SemiBold"/>
                  </a:rPr>
                  <a:t xml:space="preserve">AI-native 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3365450" y="4311650"/>
                <a:ext cx="7376998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dirty="0" b="0">
                    <a:solidFill>
                      <a:srgbClr val="FFFFFF"/>
                    </a:solidFill>
                    <a:latin typeface="Noto Sans SC SemiBold"/>
                    <a:ea typeface="Noto Sans SC SemiBold"/>
                    <a:cs typeface="Noto Sans SC SemiBold"/>
                  </a:rPr>
                  <a:t>营销与增长团队</a:t>
                </a: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99694" y="5616575"/>
              <a:ext cx="55897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策略判断 · 营销规划 · 关键执行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603504" y="6191250"/>
            <a:ext cx="11099027" cy="501396"/>
            <a:chOff x="603504" y="6191250"/>
            <a:chExt cx="11099027" cy="501396"/>
          </a:xfrm>
        </p:grpSpPr>
        <p:sp>
          <p:nvSpPr>
            <p:cNvPr id="14" name="TextBox 14"/>
            <p:cNvSpPr txBox="1"/>
            <p:nvPr/>
          </p:nvSpPr>
          <p:spPr>
            <a:xfrm>
              <a:off x="603504" y="6457950"/>
              <a:ext cx="4008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 b="0">
                  <a:solidFill>
                    <a:srgbClr val="FFFFFF"/>
                  </a:solidFill>
                  <a:latin typeface="Instrument Sans"/>
                  <a:ea typeface="Instrument Sans"/>
                  <a:cs typeface="Instrument Sans"/>
                </a:rPr>
                <a:t>OUTRISE / COMPANY INTRODUCTION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66704" y="6191250"/>
              <a:ext cx="11490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我们是谁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49167" y="6457950"/>
              <a:ext cx="9666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Instrument Sans"/>
                  <a:cs typeface="Instrument Sans"/>
                </a:rPr>
                <a:t>01 / 17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00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opening"/>
          <p:cNvGrpSpPr/>
          <p:nvPr/>
        </p:nvGrpSpPr>
        <p:grpSpPr>
          <a:xfrm>
            <a:off x="592836" y="330200"/>
            <a:ext cx="6252972" cy="1089914"/>
            <a:chOff x="592836" y="330200"/>
            <a:chExt cx="6252972" cy="1089914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30200"/>
              <a:ext cx="1342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我们是谁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774700"/>
              <a:ext cx="92797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rgbClr val="FFFFFF"/>
                  </a:solidFill>
                  <a:latin typeface="Noto Sans SC SemiBold"/>
                  <a:ea typeface="Noto Sans SC SemiBold"/>
                  <a:cs typeface="Noto Sans SC SemiBold"/>
                </a:rPr>
                <a:t>专注北美，以策略判断连接行动</a:t>
              </a:r>
            </a:p>
          </p:txBody>
        </p:sp>
      </p:grpSp>
      <p:grpSp>
        <p:nvGrpSpPr>
          <p:cNvPr id="10" name="company-intro"/>
          <p:cNvGrpSpPr/>
          <p:nvPr/>
        </p:nvGrpSpPr>
        <p:grpSpPr>
          <a:xfrm>
            <a:off x="599694" y="2359025"/>
            <a:ext cx="10520172" cy="743331"/>
            <a:chOff x="599694" y="2359025"/>
            <a:chExt cx="10520172" cy="743331"/>
          </a:xfrm>
        </p:grpSpPr>
        <p:grpSp>
          <p:nvGrpSpPr>
            <p:cNvPr id="9" name="Group 9"/>
            <p:cNvGrpSpPr/>
            <p:nvPr/>
          </p:nvGrpSpPr>
          <p:grpSpPr>
            <a:xfrm>
              <a:off x="599694" y="2359025"/>
              <a:ext cx="10520172" cy="743331"/>
              <a:chOff x="599694" y="2359025"/>
              <a:chExt cx="10520172" cy="743331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99694" y="2359025"/>
                <a:ext cx="198678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chemeClr val="dk1"/>
                    </a:solidFill>
                    <a:latin typeface="Instrument Sans"/>
                    <a:ea typeface="Instrument Sans"/>
                    <a:cs typeface="Instrument Sans"/>
                  </a:rPr>
                  <a:t xml:space="preserve">Outrise 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92812" y="2359025"/>
                <a:ext cx="1062298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为消费品牌与科技创业公司提供北美市场的营销支持。我们从业务目标和用户需求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99694" y="2720975"/>
                <a:ext cx="115161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出发，明确市场方向、建立品牌表达，规划渠道与资源投入，并推进约定的关键营销工作。</a:t>
                </a:r>
              </a:p>
            </p:txBody>
          </p:sp>
        </p:grpSp>
      </p:grpSp>
      <p:grpSp>
        <p:nvGrpSpPr>
          <p:cNvPr id="17" name="feature-1"/>
          <p:cNvGrpSpPr/>
          <p:nvPr/>
        </p:nvGrpSpPr>
        <p:grpSpPr>
          <a:xfrm>
            <a:off x="597408" y="3924300"/>
            <a:ext cx="3172206" cy="1873631"/>
            <a:chOff x="597408" y="3924300"/>
            <a:chExt cx="3172206" cy="1873631"/>
          </a:xfrm>
        </p:grpSpPr>
        <p:sp>
          <p:nvSpPr>
            <p:cNvPr id="11" name="Rectangle 11"/>
            <p:cNvSpPr/>
            <p:nvPr/>
          </p:nvSpPr>
          <p:spPr>
            <a:xfrm>
              <a:off x="609600" y="3924300"/>
              <a:ext cx="4191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7408" y="4137025"/>
              <a:ext cx="32595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北美市场聚焦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599694" y="4692650"/>
              <a:ext cx="3169920" cy="1105281"/>
              <a:chOff x="599694" y="4692650"/>
              <a:chExt cx="3169920" cy="1105281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599694" y="4692650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围绕当地用户、市场环境与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99694" y="5054600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渠道特点，做出贴合目标市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99694" y="5416550"/>
                <a:ext cx="30027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场的营销选择。</a:t>
                </a:r>
              </a:p>
            </p:txBody>
          </p:sp>
        </p:grpSp>
      </p:grpSp>
      <p:grpSp>
        <p:nvGrpSpPr>
          <p:cNvPr id="24" name="feature-2"/>
          <p:cNvGrpSpPr/>
          <p:nvPr/>
        </p:nvGrpSpPr>
        <p:grpSpPr>
          <a:xfrm>
            <a:off x="4407408" y="3924300"/>
            <a:ext cx="3172206" cy="1873631"/>
            <a:chOff x="4407408" y="3924300"/>
            <a:chExt cx="3172206" cy="1873631"/>
          </a:xfrm>
        </p:grpSpPr>
        <p:sp>
          <p:nvSpPr>
            <p:cNvPr id="18" name="Rectangle 18"/>
            <p:cNvSpPr/>
            <p:nvPr/>
          </p:nvSpPr>
          <p:spPr>
            <a:xfrm>
              <a:off x="4419600" y="3924300"/>
              <a:ext cx="4191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07408" y="4137025"/>
              <a:ext cx="36957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以策略判断为先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4409694" y="4692650"/>
              <a:ext cx="3169920" cy="1105281"/>
              <a:chOff x="4409694" y="4692650"/>
              <a:chExt cx="3169920" cy="1105281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4409694" y="4692650"/>
                <a:ext cx="442030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明确面向谁、表达什么价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09694" y="5054600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值、优先投入哪里，将业务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09694" y="5416550"/>
                <a:ext cx="406591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目标转化为营销重点。</a:t>
                </a:r>
              </a:p>
            </p:txBody>
          </p:sp>
        </p:grpSp>
      </p:grpSp>
      <p:grpSp>
        <p:nvGrpSpPr>
          <p:cNvPr id="34" name="feature-3"/>
          <p:cNvGrpSpPr/>
          <p:nvPr/>
        </p:nvGrpSpPr>
        <p:grpSpPr>
          <a:xfrm>
            <a:off x="8217408" y="3924300"/>
            <a:ext cx="3202442" cy="1873631"/>
            <a:chOff x="8217408" y="3924300"/>
            <a:chExt cx="3202442" cy="1873631"/>
          </a:xfrm>
        </p:grpSpPr>
        <p:sp>
          <p:nvSpPr>
            <p:cNvPr id="25" name="Rectangle 25"/>
            <p:cNvSpPr/>
            <p:nvPr/>
          </p:nvSpPr>
          <p:spPr>
            <a:xfrm>
              <a:off x="8229600" y="3924300"/>
              <a:ext cx="4191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217408" y="4137025"/>
              <a:ext cx="2694884" cy="469392"/>
              <a:chOff x="8217408" y="4137025"/>
              <a:chExt cx="2694884" cy="469392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8217408" y="4137025"/>
                <a:ext cx="274363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dirty="0" b="0">
                    <a:solidFill>
                      <a:schemeClr val="dk1"/>
                    </a:solidFill>
                    <a:latin typeface="Instrument Sans Medium"/>
                    <a:ea typeface="Instrument Sans Medium"/>
                    <a:cs typeface="Instrument Sans Medium"/>
                  </a:rPr>
                  <a:t xml:space="preserve">AI-native 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595556" y="4137025"/>
                <a:ext cx="238719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工作方式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219694" y="4692650"/>
              <a:ext cx="3200156" cy="1105281"/>
              <a:chOff x="8219694" y="4692650"/>
              <a:chExt cx="3200156" cy="1105281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8219694" y="4692650"/>
                <a:ext cx="95266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chemeClr val="dk1"/>
                    </a:solidFill>
                    <a:latin typeface="Instrument Sans"/>
                    <a:ea typeface="Instrument Sans"/>
                    <a:cs typeface="Instrument Sans"/>
                  </a:rPr>
                  <a:t xml:space="preserve">AI 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512439" y="4692650"/>
                <a:ext cx="360336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融入研究、知识积累、任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219694" y="5054600"/>
                <a:ext cx="38961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务协同与内容生产，团队负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219694" y="5416550"/>
                <a:ext cx="371153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责商业判断与质量。</a:t>
                </a:r>
              </a:p>
            </p:txBody>
          </p:sp>
        </p:grpSp>
      </p:grpSp>
      <p:grpSp>
        <p:nvGrpSpPr>
          <p:cNvPr id="39" name="footer"/>
          <p:cNvGrpSpPr/>
          <p:nvPr/>
        </p:nvGrpSpPr>
        <p:grpSpPr>
          <a:xfrm>
            <a:off x="609600" y="6186488"/>
            <a:ext cx="11068672" cy="563165"/>
            <a:chOff x="609600" y="6186488"/>
            <a:chExt cx="11068672" cy="563165"/>
          </a:xfrm>
        </p:grpSpPr>
        <p:sp>
          <p:nvSpPr>
            <p:cNvPr id="35" name="Rectangle 35"/>
            <p:cNvSpPr/>
            <p:nvPr/>
          </p:nvSpPr>
          <p:spPr>
            <a:xfrm>
              <a:off x="609600" y="6186488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10966704" y="6191250"/>
              <a:ext cx="11490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我们是谁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24908" y="6457950"/>
              <a:ext cx="9908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Instrument Sans"/>
                  <a:cs typeface="Instrument Sans"/>
                </a:rPr>
                <a:t>02 / 17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5808726" cy="1089914"/>
            <a:chOff x="592836" y="330200"/>
            <a:chExt cx="5808726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1588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Noto Sans SC Medium"/>
                  <a:ea typeface="Noto Sans SC Medium"/>
                  <a:cs typeface="Noto Sans SC Medium"/>
                </a:rPr>
                <a:t>我们服务谁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86799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Noto Sans SC SemiBold"/>
                  <a:ea typeface="Noto Sans SC SemiBold"/>
                  <a:cs typeface="Noto Sans SC SemiBold"/>
                </a:rPr>
                <a:t>服务消费品牌与科技创业公司</a:t>
              </a:r>
            </a:p>
          </p:txBody>
        </p:sp>
      </p:grpSp>
      <p:grpSp>
        <p:nvGrpSpPr>
          <p:cNvPr id="6" name="lead"/>
          <p:cNvGrpSpPr/>
          <p:nvPr/>
        </p:nvGrpSpPr>
        <p:grpSpPr>
          <a:xfrm>
            <a:off x="599694" y="1473200"/>
            <a:ext cx="4482465" cy="381381"/>
            <a:chOff x="599694" y="1473200"/>
            <a:chExt cx="4482465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73200"/>
              <a:ext cx="65466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</a:rPr>
                <a:t>同样聚焦北美，回应不同的业务需求。</a:t>
              </a:r>
            </a:p>
          </p:txBody>
        </p:sp>
      </p:grpSp>
      <p:grpSp>
        <p:nvGrpSpPr>
          <p:cNvPr id="18" name="client-1"/>
          <p:cNvGrpSpPr/>
          <p:nvPr/>
        </p:nvGrpSpPr>
        <p:grpSpPr>
          <a:xfrm>
            <a:off x="609600" y="2343150"/>
            <a:ext cx="5334000" cy="3524250"/>
            <a:chOff x="609600" y="2343150"/>
            <a:chExt cx="5334000" cy="3524250"/>
          </a:xfrm>
        </p:grpSpPr>
        <p:sp>
          <p:nvSpPr>
            <p:cNvPr id="7" name="Rectangle 7"/>
            <p:cNvSpPr/>
            <p:nvPr/>
          </p:nvSpPr>
          <p:spPr>
            <a:xfrm>
              <a:off x="609600" y="2343150"/>
              <a:ext cx="5334000" cy="3524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7542" y="2559050"/>
              <a:ext cx="25389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 b="0">
                  <a:solidFill>
                    <a:srgbClr val="FFFFFF"/>
                  </a:solidFill>
                  <a:latin typeface="Instrument Sans Medium"/>
                  <a:ea typeface="Instrument Sans Medium"/>
                  <a:cs typeface="Instrument Sans Medium"/>
                </a:rPr>
                <a:t>CONSUMER BRANDS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0684" y="2984500"/>
              <a:ext cx="366697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消费品牌出海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904494" y="3635375"/>
              <a:ext cx="4366462" cy="1105281"/>
              <a:chOff x="904494" y="3635375"/>
              <a:chExt cx="4366462" cy="1105281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904494" y="3635375"/>
                <a:ext cx="558978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 xml:space="preserve">面向希望进入或拓展北美市场的 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427107" y="3635375"/>
                <a:ext cx="134950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rgbClr val="FFFFFF"/>
                    </a:solidFill>
                    <a:latin typeface="Instrument Sans"/>
                    <a:ea typeface="Instrument Sans"/>
                    <a:cs typeface="Instrument Sans"/>
                  </a:rPr>
                  <a:t xml:space="preserve">To C 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988635" y="3635375"/>
                <a:ext cx="87643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04494" y="3997325"/>
                <a:ext cx="619224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牌，兼顾电商销售增长，以及品牌认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04494" y="4359275"/>
                <a:ext cx="406591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知、定位与持续传播。</a:t>
                </a:r>
              </a:p>
            </p:txBody>
          </p:sp>
        </p:grpSp>
        <p:sp>
          <p:nvSpPr>
            <p:cNvPr id="16" name="Rectangle 16"/>
            <p:cNvSpPr/>
            <p:nvPr/>
          </p:nvSpPr>
          <p:spPr>
            <a:xfrm>
              <a:off x="914400" y="5214938"/>
              <a:ext cx="4724400" cy="95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4494" y="5378450"/>
              <a:ext cx="37115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品牌建设／电商增长</a:t>
              </a:r>
            </a:p>
          </p:txBody>
        </p:sp>
      </p:grpSp>
      <p:grpSp>
        <p:nvGrpSpPr>
          <p:cNvPr id="33" name="client-2"/>
          <p:cNvGrpSpPr/>
          <p:nvPr/>
        </p:nvGrpSpPr>
        <p:grpSpPr>
          <a:xfrm>
            <a:off x="6248400" y="2343150"/>
            <a:ext cx="5334000" cy="3524250"/>
            <a:chOff x="6248400" y="2343150"/>
            <a:chExt cx="5334000" cy="3524250"/>
          </a:xfrm>
        </p:grpSpPr>
        <p:sp>
          <p:nvSpPr>
            <p:cNvPr id="19" name="Rectangle 19"/>
            <p:cNvSpPr/>
            <p:nvPr/>
          </p:nvSpPr>
          <p:spPr>
            <a:xfrm>
              <a:off x="6248400" y="2343150"/>
              <a:ext cx="5334000" cy="3524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46342" y="2559050"/>
              <a:ext cx="2150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 b="0">
                  <a:solidFill>
                    <a:srgbClr val="FFFFFF"/>
                  </a:solidFill>
                  <a:latin typeface="Instrument Sans Medium"/>
                  <a:ea typeface="Instrument Sans Medium"/>
                  <a:cs typeface="Instrument Sans Medium"/>
                </a:rPr>
                <a:t>TECH STARTUPS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6539484" y="2984500"/>
              <a:ext cx="2872563" cy="528066"/>
              <a:chOff x="6539484" y="2984500"/>
              <a:chExt cx="2872563" cy="528066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6539484" y="2984500"/>
                <a:ext cx="381417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 xml:space="preserve">科技创业公司 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674126" y="2984500"/>
                <a:ext cx="168199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dirty="0" b="0">
                    <a:solidFill>
                      <a:srgbClr val="FFFFFF"/>
                    </a:solidFill>
                    <a:latin typeface="Instrument Sans Medium"/>
                    <a:ea typeface="Instrument Sans Medium"/>
                    <a:cs typeface="Instrument Sans Medium"/>
                  </a:rPr>
                  <a:t>GTM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543294" y="3635375"/>
              <a:ext cx="4482465" cy="1467231"/>
              <a:chOff x="6543294" y="3635375"/>
              <a:chExt cx="4482465" cy="1467231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6543294" y="3635375"/>
                <a:ext cx="55725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面向不同类型的科技创业公司，围绕市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543294" y="3997325"/>
                <a:ext cx="30027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场进入与增长（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276844" y="3997325"/>
                <a:ext cx="121477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rgbClr val="FFFFFF"/>
                    </a:solidFill>
                    <a:latin typeface="Instrument Sans"/>
                    <a:ea typeface="Instrument Sans"/>
                    <a:cs typeface="Instrument Sans"/>
                  </a:rPr>
                  <a:t>GTM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837628" y="3997325"/>
                <a:ext cx="30027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），讲清产品价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543294" y="4359275"/>
                <a:ext cx="55725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值、明确目标用户，并确定当前阶段的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543294" y="4721225"/>
                <a:ext cx="229398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营销重点。</a:t>
                </a:r>
              </a:p>
            </p:txBody>
          </p:sp>
        </p:grpSp>
        <p:sp>
          <p:nvSpPr>
            <p:cNvPr id="31" name="Rectangle 31"/>
            <p:cNvSpPr/>
            <p:nvPr/>
          </p:nvSpPr>
          <p:spPr>
            <a:xfrm>
              <a:off x="6553200" y="5214938"/>
              <a:ext cx="4724400" cy="95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43294" y="5378450"/>
              <a:ext cx="37115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市场进入／增长规划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09600" y="6186488"/>
            <a:ext cx="11064803" cy="563165"/>
            <a:chOff x="609600" y="6186488"/>
            <a:chExt cx="11064803" cy="563165"/>
          </a:xfrm>
        </p:grpSpPr>
        <p:sp>
          <p:nvSpPr>
            <p:cNvPr id="34" name="Rectangle 34"/>
            <p:cNvSpPr/>
            <p:nvPr/>
          </p:nvSpPr>
          <p:spPr>
            <a:xfrm>
              <a:off x="609600" y="6186488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10814304" y="6191250"/>
              <a:ext cx="1301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我们服务谁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21039" y="6457950"/>
              <a:ext cx="994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Instrument Sans"/>
                  <a:cs typeface="Instrument Sans"/>
                </a:rPr>
                <a:t>03 / 17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5808726" cy="1089914"/>
            <a:chOff x="592836" y="330200"/>
            <a:chExt cx="5808726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1342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Noto Sans SC Medium"/>
                  <a:ea typeface="Noto Sans SC Medium"/>
                  <a:cs typeface="Noto Sans SC Medium"/>
                </a:rPr>
                <a:t>我们是谁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86799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Noto Sans SC SemiBold"/>
                  <a:ea typeface="Noto Sans SC SemiBold"/>
                  <a:cs typeface="Noto Sans SC SemiBold"/>
                </a:rPr>
                <a:t>深入业务讨论，统筹关键工作</a:t>
              </a:r>
            </a:p>
          </p:txBody>
        </p:sp>
      </p:grpSp>
      <p:grpSp>
        <p:nvGrpSpPr>
          <p:cNvPr id="9" name="lead"/>
          <p:cNvGrpSpPr/>
          <p:nvPr/>
        </p:nvGrpSpPr>
        <p:grpSpPr>
          <a:xfrm>
            <a:off x="599694" y="1473200"/>
            <a:ext cx="9526197" cy="381381"/>
            <a:chOff x="599694" y="1473200"/>
            <a:chExt cx="9526197" cy="381381"/>
          </a:xfrm>
        </p:grpSpPr>
        <p:grpSp>
          <p:nvGrpSpPr>
            <p:cNvPr id="8" name="Group 8"/>
            <p:cNvGrpSpPr/>
            <p:nvPr/>
          </p:nvGrpSpPr>
          <p:grpSpPr>
            <a:xfrm>
              <a:off x="599694" y="1473200"/>
              <a:ext cx="9526197" cy="381381"/>
              <a:chOff x="599694" y="1473200"/>
              <a:chExt cx="9526197" cy="381381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599694" y="1473200"/>
                <a:ext cx="796417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围绕业务目标参与关键营销工作，让客户团队、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5800344" y="1473200"/>
                <a:ext cx="198678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chemeClr val="dk1"/>
                    </a:solidFill>
                    <a:latin typeface="Instrument Sans"/>
                    <a:ea typeface="Instrument Sans"/>
                    <a:cs typeface="Instrument Sans"/>
                  </a:rPr>
                  <a:t xml:space="preserve">Outrise 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93462" y="1473200"/>
                <a:ext cx="512907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与专业伙伴按同一计划协作。</a:t>
                </a:r>
              </a:p>
            </p:txBody>
          </p:sp>
        </p:grpSp>
      </p:grpSp>
      <p:grpSp>
        <p:nvGrpSpPr>
          <p:cNvPr id="15" name="participation-entry"/>
          <p:cNvGrpSpPr/>
          <p:nvPr/>
        </p:nvGrpSpPr>
        <p:grpSpPr>
          <a:xfrm>
            <a:off x="609600" y="2362200"/>
            <a:ext cx="2667000" cy="3238500"/>
            <a:chOff x="609600" y="2362200"/>
            <a:chExt cx="2667000" cy="3238500"/>
          </a:xfrm>
        </p:grpSpPr>
        <p:sp>
          <p:nvSpPr>
            <p:cNvPr id="10" name="Rectangle 10"/>
            <p:cNvSpPr/>
            <p:nvPr/>
          </p:nvSpPr>
          <p:spPr>
            <a:xfrm>
              <a:off x="609600" y="2362200"/>
              <a:ext cx="2667000" cy="3238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2800350"/>
              <a:ext cx="2209800" cy="584676"/>
            </a:xfrm>
            <a:prstGeom prst="rect">
              <a:avLst/>
            </a:prstGeom>
          </p:spPr>
        </p:pic>
        <p:grpSp>
          <p:nvGrpSpPr>
            <p:cNvPr id="14" name="Group 14"/>
            <p:cNvGrpSpPr/>
            <p:nvPr/>
          </p:nvGrpSpPr>
          <p:grpSpPr>
            <a:xfrm>
              <a:off x="826008" y="3803650"/>
              <a:ext cx="1962912" cy="926592"/>
              <a:chOff x="826008" y="3803650"/>
              <a:chExt cx="1962912" cy="926592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826008" y="3803650"/>
                <a:ext cx="238719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>持续参与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26008" y="4260850"/>
                <a:ext cx="325953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>关键营销工作</a:t>
                </a:r>
              </a:p>
            </p:txBody>
          </p:sp>
        </p:grpSp>
      </p:grpSp>
      <p:grpSp>
        <p:nvGrpSpPr>
          <p:cNvPr id="21" name="participation-1"/>
          <p:cNvGrpSpPr/>
          <p:nvPr/>
        </p:nvGrpSpPr>
        <p:grpSpPr>
          <a:xfrm>
            <a:off x="3799332" y="2357438"/>
            <a:ext cx="7783068" cy="811593"/>
            <a:chOff x="3799332" y="2357438"/>
            <a:chExt cx="7783068" cy="811593"/>
          </a:xfrm>
        </p:grpSpPr>
        <p:sp>
          <p:nvSpPr>
            <p:cNvPr id="16" name="Rectangle 16"/>
            <p:cNvSpPr/>
            <p:nvPr/>
          </p:nvSpPr>
          <p:spPr>
            <a:xfrm>
              <a:off x="3810000" y="2357438"/>
              <a:ext cx="7772400" cy="95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99332" y="2451100"/>
              <a:ext cx="20887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共同判断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200394" y="2425700"/>
              <a:ext cx="5007483" cy="743331"/>
              <a:chOff x="6200394" y="2425700"/>
              <a:chExt cx="5007483" cy="743331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200394" y="2425700"/>
                <a:ext cx="59154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把产品与业务信息放进市场和用户视角中讨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200394" y="2787650"/>
                <a:ext cx="548346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论，比较方向，确定营销重点。</a:t>
                </a:r>
              </a:p>
            </p:txBody>
          </p:sp>
        </p:grpSp>
      </p:grpSp>
      <p:grpSp>
        <p:nvGrpSpPr>
          <p:cNvPr id="27" name="participation-2"/>
          <p:cNvGrpSpPr/>
          <p:nvPr/>
        </p:nvGrpSpPr>
        <p:grpSpPr>
          <a:xfrm>
            <a:off x="3799332" y="3405188"/>
            <a:ext cx="7783068" cy="811593"/>
            <a:chOff x="3799332" y="3405188"/>
            <a:chExt cx="7783068" cy="811593"/>
          </a:xfrm>
        </p:grpSpPr>
        <p:sp>
          <p:nvSpPr>
            <p:cNvPr id="22" name="Rectangle 22"/>
            <p:cNvSpPr/>
            <p:nvPr/>
          </p:nvSpPr>
          <p:spPr>
            <a:xfrm>
              <a:off x="3810000" y="3405188"/>
              <a:ext cx="7772400" cy="95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99332" y="3498850"/>
              <a:ext cx="20887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营销统筹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6200394" y="3473450"/>
              <a:ext cx="5007483" cy="743331"/>
              <a:chOff x="6200394" y="3473450"/>
              <a:chExt cx="5007483" cy="743331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6200394" y="3473450"/>
                <a:ext cx="59154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将目标转化为阶段计划，协调各方分工，让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200394" y="3835400"/>
                <a:ext cx="583785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内容、渠道和资源安排相互衔接。</a:t>
                </a:r>
              </a:p>
            </p:txBody>
          </p:sp>
        </p:grpSp>
      </p:grpSp>
      <p:grpSp>
        <p:nvGrpSpPr>
          <p:cNvPr id="33" name="participation-3"/>
          <p:cNvGrpSpPr/>
          <p:nvPr/>
        </p:nvGrpSpPr>
        <p:grpSpPr>
          <a:xfrm>
            <a:off x="3799332" y="4452938"/>
            <a:ext cx="7783068" cy="811593"/>
            <a:chOff x="3799332" y="4452938"/>
            <a:chExt cx="7783068" cy="811593"/>
          </a:xfrm>
        </p:grpSpPr>
        <p:sp>
          <p:nvSpPr>
            <p:cNvPr id="28" name="Rectangle 28"/>
            <p:cNvSpPr/>
            <p:nvPr/>
          </p:nvSpPr>
          <p:spPr>
            <a:xfrm>
              <a:off x="3810000" y="4452938"/>
              <a:ext cx="7772400" cy="95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799332" y="4546600"/>
              <a:ext cx="20887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约定执行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6200394" y="4521200"/>
              <a:ext cx="5007483" cy="743331"/>
              <a:chOff x="6200394" y="4521200"/>
              <a:chExt cx="5007483" cy="743331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6200394" y="4521200"/>
                <a:ext cx="59154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推进双方确认的关键任务，跟进进展，并把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200394" y="4883150"/>
                <a:ext cx="442030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市场反馈带回后续讨论。</a:t>
                </a:r>
              </a:p>
            </p:txBody>
          </p:sp>
        </p:grpSp>
      </p:grpSp>
      <p:grpSp>
        <p:nvGrpSpPr>
          <p:cNvPr id="35" name="scope-note"/>
          <p:cNvGrpSpPr/>
          <p:nvPr/>
        </p:nvGrpSpPr>
        <p:grpSpPr>
          <a:xfrm>
            <a:off x="601218" y="5740400"/>
            <a:ext cx="5569839" cy="322707"/>
            <a:chOff x="601218" y="5740400"/>
            <a:chExt cx="5569839" cy="322707"/>
          </a:xfrm>
        </p:grpSpPr>
        <p:sp>
          <p:nvSpPr>
            <p:cNvPr id="34" name="TextBox 34"/>
            <p:cNvSpPr txBox="1"/>
            <p:nvPr/>
          </p:nvSpPr>
          <p:spPr>
            <a:xfrm>
              <a:off x="601218" y="5740400"/>
              <a:ext cx="79383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从关键选择到后续推进，持续提供营销判断与协作支持。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609600" y="6186488"/>
            <a:ext cx="11060784" cy="563165"/>
            <a:chOff x="609600" y="6186488"/>
            <a:chExt cx="11060784" cy="563165"/>
          </a:xfrm>
        </p:grpSpPr>
        <p:sp>
          <p:nvSpPr>
            <p:cNvPr id="36" name="Rectangle 36"/>
            <p:cNvSpPr/>
            <p:nvPr/>
          </p:nvSpPr>
          <p:spPr>
            <a:xfrm>
              <a:off x="609600" y="6186488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10966704" y="6191250"/>
              <a:ext cx="11490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我们是谁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17020" y="6457950"/>
              <a:ext cx="9987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Instrument Sans"/>
                  <a:cs typeface="Instrument Sans"/>
                </a:rPr>
                <a:t>04 / 17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6252972" cy="1089914"/>
            <a:chOff x="592836" y="330200"/>
            <a:chExt cx="6252972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1588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Noto Sans SC Medium"/>
                  <a:ea typeface="Noto Sans SC Medium"/>
                  <a:cs typeface="Noto Sans SC Medium"/>
                </a:rPr>
                <a:t>我们做什么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92797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Noto Sans SC SemiBold"/>
                  <a:ea typeface="Noto Sans SC SemiBold"/>
                  <a:cs typeface="Noto Sans SC SemiBold"/>
                </a:rPr>
                <a:t>两项核心能力，连接策略与执行</a:t>
              </a:r>
            </a:p>
          </p:txBody>
        </p:sp>
      </p:grpSp>
      <p:grpSp>
        <p:nvGrpSpPr>
          <p:cNvPr id="6" name="lead"/>
          <p:cNvGrpSpPr/>
          <p:nvPr/>
        </p:nvGrpSpPr>
        <p:grpSpPr>
          <a:xfrm>
            <a:off x="599694" y="1473200"/>
            <a:ext cx="6582537" cy="381381"/>
            <a:chOff x="599694" y="1473200"/>
            <a:chExt cx="6582537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73200"/>
              <a:ext cx="93817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</a:rPr>
                <a:t>以营销判断和渠道规划统筹工作，按目标组合执行能力。</a:t>
              </a:r>
            </a:p>
          </p:txBody>
        </p:sp>
      </p:grpSp>
      <p:grpSp>
        <p:nvGrpSpPr>
          <p:cNvPr id="8" name="core-label"/>
          <p:cNvGrpSpPr/>
          <p:nvPr/>
        </p:nvGrpSpPr>
        <p:grpSpPr>
          <a:xfrm>
            <a:off x="602742" y="1882775"/>
            <a:ext cx="740664" cy="264033"/>
            <a:chOff x="602742" y="1882775"/>
            <a:chExt cx="74066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602742" y="1882775"/>
              <a:ext cx="1342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1"/>
                  </a:solidFill>
                  <a:latin typeface="Noto Sans SC Medium"/>
                  <a:ea typeface="Noto Sans SC Medium"/>
                  <a:cs typeface="Noto Sans SC Medium"/>
                </a:rPr>
                <a:t>核心能力</a:t>
              </a:r>
            </a:p>
          </p:txBody>
        </p:sp>
      </p:grpSp>
      <p:grpSp>
        <p:nvGrpSpPr>
          <p:cNvPr id="21" name="core-field"/>
          <p:cNvGrpSpPr/>
          <p:nvPr/>
        </p:nvGrpSpPr>
        <p:grpSpPr>
          <a:xfrm>
            <a:off x="0" y="2228850"/>
            <a:ext cx="12192000" cy="1619250"/>
            <a:chOff x="0" y="2228850"/>
            <a:chExt cx="12192000" cy="1619250"/>
          </a:xfrm>
        </p:grpSpPr>
        <p:sp>
          <p:nvSpPr>
            <p:cNvPr id="9" name="Rectangle 9"/>
            <p:cNvSpPr/>
            <p:nvPr/>
          </p:nvSpPr>
          <p:spPr>
            <a:xfrm>
              <a:off x="0" y="2228850"/>
              <a:ext cx="12192000" cy="1619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1238" y="2457450"/>
              <a:ext cx="9525" cy="1162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5" name="core-1"/>
            <p:cNvGrpSpPr/>
            <p:nvPr/>
          </p:nvGrpSpPr>
          <p:grpSpPr>
            <a:xfrm>
              <a:off x="597408" y="2365375"/>
              <a:ext cx="4484751" cy="1308481"/>
              <a:chOff x="597408" y="2365375"/>
              <a:chExt cx="4484751" cy="1308481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597408" y="2365375"/>
                <a:ext cx="456803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>营销策略与品牌基础</a:t>
                </a:r>
              </a:p>
            </p:txBody>
          </p:sp>
          <p:grpSp>
            <p:nvGrpSpPr>
              <p:cNvPr id="14" name="Group 14"/>
              <p:cNvGrpSpPr/>
              <p:nvPr/>
            </p:nvGrpSpPr>
            <p:grpSpPr>
              <a:xfrm>
                <a:off x="599694" y="2930525"/>
                <a:ext cx="4482465" cy="743331"/>
                <a:chOff x="599694" y="2930525"/>
                <a:chExt cx="4482465" cy="743331"/>
              </a:xfrm>
            </p:grpSpPr>
            <p:sp>
              <p:nvSpPr>
                <p:cNvPr id="12" name="TextBox 12"/>
                <p:cNvSpPr txBox="1"/>
                <p:nvPr/>
              </p:nvSpPr>
              <p:spPr>
                <a:xfrm>
                  <a:off x="599694" y="2930525"/>
                  <a:ext cx="6546628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rgbClr val="FFFFFF"/>
                      </a:solidFill>
                      <a:latin typeface="Noto Sans SC"/>
                      <a:ea typeface="Noto Sans SC"/>
                      <a:cs typeface="Noto Sans SC"/>
                    </a:rPr>
                    <a:t>理解市场与用户，明确定位、价值表达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599694" y="3292475"/>
                  <a:ext cx="3002756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rgbClr val="FFFFFF"/>
                      </a:solidFill>
                      <a:latin typeface="Noto Sans SC"/>
                      <a:ea typeface="Noto Sans SC"/>
                      <a:cs typeface="Noto Sans SC"/>
                    </a:rPr>
                    <a:t>与营销优先级。</a:t>
                  </a:r>
                </a:p>
              </p:txBody>
            </p:sp>
          </p:grpSp>
        </p:grpSp>
        <p:grpSp>
          <p:nvGrpSpPr>
            <p:cNvPr id="20" name="core-2"/>
            <p:cNvGrpSpPr/>
            <p:nvPr/>
          </p:nvGrpSpPr>
          <p:grpSpPr>
            <a:xfrm>
              <a:off x="6693408" y="2365375"/>
              <a:ext cx="4484751" cy="1308481"/>
              <a:chOff x="6693408" y="2365375"/>
              <a:chExt cx="4484751" cy="1308481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6693408" y="2365375"/>
                <a:ext cx="36957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>渠道运营与增长</a:t>
                </a:r>
              </a:p>
            </p:txBody>
          </p:sp>
          <p:grpSp>
            <p:nvGrpSpPr>
              <p:cNvPr id="19" name="Group 19"/>
              <p:cNvGrpSpPr/>
              <p:nvPr/>
            </p:nvGrpSpPr>
            <p:grpSpPr>
              <a:xfrm>
                <a:off x="6695694" y="2930525"/>
                <a:ext cx="4482465" cy="743331"/>
                <a:chOff x="6695694" y="2930525"/>
                <a:chExt cx="4482465" cy="743331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6695694" y="2930525"/>
                  <a:ext cx="5420106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rgbClr val="FFFFFF"/>
                      </a:solidFill>
                      <a:latin typeface="Noto Sans SC"/>
                      <a:ea typeface="Noto Sans SC"/>
                      <a:cs typeface="Noto Sans SC"/>
                    </a:rPr>
                    <a:t>规划渠道组合、资源投入与运营路径，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6695694" y="3292475"/>
                  <a:ext cx="3711531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rgbClr val="FFFFFF"/>
                      </a:solidFill>
                      <a:latin typeface="Noto Sans SC"/>
                      <a:ea typeface="Noto Sans SC"/>
                      <a:cs typeface="Noto Sans SC"/>
                    </a:rPr>
                    <a:t>结合反馈持续调整。</a:t>
                  </a:r>
                </a:p>
              </p:txBody>
            </p:sp>
          </p:grpSp>
        </p:grpSp>
      </p:grpSp>
      <p:grpSp>
        <p:nvGrpSpPr>
          <p:cNvPr id="23" name="execution-label"/>
          <p:cNvGrpSpPr/>
          <p:nvPr/>
        </p:nvGrpSpPr>
        <p:grpSpPr>
          <a:xfrm>
            <a:off x="602742" y="4006850"/>
            <a:ext cx="740664" cy="264033"/>
            <a:chOff x="602742" y="4006850"/>
            <a:chExt cx="740664" cy="264033"/>
          </a:xfrm>
        </p:grpSpPr>
        <p:sp>
          <p:nvSpPr>
            <p:cNvPr id="22" name="TextBox 22"/>
            <p:cNvSpPr txBox="1"/>
            <p:nvPr/>
          </p:nvSpPr>
          <p:spPr>
            <a:xfrm>
              <a:off x="602742" y="4006850"/>
              <a:ext cx="1342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1"/>
                  </a:solidFill>
                  <a:latin typeface="Noto Sans SC Medium"/>
                  <a:ea typeface="Noto Sans SC Medium"/>
                  <a:cs typeface="Noto Sans SC Medium"/>
                </a:rPr>
                <a:t>直接执行</a:t>
              </a:r>
            </a:p>
          </p:txBody>
        </p:sp>
      </p:grpSp>
      <p:grpSp>
        <p:nvGrpSpPr>
          <p:cNvPr id="27" name="execution-1"/>
          <p:cNvGrpSpPr/>
          <p:nvPr/>
        </p:nvGrpSpPr>
        <p:grpSpPr>
          <a:xfrm>
            <a:off x="597408" y="4356100"/>
            <a:ext cx="3522155" cy="802132"/>
            <a:chOff x="597408" y="4356100"/>
            <a:chExt cx="3522155" cy="802132"/>
          </a:xfrm>
        </p:grpSpPr>
        <p:sp>
          <p:nvSpPr>
            <p:cNvPr id="24" name="TextBox 24"/>
            <p:cNvSpPr txBox="1"/>
            <p:nvPr/>
          </p:nvSpPr>
          <p:spPr>
            <a:xfrm>
              <a:off x="597408" y="4356100"/>
              <a:ext cx="238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内容营销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1218" y="4835525"/>
              <a:ext cx="2540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内容方向与素材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110038" y="4419600"/>
              <a:ext cx="9525" cy="7239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31" name="execution-2"/>
          <p:cNvGrpSpPr/>
          <p:nvPr/>
        </p:nvGrpSpPr>
        <p:grpSpPr>
          <a:xfrm>
            <a:off x="4407408" y="4356100"/>
            <a:ext cx="3522155" cy="802132"/>
            <a:chOff x="4407408" y="4356100"/>
            <a:chExt cx="3522155" cy="802132"/>
          </a:xfrm>
        </p:grpSpPr>
        <p:sp>
          <p:nvSpPr>
            <p:cNvPr id="28" name="TextBox 28"/>
            <p:cNvSpPr txBox="1"/>
            <p:nvPr/>
          </p:nvSpPr>
          <p:spPr>
            <a:xfrm>
              <a:off x="4407408" y="4356100"/>
              <a:ext cx="238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达人营销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11218" y="4835525"/>
              <a:ext cx="2540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达人筛选与合作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920038" y="4419600"/>
              <a:ext cx="9525" cy="7239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34" name="execution-3"/>
          <p:cNvGrpSpPr/>
          <p:nvPr/>
        </p:nvGrpSpPr>
        <p:grpSpPr>
          <a:xfrm>
            <a:off x="8217408" y="4356100"/>
            <a:ext cx="1639824" cy="802132"/>
            <a:chOff x="8217408" y="4356100"/>
            <a:chExt cx="1639824" cy="802132"/>
          </a:xfrm>
        </p:grpSpPr>
        <p:sp>
          <p:nvSpPr>
            <p:cNvPr id="32" name="TextBox 32"/>
            <p:cNvSpPr txBox="1"/>
            <p:nvPr/>
          </p:nvSpPr>
          <p:spPr>
            <a:xfrm>
              <a:off x="8217408" y="4356100"/>
              <a:ext cx="282336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广告与投放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21218" y="4835525"/>
              <a:ext cx="2540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投放规划与优化</a:t>
              </a:r>
            </a:p>
          </p:txBody>
        </p:sp>
      </p:grpSp>
      <p:grpSp>
        <p:nvGrpSpPr>
          <p:cNvPr id="45" name="partners"/>
          <p:cNvGrpSpPr/>
          <p:nvPr/>
        </p:nvGrpSpPr>
        <p:grpSpPr>
          <a:xfrm>
            <a:off x="609600" y="5410200"/>
            <a:ext cx="10972800" cy="662432"/>
            <a:chOff x="609600" y="5410200"/>
            <a:chExt cx="10972800" cy="662432"/>
          </a:xfrm>
        </p:grpSpPr>
        <p:sp>
          <p:nvSpPr>
            <p:cNvPr id="35" name="Rectangle 35"/>
            <p:cNvSpPr/>
            <p:nvPr/>
          </p:nvSpPr>
          <p:spPr>
            <a:xfrm>
              <a:off x="609600" y="5410200"/>
              <a:ext cx="10972800" cy="64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3242" y="5511800"/>
              <a:ext cx="1342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专业协作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2144268" y="5473700"/>
              <a:ext cx="4262009" cy="322707"/>
              <a:chOff x="2144268" y="5473700"/>
              <a:chExt cx="4262009" cy="322707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2144268" y="5473700"/>
                <a:ext cx="56294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本地渠道拓展 · 落地执行 · 公共关系（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894439" y="5473700"/>
                <a:ext cx="790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 b="0">
                    <a:solidFill>
                      <a:srgbClr val="FFFFFF"/>
                    </a:solidFill>
                    <a:latin typeface="Instrument Sans"/>
                    <a:ea typeface="Instrument Sans"/>
                    <a:cs typeface="Instrument Sans"/>
                  </a:rPr>
                  <a:t>PR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167390" y="5473700"/>
                <a:ext cx="7415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）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2144268" y="5749925"/>
              <a:ext cx="3472446" cy="322707"/>
              <a:chOff x="2144268" y="5749925"/>
              <a:chExt cx="3472446" cy="322707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2144268" y="5749925"/>
                <a:ext cx="83155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 xml:space="preserve">由 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400848" y="5749925"/>
                <a:ext cx="16811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 b="0">
                    <a:solidFill>
                      <a:srgbClr val="FFFFFF"/>
                    </a:solidFill>
                    <a:latin typeface="Instrument Sans"/>
                    <a:ea typeface="Instrument Sans"/>
                    <a:cs typeface="Instrument Sans"/>
                  </a:rPr>
                  <a:t xml:space="preserve">Outrise 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3156597" y="5749925"/>
                <a:ext cx="37402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按需触达、筛选和协调。</a:t>
                </a:r>
              </a:p>
            </p:txBody>
          </p:sp>
        </p:grpSp>
      </p:grpSp>
      <p:grpSp>
        <p:nvGrpSpPr>
          <p:cNvPr id="50" name="footer"/>
          <p:cNvGrpSpPr/>
          <p:nvPr/>
        </p:nvGrpSpPr>
        <p:grpSpPr>
          <a:xfrm>
            <a:off x="609600" y="6186488"/>
            <a:ext cx="11063463" cy="563165"/>
            <a:chOff x="609600" y="6186488"/>
            <a:chExt cx="11063463" cy="563165"/>
          </a:xfrm>
        </p:grpSpPr>
        <p:sp>
          <p:nvSpPr>
            <p:cNvPr id="46" name="Rectangle 46"/>
            <p:cNvSpPr/>
            <p:nvPr/>
          </p:nvSpPr>
          <p:spPr>
            <a:xfrm>
              <a:off x="609600" y="6186488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48" name="TextBox 48"/>
            <p:cNvSpPr txBox="1"/>
            <p:nvPr/>
          </p:nvSpPr>
          <p:spPr>
            <a:xfrm>
              <a:off x="10814304" y="6191250"/>
              <a:ext cx="1301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我们做什么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119699" y="6457950"/>
              <a:ext cx="996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Instrument Sans"/>
                  <a:cs typeface="Instrument Sans"/>
                </a:rPr>
                <a:t>05 / 17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pening"/>
          <p:cNvGrpSpPr/>
          <p:nvPr/>
        </p:nvGrpSpPr>
        <p:grpSpPr>
          <a:xfrm>
            <a:off x="592836" y="330200"/>
            <a:ext cx="4031742" cy="1089914"/>
            <a:chOff x="592836" y="330200"/>
            <a:chExt cx="4031742" cy="1089914"/>
          </a:xfrm>
        </p:grpSpPr>
        <p:grpSp>
          <p:nvGrpSpPr>
            <p:cNvPr id="4" name="Group 4"/>
            <p:cNvGrpSpPr/>
            <p:nvPr/>
          </p:nvGrpSpPr>
          <p:grpSpPr>
            <a:xfrm>
              <a:off x="602742" y="330200"/>
              <a:ext cx="2043915" cy="264033"/>
              <a:chOff x="602742" y="330200"/>
              <a:chExt cx="2043915" cy="264033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602742" y="330200"/>
                <a:ext cx="29252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5"/>
                    </a:solidFill>
                    <a:latin typeface="Noto Sans SC Medium"/>
                    <a:ea typeface="Noto Sans SC Medium"/>
                    <a:cs typeface="Noto Sans SC Medium"/>
                  </a:rPr>
                  <a:t xml:space="preserve">我们做什么 · 核心能力 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2433030" y="330200"/>
                <a:ext cx="6312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5"/>
                    </a:solidFill>
                    <a:latin typeface="Instrument Sans Medium"/>
                    <a:ea typeface="Instrument Sans Medium"/>
                    <a:cs typeface="Instrument Sans Medium"/>
                  </a:rPr>
                  <a:t>01</a:t>
                </a:r>
              </a:p>
            </p:txBody>
          </p:sp>
        </p:grpSp>
        <p:sp>
          <p:nvSpPr>
            <p:cNvPr id="5" name="TextBox 5"/>
            <p:cNvSpPr txBox="1"/>
            <p:nvPr/>
          </p:nvSpPr>
          <p:spPr>
            <a:xfrm>
              <a:off x="592836" y="774700"/>
              <a:ext cx="628105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Noto Sans SC SemiBold"/>
                  <a:ea typeface="Noto Sans SC SemiBold"/>
                  <a:cs typeface="Noto Sans SC SemiBold"/>
                </a:rPr>
                <a:t>营销策略与品牌基础</a:t>
              </a:r>
            </a:p>
          </p:txBody>
        </p:sp>
      </p:grpSp>
      <p:grpSp>
        <p:nvGrpSpPr>
          <p:cNvPr id="8" name="lead"/>
          <p:cNvGrpSpPr/>
          <p:nvPr/>
        </p:nvGrpSpPr>
        <p:grpSpPr>
          <a:xfrm>
            <a:off x="599694" y="1473200"/>
            <a:ext cx="7632573" cy="381381"/>
            <a:chOff x="599694" y="1473200"/>
            <a:chExt cx="7632573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1473200"/>
              <a:ext cx="107992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</a:rPr>
                <a:t>把业务信息转化为市场判断，让品牌表达与阶段行动有共同依据。</a:t>
              </a:r>
            </a:p>
          </p:txBody>
        </p:sp>
      </p:grpSp>
      <p:grpSp>
        <p:nvGrpSpPr>
          <p:cNvPr id="19" name="strategy-1"/>
          <p:cNvGrpSpPr/>
          <p:nvPr/>
        </p:nvGrpSpPr>
        <p:grpSpPr>
          <a:xfrm>
            <a:off x="597408" y="2403475"/>
            <a:ext cx="3364992" cy="3708781"/>
            <a:chOff x="597408" y="2403475"/>
            <a:chExt cx="3364992" cy="3708781"/>
          </a:xfrm>
        </p:grpSpPr>
        <p:sp>
          <p:nvSpPr>
            <p:cNvPr id="9" name="TextBox 9"/>
            <p:cNvSpPr txBox="1"/>
            <p:nvPr/>
          </p:nvSpPr>
          <p:spPr>
            <a:xfrm>
              <a:off x="597408" y="2403475"/>
              <a:ext cx="19510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accent1"/>
                  </a:solidFill>
                  <a:latin typeface="Noto Sans SC Medium"/>
                  <a:ea typeface="Noto Sans SC Medium"/>
                  <a:cs typeface="Noto Sans SC Medium"/>
                </a:rPr>
                <a:t>面向谁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2967038"/>
              <a:ext cx="3352800" cy="95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8932" y="3165475"/>
              <a:ext cx="32337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市场与用户判断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599694" y="3673475"/>
              <a:ext cx="3169920" cy="1105281"/>
              <a:chOff x="599694" y="3673475"/>
              <a:chExt cx="3169920" cy="1105281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599694" y="3673475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梳理产品、业务目标与目标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99694" y="4035425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人群，理解需求、使用场景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99694" y="4397375"/>
                <a:ext cx="264836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和购买考虑。</a:t>
                </a:r>
              </a:p>
            </p:txBody>
          </p:sp>
        </p:grpSp>
        <p:sp>
          <p:nvSpPr>
            <p:cNvPr id="16" name="Rectangle 16"/>
            <p:cNvSpPr/>
            <p:nvPr/>
          </p:nvSpPr>
          <p:spPr>
            <a:xfrm>
              <a:off x="609600" y="5376862"/>
              <a:ext cx="335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742" y="5483225"/>
              <a:ext cx="2078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Noto Sans SC Medium"/>
                  <a:ea typeface="Noto Sans SC Medium"/>
                  <a:cs typeface="Noto Sans SC Medium"/>
                </a:rPr>
                <a:t>形成的工作成果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9694" y="5730875"/>
              <a:ext cx="30027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accent1"/>
                  </a:solidFill>
                  <a:latin typeface="Noto Sans SC Medium"/>
                  <a:ea typeface="Noto Sans SC Medium"/>
                  <a:cs typeface="Noto Sans SC Medium"/>
                </a:rPr>
                <a:t>用户与需求梳理</a:t>
              </a:r>
            </a:p>
          </p:txBody>
        </p:sp>
      </p:grpSp>
      <p:grpSp>
        <p:nvGrpSpPr>
          <p:cNvPr id="30" name="strategy-2"/>
          <p:cNvGrpSpPr/>
          <p:nvPr/>
        </p:nvGrpSpPr>
        <p:grpSpPr>
          <a:xfrm>
            <a:off x="4407408" y="2403475"/>
            <a:ext cx="3364992" cy="3708781"/>
            <a:chOff x="4407408" y="2403475"/>
            <a:chExt cx="3364992" cy="3708781"/>
          </a:xfrm>
        </p:grpSpPr>
        <p:sp>
          <p:nvSpPr>
            <p:cNvPr id="20" name="TextBox 20"/>
            <p:cNvSpPr txBox="1"/>
            <p:nvPr/>
          </p:nvSpPr>
          <p:spPr>
            <a:xfrm>
              <a:off x="4407408" y="2403475"/>
              <a:ext cx="32595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accent1"/>
                  </a:solidFill>
                  <a:latin typeface="Noto Sans SC Medium"/>
                  <a:ea typeface="Noto Sans SC Medium"/>
                  <a:cs typeface="Noto Sans SC Medium"/>
                </a:rPr>
                <a:t>表达什么价值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19600" y="2967038"/>
              <a:ext cx="3352800" cy="95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408932" y="3165475"/>
              <a:ext cx="32337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定位与价值表达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4409694" y="3673475"/>
              <a:ext cx="3169920" cy="1105281"/>
              <a:chOff x="4409694" y="3673475"/>
              <a:chExt cx="3169920" cy="1105281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4409694" y="3673475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明确为谁创造什么价值，形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09694" y="4035425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成适合北美市场的定位、叙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09694" y="4397375"/>
                <a:ext cx="30027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事和沟通重点。</a:t>
                </a:r>
              </a:p>
            </p:txBody>
          </p:sp>
        </p:grpSp>
        <p:sp>
          <p:nvSpPr>
            <p:cNvPr id="27" name="Rectangle 27"/>
            <p:cNvSpPr/>
            <p:nvPr/>
          </p:nvSpPr>
          <p:spPr>
            <a:xfrm>
              <a:off x="4419600" y="5376862"/>
              <a:ext cx="335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12742" y="5483225"/>
              <a:ext cx="2078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Noto Sans SC Medium"/>
                  <a:ea typeface="Noto Sans SC Medium"/>
                  <a:cs typeface="Noto Sans SC Medium"/>
                </a:rPr>
                <a:t>形成的工作成果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09694" y="5730875"/>
              <a:ext cx="30027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accent1"/>
                  </a:solidFill>
                  <a:latin typeface="Noto Sans SC Medium"/>
                  <a:ea typeface="Noto Sans SC Medium"/>
                  <a:cs typeface="Noto Sans SC Medium"/>
                </a:rPr>
                <a:t>定位与价值表达</a:t>
              </a:r>
            </a:p>
          </p:txBody>
        </p:sp>
      </p:grpSp>
      <p:grpSp>
        <p:nvGrpSpPr>
          <p:cNvPr id="43" name="strategy-3"/>
          <p:cNvGrpSpPr/>
          <p:nvPr/>
        </p:nvGrpSpPr>
        <p:grpSpPr>
          <a:xfrm>
            <a:off x="8217408" y="2403475"/>
            <a:ext cx="3364992" cy="3708781"/>
            <a:chOff x="8217408" y="2403475"/>
            <a:chExt cx="3364992" cy="3708781"/>
          </a:xfrm>
        </p:grpSpPr>
        <p:sp>
          <p:nvSpPr>
            <p:cNvPr id="31" name="TextBox 31"/>
            <p:cNvSpPr txBox="1"/>
            <p:nvPr/>
          </p:nvSpPr>
          <p:spPr>
            <a:xfrm>
              <a:off x="8217408" y="2403475"/>
              <a:ext cx="282336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accent1"/>
                  </a:solidFill>
                  <a:latin typeface="Noto Sans SC Medium"/>
                  <a:ea typeface="Noto Sans SC Medium"/>
                  <a:cs typeface="Noto Sans SC Medium"/>
                </a:rPr>
                <a:t>优先做什么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229600" y="2967038"/>
              <a:ext cx="3352800" cy="95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218932" y="3165475"/>
              <a:ext cx="2092815" cy="410718"/>
              <a:chOff x="8218932" y="3165475"/>
              <a:chExt cx="2092815" cy="410718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8218932" y="3165475"/>
                <a:ext cx="142919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 b="0">
                    <a:solidFill>
                      <a:schemeClr val="dk1"/>
                    </a:solidFill>
                    <a:latin typeface="Instrument Sans Medium"/>
                    <a:ea typeface="Instrument Sans Medium"/>
                    <a:cs typeface="Instrument Sans Medium"/>
                  </a:rPr>
                  <a:t xml:space="preserve">GTM 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876901" y="3165475"/>
                <a:ext cx="24704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与营销路线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8219694" y="3673475"/>
              <a:ext cx="3169920" cy="1105281"/>
              <a:chOff x="8219694" y="3673475"/>
              <a:chExt cx="3169920" cy="1105281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8219694" y="3673475"/>
                <a:ext cx="38961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确定阶段重点、渠道优先级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219694" y="4035425"/>
                <a:ext cx="38961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与资源安排，形成可以推进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219694" y="4397375"/>
                <a:ext cx="264836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的行动计划。</a:t>
                </a:r>
              </a:p>
            </p:txBody>
          </p:sp>
        </p:grpSp>
        <p:sp>
          <p:nvSpPr>
            <p:cNvPr id="40" name="Rectangle 40"/>
            <p:cNvSpPr/>
            <p:nvPr/>
          </p:nvSpPr>
          <p:spPr>
            <a:xfrm>
              <a:off x="8229600" y="5376862"/>
              <a:ext cx="335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222742" y="5483225"/>
              <a:ext cx="2078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Noto Sans SC Medium"/>
                  <a:ea typeface="Noto Sans SC Medium"/>
                  <a:cs typeface="Noto Sans SC Medium"/>
                </a:rPr>
                <a:t>形成的工作成果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19694" y="5730875"/>
              <a:ext cx="30027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accent1"/>
                  </a:solidFill>
                  <a:latin typeface="Noto Sans SC Medium"/>
                  <a:ea typeface="Noto Sans SC Medium"/>
                  <a:cs typeface="Noto Sans SC Medium"/>
                </a:rPr>
                <a:t>阶段营销路线图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609600" y="6186488"/>
            <a:ext cx="11057213" cy="563165"/>
            <a:chOff x="609600" y="6186488"/>
            <a:chExt cx="11057213" cy="563165"/>
          </a:xfrm>
        </p:grpSpPr>
        <p:sp>
          <p:nvSpPr>
            <p:cNvPr id="44" name="Rectangle 44"/>
            <p:cNvSpPr/>
            <p:nvPr/>
          </p:nvSpPr>
          <p:spPr>
            <a:xfrm>
              <a:off x="609600" y="6186488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grpSp>
          <p:nvGrpSpPr>
            <p:cNvPr id="48" name="Group 48"/>
            <p:cNvGrpSpPr/>
            <p:nvPr/>
          </p:nvGrpSpPr>
          <p:grpSpPr>
            <a:xfrm>
              <a:off x="9790218" y="6191250"/>
              <a:ext cx="1816432" cy="234696"/>
              <a:chOff x="9790218" y="6191250"/>
              <a:chExt cx="1816432" cy="234696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9790218" y="6191250"/>
                <a:ext cx="23255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 b="0">
                    <a:solidFill>
                      <a:schemeClr val="accent5"/>
                    </a:solidFill>
                    <a:latin typeface="Noto Sans SC"/>
                    <a:ea typeface="Noto Sans SC"/>
                    <a:cs typeface="Noto Sans SC"/>
                  </a:rPr>
                  <a:t xml:space="preserve">我们做什么 · 核心能力 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1416760" y="6191250"/>
                <a:ext cx="56115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 b="0">
                    <a:solidFill>
                      <a:schemeClr val="accent5"/>
                    </a:solidFill>
                    <a:latin typeface="Instrument Sans"/>
                    <a:ea typeface="Instrument Sans"/>
                    <a:cs typeface="Instrument Sans"/>
                  </a:rPr>
                  <a:t>01</a:t>
                </a:r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11113449" y="6457950"/>
              <a:ext cx="10023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Instrument Sans"/>
                  <a:cs typeface="Instrument Sans"/>
                </a:rPr>
                <a:t>06 / 17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pening"/>
          <p:cNvGrpSpPr/>
          <p:nvPr/>
        </p:nvGrpSpPr>
        <p:grpSpPr>
          <a:xfrm>
            <a:off x="592836" y="330200"/>
            <a:ext cx="3143250" cy="1089914"/>
            <a:chOff x="592836" y="330200"/>
            <a:chExt cx="3143250" cy="1089914"/>
          </a:xfrm>
        </p:grpSpPr>
        <p:grpSp>
          <p:nvGrpSpPr>
            <p:cNvPr id="4" name="Group 4"/>
            <p:cNvGrpSpPr/>
            <p:nvPr/>
          </p:nvGrpSpPr>
          <p:grpSpPr>
            <a:xfrm>
              <a:off x="602742" y="330200"/>
              <a:ext cx="2043915" cy="264033"/>
              <a:chOff x="602742" y="330200"/>
              <a:chExt cx="2043915" cy="264033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602742" y="330200"/>
                <a:ext cx="29252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5"/>
                    </a:solidFill>
                    <a:latin typeface="Noto Sans SC Medium"/>
                    <a:ea typeface="Noto Sans SC Medium"/>
                    <a:cs typeface="Noto Sans SC Medium"/>
                  </a:rPr>
                  <a:t xml:space="preserve">我们做什么 · 核心能力 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2433030" y="330200"/>
                <a:ext cx="6312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5"/>
                    </a:solidFill>
                    <a:latin typeface="Instrument Sans Medium"/>
                    <a:ea typeface="Instrument Sans Medium"/>
                    <a:cs typeface="Instrument Sans Medium"/>
                  </a:rPr>
                  <a:t>02</a:t>
                </a:r>
              </a:p>
            </p:txBody>
          </p:sp>
        </p:grpSp>
        <p:sp>
          <p:nvSpPr>
            <p:cNvPr id="5" name="TextBox 5"/>
            <p:cNvSpPr txBox="1"/>
            <p:nvPr/>
          </p:nvSpPr>
          <p:spPr>
            <a:xfrm>
              <a:off x="592836" y="774700"/>
              <a:ext cx="50815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Noto Sans SC SemiBold"/>
                  <a:ea typeface="Noto Sans SC SemiBold"/>
                  <a:cs typeface="Noto Sans SC SemiBold"/>
                </a:rPr>
                <a:t>渠道运营与增长</a:t>
              </a:r>
            </a:p>
          </p:txBody>
        </p:sp>
      </p:grpSp>
      <p:grpSp>
        <p:nvGrpSpPr>
          <p:cNvPr id="8" name="lead"/>
          <p:cNvGrpSpPr/>
          <p:nvPr/>
        </p:nvGrpSpPr>
        <p:grpSpPr>
          <a:xfrm>
            <a:off x="599694" y="1473200"/>
            <a:ext cx="6845046" cy="381381"/>
            <a:chOff x="599694" y="1473200"/>
            <a:chExt cx="6845046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1473200"/>
              <a:ext cx="97361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</a:rPr>
                <a:t>把渠道选择、资源投入和关键行动放在同一条增长路径上。</a:t>
              </a:r>
            </a:p>
          </p:txBody>
        </p:sp>
      </p:grpSp>
      <p:grpSp>
        <p:nvGrpSpPr>
          <p:cNvPr id="15" name="channel-field"/>
          <p:cNvGrpSpPr/>
          <p:nvPr/>
        </p:nvGrpSpPr>
        <p:grpSpPr>
          <a:xfrm>
            <a:off x="609600" y="2247900"/>
            <a:ext cx="2667000" cy="3695700"/>
            <a:chOff x="609600" y="2247900"/>
            <a:chExt cx="2667000" cy="3695700"/>
          </a:xfrm>
        </p:grpSpPr>
        <p:sp>
          <p:nvSpPr>
            <p:cNvPr id="9" name="Rectangle 9"/>
            <p:cNvSpPr/>
            <p:nvPr/>
          </p:nvSpPr>
          <p:spPr>
            <a:xfrm>
              <a:off x="609600" y="2247900"/>
              <a:ext cx="2667000" cy="369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2482850"/>
              <a:ext cx="22409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从渠道到行动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26008" y="3079750"/>
              <a:ext cx="1316736" cy="2145792"/>
              <a:chOff x="826008" y="3079750"/>
              <a:chExt cx="1316736" cy="2145792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826008" y="3079750"/>
                <a:ext cx="238719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>渠道角色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26008" y="3917950"/>
                <a:ext cx="238719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>资源投入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26008" y="4756150"/>
                <a:ext cx="238719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>市场反馈</a:t>
                </a:r>
              </a:p>
            </p:txBody>
          </p:sp>
        </p:grpSp>
      </p:grpSp>
      <p:grpSp>
        <p:nvGrpSpPr>
          <p:cNvPr id="22" name="channel-work-1"/>
          <p:cNvGrpSpPr/>
          <p:nvPr/>
        </p:nvGrpSpPr>
        <p:grpSpPr>
          <a:xfrm>
            <a:off x="3799332" y="2243138"/>
            <a:ext cx="7879461" cy="1306893"/>
            <a:chOff x="3799332" y="2243138"/>
            <a:chExt cx="7879461" cy="1306893"/>
          </a:xfrm>
        </p:grpSpPr>
        <p:sp>
          <p:nvSpPr>
            <p:cNvPr id="16" name="Rectangle 16"/>
            <p:cNvSpPr/>
            <p:nvPr/>
          </p:nvSpPr>
          <p:spPr>
            <a:xfrm>
              <a:off x="3810000" y="2243138"/>
              <a:ext cx="7772400" cy="95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99332" y="2374900"/>
              <a:ext cx="28520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确定渠道组合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107168" y="2425700"/>
              <a:ext cx="20086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1"/>
                  </a:solidFill>
                  <a:latin typeface="Noto Sans SC"/>
                  <a:ea typeface="Noto Sans SC"/>
                  <a:cs typeface="Noto Sans SC"/>
                </a:rPr>
                <a:t>渠道角色与组合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3800094" y="2806700"/>
              <a:ext cx="7370064" cy="743331"/>
              <a:chOff x="3800094" y="2806700"/>
              <a:chExt cx="7370064" cy="743331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3800094" y="2806700"/>
                <a:ext cx="83157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结合用户路径与业务阶段，判断社交媒体、电商平台、品牌官网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800094" y="3168650"/>
                <a:ext cx="442030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及其他渠道各自的作用。</a:t>
                </a:r>
              </a:p>
            </p:txBody>
          </p:sp>
        </p:grpSp>
      </p:grpSp>
      <p:grpSp>
        <p:nvGrpSpPr>
          <p:cNvPr id="29" name="channel-work-2"/>
          <p:cNvGrpSpPr/>
          <p:nvPr/>
        </p:nvGrpSpPr>
        <p:grpSpPr>
          <a:xfrm>
            <a:off x="3799332" y="3538538"/>
            <a:ext cx="7904607" cy="1306893"/>
            <a:chOff x="3799332" y="3538538"/>
            <a:chExt cx="7904607" cy="1306893"/>
          </a:xfrm>
        </p:grpSpPr>
        <p:sp>
          <p:nvSpPr>
            <p:cNvPr id="23" name="Rectangle 23"/>
            <p:cNvSpPr/>
            <p:nvPr/>
          </p:nvSpPr>
          <p:spPr>
            <a:xfrm>
              <a:off x="3810000" y="3538538"/>
              <a:ext cx="7772400" cy="95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99332" y="3670300"/>
              <a:ext cx="32337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安排资源与行动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88068" y="3721100"/>
              <a:ext cx="2427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1"/>
                  </a:solidFill>
                  <a:latin typeface="Noto Sans SC"/>
                  <a:ea typeface="Noto Sans SC"/>
                  <a:cs typeface="Noto Sans SC"/>
                </a:rPr>
                <a:t>资源安排与执行分工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3800094" y="4102100"/>
              <a:ext cx="7370064" cy="743331"/>
              <a:chOff x="3800094" y="4102100"/>
              <a:chExt cx="7370064" cy="743331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3800094" y="4102100"/>
                <a:ext cx="83157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明确投入顺序、预算重点、内容需求和团队分工，让关键工作能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800094" y="4464050"/>
                <a:ext cx="264836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够衔接推进。</a:t>
                </a:r>
              </a:p>
            </p:txBody>
          </p:sp>
        </p:grpSp>
      </p:grpSp>
      <p:grpSp>
        <p:nvGrpSpPr>
          <p:cNvPr id="36" name="channel-work-3"/>
          <p:cNvGrpSpPr/>
          <p:nvPr/>
        </p:nvGrpSpPr>
        <p:grpSpPr>
          <a:xfrm>
            <a:off x="3799332" y="4833938"/>
            <a:ext cx="7904607" cy="1306893"/>
            <a:chOff x="3799332" y="4833938"/>
            <a:chExt cx="7904607" cy="1306893"/>
          </a:xfrm>
        </p:grpSpPr>
        <p:sp>
          <p:nvSpPr>
            <p:cNvPr id="30" name="Rectangle 30"/>
            <p:cNvSpPr/>
            <p:nvPr/>
          </p:nvSpPr>
          <p:spPr>
            <a:xfrm>
              <a:off x="3810000" y="4833938"/>
              <a:ext cx="7772400" cy="95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99332" y="4965700"/>
              <a:ext cx="36153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根据反馈持续调整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88068" y="5016500"/>
              <a:ext cx="2427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1"/>
                  </a:solidFill>
                  <a:latin typeface="Noto Sans SC"/>
                  <a:ea typeface="Noto Sans SC"/>
                  <a:cs typeface="Noto Sans SC"/>
                </a:rPr>
                <a:t>表现复盘与调整建议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3800094" y="5397500"/>
              <a:ext cx="7370064" cy="743331"/>
              <a:chOff x="3800094" y="5397500"/>
              <a:chExt cx="7370064" cy="743331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3800094" y="5397500"/>
                <a:ext cx="83157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结合渠道表现和用户反馈，判断哪些方向值得继续投入，调整下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800094" y="5759450"/>
                <a:ext cx="229398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一步计划。</a:t>
                </a:r>
              </a:p>
            </p:txBody>
          </p:sp>
        </p:grpSp>
      </p:grpSp>
      <p:grpSp>
        <p:nvGrpSpPr>
          <p:cNvPr id="43" name="footer"/>
          <p:cNvGrpSpPr/>
          <p:nvPr/>
        </p:nvGrpSpPr>
        <p:grpSpPr>
          <a:xfrm>
            <a:off x="609600" y="6186488"/>
            <a:ext cx="11075370" cy="563165"/>
            <a:chOff x="609600" y="6186488"/>
            <a:chExt cx="11075370" cy="563165"/>
          </a:xfrm>
        </p:grpSpPr>
        <p:sp>
          <p:nvSpPr>
            <p:cNvPr id="37" name="Rectangle 37"/>
            <p:cNvSpPr/>
            <p:nvPr/>
          </p:nvSpPr>
          <p:spPr>
            <a:xfrm>
              <a:off x="609600" y="6186488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grpSp>
          <p:nvGrpSpPr>
            <p:cNvPr id="41" name="Group 41"/>
            <p:cNvGrpSpPr/>
            <p:nvPr/>
          </p:nvGrpSpPr>
          <p:grpSpPr>
            <a:xfrm>
              <a:off x="9766107" y="6191250"/>
              <a:ext cx="1816433" cy="234696"/>
              <a:chOff x="9766107" y="6191250"/>
              <a:chExt cx="1816433" cy="234696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9766107" y="6191250"/>
                <a:ext cx="234969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 b="0">
                    <a:solidFill>
                      <a:schemeClr val="accent5"/>
                    </a:solidFill>
                    <a:latin typeface="Noto Sans SC"/>
                    <a:ea typeface="Noto Sans SC"/>
                    <a:cs typeface="Noto Sans SC"/>
                  </a:rPr>
                  <a:t xml:space="preserve">我们做什么 · 核心能力 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1392650" y="6191250"/>
                <a:ext cx="56115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 b="0">
                    <a:solidFill>
                      <a:schemeClr val="accent5"/>
                    </a:solidFill>
                    <a:latin typeface="Instrument Sans"/>
                    <a:ea typeface="Instrument Sans"/>
                    <a:cs typeface="Instrument Sans"/>
                  </a:rPr>
                  <a:t>02</a:t>
                </a:r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11131606" y="6457950"/>
              <a:ext cx="984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Instrument Sans"/>
                  <a:cs typeface="Instrument Sans"/>
                </a:rPr>
                <a:t>07 / 17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00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opening"/>
          <p:cNvGrpSpPr/>
          <p:nvPr/>
        </p:nvGrpSpPr>
        <p:grpSpPr>
          <a:xfrm>
            <a:off x="592836" y="330200"/>
            <a:ext cx="5808726" cy="1089914"/>
            <a:chOff x="592836" y="330200"/>
            <a:chExt cx="5808726" cy="1089914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30200"/>
              <a:ext cx="28516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我们做什么 · 直接执行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774700"/>
              <a:ext cx="86799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rgbClr val="FFFFFF"/>
                  </a:solidFill>
                  <a:latin typeface="Noto Sans SC SemiBold"/>
                  <a:ea typeface="Noto Sans SC SemiBold"/>
                  <a:cs typeface="Noto Sans SC SemiBold"/>
                </a:rPr>
                <a:t>三类执行能力，承接关键任务</a:t>
              </a:r>
            </a:p>
          </p:txBody>
        </p:sp>
      </p:grpSp>
      <p:grpSp>
        <p:nvGrpSpPr>
          <p:cNvPr id="10" name="lead"/>
          <p:cNvGrpSpPr/>
          <p:nvPr/>
        </p:nvGrpSpPr>
        <p:grpSpPr>
          <a:xfrm>
            <a:off x="599694" y="1473200"/>
            <a:ext cx="7090350" cy="381381"/>
            <a:chOff x="599694" y="1473200"/>
            <a:chExt cx="7090350" cy="381381"/>
          </a:xfrm>
        </p:grpSpPr>
        <p:grpSp>
          <p:nvGrpSpPr>
            <p:cNvPr id="9" name="Group 9"/>
            <p:cNvGrpSpPr/>
            <p:nvPr/>
          </p:nvGrpSpPr>
          <p:grpSpPr>
            <a:xfrm>
              <a:off x="599694" y="1473200"/>
              <a:ext cx="7090350" cy="381381"/>
              <a:chOff x="599694" y="1473200"/>
              <a:chExt cx="7090350" cy="381381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599694" y="1473200"/>
                <a:ext cx="488100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 xml:space="preserve">根据策略选择工作模块，由 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3627007" y="1473200"/>
                <a:ext cx="198678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rgbClr val="FFFFFF"/>
                    </a:solidFill>
                    <a:latin typeface="Instrument Sans"/>
                    <a:ea typeface="Instrument Sans"/>
                    <a:cs typeface="Instrument Sans"/>
                  </a:rPr>
                  <a:t xml:space="preserve">Outrise 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4520124" y="1473200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直接推进约定的关键执行。</a:t>
                </a:r>
              </a:p>
            </p:txBody>
          </p:sp>
        </p:grpSp>
      </p:grpSp>
      <p:grpSp>
        <p:nvGrpSpPr>
          <p:cNvPr id="20" name="execution-1"/>
          <p:cNvGrpSpPr/>
          <p:nvPr/>
        </p:nvGrpSpPr>
        <p:grpSpPr>
          <a:xfrm>
            <a:off x="597408" y="2428875"/>
            <a:ext cx="3598355" cy="3286125"/>
            <a:chOff x="597408" y="2428875"/>
            <a:chExt cx="3598355" cy="3286125"/>
          </a:xfrm>
        </p:grpSpPr>
        <p:sp>
          <p:nvSpPr>
            <p:cNvPr id="11" name="Rectangle 11"/>
            <p:cNvSpPr/>
            <p:nvPr/>
          </p:nvSpPr>
          <p:spPr>
            <a:xfrm>
              <a:off x="609600" y="2428875"/>
              <a:ext cx="457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7408" y="2689225"/>
              <a:ext cx="238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内容营销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599694" y="3292475"/>
              <a:ext cx="3169920" cy="1467231"/>
              <a:chOff x="599694" y="3292475"/>
              <a:chExt cx="3169920" cy="1467231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599694" y="3292475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围绕品牌与产品价值，制定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99694" y="3654425"/>
                <a:ext cx="442030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内容方向、创意和传播计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99694" y="4016375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划，制作约定的图文、视频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99694" y="4378325"/>
                <a:ext cx="264836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及社媒素材。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601218" y="5245100"/>
              <a:ext cx="46398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1"/>
                  </a:solidFill>
                  <a:latin typeface="Noto Sans SC"/>
                  <a:ea typeface="Noto Sans SC"/>
                  <a:cs typeface="Noto Sans SC"/>
                </a:rPr>
                <a:t>内容方向／创意方案／传播素材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186238" y="2428875"/>
              <a:ext cx="9525" cy="32861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29" name="execution-2"/>
          <p:cNvGrpSpPr/>
          <p:nvPr/>
        </p:nvGrpSpPr>
        <p:grpSpPr>
          <a:xfrm>
            <a:off x="4407408" y="2428875"/>
            <a:ext cx="3598355" cy="3286125"/>
            <a:chOff x="4407408" y="2428875"/>
            <a:chExt cx="3598355" cy="3286125"/>
          </a:xfrm>
        </p:grpSpPr>
        <p:sp>
          <p:nvSpPr>
            <p:cNvPr id="21" name="Rectangle 21"/>
            <p:cNvSpPr/>
            <p:nvPr/>
          </p:nvSpPr>
          <p:spPr>
            <a:xfrm>
              <a:off x="4419600" y="2428875"/>
              <a:ext cx="457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407408" y="2689225"/>
              <a:ext cx="238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达人营销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4409694" y="3292475"/>
              <a:ext cx="3169920" cy="1105281"/>
              <a:chOff x="4409694" y="3292475"/>
              <a:chExt cx="3169920" cy="1105281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4409694" y="3292475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筛选与触达适配达人，策划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09694" y="3654425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合作方式，沟通内容要求，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09694" y="4016375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推进发布并复盘合作表现。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4411218" y="5245100"/>
              <a:ext cx="46398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1"/>
                  </a:solidFill>
                  <a:latin typeface="Noto Sans SC"/>
                  <a:ea typeface="Noto Sans SC"/>
                  <a:cs typeface="Noto Sans SC"/>
                </a:rPr>
                <a:t>达人筛选／合作沟通／发布跟进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996238" y="2428875"/>
              <a:ext cx="9525" cy="32861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37" name="execution-3"/>
          <p:cNvGrpSpPr/>
          <p:nvPr/>
        </p:nvGrpSpPr>
        <p:grpSpPr>
          <a:xfrm>
            <a:off x="8217408" y="2428875"/>
            <a:ext cx="3172206" cy="3138932"/>
            <a:chOff x="8217408" y="2428875"/>
            <a:chExt cx="3172206" cy="3138932"/>
          </a:xfrm>
        </p:grpSpPr>
        <p:sp>
          <p:nvSpPr>
            <p:cNvPr id="30" name="Rectangle 30"/>
            <p:cNvSpPr/>
            <p:nvPr/>
          </p:nvSpPr>
          <p:spPr>
            <a:xfrm>
              <a:off x="8229600" y="2428875"/>
              <a:ext cx="457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17408" y="2689225"/>
              <a:ext cx="282336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广告与投放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8219694" y="3292475"/>
              <a:ext cx="3169920" cy="1105281"/>
              <a:chOff x="8219694" y="3292475"/>
              <a:chExt cx="3169920" cy="1105281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8219694" y="3292475"/>
                <a:ext cx="38961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制定投放计划，协同广告素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219694" y="3654425"/>
                <a:ext cx="38961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材，执行约定渠道的广告工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219694" y="4016375"/>
                <a:ext cx="38961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作，并根据反馈优化。</a:t>
                </a:r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8221218" y="5245100"/>
              <a:ext cx="38945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1"/>
                  </a:solidFill>
                  <a:latin typeface="Noto Sans SC"/>
                  <a:ea typeface="Noto Sans SC"/>
                  <a:cs typeface="Noto Sans SC"/>
                </a:rPr>
                <a:t>投放计划／广告执行／优化建议</a:t>
              </a:r>
            </a:p>
          </p:txBody>
        </p:sp>
      </p:grpSp>
      <p:grpSp>
        <p:nvGrpSpPr>
          <p:cNvPr id="39" name="scope-note"/>
          <p:cNvGrpSpPr/>
          <p:nvPr/>
        </p:nvGrpSpPr>
        <p:grpSpPr>
          <a:xfrm>
            <a:off x="601218" y="5873750"/>
            <a:ext cx="4681347" cy="322707"/>
            <a:chOff x="601218" y="5873750"/>
            <a:chExt cx="4681347" cy="322707"/>
          </a:xfrm>
        </p:grpSpPr>
        <p:sp>
          <p:nvSpPr>
            <p:cNvPr id="38" name="TextBox 38"/>
            <p:cNvSpPr txBox="1"/>
            <p:nvPr/>
          </p:nvSpPr>
          <p:spPr>
            <a:xfrm>
              <a:off x="601218" y="5873750"/>
              <a:ext cx="67389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具体渠道、素材与推进职责根据项目目标约定。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609600" y="6186488"/>
            <a:ext cx="11059743" cy="563165"/>
            <a:chOff x="609600" y="6186488"/>
            <a:chExt cx="11059743" cy="563165"/>
          </a:xfrm>
        </p:grpSpPr>
        <p:sp>
          <p:nvSpPr>
            <p:cNvPr id="40" name="Rectangle 40"/>
            <p:cNvSpPr/>
            <p:nvPr/>
          </p:nvSpPr>
          <p:spPr>
            <a:xfrm>
              <a:off x="609600" y="6186488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42" name="TextBox 42"/>
            <p:cNvSpPr txBox="1"/>
            <p:nvPr/>
          </p:nvSpPr>
          <p:spPr>
            <a:xfrm>
              <a:off x="9983992" y="6191250"/>
              <a:ext cx="2131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我们做什么 · 直接执行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115979" y="6457950"/>
              <a:ext cx="999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Instrument Sans"/>
                  <a:cs typeface="Instrument Sans"/>
                </a:rPr>
                <a:t>08 / 17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6697218" cy="1089914"/>
            <a:chOff x="592836" y="330200"/>
            <a:chExt cx="6697218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28516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Noto Sans SC Medium"/>
                  <a:ea typeface="Noto Sans SC Medium"/>
                  <a:cs typeface="Noto Sans SC Medium"/>
                </a:rPr>
                <a:t>我们做什么 · 专业协作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987944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Noto Sans SC SemiBold"/>
                  <a:ea typeface="Noto Sans SC SemiBold"/>
                  <a:cs typeface="Noto Sans SC SemiBold"/>
                </a:rPr>
                <a:t>按需组织专业资源，拓展项目能力</a:t>
              </a:r>
            </a:p>
          </p:txBody>
        </p:sp>
      </p:grpSp>
      <p:grpSp>
        <p:nvGrpSpPr>
          <p:cNvPr id="9" name="lead"/>
          <p:cNvGrpSpPr/>
          <p:nvPr/>
        </p:nvGrpSpPr>
        <p:grpSpPr>
          <a:xfrm>
            <a:off x="599694" y="1473200"/>
            <a:ext cx="7019979" cy="381381"/>
            <a:chOff x="599694" y="1473200"/>
            <a:chExt cx="7019979" cy="381381"/>
          </a:xfrm>
        </p:grpSpPr>
        <p:grpSp>
          <p:nvGrpSpPr>
            <p:cNvPr id="8" name="Group 8"/>
            <p:cNvGrpSpPr/>
            <p:nvPr/>
          </p:nvGrpSpPr>
          <p:grpSpPr>
            <a:xfrm>
              <a:off x="599694" y="1473200"/>
              <a:ext cx="7019979" cy="381381"/>
              <a:chOff x="599694" y="1473200"/>
              <a:chExt cx="7019979" cy="381381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599694" y="1473200"/>
                <a:ext cx="512907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当项目需要本地或专项能力，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3819144" y="1473200"/>
                <a:ext cx="198678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chemeClr val="dk1"/>
                    </a:solidFill>
                    <a:latin typeface="Instrument Sans"/>
                    <a:ea typeface="Instrument Sans"/>
                    <a:cs typeface="Instrument Sans"/>
                  </a:rPr>
                  <a:t xml:space="preserve">Outrise 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712262" y="1473200"/>
                <a:ext cx="442030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负责触达、筛选与协调。</a:t>
                </a:r>
              </a:p>
            </p:txBody>
          </p:sp>
        </p:grpSp>
      </p:grpSp>
      <p:grpSp>
        <p:nvGrpSpPr>
          <p:cNvPr id="11" name="scope-note"/>
          <p:cNvGrpSpPr/>
          <p:nvPr/>
        </p:nvGrpSpPr>
        <p:grpSpPr>
          <a:xfrm>
            <a:off x="601218" y="1939925"/>
            <a:ext cx="4014978" cy="322707"/>
            <a:chOff x="601218" y="1939925"/>
            <a:chExt cx="4014978" cy="322707"/>
          </a:xfrm>
        </p:grpSpPr>
        <p:sp>
          <p:nvSpPr>
            <p:cNvPr id="10" name="TextBox 10"/>
            <p:cNvSpPr txBox="1"/>
            <p:nvPr/>
          </p:nvSpPr>
          <p:spPr>
            <a:xfrm>
              <a:off x="601218" y="1939925"/>
              <a:ext cx="58393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伙伴参与方式与工作范围在方案中明确。</a:t>
              </a:r>
            </a:p>
          </p:txBody>
        </p:sp>
      </p:grpSp>
      <p:grpSp>
        <p:nvGrpSpPr>
          <p:cNvPr id="48" name="resource-map"/>
          <p:cNvGrpSpPr/>
          <p:nvPr/>
        </p:nvGrpSpPr>
        <p:grpSpPr>
          <a:xfrm>
            <a:off x="609600" y="2470150"/>
            <a:ext cx="8130159" cy="3365881"/>
            <a:chOff x="609600" y="2470150"/>
            <a:chExt cx="8130159" cy="3365881"/>
          </a:xfrm>
        </p:grpSpPr>
        <p:grpSp>
          <p:nvGrpSpPr>
            <p:cNvPr id="17" name="resource-entry"/>
            <p:cNvGrpSpPr/>
            <p:nvPr/>
          </p:nvGrpSpPr>
          <p:grpSpPr>
            <a:xfrm>
              <a:off x="609600" y="2571750"/>
              <a:ext cx="2857500" cy="3143250"/>
              <a:chOff x="609600" y="2571750"/>
              <a:chExt cx="2857500" cy="3143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09600" y="2571750"/>
                <a:ext cx="2857500" cy="31432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pic>
            <p:nvPicPr>
              <p:cNvPr id="13" name="Image 1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95350" y="2914650"/>
                <a:ext cx="2286000" cy="604838"/>
              </a:xfrm>
              <a:prstGeom prst="rect">
                <a:avLst/>
              </a:prstGeom>
            </p:spPr>
          </p:pic>
          <p:grpSp>
            <p:nvGrpSpPr>
              <p:cNvPr id="16" name="Group 16"/>
              <p:cNvGrpSpPr/>
              <p:nvPr/>
            </p:nvGrpSpPr>
            <p:grpSpPr>
              <a:xfrm>
                <a:off x="883158" y="4079875"/>
                <a:ext cx="1316736" cy="926592"/>
                <a:chOff x="883158" y="4079875"/>
                <a:chExt cx="1316736" cy="926592"/>
              </a:xfrm>
            </p:grpSpPr>
            <p:sp>
              <p:nvSpPr>
                <p:cNvPr id="14" name="TextBox 14"/>
                <p:cNvSpPr txBox="1"/>
                <p:nvPr/>
              </p:nvSpPr>
              <p:spPr>
                <a:xfrm>
                  <a:off x="883158" y="4079875"/>
                  <a:ext cx="2387194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dirty="0" b="0">
                      <a:solidFill>
                        <a:srgbClr val="FFFFFF"/>
                      </a:solidFill>
                      <a:latin typeface="Noto Sans SC Medium"/>
                      <a:ea typeface="Noto Sans SC Medium"/>
                      <a:cs typeface="Noto Sans SC Medium"/>
                    </a:rPr>
                    <a:t>按需组织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883158" y="4537075"/>
                  <a:ext cx="2387194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400" dirty="0" b="0">
                      <a:solidFill>
                        <a:srgbClr val="FFFFFF"/>
                      </a:solidFill>
                      <a:latin typeface="Noto Sans SC Medium"/>
                      <a:ea typeface="Noto Sans SC Medium"/>
                      <a:cs typeface="Noto Sans SC Medium"/>
                    </a:rPr>
                    <a:t>专业资源</a:t>
                  </a:r>
                </a:p>
              </p:txBody>
            </p:sp>
          </p:grpSp>
        </p:grpSp>
        <p:grpSp>
          <p:nvGrpSpPr>
            <p:cNvPr id="29" name="resource-links"/>
            <p:cNvGrpSpPr/>
            <p:nvPr/>
          </p:nvGrpSpPr>
          <p:grpSpPr>
            <a:xfrm>
              <a:off x="3467100" y="2600325"/>
              <a:ext cx="533400" cy="2305050"/>
              <a:chOff x="3467100" y="2600325"/>
              <a:chExt cx="533400" cy="23050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3467100" y="4133850"/>
                <a:ext cx="342900" cy="19050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3800475" y="2647950"/>
                <a:ext cx="19050" cy="2209800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3810000" y="2600325"/>
                <a:ext cx="190500" cy="95250"/>
                <a:chOff x="3810000" y="2600325"/>
                <a:chExt cx="190500" cy="95250"/>
              </a:xfrm>
            </p:grpSpPr>
            <p:sp>
              <p:nvSpPr>
                <p:cNvPr id="20" name="Rectangle 20"/>
                <p:cNvSpPr/>
                <p:nvPr/>
              </p:nvSpPr>
              <p:spPr>
                <a:xfrm>
                  <a:off x="3810000" y="2638425"/>
                  <a:ext cx="190500" cy="19050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3886200" y="2600325"/>
                  <a:ext cx="114300" cy="95250"/>
                </a:xfrm>
                <a:prstGeom prst="rightArrow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3810000" y="3705225"/>
                <a:ext cx="190500" cy="95250"/>
                <a:chOff x="3810000" y="3705225"/>
                <a:chExt cx="190500" cy="95250"/>
              </a:xfrm>
            </p:grpSpPr>
            <p:sp>
              <p:nvSpPr>
                <p:cNvPr id="23" name="Rectangle 23"/>
                <p:cNvSpPr/>
                <p:nvPr/>
              </p:nvSpPr>
              <p:spPr>
                <a:xfrm>
                  <a:off x="3810000" y="3743325"/>
                  <a:ext cx="190500" cy="19050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3886200" y="3705225"/>
                  <a:ext cx="114300" cy="95250"/>
                </a:xfrm>
                <a:prstGeom prst="rightArrow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</p:grpSp>
          <p:grpSp>
            <p:nvGrpSpPr>
              <p:cNvPr id="28" name="Group 28"/>
              <p:cNvGrpSpPr/>
              <p:nvPr/>
            </p:nvGrpSpPr>
            <p:grpSpPr>
              <a:xfrm>
                <a:off x="3810000" y="4810125"/>
                <a:ext cx="190500" cy="95250"/>
                <a:chOff x="3810000" y="4810125"/>
                <a:chExt cx="190500" cy="95250"/>
              </a:xfrm>
            </p:grpSpPr>
            <p:sp>
              <p:nvSpPr>
                <p:cNvPr id="26" name="Rectangle 26"/>
                <p:cNvSpPr/>
                <p:nvPr/>
              </p:nvSpPr>
              <p:spPr>
                <a:xfrm>
                  <a:off x="3810000" y="4848225"/>
                  <a:ext cx="190500" cy="19050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3886200" y="4810125"/>
                  <a:ext cx="114300" cy="95250"/>
                </a:xfrm>
                <a:prstGeom prst="rightArrow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</p:grpSp>
        </p:grpSp>
        <p:grpSp>
          <p:nvGrpSpPr>
            <p:cNvPr id="34" name="professional-resource-1"/>
            <p:cNvGrpSpPr/>
            <p:nvPr/>
          </p:nvGrpSpPr>
          <p:grpSpPr>
            <a:xfrm>
              <a:off x="4256532" y="2470150"/>
              <a:ext cx="3958209" cy="1156081"/>
              <a:chOff x="4256532" y="2470150"/>
              <a:chExt cx="3958209" cy="1156081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4256532" y="2470150"/>
                <a:ext cx="285209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本地渠道拓展</a:t>
                </a:r>
              </a:p>
            </p:txBody>
          </p:sp>
          <p:grpSp>
            <p:nvGrpSpPr>
              <p:cNvPr id="33" name="Group 33"/>
              <p:cNvGrpSpPr/>
              <p:nvPr/>
            </p:nvGrpSpPr>
            <p:grpSpPr>
              <a:xfrm>
                <a:off x="4257294" y="2882900"/>
                <a:ext cx="3957447" cy="743331"/>
                <a:chOff x="4257294" y="2882900"/>
                <a:chExt cx="3957447" cy="743331"/>
              </a:xfrm>
            </p:grpSpPr>
            <p:sp>
              <p:nvSpPr>
                <p:cNvPr id="31" name="TextBox 31"/>
                <p:cNvSpPr txBox="1"/>
                <p:nvPr/>
              </p:nvSpPr>
              <p:spPr>
                <a:xfrm>
                  <a:off x="4257294" y="2882900"/>
                  <a:ext cx="5129079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识别适合接触的渠道与资源，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4257294" y="3244850"/>
                  <a:ext cx="5837853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推进沟通，并协调后续合作机会。</a:t>
                  </a:r>
                </a:p>
              </p:txBody>
            </p:sp>
          </p:grpSp>
        </p:grpSp>
        <p:grpSp>
          <p:nvGrpSpPr>
            <p:cNvPr id="39" name="professional-resource-2"/>
            <p:cNvGrpSpPr/>
            <p:nvPr/>
          </p:nvGrpSpPr>
          <p:grpSpPr>
            <a:xfrm>
              <a:off x="4256532" y="3575050"/>
              <a:ext cx="4483227" cy="1156081"/>
              <a:chOff x="4256532" y="3575050"/>
              <a:chExt cx="4483227" cy="1156081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4256532" y="3575050"/>
                <a:ext cx="285209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落地执行支持</a:t>
                </a:r>
              </a:p>
            </p:txBody>
          </p:sp>
          <p:grpSp>
            <p:nvGrpSpPr>
              <p:cNvPr id="38" name="Group 38"/>
              <p:cNvGrpSpPr/>
              <p:nvPr/>
            </p:nvGrpSpPr>
            <p:grpSpPr>
              <a:xfrm>
                <a:off x="4257294" y="3987800"/>
                <a:ext cx="4482465" cy="743331"/>
                <a:chOff x="4257294" y="3987800"/>
                <a:chExt cx="4482465" cy="743331"/>
              </a:xfrm>
            </p:grpSpPr>
            <p:sp>
              <p:nvSpPr>
                <p:cNvPr id="36" name="TextBox 36"/>
                <p:cNvSpPr txBox="1"/>
                <p:nvPr/>
              </p:nvSpPr>
              <p:spPr>
                <a:xfrm>
                  <a:off x="4257294" y="3987800"/>
                  <a:ext cx="4774692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对接相应的本地专业团队，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4257294" y="4349750"/>
                  <a:ext cx="6546628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协调任务要求、执行节奏与交付衔接。</a:t>
                  </a:r>
                </a:p>
              </p:txBody>
            </p:sp>
          </p:grpSp>
        </p:grpSp>
        <p:grpSp>
          <p:nvGrpSpPr>
            <p:cNvPr id="47" name="professional-resource-3"/>
            <p:cNvGrpSpPr/>
            <p:nvPr/>
          </p:nvGrpSpPr>
          <p:grpSpPr>
            <a:xfrm>
              <a:off x="4256532" y="4679950"/>
              <a:ext cx="3958209" cy="1156081"/>
              <a:chOff x="4256532" y="4679950"/>
              <a:chExt cx="3958209" cy="1156081"/>
            </a:xfrm>
          </p:grpSpPr>
          <p:grpSp>
            <p:nvGrpSpPr>
              <p:cNvPr id="43" name="Group 43"/>
              <p:cNvGrpSpPr/>
              <p:nvPr/>
            </p:nvGrpSpPr>
            <p:grpSpPr>
              <a:xfrm>
                <a:off x="4256532" y="4679950"/>
                <a:ext cx="1988028" cy="410718"/>
                <a:chOff x="4256532" y="4679950"/>
                <a:chExt cx="1988028" cy="410718"/>
              </a:xfrm>
            </p:grpSpPr>
            <p:sp>
              <p:nvSpPr>
                <p:cNvPr id="40" name="TextBox 40"/>
                <p:cNvSpPr txBox="1"/>
                <p:nvPr/>
              </p:nvSpPr>
              <p:spPr>
                <a:xfrm>
                  <a:off x="4256532" y="4679950"/>
                  <a:ext cx="2470442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dirty="0" b="0">
                      <a:solidFill>
                        <a:schemeClr val="dk1"/>
                      </a:solidFill>
                      <a:latin typeface="Noto Sans SC Medium"/>
                      <a:ea typeface="Noto Sans SC Medium"/>
                      <a:cs typeface="Noto Sans SC Medium"/>
                    </a:rPr>
                    <a:t>公共关系（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5590032" y="4679950"/>
                  <a:ext cx="1005778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100" dirty="0" b="0">
                      <a:solidFill>
                        <a:schemeClr val="dk1"/>
                      </a:solidFill>
                      <a:latin typeface="Instrument Sans Medium"/>
                      <a:ea typeface="Instrument Sans Medium"/>
                      <a:cs typeface="Instrument Sans Medium"/>
                    </a:rPr>
                    <a:t>PR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5940522" y="4679950"/>
                  <a:ext cx="943851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dirty="0" b="0">
                      <a:solidFill>
                        <a:schemeClr val="dk1"/>
                      </a:solidFill>
                      <a:latin typeface="Noto Sans SC Medium"/>
                      <a:ea typeface="Noto Sans SC Medium"/>
                      <a:cs typeface="Noto Sans SC Medium"/>
                    </a:rPr>
                    <a:t>）</a:t>
                  </a:r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4257294" y="5092700"/>
                <a:ext cx="3957447" cy="743331"/>
                <a:chOff x="4257294" y="5092700"/>
                <a:chExt cx="3957447" cy="743331"/>
              </a:xfrm>
            </p:grpSpPr>
            <p:sp>
              <p:nvSpPr>
                <p:cNvPr id="44" name="TextBox 44"/>
                <p:cNvSpPr txBox="1"/>
                <p:nvPr/>
              </p:nvSpPr>
              <p:spPr>
                <a:xfrm>
                  <a:off x="4257294" y="5092700"/>
                  <a:ext cx="5837853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按传播或业务需求引入专业伙伴，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4257294" y="5454650"/>
                  <a:ext cx="5483466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共同明确工作内容与推进方式。</a:t>
                  </a:r>
                </a:p>
              </p:txBody>
            </p:sp>
          </p:grpSp>
        </p:grpSp>
      </p:grpSp>
      <p:grpSp>
        <p:nvGrpSpPr>
          <p:cNvPr id="53" name="footer"/>
          <p:cNvGrpSpPr/>
          <p:nvPr/>
        </p:nvGrpSpPr>
        <p:grpSpPr>
          <a:xfrm>
            <a:off x="609600" y="6186488"/>
            <a:ext cx="11055427" cy="563165"/>
            <a:chOff x="609600" y="6186488"/>
            <a:chExt cx="11055427" cy="563165"/>
          </a:xfrm>
        </p:grpSpPr>
        <p:sp>
          <p:nvSpPr>
            <p:cNvPr id="49" name="Rectangle 49"/>
            <p:cNvSpPr/>
            <p:nvPr/>
          </p:nvSpPr>
          <p:spPr>
            <a:xfrm>
              <a:off x="609600" y="6186488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51" name="TextBox 51"/>
            <p:cNvSpPr txBox="1"/>
            <p:nvPr/>
          </p:nvSpPr>
          <p:spPr>
            <a:xfrm>
              <a:off x="9983992" y="6191250"/>
              <a:ext cx="2131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我们做什么 · 专业协作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11663" y="6457950"/>
              <a:ext cx="10041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Instrument Sans"/>
                  <a:cs typeface="Instrument Sans"/>
                </a:rPr>
                <a:t>09 / 17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7141464" cy="1089914"/>
            <a:chOff x="592836" y="330200"/>
            <a:chExt cx="7141464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1833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怎样推进项目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1047917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rgbClr val="FFFFFF"/>
                  </a:solidFill>
                  <a:latin typeface="Noto Sans SC SemiBold"/>
                  <a:ea typeface="Noto Sans SC SemiBold"/>
                  <a:cs typeface="Noto Sans SC SemiBold"/>
                </a:rPr>
                <a:t>让营销工作有依据、有计划、有成果</a:t>
              </a:r>
            </a:p>
          </p:txBody>
        </p:sp>
      </p:grpSp>
      <p:grpSp>
        <p:nvGrpSpPr>
          <p:cNvPr id="6" name="lead"/>
          <p:cNvGrpSpPr/>
          <p:nvPr/>
        </p:nvGrpSpPr>
        <p:grpSpPr>
          <a:xfrm>
            <a:off x="599694" y="1473200"/>
            <a:ext cx="7107555" cy="381381"/>
            <a:chOff x="599694" y="1473200"/>
            <a:chExt cx="7107555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73200"/>
              <a:ext cx="100904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把策略、规划、执行和反馈转化为团队能够使用的工作成果。</a:t>
              </a:r>
            </a:p>
          </p:txBody>
        </p:sp>
      </p:grpSp>
      <p:grpSp>
        <p:nvGrpSpPr>
          <p:cNvPr id="12" name="deliverable-1"/>
          <p:cNvGrpSpPr/>
          <p:nvPr/>
        </p:nvGrpSpPr>
        <p:grpSpPr>
          <a:xfrm>
            <a:off x="597408" y="2243138"/>
            <a:ext cx="5193792" cy="1402143"/>
            <a:chOff x="597408" y="2243138"/>
            <a:chExt cx="5193792" cy="1402143"/>
          </a:xfrm>
        </p:grpSpPr>
        <p:sp>
          <p:nvSpPr>
            <p:cNvPr id="7" name="Rectangle 7"/>
            <p:cNvSpPr/>
            <p:nvPr/>
          </p:nvSpPr>
          <p:spPr>
            <a:xfrm>
              <a:off x="609600" y="2243138"/>
              <a:ext cx="5181600" cy="95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7408" y="2393950"/>
              <a:ext cx="36957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定位与价值表达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599694" y="2901950"/>
              <a:ext cx="4744974" cy="743331"/>
              <a:chOff x="599694" y="2901950"/>
              <a:chExt cx="4744974" cy="743331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599694" y="2901950"/>
                <a:ext cx="690101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说明目标用户、核心价值与沟通重点，以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99694" y="3263900"/>
                <a:ext cx="512907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及重要选择背后的判断依据。</a:t>
                </a:r>
              </a:p>
            </p:txBody>
          </p:sp>
        </p:grpSp>
      </p:grpSp>
      <p:grpSp>
        <p:nvGrpSpPr>
          <p:cNvPr id="18" name="deliverable-2"/>
          <p:cNvGrpSpPr/>
          <p:nvPr/>
        </p:nvGrpSpPr>
        <p:grpSpPr>
          <a:xfrm>
            <a:off x="6388608" y="2243138"/>
            <a:ext cx="5193792" cy="1402143"/>
            <a:chOff x="6388608" y="2243138"/>
            <a:chExt cx="5193792" cy="1402143"/>
          </a:xfrm>
        </p:grpSpPr>
        <p:sp>
          <p:nvSpPr>
            <p:cNvPr id="13" name="Rectangle 13"/>
            <p:cNvSpPr/>
            <p:nvPr/>
          </p:nvSpPr>
          <p:spPr>
            <a:xfrm>
              <a:off x="6400800" y="2243138"/>
              <a:ext cx="5181600" cy="95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88608" y="2393950"/>
              <a:ext cx="45680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渠道组合与行动计划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6390894" y="2901950"/>
              <a:ext cx="4744974" cy="743331"/>
              <a:chOff x="6390894" y="2901950"/>
              <a:chExt cx="4744974" cy="743331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390894" y="2901950"/>
                <a:ext cx="57249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明确阶段重点、投入顺序、资源安排与责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390894" y="3263900"/>
                <a:ext cx="193959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任分工。</a:t>
                </a:r>
              </a:p>
            </p:txBody>
          </p:sp>
        </p:grpSp>
      </p:grpSp>
      <p:grpSp>
        <p:nvGrpSpPr>
          <p:cNvPr id="24" name="deliverable-3"/>
          <p:cNvGrpSpPr/>
          <p:nvPr/>
        </p:nvGrpSpPr>
        <p:grpSpPr>
          <a:xfrm>
            <a:off x="597408" y="4033838"/>
            <a:ext cx="5193792" cy="1402143"/>
            <a:chOff x="597408" y="4033838"/>
            <a:chExt cx="5193792" cy="1402143"/>
          </a:xfrm>
        </p:grpSpPr>
        <p:sp>
          <p:nvSpPr>
            <p:cNvPr id="19" name="Rectangle 19"/>
            <p:cNvSpPr/>
            <p:nvPr/>
          </p:nvSpPr>
          <p:spPr>
            <a:xfrm>
              <a:off x="609600" y="4033838"/>
              <a:ext cx="5181600" cy="95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7408" y="4184650"/>
              <a:ext cx="36957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约定的执行成果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599694" y="4692650"/>
              <a:ext cx="4744974" cy="743331"/>
              <a:chOff x="599694" y="4692650"/>
              <a:chExt cx="4744974" cy="743331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599694" y="4692650"/>
                <a:ext cx="690101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按合作范围交付内容素材、达人合作、广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99694" y="5054600"/>
                <a:ext cx="371153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告工作等关键成果。</a:t>
                </a:r>
              </a:p>
            </p:txBody>
          </p:sp>
        </p:grpSp>
      </p:grpSp>
      <p:grpSp>
        <p:nvGrpSpPr>
          <p:cNvPr id="30" name="deliverable-4"/>
          <p:cNvGrpSpPr/>
          <p:nvPr/>
        </p:nvGrpSpPr>
        <p:grpSpPr>
          <a:xfrm>
            <a:off x="6388608" y="4033838"/>
            <a:ext cx="5193792" cy="1402143"/>
            <a:chOff x="6388608" y="4033838"/>
            <a:chExt cx="5193792" cy="1402143"/>
          </a:xfrm>
        </p:grpSpPr>
        <p:sp>
          <p:nvSpPr>
            <p:cNvPr id="25" name="Rectangle 25"/>
            <p:cNvSpPr/>
            <p:nvPr/>
          </p:nvSpPr>
          <p:spPr>
            <a:xfrm>
              <a:off x="6400800" y="4033838"/>
              <a:ext cx="5181600" cy="95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8608" y="4184650"/>
              <a:ext cx="45680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复盘记录与后续建议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6390894" y="4692650"/>
              <a:ext cx="4744974" cy="743331"/>
              <a:chOff x="6390894" y="4692650"/>
              <a:chExt cx="4744974" cy="743331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6390894" y="4692650"/>
                <a:ext cx="57249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整理渠道表现与用户反馈，提出下一轮行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390894" y="5054600"/>
                <a:ext cx="30027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动与调整建议。</a:t>
                </a:r>
              </a:p>
            </p:txBody>
          </p:sp>
        </p:grpSp>
      </p:grpSp>
      <p:grpSp>
        <p:nvGrpSpPr>
          <p:cNvPr id="32" name="scope-note"/>
          <p:cNvGrpSpPr/>
          <p:nvPr/>
        </p:nvGrpSpPr>
        <p:grpSpPr>
          <a:xfrm>
            <a:off x="601218" y="5816600"/>
            <a:ext cx="4459224" cy="322707"/>
            <a:chOff x="601218" y="5816600"/>
            <a:chExt cx="4459224" cy="322707"/>
          </a:xfrm>
        </p:grpSpPr>
        <p:sp>
          <p:nvSpPr>
            <p:cNvPr id="31" name="TextBox 31"/>
            <p:cNvSpPr txBox="1"/>
            <p:nvPr/>
          </p:nvSpPr>
          <p:spPr>
            <a:xfrm>
              <a:off x="601218" y="5816600"/>
              <a:ext cx="64390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交付项、深度与形式根据合作目标共同明确。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609600" y="6191250"/>
            <a:ext cx="11091294" cy="558403"/>
            <a:chOff x="609600" y="6191250"/>
            <a:chExt cx="11091294" cy="558403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10661904" y="6191250"/>
              <a:ext cx="1453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怎样推进项目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147530" y="6457950"/>
              <a:ext cx="9682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Instrument Sans"/>
                  <a:cs typeface="Instrument Sans"/>
                </a:rPr>
                <a:t>10 / 17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6697218" cy="1089914"/>
            <a:chOff x="592836" y="330200"/>
            <a:chExt cx="6697218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1833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Noto Sans SC Medium"/>
                  <a:ea typeface="Noto Sans SC Medium"/>
                  <a:cs typeface="Noto Sans SC Medium"/>
                </a:rPr>
                <a:t>怎样推进项目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987944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Noto Sans SC SemiBold"/>
                  <a:ea typeface="Noto Sans SC SemiBold"/>
                  <a:cs typeface="Noto Sans SC SemiBold"/>
                </a:rPr>
                <a:t>从业务理解到复盘，六步推进项目</a:t>
              </a:r>
            </a:p>
          </p:txBody>
        </p:sp>
      </p:grpSp>
      <p:grpSp>
        <p:nvGrpSpPr>
          <p:cNvPr id="6" name="lead"/>
          <p:cNvGrpSpPr/>
          <p:nvPr/>
        </p:nvGrpSpPr>
        <p:grpSpPr>
          <a:xfrm>
            <a:off x="599694" y="1473200"/>
            <a:ext cx="6845046" cy="381381"/>
            <a:chOff x="599694" y="1473200"/>
            <a:chExt cx="6845046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73200"/>
              <a:ext cx="97361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</a:rPr>
                <a:t>在关键选择与计划上形成共识，再推进执行、反馈和调整。</a:t>
              </a:r>
            </a:p>
          </p:txBody>
        </p:sp>
      </p:grpSp>
      <p:grpSp>
        <p:nvGrpSpPr>
          <p:cNvPr id="70" name="six-step-process"/>
          <p:cNvGrpSpPr/>
          <p:nvPr/>
        </p:nvGrpSpPr>
        <p:grpSpPr>
          <a:xfrm>
            <a:off x="609600" y="2190750"/>
            <a:ext cx="10972800" cy="3511931"/>
            <a:chOff x="609600" y="2190750"/>
            <a:chExt cx="10972800" cy="3511931"/>
          </a:xfrm>
        </p:grpSpPr>
        <p:grpSp>
          <p:nvGrpSpPr>
            <p:cNvPr id="9" name="Group 9"/>
            <p:cNvGrpSpPr/>
            <p:nvPr/>
          </p:nvGrpSpPr>
          <p:grpSpPr>
            <a:xfrm>
              <a:off x="4038600" y="2943225"/>
              <a:ext cx="304800" cy="95250"/>
              <a:chOff x="4038600" y="2943225"/>
              <a:chExt cx="304800" cy="952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4038600" y="2981325"/>
                <a:ext cx="304800" cy="190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4229100" y="2943225"/>
                <a:ext cx="114300" cy="95250"/>
              </a:xfrm>
              <a:prstGeom prst="rightArrow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7848600" y="2943225"/>
              <a:ext cx="304800" cy="95250"/>
              <a:chOff x="7848600" y="2943225"/>
              <a:chExt cx="304800" cy="952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7848600" y="2981325"/>
                <a:ext cx="304800" cy="190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039100" y="2943225"/>
                <a:ext cx="114300" cy="95250"/>
              </a:xfrm>
              <a:prstGeom prst="rightArrow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4038600" y="4848225"/>
              <a:ext cx="304800" cy="95250"/>
              <a:chOff x="4038600" y="4848225"/>
              <a:chExt cx="304800" cy="95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038600" y="4886325"/>
                <a:ext cx="304800" cy="190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229100" y="4848225"/>
                <a:ext cx="114300" cy="95250"/>
              </a:xfrm>
              <a:prstGeom prst="rightArrow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7848600" y="4848225"/>
              <a:ext cx="304800" cy="95250"/>
              <a:chOff x="7848600" y="4848225"/>
              <a:chExt cx="304800" cy="952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7848600" y="4886325"/>
                <a:ext cx="304800" cy="190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039100" y="4848225"/>
                <a:ext cx="114300" cy="95250"/>
              </a:xfrm>
              <a:prstGeom prst="rightArrow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9" name="Rectangle 19"/>
            <p:cNvSpPr/>
            <p:nvPr/>
          </p:nvSpPr>
          <p:spPr>
            <a:xfrm>
              <a:off x="9896475" y="3790950"/>
              <a:ext cx="1905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286000" y="3933825"/>
              <a:ext cx="7620000" cy="19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2238375" y="3943350"/>
              <a:ext cx="95250" cy="152400"/>
              <a:chOff x="2238375" y="3943350"/>
              <a:chExt cx="95250" cy="1524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2276475" y="3943350"/>
                <a:ext cx="1905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238375" y="3981450"/>
                <a:ext cx="95250" cy="114300"/>
              </a:xfrm>
              <a:prstGeom prst="downArrow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31" name="process-step-1"/>
            <p:cNvGrpSpPr/>
            <p:nvPr/>
          </p:nvGrpSpPr>
          <p:grpSpPr>
            <a:xfrm>
              <a:off x="609600" y="2190750"/>
              <a:ext cx="3352800" cy="1606931"/>
              <a:chOff x="609600" y="2190750"/>
              <a:chExt cx="3352800" cy="1606931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09600" y="2190750"/>
                <a:ext cx="3352800" cy="16002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93242" y="2311400"/>
                <a:ext cx="6312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1"/>
                    </a:solidFill>
                    <a:latin typeface="Instrument Sans Medium"/>
                    <a:ea typeface="Instrument Sans Medium"/>
                    <a:cs typeface="Instrument Sans Medium"/>
                  </a:rPr>
                  <a:t>01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89432" y="2622550"/>
                <a:ext cx="20887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理解业务</a:t>
                </a:r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790194" y="3054350"/>
                <a:ext cx="2644902" cy="743331"/>
                <a:chOff x="790194" y="3054350"/>
                <a:chExt cx="2644902" cy="743331"/>
              </a:xfrm>
            </p:grpSpPr>
            <p:sp>
              <p:nvSpPr>
                <p:cNvPr id="27" name="TextBox 27"/>
                <p:cNvSpPr txBox="1"/>
                <p:nvPr/>
              </p:nvSpPr>
              <p:spPr>
                <a:xfrm>
                  <a:off x="790194" y="3054350"/>
                  <a:ext cx="4065918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明确产品、目标、现有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790194" y="3416300"/>
                  <a:ext cx="3357143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基础与资源约束。</a:t>
                  </a:r>
                </a:p>
              </p:txBody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2394204" y="2324100"/>
                <a:ext cx="22840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 b="0">
                    <a:solidFill>
                      <a:schemeClr val="accent1"/>
                    </a:solidFill>
                    <a:latin typeface="Noto Sans SC"/>
                    <a:ea typeface="Noto Sans SC"/>
                    <a:cs typeface="Noto Sans SC"/>
                  </a:rPr>
                  <a:t>共同梳理业务与目标</a:t>
                </a:r>
              </a:p>
            </p:txBody>
          </p:sp>
        </p:grpSp>
        <p:grpSp>
          <p:nvGrpSpPr>
            <p:cNvPr id="38" name="process-step-2"/>
            <p:cNvGrpSpPr/>
            <p:nvPr/>
          </p:nvGrpSpPr>
          <p:grpSpPr>
            <a:xfrm>
              <a:off x="4419600" y="2190750"/>
              <a:ext cx="3352800" cy="1606931"/>
              <a:chOff x="4419600" y="2190750"/>
              <a:chExt cx="3352800" cy="1606931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4419600" y="2190750"/>
                <a:ext cx="3352800" cy="16002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603242" y="2311400"/>
                <a:ext cx="6312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1"/>
                    </a:solidFill>
                    <a:latin typeface="Instrument Sans Medium"/>
                    <a:ea typeface="Instrument Sans Medium"/>
                    <a:cs typeface="Instrument Sans Medium"/>
                  </a:rPr>
                  <a:t>02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599432" y="2622550"/>
                <a:ext cx="20887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建立判断</a:t>
                </a:r>
              </a:p>
            </p:txBody>
          </p:sp>
          <p:grpSp>
            <p:nvGrpSpPr>
              <p:cNvPr id="37" name="Group 37"/>
              <p:cNvGrpSpPr/>
              <p:nvPr/>
            </p:nvGrpSpPr>
            <p:grpSpPr>
              <a:xfrm>
                <a:off x="4600194" y="3054350"/>
                <a:ext cx="2644902" cy="743331"/>
                <a:chOff x="4600194" y="3054350"/>
                <a:chExt cx="2644902" cy="743331"/>
              </a:xfrm>
            </p:grpSpPr>
            <p:sp>
              <p:nvSpPr>
                <p:cNvPr id="35" name="TextBox 35"/>
                <p:cNvSpPr txBox="1"/>
                <p:nvPr/>
              </p:nvSpPr>
              <p:spPr>
                <a:xfrm>
                  <a:off x="4600194" y="3054350"/>
                  <a:ext cx="4065918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研究市场与用户，识别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4600194" y="3416300"/>
                  <a:ext cx="3002756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核心营销问题。</a:t>
                  </a:r>
                </a:p>
              </p:txBody>
            </p:sp>
          </p:grpSp>
        </p:grpSp>
        <p:grpSp>
          <p:nvGrpSpPr>
            <p:cNvPr id="46" name="process-step-3"/>
            <p:cNvGrpSpPr/>
            <p:nvPr/>
          </p:nvGrpSpPr>
          <p:grpSpPr>
            <a:xfrm>
              <a:off x="8229600" y="2190750"/>
              <a:ext cx="3352800" cy="1606931"/>
              <a:chOff x="8229600" y="2190750"/>
              <a:chExt cx="3352800" cy="1606931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229600" y="2190750"/>
                <a:ext cx="3352800" cy="16002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413242" y="2311400"/>
                <a:ext cx="6312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1"/>
                    </a:solidFill>
                    <a:latin typeface="Instrument Sans Medium"/>
                    <a:ea typeface="Instrument Sans Medium"/>
                    <a:cs typeface="Instrument Sans Medium"/>
                  </a:rPr>
                  <a:t>03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409432" y="2622550"/>
                <a:ext cx="20887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确定选择</a:t>
                </a:r>
              </a:p>
            </p:txBody>
          </p:sp>
          <p:grpSp>
            <p:nvGrpSpPr>
              <p:cNvPr id="44" name="Group 44"/>
              <p:cNvGrpSpPr/>
              <p:nvPr/>
            </p:nvGrpSpPr>
            <p:grpSpPr>
              <a:xfrm>
                <a:off x="8410194" y="3054350"/>
                <a:ext cx="2644902" cy="743331"/>
                <a:chOff x="8410194" y="3054350"/>
                <a:chExt cx="2644902" cy="743331"/>
              </a:xfrm>
            </p:grpSpPr>
            <p:sp>
              <p:nvSpPr>
                <p:cNvPr id="42" name="TextBox 42"/>
                <p:cNvSpPr txBox="1"/>
                <p:nvPr/>
              </p:nvSpPr>
              <p:spPr>
                <a:xfrm>
                  <a:off x="8410194" y="3054350"/>
                  <a:ext cx="3705606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比较方向与优先级，确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8410194" y="3416300"/>
                  <a:ext cx="2648369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认当前重点。</a:t>
                  </a:r>
                </a:p>
              </p:txBody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10166604" y="2324100"/>
                <a:ext cx="19491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 b="0">
                    <a:solidFill>
                      <a:schemeClr val="accent1"/>
                    </a:solidFill>
                    <a:latin typeface="Noto Sans SC"/>
                    <a:ea typeface="Noto Sans SC"/>
                    <a:cs typeface="Noto Sans SC"/>
                  </a:rPr>
                  <a:t>共同确认关键选择</a:t>
                </a:r>
              </a:p>
            </p:txBody>
          </p:sp>
        </p:grpSp>
        <p:grpSp>
          <p:nvGrpSpPr>
            <p:cNvPr id="54" name="process-step-4"/>
            <p:cNvGrpSpPr/>
            <p:nvPr/>
          </p:nvGrpSpPr>
          <p:grpSpPr>
            <a:xfrm>
              <a:off x="609600" y="4095750"/>
              <a:ext cx="3352800" cy="1606931"/>
              <a:chOff x="609600" y="4095750"/>
              <a:chExt cx="3352800" cy="1606931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09600" y="4095750"/>
                <a:ext cx="3352800" cy="16002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93242" y="4216400"/>
                <a:ext cx="6312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1"/>
                    </a:solidFill>
                    <a:latin typeface="Instrument Sans Medium"/>
                    <a:ea typeface="Instrument Sans Medium"/>
                    <a:cs typeface="Instrument Sans Medium"/>
                  </a:rPr>
                  <a:t>04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89432" y="4527550"/>
                <a:ext cx="20887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制定规划</a:t>
                </a:r>
              </a:p>
            </p:txBody>
          </p:sp>
          <p:grpSp>
            <p:nvGrpSpPr>
              <p:cNvPr id="52" name="Group 52"/>
              <p:cNvGrpSpPr/>
              <p:nvPr/>
            </p:nvGrpSpPr>
            <p:grpSpPr>
              <a:xfrm>
                <a:off x="790194" y="4959350"/>
                <a:ext cx="2644902" cy="743331"/>
                <a:chOff x="790194" y="4959350"/>
                <a:chExt cx="2644902" cy="743331"/>
              </a:xfrm>
            </p:grpSpPr>
            <p:sp>
              <p:nvSpPr>
                <p:cNvPr id="50" name="TextBox 50"/>
                <p:cNvSpPr txBox="1"/>
                <p:nvPr/>
              </p:nvSpPr>
              <p:spPr>
                <a:xfrm>
                  <a:off x="790194" y="4959350"/>
                  <a:ext cx="4065918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形成阶段计划、任务分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790194" y="5321300"/>
                  <a:ext cx="3002756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工与资源安排。</a:t>
                  </a:r>
                </a:p>
              </p:txBody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2394204" y="4229100"/>
                <a:ext cx="22840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 b="0">
                    <a:solidFill>
                      <a:schemeClr val="accent1"/>
                    </a:solidFill>
                    <a:latin typeface="Noto Sans SC"/>
                    <a:ea typeface="Noto Sans SC"/>
                    <a:cs typeface="Noto Sans SC"/>
                  </a:rPr>
                  <a:t>共同确认计划与分工</a:t>
                </a:r>
              </a:p>
            </p:txBody>
          </p:sp>
        </p:grpSp>
        <p:grpSp>
          <p:nvGrpSpPr>
            <p:cNvPr id="61" name="process-step-5"/>
            <p:cNvGrpSpPr/>
            <p:nvPr/>
          </p:nvGrpSpPr>
          <p:grpSpPr>
            <a:xfrm>
              <a:off x="4419600" y="4095750"/>
              <a:ext cx="3352800" cy="1606931"/>
              <a:chOff x="4419600" y="4095750"/>
              <a:chExt cx="3352800" cy="1606931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4419600" y="4095750"/>
                <a:ext cx="3352800" cy="16002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4603242" y="4216400"/>
                <a:ext cx="6312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1"/>
                    </a:solidFill>
                    <a:latin typeface="Instrument Sans Medium"/>
                    <a:ea typeface="Instrument Sans Medium"/>
                    <a:cs typeface="Instrument Sans Medium"/>
                  </a:rPr>
                  <a:t>05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4599432" y="4527550"/>
                <a:ext cx="20887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推进执行</a:t>
                </a:r>
              </a:p>
            </p:txBody>
          </p:sp>
          <p:grpSp>
            <p:nvGrpSpPr>
              <p:cNvPr id="60" name="Group 60"/>
              <p:cNvGrpSpPr/>
              <p:nvPr/>
            </p:nvGrpSpPr>
            <p:grpSpPr>
              <a:xfrm>
                <a:off x="4600194" y="4959350"/>
                <a:ext cx="2644902" cy="743331"/>
                <a:chOff x="4600194" y="4959350"/>
                <a:chExt cx="2644902" cy="743331"/>
              </a:xfrm>
            </p:grpSpPr>
            <p:sp>
              <p:nvSpPr>
                <p:cNvPr id="58" name="TextBox 58"/>
                <p:cNvSpPr txBox="1"/>
                <p:nvPr/>
              </p:nvSpPr>
              <p:spPr>
                <a:xfrm>
                  <a:off x="4600194" y="4959350"/>
                  <a:ext cx="4065918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推进约定任务，协调客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4600194" y="5321300"/>
                  <a:ext cx="3711531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户团队与专业伙伴。</a:t>
                  </a:r>
                </a:p>
              </p:txBody>
            </p:sp>
          </p:grpSp>
        </p:grpSp>
        <p:grpSp>
          <p:nvGrpSpPr>
            <p:cNvPr id="69" name="process-step-6"/>
            <p:cNvGrpSpPr/>
            <p:nvPr/>
          </p:nvGrpSpPr>
          <p:grpSpPr>
            <a:xfrm>
              <a:off x="8229600" y="4095750"/>
              <a:ext cx="3352800" cy="1606931"/>
              <a:chOff x="8229600" y="4095750"/>
              <a:chExt cx="3352800" cy="1606931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8229600" y="4095750"/>
                <a:ext cx="3352800" cy="16002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8413242" y="4216400"/>
                <a:ext cx="6312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chemeClr val="accent1"/>
                    </a:solidFill>
                    <a:latin typeface="Instrument Sans Medium"/>
                    <a:ea typeface="Instrument Sans Medium"/>
                    <a:cs typeface="Instrument Sans Medium"/>
                  </a:rPr>
                  <a:t>06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409432" y="4527550"/>
                <a:ext cx="20887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复盘调整</a:t>
                </a:r>
              </a:p>
            </p:txBody>
          </p:sp>
          <p:grpSp>
            <p:nvGrpSpPr>
              <p:cNvPr id="67" name="Group 67"/>
              <p:cNvGrpSpPr/>
              <p:nvPr/>
            </p:nvGrpSpPr>
            <p:grpSpPr>
              <a:xfrm>
                <a:off x="8410194" y="4959350"/>
                <a:ext cx="2644902" cy="743331"/>
                <a:chOff x="8410194" y="4959350"/>
                <a:chExt cx="2644902" cy="743331"/>
              </a:xfrm>
            </p:grpSpPr>
            <p:sp>
              <p:nvSpPr>
                <p:cNvPr id="65" name="TextBox 65"/>
                <p:cNvSpPr txBox="1"/>
                <p:nvPr/>
              </p:nvSpPr>
              <p:spPr>
                <a:xfrm>
                  <a:off x="8410194" y="4959350"/>
                  <a:ext cx="3705606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结合市场反馈，确定下</a:t>
                  </a:r>
                </a:p>
              </p:txBody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8410194" y="5321300"/>
                  <a:ext cx="2293982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一步行动。</a:t>
                  </a:r>
                </a:p>
              </p:txBody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10166604" y="4229100"/>
                <a:ext cx="19491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 b="0">
                    <a:solidFill>
                      <a:schemeClr val="accent1"/>
                    </a:solidFill>
                    <a:latin typeface="Noto Sans SC"/>
                    <a:ea typeface="Noto Sans SC"/>
                    <a:cs typeface="Noto Sans SC"/>
                  </a:rPr>
                  <a:t>共同讨论后续行动</a:t>
                </a:r>
              </a:p>
            </p:txBody>
          </p:sp>
        </p:grpSp>
      </p:grpSp>
      <p:grpSp>
        <p:nvGrpSpPr>
          <p:cNvPr id="75" name="scope-note"/>
          <p:cNvGrpSpPr/>
          <p:nvPr/>
        </p:nvGrpSpPr>
        <p:grpSpPr>
          <a:xfrm>
            <a:off x="601218" y="5816600"/>
            <a:ext cx="5705320" cy="322707"/>
            <a:chOff x="601218" y="5816600"/>
            <a:chExt cx="5705320" cy="322707"/>
          </a:xfrm>
        </p:grpSpPr>
        <p:grpSp>
          <p:nvGrpSpPr>
            <p:cNvPr id="74" name="Group 74"/>
            <p:cNvGrpSpPr/>
            <p:nvPr/>
          </p:nvGrpSpPr>
          <p:grpSpPr>
            <a:xfrm>
              <a:off x="601218" y="5816600"/>
              <a:ext cx="5705320" cy="322707"/>
              <a:chOff x="601218" y="5816600"/>
              <a:chExt cx="5705320" cy="322707"/>
            </a:xfrm>
          </p:grpSpPr>
          <p:sp>
            <p:nvSpPr>
              <p:cNvPr id="71" name="TextBox 71"/>
              <p:cNvSpPr txBox="1"/>
              <p:nvPr/>
            </p:nvSpPr>
            <p:spPr>
              <a:xfrm>
                <a:off x="601218" y="5816600"/>
                <a:ext cx="46398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chemeClr val="accent5"/>
                    </a:solidFill>
                    <a:latin typeface="Noto Sans SC"/>
                    <a:ea typeface="Noto Sans SC"/>
                    <a:cs typeface="Noto Sans SC"/>
                  </a:rPr>
                  <a:t>客户参与关键选择与计划确认；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534918" y="5816600"/>
                <a:ext cx="16811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 b="0">
                    <a:solidFill>
                      <a:schemeClr val="accent5"/>
                    </a:solidFill>
                    <a:latin typeface="Instrument Sans"/>
                    <a:ea typeface="Instrument Sans"/>
                    <a:cs typeface="Instrument Sans"/>
                  </a:rPr>
                  <a:t xml:space="preserve">Outrise 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4290667" y="5816600"/>
                <a:ext cx="314052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chemeClr val="accent5"/>
                    </a:solidFill>
                    <a:latin typeface="Noto Sans SC"/>
                    <a:ea typeface="Noto Sans SC"/>
                    <a:cs typeface="Noto Sans SC"/>
                  </a:rPr>
                  <a:t>组织推进约定工作。</a:t>
                </a:r>
              </a:p>
            </p:txBody>
          </p:sp>
        </p:grpSp>
      </p:grpSp>
      <p:grpSp>
        <p:nvGrpSpPr>
          <p:cNvPr id="80" name="footer"/>
          <p:cNvGrpSpPr/>
          <p:nvPr/>
        </p:nvGrpSpPr>
        <p:grpSpPr>
          <a:xfrm>
            <a:off x="609600" y="6186488"/>
            <a:ext cx="11135050" cy="563165"/>
            <a:chOff x="609600" y="6186488"/>
            <a:chExt cx="11135050" cy="563165"/>
          </a:xfrm>
        </p:grpSpPr>
        <p:sp>
          <p:nvSpPr>
            <p:cNvPr id="76" name="Rectangle 76"/>
            <p:cNvSpPr/>
            <p:nvPr/>
          </p:nvSpPr>
          <p:spPr>
            <a:xfrm>
              <a:off x="609600" y="6186488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pic>
          <p:nvPicPr>
            <p:cNvPr id="77" name="Image 7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78" name="TextBox 78"/>
            <p:cNvSpPr txBox="1"/>
            <p:nvPr/>
          </p:nvSpPr>
          <p:spPr>
            <a:xfrm>
              <a:off x="10661904" y="6191250"/>
              <a:ext cx="1453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怎样推进项目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191286" y="6457950"/>
              <a:ext cx="924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Instrument Sans"/>
                  <a:cs typeface="Instrument Sans"/>
                </a:rPr>
                <a:t>11 / 17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pening"/>
          <p:cNvGrpSpPr/>
          <p:nvPr/>
        </p:nvGrpSpPr>
        <p:grpSpPr>
          <a:xfrm>
            <a:off x="592836" y="330200"/>
            <a:ext cx="5859036" cy="1089914"/>
            <a:chOff x="592836" y="330200"/>
            <a:chExt cx="5859036" cy="1089914"/>
          </a:xfrm>
        </p:grpSpPr>
        <p:grpSp>
          <p:nvGrpSpPr>
            <p:cNvPr id="4" name="Group 4"/>
            <p:cNvGrpSpPr/>
            <p:nvPr/>
          </p:nvGrpSpPr>
          <p:grpSpPr>
            <a:xfrm>
              <a:off x="602742" y="330200"/>
              <a:ext cx="2282732" cy="264033"/>
              <a:chOff x="602742" y="330200"/>
              <a:chExt cx="2282732" cy="264033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602742" y="330200"/>
                <a:ext cx="236097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 xml:space="preserve">为什么选择我们 · 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2051584" y="330200"/>
                <a:ext cx="14686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 b="0">
                    <a:solidFill>
                      <a:srgbClr val="FFFFFF"/>
                    </a:solidFill>
                    <a:latin typeface="Instrument Sans Medium"/>
                    <a:ea typeface="Instrument Sans Medium"/>
                    <a:cs typeface="Instrument Sans Medium"/>
                  </a:rPr>
                  <a:t>AI-native</a:t>
                </a: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592836" y="774700"/>
              <a:ext cx="5859036" cy="645414"/>
              <a:chOff x="592836" y="774700"/>
              <a:chExt cx="5859036" cy="645414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592836" y="774700"/>
                <a:ext cx="1612194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300" dirty="0" b="0">
                    <a:solidFill>
                      <a:srgbClr val="FFFFFF"/>
                    </a:solidFill>
                    <a:latin typeface="Instrument Sans SemiBold"/>
                    <a:ea typeface="Instrument Sans SemiBold"/>
                    <a:cs typeface="Instrument Sans SemiBold"/>
                  </a:rPr>
                  <a:t xml:space="preserve">AI 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087392" y="774700"/>
                <a:ext cx="8080248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dirty="0" b="0">
                    <a:solidFill>
                      <a:srgbClr val="FFFFFF"/>
                    </a:solidFill>
                    <a:latin typeface="Noto Sans SC SemiBold"/>
                    <a:ea typeface="Noto Sans SC SemiBold"/>
                    <a:cs typeface="Noto Sans SC SemiBold"/>
                  </a:rPr>
                  <a:t>已融入我们的内部执行体系</a:t>
                </a:r>
              </a:p>
            </p:txBody>
          </p:sp>
        </p:grpSp>
      </p:grpSp>
      <p:grpSp>
        <p:nvGrpSpPr>
          <p:cNvPr id="14" name="lead"/>
          <p:cNvGrpSpPr/>
          <p:nvPr/>
        </p:nvGrpSpPr>
        <p:grpSpPr>
          <a:xfrm>
            <a:off x="599694" y="1473200"/>
            <a:ext cx="7090868" cy="381381"/>
            <a:chOff x="599694" y="1473200"/>
            <a:chExt cx="7090868" cy="381381"/>
          </a:xfrm>
        </p:grpSpPr>
        <p:grpSp>
          <p:nvGrpSpPr>
            <p:cNvPr id="13" name="Group 13"/>
            <p:cNvGrpSpPr/>
            <p:nvPr/>
          </p:nvGrpSpPr>
          <p:grpSpPr>
            <a:xfrm>
              <a:off x="599694" y="1473200"/>
              <a:ext cx="7090868" cy="381381"/>
              <a:chOff x="599694" y="1473200"/>
              <a:chExt cx="7090868" cy="381381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599694" y="1473200"/>
                <a:ext cx="198678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rgbClr val="FFFFFF"/>
                    </a:solidFill>
                    <a:latin typeface="Instrument Sans"/>
                    <a:ea typeface="Instrument Sans"/>
                    <a:cs typeface="Instrument Sans"/>
                  </a:rPr>
                  <a:t xml:space="preserve">Outrise 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492812" y="1473200"/>
                <a:ext cx="558978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 xml:space="preserve">已建立高度自动化、智能化、以 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015424" y="1473200"/>
                <a:ext cx="95266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rgbClr val="FFFFFF"/>
                    </a:solidFill>
                    <a:latin typeface="Instrument Sans"/>
                    <a:ea typeface="Instrument Sans"/>
                    <a:cs typeface="Instrument Sans"/>
                  </a:rPr>
                  <a:t xml:space="preserve">AI 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308169" y="1473200"/>
                <a:ext cx="371153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为驱动的执行体系。</a:t>
                </a:r>
              </a:p>
            </p:txBody>
          </p:sp>
        </p:grpSp>
      </p:grpSp>
      <p:grpSp>
        <p:nvGrpSpPr>
          <p:cNvPr id="16" name="system-caption"/>
          <p:cNvGrpSpPr/>
          <p:nvPr/>
        </p:nvGrpSpPr>
        <p:grpSpPr>
          <a:xfrm>
            <a:off x="601218" y="2073275"/>
            <a:ext cx="2904363" cy="322707"/>
            <a:chOff x="601218" y="2073275"/>
            <a:chExt cx="2904363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2073275"/>
              <a:ext cx="43399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内部执行体系的功能关系示意</a:t>
              </a:r>
            </a:p>
          </p:txBody>
        </p:sp>
      </p:grpSp>
      <p:grpSp>
        <p:nvGrpSpPr>
          <p:cNvPr id="59" name="ai-work-chain"/>
          <p:cNvGrpSpPr/>
          <p:nvPr/>
        </p:nvGrpSpPr>
        <p:grpSpPr>
          <a:xfrm>
            <a:off x="609600" y="2571750"/>
            <a:ext cx="10972800" cy="2714625"/>
            <a:chOff x="609600" y="2571750"/>
            <a:chExt cx="10972800" cy="2714625"/>
          </a:xfrm>
        </p:grpSpPr>
        <p:grpSp>
          <p:nvGrpSpPr>
            <p:cNvPr id="23" name="ai-stage-1"/>
            <p:cNvGrpSpPr/>
            <p:nvPr/>
          </p:nvGrpSpPr>
          <p:grpSpPr>
            <a:xfrm>
              <a:off x="609600" y="2571750"/>
              <a:ext cx="2514600" cy="2419350"/>
              <a:chOff x="609600" y="2571750"/>
              <a:chExt cx="2514600" cy="24193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09600" y="2571750"/>
                <a:ext cx="2514600" cy="241935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89432" y="2755900"/>
                <a:ext cx="24704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>研究与知识</a:t>
                </a:r>
              </a:p>
            </p:txBody>
          </p:sp>
          <p:grpSp>
            <p:nvGrpSpPr>
              <p:cNvPr id="22" name="Group 22"/>
              <p:cNvGrpSpPr/>
              <p:nvPr/>
            </p:nvGrpSpPr>
            <p:grpSpPr>
              <a:xfrm>
                <a:off x="790194" y="3302000"/>
                <a:ext cx="1857375" cy="1105281"/>
                <a:chOff x="790194" y="3302000"/>
                <a:chExt cx="1857375" cy="1105281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790194" y="3302000"/>
                  <a:ext cx="3002756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rgbClr val="FFFFFF"/>
                      </a:solidFill>
                      <a:latin typeface="Noto Sans SC"/>
                      <a:ea typeface="Noto Sans SC"/>
                      <a:cs typeface="Noto Sans SC"/>
                    </a:rPr>
                    <a:t>整理资料与信息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790194" y="3663950"/>
                  <a:ext cx="2648369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rgbClr val="FFFFFF"/>
                      </a:solidFill>
                      <a:latin typeface="Noto Sans SC"/>
                      <a:ea typeface="Noto Sans SC"/>
                      <a:cs typeface="Noto Sans SC"/>
                    </a:rPr>
                    <a:t>积累项目经验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790194" y="4025900"/>
                  <a:ext cx="2648369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rgbClr val="FFFFFF"/>
                      </a:solidFill>
                      <a:latin typeface="Noto Sans SC"/>
                      <a:ea typeface="Noto Sans SC"/>
                      <a:cs typeface="Noto Sans SC"/>
                    </a:rPr>
                    <a:t>形成知识基础</a:t>
                  </a:r>
                </a:p>
              </p:txBody>
            </p:sp>
          </p:grpSp>
        </p:grpSp>
        <p:grpSp>
          <p:nvGrpSpPr>
            <p:cNvPr id="26" name="Group 26"/>
            <p:cNvGrpSpPr/>
            <p:nvPr/>
          </p:nvGrpSpPr>
          <p:grpSpPr>
            <a:xfrm>
              <a:off x="3200400" y="3743325"/>
              <a:ext cx="152400" cy="95250"/>
              <a:chOff x="3200400" y="3743325"/>
              <a:chExt cx="152400" cy="952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200400" y="3781425"/>
                <a:ext cx="152400" cy="190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238500" y="3743325"/>
                <a:ext cx="114300" cy="95250"/>
              </a:xfrm>
              <a:prstGeom prst="rightArrow">
                <a:avLst/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33" name="ai-stage-2"/>
            <p:cNvGrpSpPr/>
            <p:nvPr/>
          </p:nvGrpSpPr>
          <p:grpSpPr>
            <a:xfrm>
              <a:off x="3429000" y="2571750"/>
              <a:ext cx="2514600" cy="2419350"/>
              <a:chOff x="3429000" y="2571750"/>
              <a:chExt cx="2514600" cy="24193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429000" y="2571750"/>
                <a:ext cx="2514600" cy="241935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3608832" y="2755900"/>
                <a:ext cx="24704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>规划与任务</a:t>
                </a:r>
              </a:p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3609594" y="3302000"/>
                <a:ext cx="1857375" cy="1105281"/>
                <a:chOff x="3609594" y="3302000"/>
                <a:chExt cx="1857375" cy="1105281"/>
              </a:xfrm>
            </p:grpSpPr>
            <p:sp>
              <p:nvSpPr>
                <p:cNvPr id="29" name="TextBox 29"/>
                <p:cNvSpPr txBox="1"/>
                <p:nvPr/>
              </p:nvSpPr>
              <p:spPr>
                <a:xfrm>
                  <a:off x="3609594" y="3302000"/>
                  <a:ext cx="3002756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rgbClr val="FFFFFF"/>
                      </a:solidFill>
                      <a:latin typeface="Noto Sans SC"/>
                      <a:ea typeface="Noto Sans SC"/>
                      <a:cs typeface="Noto Sans SC"/>
                    </a:rPr>
                    <a:t>衔接信息与计划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3609594" y="3663950"/>
                  <a:ext cx="3002756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rgbClr val="FFFFFF"/>
                      </a:solidFill>
                      <a:latin typeface="Noto Sans SC"/>
                      <a:ea typeface="Noto Sans SC"/>
                      <a:cs typeface="Noto Sans SC"/>
                    </a:rPr>
                    <a:t>协调任务与进度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3609594" y="4025900"/>
                  <a:ext cx="2648369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rgbClr val="FFFFFF"/>
                      </a:solidFill>
                      <a:latin typeface="Noto Sans SC"/>
                      <a:ea typeface="Noto Sans SC"/>
                      <a:cs typeface="Noto Sans SC"/>
                    </a:rPr>
                    <a:t>跟进工作反馈</a:t>
                  </a:r>
                </a:p>
              </p:txBody>
            </p:sp>
          </p:grpSp>
        </p:grpSp>
        <p:grpSp>
          <p:nvGrpSpPr>
            <p:cNvPr id="36" name="Group 36"/>
            <p:cNvGrpSpPr/>
            <p:nvPr/>
          </p:nvGrpSpPr>
          <p:grpSpPr>
            <a:xfrm>
              <a:off x="6019800" y="3743325"/>
              <a:ext cx="152400" cy="95250"/>
              <a:chOff x="6019800" y="3743325"/>
              <a:chExt cx="152400" cy="952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019800" y="3781425"/>
                <a:ext cx="152400" cy="190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57900" y="3743325"/>
                <a:ext cx="114300" cy="95250"/>
              </a:xfrm>
              <a:prstGeom prst="rightArrow">
                <a:avLst/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43" name="ai-stage-3"/>
            <p:cNvGrpSpPr/>
            <p:nvPr/>
          </p:nvGrpSpPr>
          <p:grpSpPr>
            <a:xfrm>
              <a:off x="6248400" y="2571750"/>
              <a:ext cx="2514600" cy="2419350"/>
              <a:chOff x="6248400" y="2571750"/>
              <a:chExt cx="2514600" cy="24193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248400" y="2571750"/>
                <a:ext cx="2514600" cy="241935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428232" y="2755900"/>
                <a:ext cx="24704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>内容与创意</a:t>
                </a:r>
              </a:p>
            </p:txBody>
          </p:sp>
          <p:grpSp>
            <p:nvGrpSpPr>
              <p:cNvPr id="42" name="Group 42"/>
              <p:cNvGrpSpPr/>
              <p:nvPr/>
            </p:nvGrpSpPr>
            <p:grpSpPr>
              <a:xfrm>
                <a:off x="6428994" y="3302000"/>
                <a:ext cx="1594866" cy="1105281"/>
                <a:chOff x="6428994" y="3302000"/>
                <a:chExt cx="1594866" cy="1105281"/>
              </a:xfrm>
            </p:grpSpPr>
            <p:sp>
              <p:nvSpPr>
                <p:cNvPr id="39" name="TextBox 39"/>
                <p:cNvSpPr txBox="1"/>
                <p:nvPr/>
              </p:nvSpPr>
              <p:spPr>
                <a:xfrm>
                  <a:off x="6428994" y="3302000"/>
                  <a:ext cx="2648369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rgbClr val="FFFFFF"/>
                      </a:solidFill>
                      <a:latin typeface="Noto Sans SC"/>
                      <a:ea typeface="Noto Sans SC"/>
                      <a:cs typeface="Noto Sans SC"/>
                    </a:rPr>
                    <a:t>支持创意探索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6428994" y="3663950"/>
                  <a:ext cx="2648369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rgbClr val="FFFFFF"/>
                      </a:solidFill>
                      <a:latin typeface="Noto Sans SC"/>
                      <a:ea typeface="Noto Sans SC"/>
                      <a:cs typeface="Noto Sans SC"/>
                    </a:rPr>
                    <a:t>协同素材生产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6428994" y="4025900"/>
                  <a:ext cx="2648369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rgbClr val="FFFFFF"/>
                      </a:solidFill>
                      <a:latin typeface="Noto Sans SC"/>
                      <a:ea typeface="Noto Sans SC"/>
                      <a:cs typeface="Noto Sans SC"/>
                    </a:rPr>
                    <a:t>推进内容迭代</a:t>
                  </a:r>
                </a:p>
              </p:txBody>
            </p:sp>
          </p:grpSp>
        </p:grpSp>
        <p:grpSp>
          <p:nvGrpSpPr>
            <p:cNvPr id="46" name="Group 46"/>
            <p:cNvGrpSpPr/>
            <p:nvPr/>
          </p:nvGrpSpPr>
          <p:grpSpPr>
            <a:xfrm>
              <a:off x="8839200" y="3743325"/>
              <a:ext cx="152400" cy="95250"/>
              <a:chOff x="8839200" y="3743325"/>
              <a:chExt cx="152400" cy="952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8839200" y="3781425"/>
                <a:ext cx="152400" cy="190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877300" y="3743325"/>
                <a:ext cx="114300" cy="95250"/>
              </a:xfrm>
              <a:prstGeom prst="rightArrow">
                <a:avLst/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53" name="ai-stage-4"/>
            <p:cNvGrpSpPr/>
            <p:nvPr/>
          </p:nvGrpSpPr>
          <p:grpSpPr>
            <a:xfrm>
              <a:off x="9067800" y="2571750"/>
              <a:ext cx="2514600" cy="2419350"/>
              <a:chOff x="9067800" y="2571750"/>
              <a:chExt cx="2514600" cy="241935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9067800" y="2571750"/>
                <a:ext cx="2514600" cy="2419350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9247632" y="2755900"/>
                <a:ext cx="24704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>反馈与改进</a:t>
                </a:r>
              </a:p>
            </p:txBody>
          </p:sp>
          <p:grpSp>
            <p:nvGrpSpPr>
              <p:cNvPr id="52" name="Group 52"/>
              <p:cNvGrpSpPr/>
              <p:nvPr/>
            </p:nvGrpSpPr>
            <p:grpSpPr>
              <a:xfrm>
                <a:off x="9248394" y="3302000"/>
                <a:ext cx="1857375" cy="1105281"/>
                <a:chOff x="9248394" y="3302000"/>
                <a:chExt cx="1857375" cy="1105281"/>
              </a:xfrm>
            </p:grpSpPr>
            <p:sp>
              <p:nvSpPr>
                <p:cNvPr id="49" name="TextBox 49"/>
                <p:cNvSpPr txBox="1"/>
                <p:nvPr/>
              </p:nvSpPr>
              <p:spPr>
                <a:xfrm>
                  <a:off x="9248394" y="3302000"/>
                  <a:ext cx="2648369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rgbClr val="FFFFFF"/>
                      </a:solidFill>
                      <a:latin typeface="Noto Sans SC"/>
                      <a:ea typeface="Noto Sans SC"/>
                      <a:cs typeface="Noto Sans SC"/>
                    </a:rPr>
                    <a:t>整理项目反馈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9248394" y="3663950"/>
                  <a:ext cx="2867406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rgbClr val="FFFFFF"/>
                      </a:solidFill>
                      <a:latin typeface="Noto Sans SC"/>
                      <a:ea typeface="Noto Sans SC"/>
                      <a:cs typeface="Noto Sans SC"/>
                    </a:rPr>
                    <a:t>更新知识与流程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9248394" y="4025900"/>
                  <a:ext cx="2867406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rgbClr val="FFFFFF"/>
                      </a:solidFill>
                      <a:latin typeface="Noto Sans SC"/>
                      <a:ea typeface="Noto Sans SC"/>
                      <a:cs typeface="Noto Sans SC"/>
                    </a:rPr>
                    <a:t>支持下一轮工作</a:t>
                  </a:r>
                </a:p>
              </p:txBody>
            </p:sp>
          </p:grpSp>
        </p:grpSp>
        <p:sp>
          <p:nvSpPr>
            <p:cNvPr id="54" name="Rectangle 54"/>
            <p:cNvSpPr/>
            <p:nvPr/>
          </p:nvSpPr>
          <p:spPr>
            <a:xfrm>
              <a:off x="10315575" y="4991100"/>
              <a:ext cx="1905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866900" y="5267325"/>
              <a:ext cx="8458200" cy="19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1819275" y="4991100"/>
              <a:ext cx="95250" cy="285750"/>
              <a:chOff x="1819275" y="4991100"/>
              <a:chExt cx="95250" cy="28575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1857375" y="4991100"/>
                <a:ext cx="19050" cy="2857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819275" y="4991100"/>
                <a:ext cx="95250" cy="114300"/>
              </a:xfrm>
              <a:prstGeom prst="upArrow">
                <a:avLst/>
              </a:prstGeom>
              <a:solidFill>
                <a:schemeClr val="lt2"/>
              </a:solidFill>
              <a:ln>
                <a:noFill/>
              </a:ln>
            </p:spPr>
          </p:sp>
        </p:grpSp>
      </p:grpSp>
      <p:grpSp>
        <p:nvGrpSpPr>
          <p:cNvPr id="62" name="team-judgment"/>
          <p:cNvGrpSpPr/>
          <p:nvPr/>
        </p:nvGrpSpPr>
        <p:grpSpPr>
          <a:xfrm>
            <a:off x="609600" y="5619750"/>
            <a:ext cx="10972800" cy="444881"/>
            <a:chOff x="609600" y="5619750"/>
            <a:chExt cx="10972800" cy="444881"/>
          </a:xfrm>
        </p:grpSpPr>
        <p:sp>
          <p:nvSpPr>
            <p:cNvPr id="60" name="Rectangle 60"/>
            <p:cNvSpPr/>
            <p:nvPr/>
          </p:nvSpPr>
          <p:spPr>
            <a:xfrm>
              <a:off x="609600" y="5619750"/>
              <a:ext cx="109728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228719" y="5683250"/>
              <a:ext cx="58378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accent1"/>
                  </a:solidFill>
                  <a:latin typeface="Noto Sans SC Medium"/>
                  <a:ea typeface="Noto Sans SC Medium"/>
                  <a:cs typeface="Noto Sans SC Medium"/>
                </a:rPr>
                <a:t>团队负责商业判断、方向与质量。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609600" y="6191250"/>
            <a:ext cx="11109749" cy="558403"/>
            <a:chOff x="609600" y="6191250"/>
            <a:chExt cx="11109749" cy="558403"/>
          </a:xfrm>
        </p:grpSpPr>
        <p:pic>
          <p:nvPicPr>
            <p:cNvPr id="63" name="Image 6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grpSp>
          <p:nvGrpSpPr>
            <p:cNvPr id="66" name="Group 66"/>
            <p:cNvGrpSpPr/>
            <p:nvPr/>
          </p:nvGrpSpPr>
          <p:grpSpPr>
            <a:xfrm>
              <a:off x="9635436" y="6191250"/>
              <a:ext cx="2028749" cy="234696"/>
              <a:chOff x="9635436" y="6191250"/>
              <a:chExt cx="2028749" cy="234696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9635436" y="6191250"/>
                <a:ext cx="20986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 xml:space="preserve">为什么选择我们 · 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922949" y="6191250"/>
                <a:ext cx="119285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 b="0">
                    <a:solidFill>
                      <a:srgbClr val="FFFFFF"/>
                    </a:solidFill>
                    <a:latin typeface="Instrument Sans"/>
                    <a:ea typeface="Instrument Sans"/>
                    <a:cs typeface="Instrument Sans"/>
                  </a:rPr>
                  <a:t>AI-native</a:t>
                </a:r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11165985" y="6457950"/>
              <a:ext cx="949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Instrument Sans"/>
                  <a:cs typeface="Instrument Sans"/>
                </a:rPr>
                <a:t>12 / 17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4475988" cy="1089914"/>
            <a:chOff x="592836" y="330200"/>
            <a:chExt cx="4475988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33423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为什么选择我们 · 市场理解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688078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rgbClr val="FFFFFF"/>
                  </a:solidFill>
                  <a:latin typeface="Noto Sans SC SemiBold"/>
                  <a:ea typeface="Noto Sans SC SemiBold"/>
                  <a:cs typeface="Noto Sans SC SemiBold"/>
                </a:rPr>
                <a:t>理解技术，也理解市场</a:t>
              </a:r>
            </a:p>
          </p:txBody>
        </p:sp>
      </p:grpSp>
      <p:grpSp>
        <p:nvGrpSpPr>
          <p:cNvPr id="6" name="lead"/>
          <p:cNvGrpSpPr/>
          <p:nvPr/>
        </p:nvGrpSpPr>
        <p:grpSpPr>
          <a:xfrm>
            <a:off x="599694" y="1473200"/>
            <a:ext cx="7632573" cy="381381"/>
            <a:chOff x="599694" y="1473200"/>
            <a:chExt cx="7632573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73200"/>
              <a:ext cx="107992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把技术公司的产品逻辑，转化为用户能够理解的价值与营销行动。</a:t>
              </a:r>
            </a:p>
          </p:txBody>
        </p:sp>
      </p:grpSp>
      <p:grpSp>
        <p:nvGrpSpPr>
          <p:cNvPr id="12" name="market-understanding-1"/>
          <p:cNvGrpSpPr/>
          <p:nvPr/>
        </p:nvGrpSpPr>
        <p:grpSpPr>
          <a:xfrm>
            <a:off x="592836" y="2327275"/>
            <a:ext cx="10989564" cy="1030288"/>
            <a:chOff x="592836" y="2327275"/>
            <a:chExt cx="10989564" cy="1030288"/>
          </a:xfrm>
        </p:grpSpPr>
        <p:sp>
          <p:nvSpPr>
            <p:cNvPr id="7" name="TextBox 7"/>
            <p:cNvSpPr txBox="1"/>
            <p:nvPr/>
          </p:nvSpPr>
          <p:spPr>
            <a:xfrm>
              <a:off x="592836" y="2327275"/>
              <a:ext cx="328239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accent1"/>
                  </a:solidFill>
                  <a:latin typeface="Noto Sans SC Medium"/>
                  <a:ea typeface="Noto Sans SC Medium"/>
                  <a:cs typeface="Noto Sans SC Medium"/>
                </a:rPr>
                <a:t>产品价值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3800094" y="2368550"/>
              <a:ext cx="7370064" cy="743331"/>
              <a:chOff x="3800094" y="2368550"/>
              <a:chExt cx="7370064" cy="743331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3800094" y="2368550"/>
                <a:ext cx="83157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理解科技公司的产品、目标与需求，把技术能力转化为具体价值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800094" y="2730500"/>
                <a:ext cx="264836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与使用场景。</a:t>
                </a:r>
              </a:p>
            </p:txBody>
          </p:sp>
        </p:grpSp>
        <p:sp>
          <p:nvSpPr>
            <p:cNvPr id="11" name="Rectangle 11"/>
            <p:cNvSpPr/>
            <p:nvPr/>
          </p:nvSpPr>
          <p:spPr>
            <a:xfrm>
              <a:off x="3810000" y="3348038"/>
              <a:ext cx="7772400" cy="9525"/>
            </a:xfrm>
            <a:prstGeom prst="rect">
              <a:avLst/>
            </a:prstGeom>
            <a:solidFill>
              <a:srgbClr val="62625D"/>
            </a:solidFill>
            <a:ln>
              <a:noFill/>
            </a:ln>
          </p:spPr>
        </p:sp>
      </p:grpSp>
      <p:grpSp>
        <p:nvGrpSpPr>
          <p:cNvPr id="20" name="market-understanding-2"/>
          <p:cNvGrpSpPr/>
          <p:nvPr/>
        </p:nvGrpSpPr>
        <p:grpSpPr>
          <a:xfrm>
            <a:off x="592836" y="3565525"/>
            <a:ext cx="10989564" cy="1030288"/>
            <a:chOff x="592836" y="3565525"/>
            <a:chExt cx="10989564" cy="1030288"/>
          </a:xfrm>
        </p:grpSpPr>
        <p:sp>
          <p:nvSpPr>
            <p:cNvPr id="13" name="TextBox 13"/>
            <p:cNvSpPr txBox="1"/>
            <p:nvPr/>
          </p:nvSpPr>
          <p:spPr>
            <a:xfrm>
              <a:off x="592836" y="3565525"/>
              <a:ext cx="328239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accent1"/>
                  </a:solidFill>
                  <a:latin typeface="Noto Sans SC Medium"/>
                  <a:ea typeface="Noto Sans SC Medium"/>
                  <a:cs typeface="Noto Sans SC Medium"/>
                </a:rPr>
                <a:t>市场变化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3800094" y="3606800"/>
              <a:ext cx="7426095" cy="743331"/>
              <a:chOff x="3800094" y="3606800"/>
              <a:chExt cx="7426095" cy="743331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3800094" y="3606800"/>
                <a:ext cx="133713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 xml:space="preserve">关注 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50907" y="3606800"/>
                <a:ext cx="95266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rgbClr val="FFFFFF"/>
                    </a:solidFill>
                    <a:latin typeface="Instrument Sans"/>
                    <a:ea typeface="Instrument Sans"/>
                    <a:cs typeface="Instrument Sans"/>
                  </a:rPr>
                  <a:t xml:space="preserve">AI 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43652" y="3606800"/>
                <a:ext cx="74721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对信息发现、内容传播和用户决策的影响，持续调整策略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800094" y="3968750"/>
                <a:ext cx="264836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与渠道选择。</a:t>
                </a:r>
              </a:p>
            </p:txBody>
          </p:sp>
        </p:grpSp>
        <p:sp>
          <p:nvSpPr>
            <p:cNvPr id="19" name="Rectangle 19"/>
            <p:cNvSpPr/>
            <p:nvPr/>
          </p:nvSpPr>
          <p:spPr>
            <a:xfrm>
              <a:off x="3810000" y="4586288"/>
              <a:ext cx="7772400" cy="9525"/>
            </a:xfrm>
            <a:prstGeom prst="rect">
              <a:avLst/>
            </a:prstGeom>
            <a:solidFill>
              <a:srgbClr val="62625D"/>
            </a:solidFill>
            <a:ln>
              <a:noFill/>
            </a:ln>
          </p:spPr>
        </p:sp>
      </p:grpSp>
      <p:grpSp>
        <p:nvGrpSpPr>
          <p:cNvPr id="26" name="market-understanding-3"/>
          <p:cNvGrpSpPr/>
          <p:nvPr/>
        </p:nvGrpSpPr>
        <p:grpSpPr>
          <a:xfrm>
            <a:off x="592836" y="4803775"/>
            <a:ext cx="10989564" cy="1030288"/>
            <a:chOff x="592836" y="4803775"/>
            <a:chExt cx="10989564" cy="1030288"/>
          </a:xfrm>
        </p:grpSpPr>
        <p:sp>
          <p:nvSpPr>
            <p:cNvPr id="21" name="TextBox 21"/>
            <p:cNvSpPr txBox="1"/>
            <p:nvPr/>
          </p:nvSpPr>
          <p:spPr>
            <a:xfrm>
              <a:off x="592836" y="4803775"/>
              <a:ext cx="328239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accent1"/>
                  </a:solidFill>
                  <a:latin typeface="Noto Sans SC Medium"/>
                  <a:ea typeface="Noto Sans SC Medium"/>
                  <a:cs typeface="Noto Sans SC Medium"/>
                </a:rPr>
                <a:t>快速适应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3800094" y="4845050"/>
              <a:ext cx="7370064" cy="743331"/>
              <a:chOff x="3800094" y="4845050"/>
              <a:chExt cx="7370064" cy="743331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3800094" y="4845050"/>
                <a:ext cx="83157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衔接研究、创意与市场反馈，更灵活地组织尝试，并调整下一轮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800094" y="5207000"/>
                <a:ext cx="158520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行动。</a:t>
                </a:r>
              </a:p>
            </p:txBody>
          </p:sp>
        </p:grpSp>
        <p:sp>
          <p:nvSpPr>
            <p:cNvPr id="25" name="Rectangle 25"/>
            <p:cNvSpPr/>
            <p:nvPr/>
          </p:nvSpPr>
          <p:spPr>
            <a:xfrm>
              <a:off x="3810000" y="5824538"/>
              <a:ext cx="7772400" cy="9525"/>
            </a:xfrm>
            <a:prstGeom prst="rect">
              <a:avLst/>
            </a:prstGeom>
            <a:solidFill>
              <a:srgbClr val="62625D"/>
            </a:solidFill>
            <a:ln>
              <a:noFill/>
            </a:ln>
          </p:spPr>
        </p:sp>
      </p:grpSp>
      <p:grpSp>
        <p:nvGrpSpPr>
          <p:cNvPr id="30" name="footer"/>
          <p:cNvGrpSpPr/>
          <p:nvPr/>
        </p:nvGrpSpPr>
        <p:grpSpPr>
          <a:xfrm>
            <a:off x="609600" y="6191250"/>
            <a:ext cx="11105879" cy="558403"/>
            <a:chOff x="609600" y="6191250"/>
            <a:chExt cx="11105879" cy="558403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9679192" y="6191250"/>
              <a:ext cx="2436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为什么选择我们 · 市场理解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62115" y="6457950"/>
              <a:ext cx="953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Instrument Sans"/>
                  <a:cs typeface="Instrument Sans"/>
                </a:rPr>
                <a:t>13 / 17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00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opening"/>
          <p:cNvGrpSpPr/>
          <p:nvPr/>
        </p:nvGrpSpPr>
        <p:grpSpPr>
          <a:xfrm>
            <a:off x="592836" y="330200"/>
            <a:ext cx="5364480" cy="1089914"/>
            <a:chOff x="592836" y="330200"/>
            <a:chExt cx="5364480" cy="1089914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30200"/>
              <a:ext cx="1342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项目经验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774700"/>
              <a:ext cx="80802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rgbClr val="FFFFFF"/>
                  </a:solidFill>
                  <a:latin typeface="Noto Sans SC SemiBold"/>
                  <a:ea typeface="Noto Sans SC SemiBold"/>
                  <a:cs typeface="Noto Sans SC SemiBold"/>
                </a:rPr>
                <a:t>箱包品牌的北美多渠道实践</a:t>
              </a:r>
            </a:p>
          </p:txBody>
        </p:sp>
      </p:grpSp>
      <p:grpSp>
        <p:nvGrpSpPr>
          <p:cNvPr id="7" name="lead"/>
          <p:cNvGrpSpPr/>
          <p:nvPr/>
        </p:nvGrpSpPr>
        <p:grpSpPr>
          <a:xfrm>
            <a:off x="599694" y="1473200"/>
            <a:ext cx="8157591" cy="381381"/>
            <a:chOff x="599694" y="1473200"/>
            <a:chExt cx="8157591" cy="381381"/>
          </a:xfrm>
        </p:grpSpPr>
        <p:sp>
          <p:nvSpPr>
            <p:cNvPr id="6" name="TextBox 6"/>
            <p:cNvSpPr txBox="1"/>
            <p:nvPr/>
          </p:nvSpPr>
          <p:spPr>
            <a:xfrm>
              <a:off x="599694" y="1473200"/>
              <a:ext cx="115080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匿名项目经验｜以已确认的工作范围，呈现品牌、内容与渠道的协同。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99694" y="2359025"/>
            <a:ext cx="1151610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 b="0">
                <a:solidFill>
                  <a:schemeClr val="dk1"/>
                </a:solidFill>
                <a:latin typeface="Noto Sans SC"/>
                <a:ea typeface="Noto Sans SC"/>
                <a:cs typeface="Noto Sans SC"/>
              </a:rPr>
              <a:t>服务面向北美市场的消费箱包品牌，相关工作涉及品牌表达、内容、达人及多个线上渠道。</a:t>
            </a:r>
          </a:p>
        </p:txBody>
      </p:sp>
      <p:grpSp>
        <p:nvGrpSpPr>
          <p:cNvPr id="11" name="case-scope-1"/>
          <p:cNvGrpSpPr/>
          <p:nvPr/>
        </p:nvGrpSpPr>
        <p:grpSpPr>
          <a:xfrm>
            <a:off x="598932" y="3232150"/>
            <a:ext cx="3433191" cy="794131"/>
            <a:chOff x="598932" y="3232150"/>
            <a:chExt cx="3433191" cy="794131"/>
          </a:xfrm>
        </p:grpSpPr>
        <p:sp>
          <p:nvSpPr>
            <p:cNvPr id="9" name="TextBox 9"/>
            <p:cNvSpPr txBox="1"/>
            <p:nvPr/>
          </p:nvSpPr>
          <p:spPr>
            <a:xfrm>
              <a:off x="598932" y="3232150"/>
              <a:ext cx="32337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品牌与产品表达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3644900"/>
              <a:ext cx="51290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</a:rPr>
                <a:t>品牌表达、产品与店铺优化。</a:t>
              </a:r>
            </a:p>
          </p:txBody>
        </p:sp>
      </p:grpSp>
      <p:grpSp>
        <p:nvGrpSpPr>
          <p:cNvPr id="14" name="case-scope-2"/>
          <p:cNvGrpSpPr/>
          <p:nvPr/>
        </p:nvGrpSpPr>
        <p:grpSpPr>
          <a:xfrm>
            <a:off x="598932" y="4127500"/>
            <a:ext cx="3958209" cy="794131"/>
            <a:chOff x="598932" y="4127500"/>
            <a:chExt cx="3958209" cy="794131"/>
          </a:xfrm>
        </p:grpSpPr>
        <p:sp>
          <p:nvSpPr>
            <p:cNvPr id="12" name="TextBox 12"/>
            <p:cNvSpPr txBox="1"/>
            <p:nvPr/>
          </p:nvSpPr>
          <p:spPr>
            <a:xfrm>
              <a:off x="598932" y="4127500"/>
              <a:ext cx="32337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内容与达人合作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694" y="4540250"/>
              <a:ext cx="58378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</a:rPr>
                <a:t>达人筛选与建联、内容任务协同。</a:t>
              </a:r>
            </a:p>
          </p:txBody>
        </p:sp>
      </p:grpSp>
      <p:grpSp>
        <p:nvGrpSpPr>
          <p:cNvPr id="24" name="case-scope-3"/>
          <p:cNvGrpSpPr/>
          <p:nvPr/>
        </p:nvGrpSpPr>
        <p:grpSpPr>
          <a:xfrm>
            <a:off x="598932" y="5022850"/>
            <a:ext cx="5546592" cy="1098931"/>
            <a:chOff x="598932" y="5022850"/>
            <a:chExt cx="5546592" cy="1098931"/>
          </a:xfrm>
        </p:grpSpPr>
        <p:sp>
          <p:nvSpPr>
            <p:cNvPr id="15" name="TextBox 15"/>
            <p:cNvSpPr txBox="1"/>
            <p:nvPr/>
          </p:nvSpPr>
          <p:spPr>
            <a:xfrm>
              <a:off x="598932" y="5022850"/>
              <a:ext cx="28520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线上渠道安排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599694" y="5378450"/>
              <a:ext cx="5545830" cy="743331"/>
              <a:chOff x="599694" y="5378450"/>
              <a:chExt cx="5545830" cy="743331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599694" y="5378450"/>
                <a:ext cx="188142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chemeClr val="dk1"/>
                    </a:solidFill>
                    <a:latin typeface="Instrument Sans"/>
                    <a:ea typeface="Instrument Sans"/>
                    <a:cs typeface="Instrument Sans"/>
                  </a:rPr>
                  <a:t xml:space="preserve">Amazon 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594312" y="5378450"/>
                <a:ext cx="229398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广告调整；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832562" y="5378450"/>
                <a:ext cx="162332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chemeClr val="dk1"/>
                    </a:solidFill>
                    <a:latin typeface="Instrument Sans"/>
                    <a:ea typeface="Instrument Sans"/>
                    <a:cs typeface="Instrument Sans"/>
                  </a:rPr>
                  <a:t>TikTok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570899" y="5378450"/>
                <a:ext cx="87643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、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818549" y="5378450"/>
                <a:ext cx="188142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chemeClr val="dk1"/>
                    </a:solidFill>
                    <a:latin typeface="Instrument Sans"/>
                    <a:ea typeface="Instrument Sans"/>
                    <a:cs typeface="Instrument Sans"/>
                  </a:rPr>
                  <a:t xml:space="preserve">Amazon 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813167" y="5378450"/>
                <a:ext cx="229398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与官网渠道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99694" y="5740400"/>
                <a:ext cx="158520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规划。</a:t>
                </a:r>
              </a:p>
            </p:txBody>
          </p:sp>
        </p:grpSp>
      </p:grpSp>
      <p:grpSp>
        <p:nvGrpSpPr>
          <p:cNvPr id="32" name="case-collaboration"/>
          <p:cNvGrpSpPr/>
          <p:nvPr/>
        </p:nvGrpSpPr>
        <p:grpSpPr>
          <a:xfrm>
            <a:off x="6858000" y="3124200"/>
            <a:ext cx="4724400" cy="2952750"/>
            <a:chOff x="6858000" y="3124200"/>
            <a:chExt cx="4724400" cy="2952750"/>
          </a:xfrm>
        </p:grpSpPr>
        <p:sp>
          <p:nvSpPr>
            <p:cNvPr id="25" name="Rectangle 25"/>
            <p:cNvSpPr/>
            <p:nvPr/>
          </p:nvSpPr>
          <p:spPr>
            <a:xfrm>
              <a:off x="6858000" y="3124200"/>
              <a:ext cx="4724400" cy="2952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50608" y="3232150"/>
              <a:ext cx="238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协同方式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52894" y="3702050"/>
              <a:ext cx="496290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围绕品牌与产品信息统一沟通重点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52894" y="4483100"/>
              <a:ext cx="496290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协调内容、达人与渠道任务的衔接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7152894" y="5264150"/>
              <a:ext cx="3957447" cy="743331"/>
              <a:chOff x="7152894" y="5264150"/>
              <a:chExt cx="3957447" cy="743331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7152894" y="5264150"/>
                <a:ext cx="49629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结合渠道表现与内容反馈讨论后续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152894" y="5626100"/>
                <a:ext cx="123082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选择</a:t>
                </a:r>
              </a:p>
            </p:txBody>
          </p:sp>
        </p:grpSp>
      </p:grpSp>
      <p:grpSp>
        <p:nvGrpSpPr>
          <p:cNvPr id="37" name="footer"/>
          <p:cNvGrpSpPr/>
          <p:nvPr/>
        </p:nvGrpSpPr>
        <p:grpSpPr>
          <a:xfrm>
            <a:off x="609600" y="6186488"/>
            <a:ext cx="11104093" cy="563165"/>
            <a:chOff x="609600" y="6186488"/>
            <a:chExt cx="11104093" cy="563165"/>
          </a:xfrm>
        </p:grpSpPr>
        <p:sp>
          <p:nvSpPr>
            <p:cNvPr id="33" name="Rectangle 33"/>
            <p:cNvSpPr/>
            <p:nvPr/>
          </p:nvSpPr>
          <p:spPr>
            <a:xfrm>
              <a:off x="609600" y="6186488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10966704" y="6191250"/>
              <a:ext cx="11490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项目经验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60329" y="6457950"/>
              <a:ext cx="9554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Instrument Sans"/>
                  <a:cs typeface="Instrument Sans"/>
                </a:rPr>
                <a:t>14 / 17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851404" y="6457950"/>
            <a:ext cx="46829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 b="0">
                <a:solidFill>
                  <a:schemeClr val="accent5"/>
                </a:solidFill>
                <a:latin typeface="Noto Sans SC"/>
                <a:ea typeface="Noto Sans SC"/>
                <a:cs typeface="Noto Sans SC"/>
              </a:rPr>
              <a:t>匿名过程型案例｜展示工作范围与协同方式。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pening"/>
          <p:cNvGrpSpPr/>
          <p:nvPr/>
        </p:nvGrpSpPr>
        <p:grpSpPr>
          <a:xfrm>
            <a:off x="592836" y="330200"/>
            <a:ext cx="5973532" cy="1089914"/>
            <a:chOff x="592836" y="330200"/>
            <a:chExt cx="5973532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2078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Noto Sans SC Medium"/>
                  <a:ea typeface="Noto Sans SC Medium"/>
                  <a:cs typeface="Noto Sans SC Medium"/>
                </a:rPr>
                <a:t>谁来为客户负责</a:t>
              </a:r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592836" y="774700"/>
              <a:ext cx="5973532" cy="645414"/>
              <a:chOff x="592836" y="774700"/>
              <a:chExt cx="5973532" cy="645414"/>
            </a:xfrm>
          </p:grpSpPr>
          <p:sp>
            <p:nvSpPr>
              <p:cNvPr id="3" name="TextBox 3"/>
              <p:cNvSpPr txBox="1"/>
              <p:nvPr/>
            </p:nvSpPr>
            <p:spPr>
              <a:xfrm>
                <a:off x="592836" y="774700"/>
                <a:ext cx="4661775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dirty="0" b="0">
                    <a:solidFill>
                      <a:schemeClr val="dk1"/>
                    </a:solidFill>
                    <a:latin typeface="Noto Sans SC SemiBold"/>
                    <a:ea typeface="Noto Sans SC SemiBold"/>
                    <a:cs typeface="Noto Sans SC SemiBold"/>
                  </a:rPr>
                  <a:t xml:space="preserve">一个入口，由 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3202239" y="774700"/>
                <a:ext cx="3362248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300" dirty="0" b="0">
                    <a:solidFill>
                      <a:schemeClr val="dk1"/>
                    </a:solidFill>
                    <a:latin typeface="Instrument Sans SemiBold"/>
                    <a:ea typeface="Instrument Sans SemiBold"/>
                    <a:cs typeface="Instrument Sans SemiBold"/>
                  </a:rPr>
                  <a:t xml:space="preserve">Outrise </a:t>
                </a: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4755856" y="774700"/>
                <a:ext cx="3282391" cy="6454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dirty="0" b="0">
                    <a:solidFill>
                      <a:schemeClr val="dk1"/>
                    </a:solidFill>
                    <a:latin typeface="Noto Sans SC SemiBold"/>
                    <a:ea typeface="Noto Sans SC SemiBold"/>
                    <a:cs typeface="Noto Sans SC SemiBold"/>
                  </a:rPr>
                  <a:t>统一负责</a:t>
                </a:r>
              </a:p>
            </p:txBody>
          </p:sp>
        </p:grpSp>
      </p:grpSp>
      <p:grpSp>
        <p:nvGrpSpPr>
          <p:cNvPr id="9" name="lead"/>
          <p:cNvGrpSpPr/>
          <p:nvPr/>
        </p:nvGrpSpPr>
        <p:grpSpPr>
          <a:xfrm>
            <a:off x="599694" y="1473200"/>
            <a:ext cx="9995154" cy="381381"/>
            <a:chOff x="599694" y="1473200"/>
            <a:chExt cx="9995154" cy="381381"/>
          </a:xfrm>
        </p:grpSpPr>
        <p:sp>
          <p:nvSpPr>
            <p:cNvPr id="8" name="TextBox 8"/>
            <p:cNvSpPr txBox="1"/>
            <p:nvPr/>
          </p:nvSpPr>
          <p:spPr>
            <a:xfrm>
              <a:off x="599694" y="1473200"/>
              <a:ext cx="1151610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Noto Sans SC"/>
                  <a:ea typeface="Noto Sans SC"/>
                  <a:cs typeface="Noto Sans SC"/>
                </a:rPr>
                <a:t>在约定合作范围内，统筹策略、进度、质量与专业伙伴，对整体合作交付负责并背书。</a:t>
              </a:r>
            </a:p>
          </p:txBody>
        </p:sp>
      </p:grpSp>
      <p:grpSp>
        <p:nvGrpSpPr>
          <p:cNvPr id="59" name="accountability-map"/>
          <p:cNvGrpSpPr/>
          <p:nvPr/>
        </p:nvGrpSpPr>
        <p:grpSpPr>
          <a:xfrm>
            <a:off x="598932" y="2324100"/>
            <a:ext cx="10841355" cy="3511931"/>
            <a:chOff x="598932" y="2324100"/>
            <a:chExt cx="10841355" cy="3511931"/>
          </a:xfrm>
        </p:grpSpPr>
        <p:grpSp>
          <p:nvGrpSpPr>
            <p:cNvPr id="12" name="client"/>
            <p:cNvGrpSpPr/>
            <p:nvPr/>
          </p:nvGrpSpPr>
          <p:grpSpPr>
            <a:xfrm>
              <a:off x="609600" y="2324100"/>
              <a:ext cx="1752600" cy="990600"/>
              <a:chOff x="609600" y="2324100"/>
              <a:chExt cx="1752600" cy="9906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09600" y="2324100"/>
                <a:ext cx="1752600" cy="990600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68908" y="2622550"/>
                <a:ext cx="151485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客户</a:t>
                </a:r>
              </a:p>
            </p:txBody>
          </p:sp>
        </p:grpSp>
        <p:grpSp>
          <p:nvGrpSpPr>
            <p:cNvPr id="16" name="unified-owner"/>
            <p:cNvGrpSpPr/>
            <p:nvPr/>
          </p:nvGrpSpPr>
          <p:grpSpPr>
            <a:xfrm>
              <a:off x="3238500" y="2324100"/>
              <a:ext cx="5715000" cy="990600"/>
              <a:chOff x="3238500" y="2324100"/>
              <a:chExt cx="5715000" cy="9906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3238500" y="2324100"/>
                <a:ext cx="5715000" cy="99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pic>
            <p:nvPicPr>
              <p:cNvPr id="14" name="Image 1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05200" y="2590800"/>
                <a:ext cx="1714500" cy="453628"/>
              </a:xfrm>
              <a:prstGeom prst="rect">
                <a:avLst/>
              </a:prstGeom>
            </p:spPr>
          </p:pic>
          <p:sp>
            <p:nvSpPr>
              <p:cNvPr id="15" name="TextBox 15"/>
              <p:cNvSpPr txBox="1"/>
              <p:nvPr/>
            </p:nvSpPr>
            <p:spPr>
              <a:xfrm>
                <a:off x="5705094" y="2673350"/>
                <a:ext cx="30027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>统一负责与背书</a:t>
                </a:r>
              </a:p>
            </p:txBody>
          </p:sp>
        </p:grpSp>
        <p:grpSp>
          <p:nvGrpSpPr>
            <p:cNvPr id="34" name="responsibility-links"/>
            <p:cNvGrpSpPr/>
            <p:nvPr/>
          </p:nvGrpSpPr>
          <p:grpSpPr>
            <a:xfrm>
              <a:off x="1819275" y="2771775"/>
              <a:ext cx="8553450" cy="1266825"/>
              <a:chOff x="1819275" y="2771775"/>
              <a:chExt cx="8553450" cy="1266825"/>
            </a:xfrm>
          </p:grpSpPr>
          <p:grpSp>
            <p:nvGrpSpPr>
              <p:cNvPr id="19" name="Group 19"/>
              <p:cNvGrpSpPr/>
              <p:nvPr/>
            </p:nvGrpSpPr>
            <p:grpSpPr>
              <a:xfrm>
                <a:off x="2590800" y="2771775"/>
                <a:ext cx="457200" cy="95250"/>
                <a:chOff x="2590800" y="2771775"/>
                <a:chExt cx="457200" cy="95250"/>
              </a:xfrm>
            </p:grpSpPr>
            <p:sp>
              <p:nvSpPr>
                <p:cNvPr id="17" name="Rectangle 17"/>
                <p:cNvSpPr/>
                <p:nvPr/>
              </p:nvSpPr>
              <p:spPr>
                <a:xfrm>
                  <a:off x="2590800" y="2809875"/>
                  <a:ext cx="457200" cy="19050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2933700" y="2771775"/>
                  <a:ext cx="114300" cy="95250"/>
                </a:xfrm>
                <a:prstGeom prst="rightArrow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</p:grpSp>
          <p:sp>
            <p:nvSpPr>
              <p:cNvPr id="20" name="Rectangle 20"/>
              <p:cNvSpPr/>
              <p:nvPr/>
            </p:nvSpPr>
            <p:spPr>
              <a:xfrm>
                <a:off x="6086475" y="3314700"/>
                <a:ext cx="19050" cy="495300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1866900" y="3800475"/>
                <a:ext cx="8458200" cy="19050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1819275" y="3810000"/>
                <a:ext cx="95250" cy="228600"/>
                <a:chOff x="1819275" y="3810000"/>
                <a:chExt cx="95250" cy="228600"/>
              </a:xfrm>
            </p:grpSpPr>
            <p:sp>
              <p:nvSpPr>
                <p:cNvPr id="22" name="Rectangle 22"/>
                <p:cNvSpPr/>
                <p:nvPr/>
              </p:nvSpPr>
              <p:spPr>
                <a:xfrm>
                  <a:off x="1857375" y="3810000"/>
                  <a:ext cx="19050" cy="228600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819275" y="3924300"/>
                  <a:ext cx="95250" cy="114300"/>
                </a:xfrm>
                <a:prstGeom prst="downArrow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4638675" y="3810000"/>
                <a:ext cx="95250" cy="228600"/>
                <a:chOff x="4638675" y="3810000"/>
                <a:chExt cx="95250" cy="228600"/>
              </a:xfrm>
            </p:grpSpPr>
            <p:sp>
              <p:nvSpPr>
                <p:cNvPr id="25" name="Rectangle 25"/>
                <p:cNvSpPr/>
                <p:nvPr/>
              </p:nvSpPr>
              <p:spPr>
                <a:xfrm>
                  <a:off x="4676775" y="3810000"/>
                  <a:ext cx="19050" cy="228600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4638675" y="3924300"/>
                  <a:ext cx="95250" cy="114300"/>
                </a:xfrm>
                <a:prstGeom prst="downArrow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7458075" y="3810000"/>
                <a:ext cx="95250" cy="228600"/>
                <a:chOff x="7458075" y="3810000"/>
                <a:chExt cx="95250" cy="228600"/>
              </a:xfrm>
            </p:grpSpPr>
            <p:sp>
              <p:nvSpPr>
                <p:cNvPr id="28" name="Rectangle 28"/>
                <p:cNvSpPr/>
                <p:nvPr/>
              </p:nvSpPr>
              <p:spPr>
                <a:xfrm>
                  <a:off x="7496175" y="3810000"/>
                  <a:ext cx="19050" cy="228600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7458075" y="3924300"/>
                  <a:ext cx="95250" cy="114300"/>
                </a:xfrm>
                <a:prstGeom prst="downArrow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10277475" y="3810000"/>
                <a:ext cx="95250" cy="228600"/>
                <a:chOff x="10277475" y="3810000"/>
                <a:chExt cx="95250" cy="228600"/>
              </a:xfrm>
            </p:grpSpPr>
            <p:sp>
              <p:nvSpPr>
                <p:cNvPr id="31" name="Rectangle 31"/>
                <p:cNvSpPr/>
                <p:nvPr/>
              </p:nvSpPr>
              <p:spPr>
                <a:xfrm>
                  <a:off x="10315575" y="3810000"/>
                  <a:ext cx="19050" cy="228600"/>
                </a:xfrm>
                <a:prstGeom prst="rect">
                  <a:avLst/>
                </a:prstGeom>
                <a:solidFill>
                  <a:schemeClr val="accent1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0277475" y="3924300"/>
                  <a:ext cx="95250" cy="114300"/>
                </a:xfrm>
                <a:prstGeom prst="downArrow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</p:grpSp>
        </p:grpSp>
        <p:grpSp>
          <p:nvGrpSpPr>
            <p:cNvPr id="40" name="responsibility-1"/>
            <p:cNvGrpSpPr/>
            <p:nvPr/>
          </p:nvGrpSpPr>
          <p:grpSpPr>
            <a:xfrm>
              <a:off x="598932" y="4260850"/>
              <a:ext cx="2383155" cy="1575181"/>
              <a:chOff x="598932" y="4260850"/>
              <a:chExt cx="2383155" cy="1575181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598932" y="4260850"/>
                <a:ext cx="24704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策略与决策</a:t>
                </a:r>
              </a:p>
            </p:txBody>
          </p:sp>
          <p:grpSp>
            <p:nvGrpSpPr>
              <p:cNvPr id="39" name="Group 39"/>
              <p:cNvGrpSpPr/>
              <p:nvPr/>
            </p:nvGrpSpPr>
            <p:grpSpPr>
              <a:xfrm>
                <a:off x="599694" y="4730750"/>
                <a:ext cx="2382393" cy="1105281"/>
                <a:chOff x="599694" y="4730750"/>
                <a:chExt cx="2382393" cy="1105281"/>
              </a:xfrm>
            </p:grpSpPr>
            <p:sp>
              <p:nvSpPr>
                <p:cNvPr id="36" name="TextBox 36"/>
                <p:cNvSpPr txBox="1"/>
                <p:nvPr/>
              </p:nvSpPr>
              <p:spPr>
                <a:xfrm>
                  <a:off x="599694" y="4730750"/>
                  <a:ext cx="3357143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理解业务，提出判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599694" y="5092700"/>
                  <a:ext cx="3711531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断，制定方向与阶段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599694" y="5454650"/>
                  <a:ext cx="1585208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规划。</a:t>
                  </a:r>
                </a:p>
              </p:txBody>
            </p:sp>
          </p:grpSp>
        </p:grpSp>
        <p:grpSp>
          <p:nvGrpSpPr>
            <p:cNvPr id="46" name="responsibility-2"/>
            <p:cNvGrpSpPr/>
            <p:nvPr/>
          </p:nvGrpSpPr>
          <p:grpSpPr>
            <a:xfrm>
              <a:off x="3418332" y="4260850"/>
              <a:ext cx="2383155" cy="1575181"/>
              <a:chOff x="3418332" y="4260850"/>
              <a:chExt cx="2383155" cy="1575181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3418332" y="4260850"/>
                <a:ext cx="20887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项目统筹</a:t>
                </a:r>
              </a:p>
            </p:txBody>
          </p:sp>
          <p:grpSp>
            <p:nvGrpSpPr>
              <p:cNvPr id="45" name="Group 45"/>
              <p:cNvGrpSpPr/>
              <p:nvPr/>
            </p:nvGrpSpPr>
            <p:grpSpPr>
              <a:xfrm>
                <a:off x="3419094" y="4730750"/>
                <a:ext cx="2382393" cy="1105281"/>
                <a:chOff x="3419094" y="4730750"/>
                <a:chExt cx="2382393" cy="1105281"/>
              </a:xfrm>
            </p:grpSpPr>
            <p:sp>
              <p:nvSpPr>
                <p:cNvPr id="42" name="TextBox 42"/>
                <p:cNvSpPr txBox="1"/>
                <p:nvPr/>
              </p:nvSpPr>
              <p:spPr>
                <a:xfrm>
                  <a:off x="3419094" y="4730750"/>
                  <a:ext cx="3711531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协调任务、进度与沟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3419094" y="5092700"/>
                  <a:ext cx="3711531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通，跟进交付、处理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3419094" y="5454650"/>
                  <a:ext cx="2293982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协作问题。</a:t>
                  </a:r>
                </a:p>
              </p:txBody>
            </p:sp>
          </p:grpSp>
        </p:grpSp>
        <p:grpSp>
          <p:nvGrpSpPr>
            <p:cNvPr id="52" name="responsibility-3"/>
            <p:cNvGrpSpPr/>
            <p:nvPr/>
          </p:nvGrpSpPr>
          <p:grpSpPr>
            <a:xfrm>
              <a:off x="6237732" y="4260850"/>
              <a:ext cx="2383155" cy="1575181"/>
              <a:chOff x="6237732" y="4260850"/>
              <a:chExt cx="2383155" cy="1575181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6237732" y="4260850"/>
                <a:ext cx="20887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直接执行</a:t>
                </a:r>
              </a:p>
            </p:txBody>
          </p:sp>
          <p:grpSp>
            <p:nvGrpSpPr>
              <p:cNvPr id="51" name="Group 51"/>
              <p:cNvGrpSpPr/>
              <p:nvPr/>
            </p:nvGrpSpPr>
            <p:grpSpPr>
              <a:xfrm>
                <a:off x="6238494" y="4730750"/>
                <a:ext cx="2382393" cy="1105281"/>
                <a:chOff x="6238494" y="4730750"/>
                <a:chExt cx="2382393" cy="1105281"/>
              </a:xfrm>
            </p:grpSpPr>
            <p:sp>
              <p:nvSpPr>
                <p:cNvPr id="48" name="TextBox 48"/>
                <p:cNvSpPr txBox="1"/>
                <p:nvPr/>
              </p:nvSpPr>
              <p:spPr>
                <a:xfrm>
                  <a:off x="6238494" y="4730750"/>
                  <a:ext cx="3711531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承担约定的内容、达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6238494" y="5092700"/>
                  <a:ext cx="3711531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人、广告与投放等关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6238494" y="5454650"/>
                  <a:ext cx="1939595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键工作。</a:t>
                  </a:r>
                </a:p>
              </p:txBody>
            </p:sp>
          </p:grpSp>
        </p:grpSp>
        <p:grpSp>
          <p:nvGrpSpPr>
            <p:cNvPr id="58" name="responsibility-4"/>
            <p:cNvGrpSpPr/>
            <p:nvPr/>
          </p:nvGrpSpPr>
          <p:grpSpPr>
            <a:xfrm>
              <a:off x="9057132" y="4260850"/>
              <a:ext cx="2383155" cy="1575181"/>
              <a:chOff x="9057132" y="4260850"/>
              <a:chExt cx="2383155" cy="1575181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9057132" y="4260850"/>
                <a:ext cx="20887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专业协作</a:t>
                </a:r>
              </a:p>
            </p:txBody>
          </p:sp>
          <p:grpSp>
            <p:nvGrpSpPr>
              <p:cNvPr id="57" name="Group 57"/>
              <p:cNvGrpSpPr/>
              <p:nvPr/>
            </p:nvGrpSpPr>
            <p:grpSpPr>
              <a:xfrm>
                <a:off x="9057894" y="4730750"/>
                <a:ext cx="2382393" cy="1105281"/>
                <a:chOff x="9057894" y="4730750"/>
                <a:chExt cx="2382393" cy="1105281"/>
              </a:xfrm>
            </p:grpSpPr>
            <p:sp>
              <p:nvSpPr>
                <p:cNvPr id="54" name="TextBox 54"/>
                <p:cNvSpPr txBox="1"/>
                <p:nvPr/>
              </p:nvSpPr>
              <p:spPr>
                <a:xfrm>
                  <a:off x="9057894" y="4730750"/>
                  <a:ext cx="3057906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组织专项伙伴，明确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9057894" y="5092700"/>
                  <a:ext cx="3057906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要求与分工，衔接整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9057894" y="5454650"/>
                  <a:ext cx="1939595" cy="3813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950" dirty="0" b="0">
                      <a:solidFill>
                        <a:schemeClr val="dk1"/>
                      </a:solidFill>
                      <a:latin typeface="Noto Sans SC"/>
                      <a:ea typeface="Noto Sans SC"/>
                      <a:cs typeface="Noto Sans SC"/>
                    </a:rPr>
                    <a:t>体交付。</a:t>
                  </a:r>
                </a:p>
              </p:txBody>
            </p:sp>
          </p:grpSp>
        </p:grpSp>
      </p:grpSp>
      <p:grpSp>
        <p:nvGrpSpPr>
          <p:cNvPr id="64" name="scope-note"/>
          <p:cNvGrpSpPr/>
          <p:nvPr/>
        </p:nvGrpSpPr>
        <p:grpSpPr>
          <a:xfrm>
            <a:off x="601218" y="5873750"/>
            <a:ext cx="4444758" cy="322707"/>
            <a:chOff x="601218" y="5873750"/>
            <a:chExt cx="4444758" cy="322707"/>
          </a:xfrm>
        </p:grpSpPr>
        <p:grpSp>
          <p:nvGrpSpPr>
            <p:cNvPr id="63" name="Group 63"/>
            <p:cNvGrpSpPr/>
            <p:nvPr/>
          </p:nvGrpSpPr>
          <p:grpSpPr>
            <a:xfrm>
              <a:off x="601218" y="5873750"/>
              <a:ext cx="4444758" cy="322707"/>
              <a:chOff x="601218" y="5873750"/>
              <a:chExt cx="4444758" cy="322707"/>
            </a:xfrm>
          </p:grpSpPr>
          <p:sp>
            <p:nvSpPr>
              <p:cNvPr id="60" name="TextBox 60"/>
              <p:cNvSpPr txBox="1"/>
              <p:nvPr/>
            </p:nvSpPr>
            <p:spPr>
              <a:xfrm>
                <a:off x="601218" y="5873750"/>
                <a:ext cx="413008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chemeClr val="accent5"/>
                    </a:solidFill>
                    <a:latin typeface="Noto Sans SC"/>
                    <a:ea typeface="Noto Sans SC"/>
                    <a:cs typeface="Noto Sans SC"/>
                  </a:rPr>
                  <a:t xml:space="preserve">伙伴参与执行时，客户仍由 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3162848" y="5873750"/>
                <a:ext cx="16811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 b="0">
                    <a:solidFill>
                      <a:schemeClr val="accent5"/>
                    </a:solidFill>
                    <a:latin typeface="Instrument Sans"/>
                    <a:ea typeface="Instrument Sans"/>
                    <a:cs typeface="Instrument Sans"/>
                  </a:rPr>
                  <a:t xml:space="preserve">Outrise 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3918597" y="5873750"/>
                <a:ext cx="194106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chemeClr val="accent5"/>
                    </a:solidFill>
                    <a:latin typeface="Noto Sans SC"/>
                    <a:ea typeface="Noto Sans SC"/>
                    <a:cs typeface="Noto Sans SC"/>
                  </a:rPr>
                  <a:t>统一承接。</a:t>
                </a:r>
              </a:p>
            </p:txBody>
          </p:sp>
        </p:grpSp>
      </p:grpSp>
      <p:grpSp>
        <p:nvGrpSpPr>
          <p:cNvPr id="69" name="footer"/>
          <p:cNvGrpSpPr/>
          <p:nvPr/>
        </p:nvGrpSpPr>
        <p:grpSpPr>
          <a:xfrm>
            <a:off x="609600" y="6186488"/>
            <a:ext cx="11106921" cy="563165"/>
            <a:chOff x="609600" y="6186488"/>
            <a:chExt cx="11106921" cy="563165"/>
          </a:xfrm>
        </p:grpSpPr>
        <p:sp>
          <p:nvSpPr>
            <p:cNvPr id="65" name="Rectangle 65"/>
            <p:cNvSpPr/>
            <p:nvPr/>
          </p:nvSpPr>
          <p:spPr>
            <a:xfrm>
              <a:off x="609600" y="6186488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pic>
          <p:nvPicPr>
            <p:cNvPr id="66" name="Image 6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67" name="TextBox 67"/>
            <p:cNvSpPr txBox="1"/>
            <p:nvPr/>
          </p:nvSpPr>
          <p:spPr>
            <a:xfrm>
              <a:off x="10509504" y="6191250"/>
              <a:ext cx="1606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谁来为客户负责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163157" y="6457950"/>
              <a:ext cx="952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Instrument Sans"/>
                  <a:cs typeface="Instrument Sans"/>
                </a:rPr>
                <a:t>15 / 17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00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opening"/>
          <p:cNvGrpSpPr/>
          <p:nvPr/>
        </p:nvGrpSpPr>
        <p:grpSpPr>
          <a:xfrm>
            <a:off x="592836" y="330200"/>
            <a:ext cx="6697218" cy="1089914"/>
            <a:chOff x="592836" y="330200"/>
            <a:chExt cx="6697218" cy="1089914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30200"/>
              <a:ext cx="2078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rgbClr val="FFFFFF"/>
                  </a:solidFill>
                  <a:latin typeface="Noto Sans SC Medium"/>
                  <a:ea typeface="Noto Sans SC Medium"/>
                  <a:cs typeface="Noto Sans SC Medium"/>
                </a:rPr>
                <a:t>如何与我们合作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774700"/>
              <a:ext cx="987944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rgbClr val="FFFFFF"/>
                  </a:solidFill>
                  <a:latin typeface="Noto Sans SC SemiBold"/>
                  <a:ea typeface="Noto Sans SC SemiBold"/>
                  <a:cs typeface="Noto Sans SC SemiBold"/>
                </a:rPr>
                <a:t>按业务阶段，选择合适的合作深度</a:t>
              </a:r>
            </a:p>
          </p:txBody>
        </p:sp>
      </p:grpSp>
      <p:grpSp>
        <p:nvGrpSpPr>
          <p:cNvPr id="7" name="lead"/>
          <p:cNvGrpSpPr/>
          <p:nvPr/>
        </p:nvGrpSpPr>
        <p:grpSpPr>
          <a:xfrm>
            <a:off x="599694" y="1473200"/>
            <a:ext cx="7107555" cy="381381"/>
            <a:chOff x="599694" y="1473200"/>
            <a:chExt cx="7107555" cy="381381"/>
          </a:xfrm>
        </p:grpSpPr>
        <p:sp>
          <p:nvSpPr>
            <p:cNvPr id="6" name="TextBox 6"/>
            <p:cNvSpPr txBox="1"/>
            <p:nvPr/>
          </p:nvSpPr>
          <p:spPr>
            <a:xfrm>
              <a:off x="599694" y="1473200"/>
              <a:ext cx="1009049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以策略咨询为核心，结合业务目标约定工作范围与执行支持。</a:t>
              </a:r>
            </a:p>
          </p:txBody>
        </p:sp>
      </p:grpSp>
      <p:grpSp>
        <p:nvGrpSpPr>
          <p:cNvPr id="16" name="cooperation-1"/>
          <p:cNvGrpSpPr/>
          <p:nvPr/>
        </p:nvGrpSpPr>
        <p:grpSpPr>
          <a:xfrm>
            <a:off x="597408" y="2343150"/>
            <a:ext cx="3598355" cy="3371850"/>
            <a:chOff x="597408" y="2343150"/>
            <a:chExt cx="3598355" cy="3371850"/>
          </a:xfrm>
        </p:grpSpPr>
        <p:sp>
          <p:nvSpPr>
            <p:cNvPr id="8" name="Rectangle 8"/>
            <p:cNvSpPr/>
            <p:nvPr/>
          </p:nvSpPr>
          <p:spPr>
            <a:xfrm>
              <a:off x="609600" y="2343150"/>
              <a:ext cx="457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7408" y="2527300"/>
              <a:ext cx="238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Noto Sans SC Medium"/>
                  <a:ea typeface="Noto Sans SC Medium"/>
                  <a:cs typeface="Noto Sans SC Medium"/>
                </a:rPr>
                <a:t>策略咨询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218" y="3435350"/>
              <a:ext cx="31405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1"/>
                  </a:solidFill>
                  <a:latin typeface="Noto Sans SC"/>
                  <a:ea typeface="Noto Sans SC"/>
                  <a:cs typeface="Noto Sans SC"/>
                </a:rPr>
                <a:t>需要厘清问题与方向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599694" y="3854450"/>
              <a:ext cx="3169920" cy="1105281"/>
              <a:chOff x="599694" y="3854450"/>
              <a:chExt cx="3169920" cy="1105281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599694" y="3854450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围绕市场、定位或渠道等明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99694" y="4216400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确问题，形成判断、建议与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99694" y="4578350"/>
                <a:ext cx="229398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行动方向。</a:t>
                </a:r>
              </a:p>
            </p:txBody>
          </p:sp>
        </p:grpSp>
        <p:sp>
          <p:nvSpPr>
            <p:cNvPr id="15" name="Rectangle 15"/>
            <p:cNvSpPr/>
            <p:nvPr/>
          </p:nvSpPr>
          <p:spPr>
            <a:xfrm>
              <a:off x="4186238" y="2343150"/>
              <a:ext cx="9525" cy="33718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29" name="cooperation-2"/>
          <p:cNvGrpSpPr/>
          <p:nvPr/>
        </p:nvGrpSpPr>
        <p:grpSpPr>
          <a:xfrm>
            <a:off x="4407408" y="2343150"/>
            <a:ext cx="3598355" cy="3371850"/>
            <a:chOff x="4407408" y="2343150"/>
            <a:chExt cx="3598355" cy="3371850"/>
          </a:xfrm>
        </p:grpSpPr>
        <p:sp>
          <p:nvSpPr>
            <p:cNvPr id="17" name="Rectangle 17"/>
            <p:cNvSpPr/>
            <p:nvPr/>
          </p:nvSpPr>
          <p:spPr>
            <a:xfrm>
              <a:off x="4419600" y="2343150"/>
              <a:ext cx="457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4407408" y="2527300"/>
              <a:ext cx="2022384" cy="888492"/>
              <a:chOff x="4407408" y="2527300"/>
              <a:chExt cx="2022384" cy="888492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4407408" y="2527300"/>
                <a:ext cx="208187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 xml:space="preserve">阶段性 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390418" y="2527300"/>
                <a:ext cx="149510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dirty="0" b="0">
                    <a:solidFill>
                      <a:schemeClr val="dk1"/>
                    </a:solidFill>
                    <a:latin typeface="Instrument Sans Medium"/>
                    <a:ea typeface="Instrument Sans Medium"/>
                    <a:cs typeface="Instrument Sans Medium"/>
                  </a:rPr>
                  <a:t>GTM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082320" y="2527300"/>
                <a:ext cx="107868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／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07408" y="2946400"/>
                <a:ext cx="238719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品牌项目</a:t>
                </a: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4411218" y="3435350"/>
              <a:ext cx="31405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1"/>
                  </a:solidFill>
                  <a:latin typeface="Noto Sans SC"/>
                  <a:ea typeface="Noto Sans SC"/>
                  <a:cs typeface="Noto Sans SC"/>
                </a:rPr>
                <a:t>需要推进阶段性目标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4409694" y="3854450"/>
              <a:ext cx="3169920" cy="1105281"/>
              <a:chOff x="4409694" y="3854450"/>
              <a:chExt cx="3169920" cy="1105281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4409694" y="3854450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围绕明确的阶段目标，共同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09694" y="4216400"/>
                <a:ext cx="477469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制定方案，完成规划与选定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409694" y="4578350"/>
                <a:ext cx="264836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的关键执行。</a:t>
                </a:r>
              </a:p>
            </p:txBody>
          </p:sp>
        </p:grpSp>
        <p:sp>
          <p:nvSpPr>
            <p:cNvPr id="28" name="Rectangle 28"/>
            <p:cNvSpPr/>
            <p:nvPr/>
          </p:nvSpPr>
          <p:spPr>
            <a:xfrm>
              <a:off x="7996238" y="2343150"/>
              <a:ext cx="9525" cy="33718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42" name="cooperation-3"/>
          <p:cNvGrpSpPr/>
          <p:nvPr/>
        </p:nvGrpSpPr>
        <p:grpSpPr>
          <a:xfrm>
            <a:off x="8217408" y="2343150"/>
            <a:ext cx="3172206" cy="3340481"/>
            <a:chOff x="8217408" y="2343150"/>
            <a:chExt cx="3172206" cy="3340481"/>
          </a:xfrm>
        </p:grpSpPr>
        <p:sp>
          <p:nvSpPr>
            <p:cNvPr id="30" name="Rectangle 30"/>
            <p:cNvSpPr/>
            <p:nvPr/>
          </p:nvSpPr>
          <p:spPr>
            <a:xfrm>
              <a:off x="8229600" y="2343150"/>
              <a:ext cx="4572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217408" y="2527300"/>
              <a:ext cx="1962912" cy="888492"/>
              <a:chOff x="8217408" y="2527300"/>
              <a:chExt cx="1962912" cy="888492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8217408" y="2527300"/>
                <a:ext cx="325953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持续营销统筹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217408" y="2946400"/>
                <a:ext cx="282336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chemeClr val="dk1"/>
                    </a:solidFill>
                    <a:latin typeface="Noto Sans SC Medium"/>
                    <a:ea typeface="Noto Sans SC Medium"/>
                    <a:cs typeface="Noto Sans SC Medium"/>
                  </a:rPr>
                  <a:t>与团队支持</a:t>
                </a:r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8221218" y="3435350"/>
              <a:ext cx="31405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1"/>
                  </a:solidFill>
                  <a:latin typeface="Noto Sans SC"/>
                  <a:ea typeface="Noto Sans SC"/>
                  <a:cs typeface="Noto Sans SC"/>
                </a:rPr>
                <a:t>需要持续判断与推进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8219694" y="3854450"/>
              <a:ext cx="3169920" cy="1829181"/>
              <a:chOff x="8219694" y="3854450"/>
              <a:chExt cx="3169920" cy="1829181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8219694" y="3854450"/>
                <a:ext cx="38961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持续参与重点讨论、资源协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19694" y="4216400"/>
                <a:ext cx="38961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调与工作复盘。在持续合作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219694" y="4578350"/>
                <a:ext cx="38961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 xml:space="preserve">中，我们承担类似外部 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751707" y="4578350"/>
                <a:ext cx="128966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chemeClr val="dk1"/>
                    </a:solidFill>
                    <a:latin typeface="Instrument Sans"/>
                    <a:ea typeface="Instrument Sans"/>
                    <a:cs typeface="Instrument Sans"/>
                  </a:rPr>
                  <a:t>CMO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219694" y="4940300"/>
                <a:ext cx="389610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的营销统筹职责，并按约定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219694" y="5302250"/>
                <a:ext cx="300275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Noto Sans SC"/>
                    <a:ea typeface="Noto Sans SC"/>
                    <a:cs typeface="Noto Sans SC"/>
                  </a:rPr>
                  <a:t>推进关键工作。</a:t>
                </a:r>
              </a:p>
            </p:txBody>
          </p:sp>
        </p:grpSp>
      </p:grpSp>
      <p:grpSp>
        <p:nvGrpSpPr>
          <p:cNvPr id="44" name="scope-note"/>
          <p:cNvGrpSpPr/>
          <p:nvPr/>
        </p:nvGrpSpPr>
        <p:grpSpPr>
          <a:xfrm>
            <a:off x="601218" y="5873750"/>
            <a:ext cx="5125593" cy="322707"/>
            <a:chOff x="601218" y="5873750"/>
            <a:chExt cx="5125593" cy="322707"/>
          </a:xfrm>
        </p:grpSpPr>
        <p:sp>
          <p:nvSpPr>
            <p:cNvPr id="43" name="TextBox 43"/>
            <p:cNvSpPr txBox="1"/>
            <p:nvPr/>
          </p:nvSpPr>
          <p:spPr>
            <a:xfrm>
              <a:off x="601218" y="5873750"/>
              <a:ext cx="73386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每次合作共同明确：目标、交付、分工与评估方式。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609600" y="6186488"/>
            <a:ext cx="11101563" cy="563165"/>
            <a:chOff x="609600" y="6186488"/>
            <a:chExt cx="11101563" cy="563165"/>
          </a:xfrm>
        </p:grpSpPr>
        <p:sp>
          <p:nvSpPr>
            <p:cNvPr id="45" name="Rectangle 45"/>
            <p:cNvSpPr/>
            <p:nvPr/>
          </p:nvSpPr>
          <p:spPr>
            <a:xfrm>
              <a:off x="609600" y="6186488"/>
              <a:ext cx="109728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pic>
          <p:nvPicPr>
            <p:cNvPr id="46" name="Image 4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47" name="TextBox 47"/>
            <p:cNvSpPr txBox="1"/>
            <p:nvPr/>
          </p:nvSpPr>
          <p:spPr>
            <a:xfrm>
              <a:off x="10509504" y="6191250"/>
              <a:ext cx="1606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Noto Sans SC"/>
                  <a:ea typeface="Noto Sans SC"/>
                  <a:cs typeface="Noto Sans SC"/>
                </a:rPr>
                <a:t>如何与我们合作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157799" y="6457950"/>
              <a:ext cx="9580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Instrument Sans"/>
                  <a:cs typeface="Instrument Sans"/>
                </a:rPr>
                <a:t>16 / 17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losing-brand"/>
          <p:cNvGrpSpPr/>
          <p:nvPr/>
        </p:nvGrpSpPr>
        <p:grpSpPr>
          <a:xfrm>
            <a:off x="609600" y="473075"/>
            <a:ext cx="11001390" cy="1911350"/>
            <a:chOff x="609600" y="473075"/>
            <a:chExt cx="11001390" cy="1911350"/>
          </a:xfrm>
        </p:grpSpPr>
        <p:sp>
          <p:nvSpPr>
            <p:cNvPr id="2" name="TextBox 2"/>
            <p:cNvSpPr txBox="1"/>
            <p:nvPr/>
          </p:nvSpPr>
          <p:spPr>
            <a:xfrm>
              <a:off x="9177772" y="473075"/>
              <a:ext cx="2938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 b="0">
                  <a:solidFill>
                    <a:srgbClr val="FFFFFF"/>
                  </a:solidFill>
                  <a:latin typeface="Instrument Sans Medium"/>
                  <a:ea typeface="Instrument Sans Medium"/>
                  <a:cs typeface="Instrument Sans Medium"/>
                </a:rPr>
                <a:t>LET’S TALK NORTH AMERICA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771525"/>
              <a:ext cx="6096000" cy="1612900"/>
            </a:xfrm>
            <a:prstGeom prst="rect">
              <a:avLst/>
            </a:prstGeom>
          </p:spPr>
        </p:pic>
      </p:grpSp>
      <p:grpSp>
        <p:nvGrpSpPr>
          <p:cNvPr id="11" name="closing-invitation"/>
          <p:cNvGrpSpPr/>
          <p:nvPr/>
        </p:nvGrpSpPr>
        <p:grpSpPr>
          <a:xfrm>
            <a:off x="590550" y="2787650"/>
            <a:ext cx="7116699" cy="2467356"/>
            <a:chOff x="590550" y="2787650"/>
            <a:chExt cx="7116699" cy="2467356"/>
          </a:xfrm>
        </p:grpSpPr>
        <p:grpSp>
          <p:nvGrpSpPr>
            <p:cNvPr id="7" name="Group 7"/>
            <p:cNvGrpSpPr/>
            <p:nvPr/>
          </p:nvGrpSpPr>
          <p:grpSpPr>
            <a:xfrm>
              <a:off x="590550" y="2787650"/>
              <a:ext cx="4561332" cy="1724025"/>
              <a:chOff x="590550" y="2787650"/>
              <a:chExt cx="4561332" cy="1724025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590550" y="2787650"/>
                <a:ext cx="7376998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dirty="0" b="0">
                    <a:solidFill>
                      <a:srgbClr val="FFFFFF"/>
                    </a:solidFill>
                    <a:latin typeface="Noto Sans SC SemiBold"/>
                    <a:ea typeface="Noto Sans SC SemiBold"/>
                    <a:cs typeface="Noto Sans SC SemiBold"/>
                  </a:rPr>
                  <a:t>从你的北美市场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590550" y="3578225"/>
                <a:ext cx="4759985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dirty="0" b="0">
                    <a:solidFill>
                      <a:srgbClr val="FFFFFF"/>
                    </a:solidFill>
                    <a:latin typeface="Noto Sans SC SemiBold"/>
                    <a:ea typeface="Noto Sans SC SemiBold"/>
                    <a:cs typeface="Noto Sans SC SemiBold"/>
                  </a:rPr>
                  <a:t>目标开始</a:t>
                </a: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599694" y="4511675"/>
              <a:ext cx="7107555" cy="743331"/>
              <a:chOff x="599694" y="4511675"/>
              <a:chExt cx="7107555" cy="743331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599694" y="4511675"/>
                <a:ext cx="1009049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告诉我们你的产品、目标与当前营销难题，一起确定合适的合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99694" y="4873625"/>
                <a:ext cx="229398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作切入点。</a:t>
                </a:r>
              </a:p>
            </p:txBody>
          </p:sp>
        </p:grpSp>
      </p:grpSp>
      <p:grpSp>
        <p:nvGrpSpPr>
          <p:cNvPr id="13" name="contact-email"/>
          <p:cNvGrpSpPr/>
          <p:nvPr/>
        </p:nvGrpSpPr>
        <p:grpSpPr>
          <a:xfrm>
            <a:off x="592836" y="5480050"/>
            <a:ext cx="4920234" cy="645414"/>
            <a:chOff x="592836" y="5480050"/>
            <a:chExt cx="4920234" cy="645414"/>
          </a:xfrm>
        </p:grpSpPr>
        <p:sp>
          <p:nvSpPr>
            <p:cNvPr id="12" name="TextBox 12"/>
            <p:cNvSpPr txBox="1"/>
            <p:nvPr/>
          </p:nvSpPr>
          <p:spPr>
            <a:xfrm>
              <a:off x="592836" y="5480050"/>
              <a:ext cx="748051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dirty="0" b="0">
                  <a:solidFill>
                    <a:srgbClr val="FFFFFF"/>
                  </a:solidFill>
                  <a:latin typeface="Instrument Sans Medium"/>
                  <a:ea typeface="Instrument Sans Medium"/>
                  <a:cs typeface="Instrument Sans Medium"/>
                </a:rPr>
                <a:t>hello@outrisetech.com</a:t>
              </a:r>
            </a:p>
          </p:txBody>
        </p:sp>
      </p:grpSp>
      <p:grpSp>
        <p:nvGrpSpPr>
          <p:cNvPr id="24" name="conversation-inputs"/>
          <p:cNvGrpSpPr/>
          <p:nvPr/>
        </p:nvGrpSpPr>
        <p:grpSpPr>
          <a:xfrm>
            <a:off x="8529638" y="3105150"/>
            <a:ext cx="2761297" cy="2895600"/>
            <a:chOff x="8529638" y="3105150"/>
            <a:chExt cx="2761297" cy="2895600"/>
          </a:xfrm>
        </p:grpSpPr>
        <p:sp>
          <p:nvSpPr>
            <p:cNvPr id="14" name="Rectangle 14"/>
            <p:cNvSpPr/>
            <p:nvPr/>
          </p:nvSpPr>
          <p:spPr>
            <a:xfrm>
              <a:off x="8529638" y="3105150"/>
              <a:ext cx="9525" cy="2895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7" name="conversation-input-1"/>
            <p:cNvGrpSpPr/>
            <p:nvPr/>
          </p:nvGrpSpPr>
          <p:grpSpPr>
            <a:xfrm>
              <a:off x="8828532" y="3117850"/>
              <a:ext cx="2240280" cy="773557"/>
              <a:chOff x="8828532" y="3117850"/>
              <a:chExt cx="2240280" cy="773557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8828532" y="3117850"/>
                <a:ext cx="24704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>产品与业务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830818" y="3568700"/>
                <a:ext cx="328498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你为谁提供什么价值？</a:t>
                </a:r>
              </a:p>
            </p:txBody>
          </p:sp>
        </p:grpSp>
        <p:grpSp>
          <p:nvGrpSpPr>
            <p:cNvPr id="20" name="conversation-input-2"/>
            <p:cNvGrpSpPr/>
            <p:nvPr/>
          </p:nvGrpSpPr>
          <p:grpSpPr>
            <a:xfrm>
              <a:off x="8828532" y="4051300"/>
              <a:ext cx="2240280" cy="773557"/>
              <a:chOff x="8828532" y="4051300"/>
              <a:chExt cx="2240280" cy="773557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828532" y="4051300"/>
                <a:ext cx="285209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>北美市场目标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830818" y="4502150"/>
                <a:ext cx="328498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当前最希望推进什么？</a:t>
                </a:r>
              </a:p>
            </p:txBody>
          </p:sp>
        </p:grpSp>
        <p:grpSp>
          <p:nvGrpSpPr>
            <p:cNvPr id="23" name="conversation-input-3"/>
            <p:cNvGrpSpPr/>
            <p:nvPr/>
          </p:nvGrpSpPr>
          <p:grpSpPr>
            <a:xfrm>
              <a:off x="8828532" y="4984750"/>
              <a:ext cx="2462403" cy="773557"/>
              <a:chOff x="8828532" y="4984750"/>
              <a:chExt cx="2462403" cy="773557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8828532" y="4984750"/>
                <a:ext cx="208879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rgbClr val="FFFFFF"/>
                    </a:solidFill>
                    <a:latin typeface="Noto Sans SC Medium"/>
                    <a:ea typeface="Noto Sans SC Medium"/>
                    <a:cs typeface="Noto Sans SC Medium"/>
                  </a:rPr>
                  <a:t>营销难题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830818" y="5435600"/>
                <a:ext cx="328498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哪些营销工作需要支持？</a:t>
                </a:r>
              </a:p>
            </p:txBody>
          </p:sp>
        </p:grpSp>
      </p:grpSp>
      <p:grpSp>
        <p:nvGrpSpPr>
          <p:cNvPr id="31" name="footer"/>
          <p:cNvGrpSpPr/>
          <p:nvPr/>
        </p:nvGrpSpPr>
        <p:grpSpPr>
          <a:xfrm>
            <a:off x="603504" y="6191250"/>
            <a:ext cx="11119268" cy="501396"/>
            <a:chOff x="603504" y="6191250"/>
            <a:chExt cx="11119268" cy="501396"/>
          </a:xfrm>
        </p:grpSpPr>
        <p:grpSp>
          <p:nvGrpSpPr>
            <p:cNvPr id="28" name="Group 28"/>
            <p:cNvGrpSpPr/>
            <p:nvPr/>
          </p:nvGrpSpPr>
          <p:grpSpPr>
            <a:xfrm>
              <a:off x="603504" y="6457950"/>
              <a:ext cx="2927896" cy="234696"/>
              <a:chOff x="603504" y="6457950"/>
              <a:chExt cx="2927896" cy="234696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603504" y="6457950"/>
                <a:ext cx="19132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 xml:space="preserve">专注北美市场的 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704534" y="6457950"/>
                <a:ext cx="13718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 b="0">
                    <a:solidFill>
                      <a:srgbClr val="FFFFFF"/>
                    </a:solidFill>
                    <a:latin typeface="Instrument Sans"/>
                    <a:ea typeface="Instrument Sans"/>
                    <a:cs typeface="Instrument Sans"/>
                  </a:rPr>
                  <a:t xml:space="preserve">AI-native 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388400" y="6457950"/>
                <a:ext cx="18478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 b="0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营销与增长团队</a:t>
                </a: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0966704" y="6191250"/>
              <a:ext cx="11490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开始合作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69408" y="6457950"/>
              <a:ext cx="946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Instrument Sans"/>
                  <a:cs typeface="Instrument Sans"/>
                </a:rPr>
                <a:t>17 / 17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utrise-v8-canva">
  <a:themeElements>
    <a:clrScheme name="outrise-v8-canva">
      <a:dk1>
        <a:srgbClr val="111111"/>
      </a:dk1>
      <a:lt1>
        <a:srgbClr val="F4F1E9"/>
      </a:lt1>
      <a:dk2>
        <a:srgbClr val="1F497D"/>
      </a:dk2>
      <a:lt2>
        <a:srgbClr val="FFFFFF"/>
      </a:lt2>
      <a:accent1>
        <a:srgbClr val="C9381E"/>
      </a:accent1>
      <a:accent2>
        <a:srgbClr val="9B5E00"/>
      </a:accent2>
      <a:accent3>
        <a:srgbClr val="111111"/>
      </a:accent3>
      <a:accent4>
        <a:srgbClr val="C9381E"/>
      </a:accent4>
      <a:accent5>
        <a:srgbClr val="62625D"/>
      </a:accent5>
      <a:accent6>
        <a:srgbClr val="D6D4CB"/>
      </a:accent6>
      <a:hlink>
        <a:srgbClr val="9B5E00"/>
      </a:hlink>
      <a:folHlink>
        <a:srgbClr val="111111"/>
      </a:folHlink>
    </a:clrScheme>
    <a:fontScheme name="outrise-v8-canva">
      <a:majorFont>
        <a:latin typeface="Instrument Sans SemiBold"/>
        <a:ea typeface="Noto Sans SC SemiBold"/>
        <a:cs typeface="Instrument Sans SemiBold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strument Sans"/>
        <a:ea typeface="Noto Sans SC"/>
        <a:cs typeface="Instrument San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utrise-v8-canv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2026-10-26T21:57:52Z</dcterms:created>
  <dcterms:modified xsi:type="dcterms:W3CDTF">2026-10-26T21:57:52Z</dcterms:modified>
  <cp:category/>
  <cp:contentStatus/>
</cp:coreProperties>
</file>