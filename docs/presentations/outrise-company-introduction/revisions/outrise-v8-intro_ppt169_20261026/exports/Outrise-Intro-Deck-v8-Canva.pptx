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Default Extension="fntdata" ContentType="application/x-fontdata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strument Sans" charset="1"/>
      <p:regular r:id="rIdOutriseFont1"/>
    </p:embeddedFont>
    <p:embeddedFont>
      <p:font typeface="Instrument Sans Medium" charset="1"/>
      <p:regular r:id="rIdOutriseFont2"/>
    </p:embeddedFont>
    <p:embeddedFont>
      <p:font typeface="Instrument Sans SemiBold" charset="1"/>
      <p:regular r:id="rIdOutriseFont3"/>
    </p:embeddedFont>
    <p:embeddedFont>
      <p:font typeface="Noto Sans SC" charset="1"/>
      <p:regular r:id="rIdOutriseFont4"/>
    </p:embeddedFont>
    <p:embeddedFont>
      <p:font typeface="Noto Sans SC Medium" charset="1"/>
      <p:regular r:id="rIdOutriseFont5"/>
    </p:embeddedFont>
    <p:embeddedFont>
      <p:font typeface="Noto Sans SC SemiBold" charset="1"/>
      <p:regular r:id="rIdOutriseFont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OutriseFont1" Type="http://schemas.openxmlformats.org/officeDocument/2006/relationships/font" Target="fonts/outrise-1.fntdata"/><Relationship Id="rIdOutriseFont2" Type="http://schemas.openxmlformats.org/officeDocument/2006/relationships/font" Target="fonts/outrise-2.fntdata"/><Relationship Id="rIdOutriseFont3" Type="http://schemas.openxmlformats.org/officeDocument/2006/relationships/font" Target="fonts/outrise-3.fntdata"/><Relationship Id="rIdOutriseFont4" Type="http://schemas.openxmlformats.org/officeDocument/2006/relationships/font" Target="fonts/outrise-4.fntdata"/><Relationship Id="rIdOutriseFont5" Type="http://schemas.openxmlformats.org/officeDocument/2006/relationships/font" Target="fonts/outrise-5.fntdata"/><Relationship Id="rIdOutriseFont6" Type="http://schemas.openxmlformats.org/officeDocument/2006/relationships/font" Target="fonts/outrise-6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30074" y="709612"/>
            <a:ext cx="424362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NORTH AMERICA FOCUSED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471612"/>
            <a:ext cx="11430000" cy="3024188"/>
            <a:chOff x="0" y="0"/>
            <a:chExt cx="15240000" cy="4032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0" cy="4032250"/>
            </a:xfrm>
            <a:custGeom>
              <a:avLst/>
              <a:gdLst/>
              <a:ahLst/>
              <a:cxnLst/>
              <a:rect r="r" b="b" t="t" l="l"/>
              <a:pathLst>
                <a:path h="403225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4032250"/>
                  </a:lnTo>
                  <a:lnTo>
                    <a:pt x="0" y="403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077940" y="2320252"/>
            <a:ext cx="2619404" cy="1998745"/>
          </a:xfrm>
          <a:custGeom>
            <a:avLst/>
            <a:gdLst/>
            <a:ahLst/>
            <a:cxnLst/>
            <a:rect r="r" b="b" t="t" l="l"/>
            <a:pathLst>
              <a:path h="1998745" w="2619404">
                <a:moveTo>
                  <a:pt x="0" y="0"/>
                </a:moveTo>
                <a:lnTo>
                  <a:pt x="2619404" y="0"/>
                </a:lnTo>
                <a:lnTo>
                  <a:pt x="2619404" y="1998745"/>
                </a:lnTo>
                <a:lnTo>
                  <a:pt x="0" y="1998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5825" y="5281612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专注北美市场的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825" y="6467475"/>
            <a:ext cx="820931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AI-native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174" y="6467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营销与增长团队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84153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策略判断 · 营销规划 · 关键执行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256" y="9686925"/>
            <a:ext cx="60121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/ COMPANY 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23747" y="9686925"/>
            <a:ext cx="14499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专注北美，以策略判断连接行动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3538538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3529013"/>
            <a:ext cx="159344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为消费品牌与科技创业公司提供北美市场的营销支持。我们从业务目标和用户需求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071937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出发，明确市场方向、建立品牌表达，规划渠道与资源投入，并推进约定的关键营销工作。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5886450"/>
            <a:ext cx="628650" cy="57150"/>
            <a:chOff x="0" y="0"/>
            <a:chExt cx="8382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6205538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北美市场聚焦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70294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围绕当地用户、市场环境与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渠道特点，做出贴合目标市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541" y="81153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场的营销选择。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29400" y="5886450"/>
            <a:ext cx="628650" cy="57150"/>
            <a:chOff x="0" y="0"/>
            <a:chExt cx="8382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611112" y="6205538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以策略判断为先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4541" y="7029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明确面向谁、表达什么价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4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值、优先投入哪里，将业务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4541" y="81153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目标转化为营销重点。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44400" y="588645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26112" y="6205538"/>
            <a:ext cx="41154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93332" y="62055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工作方式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9541" y="7038975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8663" y="7029450"/>
            <a:ext cx="540503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融入研究、知识积累、任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9541" y="75723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务协同与内容生产，团队负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9541" y="81153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责商业判断与质量。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87362" y="9686925"/>
            <a:ext cx="14863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我们服务谁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服务消费品牌与科技创业公司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同样聚焦北美，回应不同的业务需求。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514725"/>
            <a:ext cx="8001000" cy="5286375"/>
            <a:chOff x="0" y="0"/>
            <a:chExt cx="10668000" cy="704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61313" y="3838575"/>
            <a:ext cx="38084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CONSUMER BRANDS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026" y="4467225"/>
            <a:ext cx="550045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消费品牌出海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741" y="54435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面向希望进入或拓展北美市场的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0659" y="5453062"/>
            <a:ext cx="20242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C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2954" y="5443537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6741" y="5986463"/>
            <a:ext cx="92883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牌，兼顾电商销售增长，以及品牌认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6741" y="6529387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知、定位与持续传播。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1600" y="7822406"/>
            <a:ext cx="7086600" cy="14288"/>
            <a:chOff x="0" y="0"/>
            <a:chExt cx="94488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67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品牌建设／电商增长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72600" y="3514725"/>
            <a:ext cx="8001000" cy="5286375"/>
            <a:chOff x="0" y="0"/>
            <a:chExt cx="10668000" cy="704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19513" y="3838575"/>
            <a:ext cx="32251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 STARTUPS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9226" y="4467225"/>
            <a:ext cx="572126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科技创业公司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1188" y="4486275"/>
            <a:ext cx="25229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4941" y="544353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面向不同类型的科技创业公司，围绕市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4941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场进入与增长（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15266" y="5995988"/>
            <a:ext cx="182216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56438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），讲清产品价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4941" y="652938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值、明确目标用户，并确定当前阶段的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14941" y="70723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营销重点。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29800" y="7822406"/>
            <a:ext cx="7086600" cy="14288"/>
            <a:chOff x="0" y="0"/>
            <a:chExt cx="9448800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149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市场进入／增长规划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我们服务谁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81561" y="9686925"/>
            <a:ext cx="1492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深入业务讨论，统筹关键工作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19462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围绕业务目标参与关键营销工作，让客户团队、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16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0198" y="220027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与专业伙伴按同一计划协作。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43300"/>
            <a:ext cx="4000500" cy="4857750"/>
            <a:chOff x="0" y="0"/>
            <a:chExt cx="533400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477000"/>
                  </a:lnTo>
                  <a:lnTo>
                    <a:pt x="0" y="64770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7300" y="4200525"/>
            <a:ext cx="3314700" cy="877014"/>
            <a:chOff x="0" y="0"/>
            <a:chExt cx="4419600" cy="1169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9600" cy="1169289"/>
            </a:xfrm>
            <a:custGeom>
              <a:avLst/>
              <a:gdLst/>
              <a:ahLst/>
              <a:cxnLst/>
              <a:rect r="r" b="b" t="t" l="l"/>
              <a:pathLst>
                <a:path h="1169289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1169289"/>
                  </a:lnTo>
                  <a:lnTo>
                    <a:pt x="0" y="116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9012" y="570547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持续参与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012" y="6391275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关键营销工作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15000" y="3536156"/>
            <a:ext cx="11658600" cy="14288"/>
            <a:chOff x="0" y="0"/>
            <a:chExt cx="155448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98998" y="368617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共同判断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0591" y="362902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把产品与业务信息放进市场和用户视角中讨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0591" y="41719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论，比较方向，确定营销重点。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107781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257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00591" y="5200650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将目标转化为阶段计划，协调各方分工，让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00591" y="574357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内容、渠道和资源安排相互衔接。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15000" y="6679406"/>
            <a:ext cx="11658600" cy="14288"/>
            <a:chOff x="0" y="0"/>
            <a:chExt cx="155448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98998" y="682942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约定执行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0591" y="677227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推进双方确认的关键任务，跟进进展，并把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0591" y="731520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市场反馈带回后续讨论。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827" y="8610600"/>
            <a:ext cx="1190757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从关键选择到后续推进，持续提供营销判断与协作支持。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75532" y="9686925"/>
            <a:ext cx="14981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两项核心能力，连接策略与执行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07258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以营销判断和渠道规划统筹工作，按目标组合执行能力。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4113" y="2814637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核心能力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3343275"/>
            <a:ext cx="18288000" cy="2428875"/>
            <a:chOff x="0" y="0"/>
            <a:chExt cx="24384000" cy="323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36856" y="3686175"/>
            <a:ext cx="14288" cy="1743075"/>
            <a:chOff x="0" y="0"/>
            <a:chExt cx="19050" cy="2324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6112" y="3548062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营销策略与品牌基础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4386263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理解市场与用户，明确定位、价值表达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与营销优先级。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0112" y="3548062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渠道运营与增长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3541" y="4386263"/>
            <a:ext cx="8130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规划渠道组合、资源投入与运营路径，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3541" y="4929187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结合反馈持续调整。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113" y="6000750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直接执行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内容方向与素材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65056" y="6629400"/>
            <a:ext cx="14288" cy="1085850"/>
            <a:chOff x="0" y="0"/>
            <a:chExt cx="19050" cy="144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达人筛选与合作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80056" y="6629400"/>
            <a:ext cx="14288" cy="1085850"/>
            <a:chOff x="0" y="0"/>
            <a:chExt cx="19050" cy="144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26112" y="653415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投放规划与优化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8115300"/>
            <a:ext cx="16459200" cy="971550"/>
            <a:chOff x="0" y="0"/>
            <a:chExt cx="21945600" cy="129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89863" y="82581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16402" y="8210550"/>
            <a:ext cx="84441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本地渠道拓展 · 落地执行 · 公共关系（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41657" y="8220075"/>
            <a:ext cx="118538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51090" y="8210550"/>
            <a:ext cx="11123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16402" y="8624888"/>
            <a:ext cx="124733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由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01269" y="8634413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34897" y="8624888"/>
            <a:ext cx="561038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按需触达、筛选和协调。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79551" y="9686925"/>
            <a:ext cx="149414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94215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营销策略与品牌基础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把业务信息转化为市场判断，让品牌表达与阶段行动有共同依据。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112" y="3605212"/>
            <a:ext cx="29265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面向谁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4450556"/>
            <a:ext cx="5029200" cy="14288"/>
            <a:chOff x="0" y="0"/>
            <a:chExt cx="67056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8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市场与用户判断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梳理产品、业务目标与目标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人群，理解需求、使用场景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和购买考虑。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8065294"/>
            <a:ext cx="5029200" cy="14288"/>
            <a:chOff x="0" y="0"/>
            <a:chExt cx="67056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0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用户与需求梳理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1112" y="3605212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表达什么价值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29400" y="4450556"/>
            <a:ext cx="5029200" cy="14288"/>
            <a:chOff x="0" y="0"/>
            <a:chExt cx="67056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613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4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明确为谁创造什么价值，形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成适合北美市场的定位、叙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658653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事和沟通重点。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29400" y="8065294"/>
            <a:ext cx="5029200" cy="14288"/>
            <a:chOff x="0" y="0"/>
            <a:chExt cx="67056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19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14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6112" y="3605212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优先做什么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4400" y="4450556"/>
            <a:ext cx="5029200" cy="14288"/>
            <a:chOff x="0" y="0"/>
            <a:chExt cx="670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28398" y="4748212"/>
            <a:ext cx="21437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15350" y="4757737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与营销路线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5006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确定阶段重点、渠道优先级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0436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与资源安排，形成可以推进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的行动计划。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344400" y="8065294"/>
            <a:ext cx="5029200" cy="14288"/>
            <a:chOff x="0" y="0"/>
            <a:chExt cx="670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3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2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阶段营销路线图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685331" y="9286875"/>
            <a:ext cx="34883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25140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70169" y="9686925"/>
            <a:ext cx="1503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762238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渠道运营与增长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把渠道选择、资源投入和关键行动放在同一条增长路径上。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3371850"/>
            <a:ext cx="4000500" cy="5543550"/>
            <a:chOff x="0" y="0"/>
            <a:chExt cx="5334000" cy="739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0" cy="7391400"/>
            </a:xfrm>
            <a:custGeom>
              <a:avLst/>
              <a:gdLst/>
              <a:ahLst/>
              <a:cxnLst/>
              <a:rect r="r" b="b" t="t" l="l"/>
              <a:pathLst>
                <a:path h="7391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7391400"/>
                  </a:lnTo>
                  <a:lnTo>
                    <a:pt x="0" y="7391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4727" y="3724275"/>
            <a:ext cx="33613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从渠道到行动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9012" y="46196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渠道角色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012" y="58769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资源投入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012" y="71342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市场反馈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0" y="3364706"/>
            <a:ext cx="11658600" cy="14288"/>
            <a:chOff x="0" y="0"/>
            <a:chExt cx="15544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698998" y="35718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确定渠道组合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60752" y="3638550"/>
            <a:ext cx="30129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渠道角色与组合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0141" y="42005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结合用户路径与业务阶段，判断社交媒体、电商平台、品牌官网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141" y="4743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及其他渠道各自的作用。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307806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51497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安排资源与行动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32102" y="55816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资源安排与执行分工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00141" y="61436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明确投入顺序、预算重点、内容需求和团队分工，让关键工作能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00141" y="668655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够衔接推进。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15000" y="7250906"/>
            <a:ext cx="11658600" cy="14288"/>
            <a:chOff x="0" y="0"/>
            <a:chExt cx="155448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698998" y="7458075"/>
            <a:ext cx="54230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根据反馈持续调整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32102" y="75247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表现复盘与调整建议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00141" y="80867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结合渠道表现和用户反馈，判断哪些方向值得继续投入，调整下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00141" y="86296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一步计划。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649164" y="9286875"/>
            <a:ext cx="35245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088974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97411" y="9686925"/>
            <a:ext cx="147628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直接执行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三类执行能力，承接关键任务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73215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根据策略选择工作模块，由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0509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0190" y="22002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直接推进约定的关键执行。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643312"/>
            <a:ext cx="685800" cy="57150"/>
            <a:chOff x="0" y="0"/>
            <a:chExt cx="9144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围绕品牌与产品价值，制定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5472113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内容方向、创意和传播计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划，制作约定的图文、视频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541" y="6557963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及社媒素材。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1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内容方向／创意方案／传播素材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9356" y="3643312"/>
            <a:ext cx="14288" cy="4929188"/>
            <a:chOff x="0" y="0"/>
            <a:chExt cx="19050" cy="6572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29400" y="3643312"/>
            <a:ext cx="685800" cy="57150"/>
            <a:chOff x="0" y="0"/>
            <a:chExt cx="9144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筛选与触达适配达人，策划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4721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合作方式，沟通内容要求，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推进发布并复盘合作表现。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6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达人筛选／合作沟通／发布跟进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643312"/>
            <a:ext cx="14288" cy="4929188"/>
            <a:chOff x="0" y="0"/>
            <a:chExt cx="19050" cy="6572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643312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4033838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9541" y="49291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制定投放计划，协同广告素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29541" y="54721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材，执行约定渠道的广告工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601503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作，并根据反馈优化。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1827" y="7867650"/>
            <a:ext cx="58418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投放计划／广告执行／优化建议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1827" y="8810625"/>
            <a:ext cx="10108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具体渠道、素材与推进职责根据项目目标约定。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直接执行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73970" y="9686925"/>
            <a:ext cx="149973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专业协作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按需组织专业资源，拓展项目能力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当项目需要本地或专项能力，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28716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68398" y="2200275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负责触达、筛选与协调。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827" y="2909888"/>
            <a:ext cx="87589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伙伴参与方式与工作范围在方案中明确。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3857625"/>
            <a:ext cx="4286250" cy="4714875"/>
            <a:chOff x="0" y="0"/>
            <a:chExt cx="5715000" cy="628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6286500"/>
                  </a:lnTo>
                  <a:lnTo>
                    <a:pt x="0" y="6286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3025" y="4371975"/>
            <a:ext cx="3429000" cy="907256"/>
            <a:chOff x="0" y="0"/>
            <a:chExt cx="4572000" cy="1209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1209675"/>
            </a:xfrm>
            <a:custGeom>
              <a:avLst/>
              <a:gdLst/>
              <a:ahLst/>
              <a:cxnLst/>
              <a:rect r="r" b="b" t="t" l="l"/>
              <a:pathLst>
                <a:path h="1209675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4737" y="61198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按需组织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737" y="68056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专业资源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186362" y="3900488"/>
            <a:ext cx="828675" cy="3457575"/>
          </a:xfrm>
          <a:custGeom>
            <a:avLst/>
            <a:gdLst/>
            <a:ahLst/>
            <a:cxnLst/>
            <a:rect r="r" b="b" t="t" l="l"/>
            <a:pathLst>
              <a:path h="3457575" w="828675">
                <a:moveTo>
                  <a:pt x="0" y="0"/>
                </a:moveTo>
                <a:lnTo>
                  <a:pt x="828676" y="0"/>
                </a:lnTo>
                <a:lnTo>
                  <a:pt x="828676" y="3457574"/>
                </a:lnTo>
                <a:lnTo>
                  <a:pt x="0" y="3457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84798" y="371475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本地渠道拓展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85941" y="43148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识别适合接触的渠道与资源，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5941" y="48577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推进沟通，并协调后续合作机会。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4798" y="53721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落地执行支持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5941" y="59721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对接相应的本地专业团队，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85941" y="6515100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协调任务要求、执行节奏与交付衔接。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4798" y="702945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公共关系（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5048" y="7019925"/>
            <a:ext cx="15086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0780" y="7029450"/>
            <a:ext cx="14157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85941" y="762952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按传播或业务需求引入专业伙伴，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85941" y="81724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共同明确工作内容与推进方式。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专业协作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67493" y="9686925"/>
            <a:ext cx="15062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571876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让营销工作有依据、有计划、有成果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把策略、规划、执行和反馈转化为团队能够使用的工作成果。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364706"/>
            <a:ext cx="7772400" cy="14288"/>
            <a:chOff x="0" y="0"/>
            <a:chExt cx="103632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6112" y="359092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34340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说明目标用户、核心价值与沟通重点，以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48863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及重要选择背后的判断依据。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01200" y="3364706"/>
            <a:ext cx="7772400" cy="14288"/>
            <a:chOff x="0" y="0"/>
            <a:chExt cx="103632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582912" y="359092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渠道组合与行动计划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6341" y="434340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明确阶段重点、投入顺序、资源安排与责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6341" y="4886325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任分工。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6050756"/>
            <a:ext cx="7772400" cy="14288"/>
            <a:chOff x="0" y="0"/>
            <a:chExt cx="103632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96112" y="627697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约定的执行成果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02945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按合作范围交付内容素材、达人合作、广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75723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告工作等关键成果。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1200" y="6050756"/>
            <a:ext cx="7772400" cy="14288"/>
            <a:chOff x="0" y="0"/>
            <a:chExt cx="103632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82912" y="627697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复盘记录与后续建议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6341" y="702945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整理渠道表现与用户反馈，提出下一轮行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6341" y="75723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动与调整建议。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827" y="8724900"/>
            <a:ext cx="96585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交付项、深度与形式根据合作目标共同明确。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21299" y="9686925"/>
            <a:ext cx="14524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从业务理解到复盘，六步推进项目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在关键选择与计划上形成共识，再推进执行、反馈和调整。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057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2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57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72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844712" y="5686425"/>
            <a:ext cx="28575" cy="228600"/>
            <a:chOff x="0" y="0"/>
            <a:chExt cx="38100" cy="30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29000" y="5900738"/>
            <a:ext cx="11430000" cy="28575"/>
            <a:chOff x="0" y="0"/>
            <a:chExt cx="15240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357562" y="5915025"/>
            <a:ext cx="142875" cy="228600"/>
          </a:xfrm>
          <a:custGeom>
            <a:avLst/>
            <a:gdLst/>
            <a:ahLst/>
            <a:cxnLst/>
            <a:rect r="r" b="b" t="t" l="l"/>
            <a:pathLst>
              <a:path h="228600" w="142875">
                <a:moveTo>
                  <a:pt x="0" y="0"/>
                </a:moveTo>
                <a:lnTo>
                  <a:pt x="142876" y="0"/>
                </a:lnTo>
                <a:lnTo>
                  <a:pt x="14287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07256" y="3278981"/>
            <a:ext cx="5043488" cy="2414588"/>
            <a:chOff x="0" y="0"/>
            <a:chExt cx="6724650" cy="321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理解业务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5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明确产品、目标、现有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5291" y="5114925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基础与资源约束。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1306" y="34861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共同梳理业务与目标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22256" y="3278981"/>
            <a:ext cx="5043488" cy="2414588"/>
            <a:chOff x="0" y="0"/>
            <a:chExt cx="6724650" cy="3219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904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9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建立判断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0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研究市场与用户，识别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0291" y="51149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核心营销问题。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37256" y="3278981"/>
            <a:ext cx="5043488" cy="2414588"/>
            <a:chOff x="0" y="0"/>
            <a:chExt cx="6724650" cy="3219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61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1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确定选择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15291" y="45720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比较方向与优先级，确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15291" y="51149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认当前重点。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49906" y="34861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共同确认关键选择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7256" y="6136481"/>
            <a:ext cx="5043488" cy="2414588"/>
            <a:chOff x="0" y="0"/>
            <a:chExt cx="6724650" cy="3219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8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制定规划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5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形成阶段计划、任务分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5291" y="79724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工与资源安排。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91306" y="63436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共同确认计划与分工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622256" y="6136481"/>
            <a:ext cx="5043488" cy="2414588"/>
            <a:chOff x="0" y="0"/>
            <a:chExt cx="6724650" cy="32194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6904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9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推进执行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0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推进约定任务，协调客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0291" y="79724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户团队与专业伙伴。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37256" y="6136481"/>
            <a:ext cx="5043488" cy="2414588"/>
            <a:chOff x="0" y="0"/>
            <a:chExt cx="6724650" cy="32194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61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1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复盘调整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15291" y="74295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结合市场反馈，确定下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5291" y="7972425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一步行动。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249906" y="63436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共同讨论后续行动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1827" y="872490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客户参与关键选择与计划确认；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02377" y="8734425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436004" y="8724900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组织推进约定工作。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86927" y="9686925"/>
            <a:ext cx="138677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5414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7375" y="495300"/>
            <a:ext cx="22029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71575"/>
            <a:ext cx="241829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1090" y="11620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已融入我们的内部执行体系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2200275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已建立高度自动化、智能化、以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23140" y="22098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252" y="22002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为驱动的执行体系。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827" y="3109912"/>
            <a:ext cx="6509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内部执行体系的功能关系示意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7256" y="3850481"/>
            <a:ext cx="3786188" cy="3643312"/>
            <a:chOff x="0" y="0"/>
            <a:chExt cx="5048250" cy="4857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841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研究与知识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2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整理资料与信息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2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积累项目经验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2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形成知识基础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8006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136356" y="3850481"/>
            <a:ext cx="3786188" cy="3643312"/>
            <a:chOff x="0" y="0"/>
            <a:chExt cx="5048250" cy="48577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4132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规划与任务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143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衔接信息与计划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4391" y="54864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协调任务与进度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143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跟进工作反馈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0297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365456" y="3850481"/>
            <a:ext cx="3786188" cy="3643312"/>
            <a:chOff x="0" y="0"/>
            <a:chExt cx="5048250" cy="4857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6423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内容与创意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34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支持创意探索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34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协同素材生产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434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推进内容迭代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2588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3594556" y="3850481"/>
            <a:ext cx="3786188" cy="3643312"/>
            <a:chOff x="0" y="0"/>
            <a:chExt cx="5048250" cy="48577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8714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反馈与改进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725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整理项目反馈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72591" y="5486400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更新知识与流程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72591" y="6029325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支持下一轮工作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473362" y="7486650"/>
            <a:ext cx="28575" cy="428625"/>
            <a:chOff x="0" y="0"/>
            <a:chExt cx="38100" cy="571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1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800350" y="7900988"/>
            <a:ext cx="12687300" cy="28575"/>
            <a:chOff x="0" y="0"/>
            <a:chExt cx="169164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916400" cy="38100"/>
            </a:xfrm>
            <a:custGeom>
              <a:avLst/>
              <a:gdLst/>
              <a:ahLst/>
              <a:cxnLst/>
              <a:rect r="r" b="b" t="t" l="l"/>
              <a:pathLst>
                <a:path h="38100" w="16916400">
                  <a:moveTo>
                    <a:pt x="0" y="0"/>
                  </a:moveTo>
                  <a:lnTo>
                    <a:pt x="16916400" y="0"/>
                  </a:lnTo>
                  <a:lnTo>
                    <a:pt x="16916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2728912" y="7486650"/>
            <a:ext cx="142875" cy="428625"/>
          </a:xfrm>
          <a:custGeom>
            <a:avLst/>
            <a:gdLst/>
            <a:ahLst/>
            <a:cxnLst/>
            <a:rect r="r" b="b" t="t" l="l"/>
            <a:pathLst>
              <a:path h="428625" w="142875">
                <a:moveTo>
                  <a:pt x="0" y="0"/>
                </a:moveTo>
                <a:lnTo>
                  <a:pt x="142876" y="0"/>
                </a:lnTo>
                <a:lnTo>
                  <a:pt x="1428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914400" y="8429625"/>
            <a:ext cx="16459200" cy="657225"/>
            <a:chOff x="0" y="0"/>
            <a:chExt cx="21945600" cy="876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0" cy="876300"/>
            </a:xfrm>
            <a:custGeom>
              <a:avLst/>
              <a:gdLst/>
              <a:ahLst/>
              <a:cxnLst/>
              <a:rect r="r" b="b" t="t" l="l"/>
              <a:pathLst>
                <a:path h="8763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630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6343078" y="85153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团队负责商业判断、方向与质量。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2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453149" y="9286875"/>
            <a:ext cx="31479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84419" y="9286875"/>
            <a:ext cx="178928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48979" y="9686925"/>
            <a:ext cx="14247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50135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市场理解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032117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理解技术，也理解市场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把技术公司的产品逻辑，转化为用户能够理解的价值与营销行动。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349091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产品价值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0141" y="354330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理解科技公司的产品、目标与需求，把技术能力转化为具体价值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0141" y="40862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与使用场景。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15000" y="5022056"/>
            <a:ext cx="11658600" cy="14288"/>
            <a:chOff x="0" y="0"/>
            <a:chExt cx="155448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89254" y="5348288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市场变化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0141" y="5400675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关注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6359" y="54102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5480" y="5400675"/>
            <a:ext cx="112082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对信息发现、内容传播和用户决策的影响，持续调整策略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0141" y="59436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与渠道选择。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5000" y="6879431"/>
            <a:ext cx="11658600" cy="14288"/>
            <a:chOff x="0" y="0"/>
            <a:chExt cx="155448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89254" y="720566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快速适应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00141" y="725805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衔接研究、创意与市场反馈，更灵活地组织尝试，并调整下一轮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00141" y="7800975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15000" y="8736806"/>
            <a:ext cx="11658600" cy="14288"/>
            <a:chOff x="0" y="0"/>
            <a:chExt cx="15544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518786" y="9286875"/>
            <a:ext cx="36549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市场理解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43169" y="9686925"/>
            <a:ext cx="1430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箱包品牌的北美多渠道实践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72620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匿名项目经验｜以已确认的工作范围，呈现品牌、内容与渠道的协同。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541" y="3529013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服务面向北美市场的消费箱包品牌，相关工作涉及品牌表达、内容、达人及多个线上渠道。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8398" y="4857750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品牌与产品表达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54578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品牌表达、产品与店铺优化。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398" y="620077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内容与达人合作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68008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达人筛选与建联、内容任务协同。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398" y="75438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线上渠道安排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8067675"/>
            <a:ext cx="28221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Amazon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1470" y="80581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广告调整；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8845" y="8067675"/>
            <a:ext cx="24349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TikTok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56346" y="8058150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27821" y="8067675"/>
            <a:ext cx="28221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Amazon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19750" y="80581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与官网渠道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601075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0" y="4686300"/>
            <a:ext cx="7086600" cy="4429125"/>
            <a:chOff x="0" y="0"/>
            <a:chExt cx="9448800" cy="590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488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725912" y="48482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协同方式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29341" y="5543550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围绕品牌与产品信息统一沟通重点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29341" y="6715125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协调内容、达人与渠道任务的衔接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9341" y="7886700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结合渠道表现与内容反馈讨论后续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29341" y="8429625"/>
            <a:ext cx="18462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40492" y="9686925"/>
            <a:ext cx="14332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 / 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77106" y="9686925"/>
            <a:ext cx="70244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匿名过程型案例｜展示工作范围与协同方式。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谁来为客户负责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69926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一个入口，由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03362" y="1171575"/>
            <a:ext cx="504337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Outrise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3787" y="1162050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统一负责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在约定合作范围内，统筹策略、进度、质量与专业伙伴，对整体合作交付负责并背书。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0112" y="3471862"/>
            <a:ext cx="2657475" cy="1514475"/>
            <a:chOff x="0" y="0"/>
            <a:chExt cx="3543300" cy="2019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43300" cy="2019300"/>
            </a:xfrm>
            <a:custGeom>
              <a:avLst/>
              <a:gdLst/>
              <a:ahLst/>
              <a:cxnLst/>
              <a:rect r="r" b="b" t="t" l="l"/>
              <a:pathLst>
                <a:path h="20193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2019300"/>
                  </a:lnTo>
                  <a:lnTo>
                    <a:pt x="0" y="2019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119" t="0" r="-23119" b="0"/>
              </a:stretch>
            </a:blipFill>
            <a:ln w="28575" cap="sq">
              <a:solidFill>
                <a:srgbClr val="C9381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53362" y="3933825"/>
            <a:ext cx="227228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客户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57750" y="3486150"/>
            <a:ext cx="8572500" cy="1485900"/>
            <a:chOff x="0" y="0"/>
            <a:chExt cx="11430000" cy="198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57800" y="3886200"/>
            <a:ext cx="2571750" cy="680437"/>
            <a:chOff x="0" y="0"/>
            <a:chExt cx="3429000" cy="90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57641" y="40005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统一负责与背书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728912" y="4157662"/>
            <a:ext cx="12830175" cy="1914525"/>
          </a:xfrm>
          <a:custGeom>
            <a:avLst/>
            <a:gdLst/>
            <a:ahLst/>
            <a:cxnLst/>
            <a:rect r="r" b="b" t="t" l="l"/>
            <a:pathLst>
              <a:path h="1914525" w="12830175">
                <a:moveTo>
                  <a:pt x="0" y="0"/>
                </a:moveTo>
                <a:lnTo>
                  <a:pt x="12830176" y="0"/>
                </a:lnTo>
                <a:lnTo>
                  <a:pt x="12830176" y="1914526"/>
                </a:lnTo>
                <a:lnTo>
                  <a:pt x="0" y="1914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8398" y="64008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策略与决策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541" y="7086600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理解业务，提出判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断，制定方向与阶段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172450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74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86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协调任务、进度与沟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86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通，跟进交付、处理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8641" y="81724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协作问题。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65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直接执行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77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承担约定的内容、达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577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人、广告与投放等关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577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键工作。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856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86841" y="7086600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组织专项伙伴，明确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6841" y="7629525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要求与分工，衔接整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868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体交付。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1827" y="8810625"/>
            <a:ext cx="61951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伙伴参与执行时，客户仍由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44269" y="8820150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77897" y="8810625"/>
            <a:ext cx="29115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统一承接。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谁来为客户负责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44731" y="9686925"/>
            <a:ext cx="14289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如何与我们合作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按业务阶段，选择合适的合作深度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以策略咨询为核心，结合业务目标约定工作范围与执行支持。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14725"/>
            <a:ext cx="685800" cy="57150"/>
            <a:chOff x="0" y="0"/>
            <a:chExt cx="9144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6112" y="37909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策略咨询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需要厘清问题与方向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围绕市场、定位或渠道等明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确问题，形成判断、建议与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685800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行动方向。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79356" y="3514725"/>
            <a:ext cx="14288" cy="5057775"/>
            <a:chOff x="0" y="0"/>
            <a:chExt cx="19050" cy="6743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29400" y="3514725"/>
            <a:ext cx="685800" cy="57150"/>
            <a:chOff x="0" y="0"/>
            <a:chExt cx="9144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11112" y="3790950"/>
            <a:ext cx="31228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阶段性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5630" y="3790950"/>
            <a:ext cx="2242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23483" y="3790950"/>
            <a:ext cx="161803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1112" y="441960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品牌项目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需要推进阶段性目标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围绕明确的阶段目标，共同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制定方案，完成规划与选定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4541" y="68580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的关键执行。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514725"/>
            <a:ext cx="14288" cy="5057775"/>
            <a:chOff x="0" y="0"/>
            <a:chExt cx="19050" cy="6743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514725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3790950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持续营销统筹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6112" y="441960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与团队支持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需要持续判断与推进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77215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持续参与重点讨论、资源协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3150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调与工作复盘。在持续合作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85800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中，我们承担类似外部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27559" y="6867525"/>
            <a:ext cx="193448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29541" y="740092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的营销统筹职责，并按约定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29541" y="794385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推进关键工作。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1827" y="8810625"/>
            <a:ext cx="1100797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每次合作共同明确：目标、交付、分工与评估方式。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如何与我们合作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36701" y="9686925"/>
            <a:ext cx="143699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6654" y="709612"/>
            <a:ext cx="440704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LET’S TALK NORTH AMERICA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157288"/>
            <a:ext cx="9144000" cy="2419350"/>
            <a:chOff x="0" y="0"/>
            <a:chExt cx="12192000" cy="322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225800"/>
                  </a:lnTo>
                  <a:lnTo>
                    <a:pt x="0" y="32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5825" y="4181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从你的北美市场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825" y="5367338"/>
            <a:ext cx="713997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0">
                <a:solidFill>
                  <a:srgbClr val="FFFFFF"/>
                </a:solidFill>
                <a:latin typeface="Noto Sans SC SemiBold"/>
                <a:ea typeface="Noto Sans SC SemiBold"/>
                <a:cs typeface="Noto Sans SC SemiBold"/>
                <a:sym typeface="Noto Sans SC SemiBold"/>
              </a:rPr>
              <a:t>目标开始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541" y="6757987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告诉我们你的产品、目标与当前营销难题，一起确定合适的合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73009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作切入点。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254" y="8229600"/>
            <a:ext cx="1122077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0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hello@outrisetech.com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794456" y="4657725"/>
            <a:ext cx="14288" cy="4343400"/>
            <a:chOff x="0" y="0"/>
            <a:chExt cx="19050" cy="579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" cy="5791200"/>
            </a:xfrm>
            <a:custGeom>
              <a:avLst/>
              <a:gdLst/>
              <a:ahLst/>
              <a:cxnLst/>
              <a:rect r="r" b="b" t="t" l="l"/>
              <a:pathLst>
                <a:path h="5791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42798" y="46863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产品与业务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6227" y="535305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你为谁提供什么价值？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42798" y="60864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北美市场目标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6227" y="6753225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当前最希望推进什么？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2798" y="74866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0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营销难题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46227" y="815340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哪些营销工作需要支持？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5256" y="9686925"/>
            <a:ext cx="28699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专注北美市场的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56805" y="9686925"/>
            <a:ext cx="20577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82600" y="9686925"/>
            <a:ext cx="27717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营销与增长团队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开始合作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54113" y="9686925"/>
            <a:ext cx="141958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DAHZJb1YZpA</dc:identifier>
  <dcterms:modified xsi:type="dcterms:W3CDTF">2011-08-01T06:04:30Z</dcterms:modified>
  <cp:revision>1</cp:revision>
  <dc:title>Outrise｜Intro Deck v8｜C 品牌展示式</dc:title>
</cp:coreProperties>
</file>