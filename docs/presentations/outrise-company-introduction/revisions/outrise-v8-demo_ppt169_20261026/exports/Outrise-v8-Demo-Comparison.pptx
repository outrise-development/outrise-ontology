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x-fontdata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0" autoCompressPictures="0" embedTrueTypeFonts="1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 type="screen16x9"/>
  <p:notesSz cx="6858000" cy="9144000"/>
  <p:embeddedFontLst>
    <p:embeddedFont>
      <p:font typeface="Instrument Sans" charset="1"/>
      <p:regular r:id="rIdOutriseFont1"/>
    </p:embeddedFont>
    <p:embeddedFont>
      <p:font typeface="Instrument Sans Medium" charset="1"/>
      <p:regular r:id="rIdOutriseFont2"/>
    </p:embeddedFont>
    <p:embeddedFont>
      <p:font typeface="Instrument Sans SemiBold" charset="1"/>
      <p:regular r:id="rIdOutriseFont3"/>
    </p:embeddedFont>
    <p:embeddedFont>
      <p:font typeface="Noto Sans SC" charset="1"/>
      <p:regular r:id="rIdOutriseFont4"/>
    </p:embeddedFont>
    <p:embeddedFont>
      <p:font typeface="Noto Sans SC Medium" charset="1"/>
      <p:regular r:id="rIdOutriseFont5"/>
    </p:embeddedFont>
    <p:embeddedFont>
      <p:font typeface="Noto Sans SC SemiBold" charset="1"/>
      <p:regular r:id="rIdOutriseFont6"/>
    </p:embeddedFont>
  </p:embeddedFontLst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OutriseFont1" Type="http://schemas.openxmlformats.org/officeDocument/2006/relationships/font" Target="fonts/outrise-1.fntdata"/><Relationship Id="rIdOutriseFont2" Type="http://schemas.openxmlformats.org/officeDocument/2006/relationships/font" Target="fonts/outrise-2.fntdata"/><Relationship Id="rIdOutriseFont3" Type="http://schemas.openxmlformats.org/officeDocument/2006/relationships/font" Target="fonts/outrise-3.fntdata"/><Relationship Id="rIdOutriseFont4" Type="http://schemas.openxmlformats.org/officeDocument/2006/relationships/font" Target="fonts/outrise-4.fntdata"/><Relationship Id="rIdOutriseFont5" Type="http://schemas.openxmlformats.org/officeDocument/2006/relationships/font" Target="fonts/outrise-5.fntdata"/><Relationship Id="rIdOutriseFont6" Type="http://schemas.openxmlformats.org/officeDocument/2006/relationships/font" Target="fonts/outrise-6.fntdata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outrise-v8-demo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outrise-v8-demo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3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95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85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7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6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45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35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95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5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7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6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45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35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2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1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0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dc87ddb0565c9d9.png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d1b850f0abb79a84.png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d1b850f0abb79a84.png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d1b850f0abb79a84.png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d1b850f0abb79a84.png"/>
  <Relationship Id="rId3" Type="http://schemas.openxmlformats.org/officeDocument/2006/relationships/image" Target="../media/image_d1b850f0abb79a84.png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d1b850f0abb79a84.png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dc87ddb0565c9d9.png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d1b850f0abb79a84.png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d1b850f0abb79a84.png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fields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8001000" cy="685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8001000" y="0"/>
              <a:ext cx="4191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</p:grpSp>
      <p:grpSp>
        <p:nvGrpSpPr>
          <p:cNvPr id="7" name="brand"/>
          <p:cNvGrpSpPr/>
          <p:nvPr/>
        </p:nvGrpSpPr>
        <p:grpSpPr>
          <a:xfrm>
            <a:off x="602742" y="501650"/>
            <a:ext cx="5436108" cy="1992114"/>
            <a:chOff x="602742" y="501650"/>
            <a:chExt cx="5436108" cy="1992114"/>
          </a:xfrm>
        </p:grpSpPr>
        <p:sp>
          <p:nvSpPr>
            <p:cNvPr id="5" name="TextBox 5"/>
            <p:cNvSpPr txBox="1"/>
            <p:nvPr/>
          </p:nvSpPr>
          <p:spPr>
            <a:xfrm>
              <a:off x="602742" y="501650"/>
              <a:ext cx="22027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 b="0">
                  <a:solidFill>
                    <a:srgbClr val="FFFFFF"/>
                  </a:solidFill>
                  <a:latin typeface="Instrument Sans Medium"/>
                  <a:ea typeface="Noto Sans SC Medium"/>
                  <a:cs typeface="Instrument Sans Medium"/>
                </a:rPr>
                <a:t>NORTH AMERICA FOCUSED</a:t>
              </a:r>
            </a:p>
          </p:txBody>
        </p:sp>
        <p:pic>
          <p:nvPicPr>
            <p:cNvPr id="6" name="Image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9600" y="1057275"/>
              <a:ext cx="5429250" cy="1436489"/>
            </a:xfrm>
            <a:prstGeom prst="rect">
              <a:avLst/>
            </a:prstGeom>
          </p:spPr>
        </p:pic>
      </p:grpSp>
      <p:grpSp>
        <p:nvGrpSpPr>
          <p:cNvPr id="12" name="positioning"/>
          <p:cNvGrpSpPr/>
          <p:nvPr/>
        </p:nvGrpSpPr>
        <p:grpSpPr>
          <a:xfrm>
            <a:off x="590550" y="2787650"/>
            <a:ext cx="4561332" cy="3210306"/>
            <a:chOff x="590550" y="2787650"/>
            <a:chExt cx="4561332" cy="3210306"/>
          </a:xfrm>
        </p:grpSpPr>
        <p:sp>
          <p:nvSpPr>
            <p:cNvPr id="8" name="TextBox 8"/>
            <p:cNvSpPr txBox="1"/>
            <p:nvPr/>
          </p:nvSpPr>
          <p:spPr>
            <a:xfrm>
              <a:off x="590550" y="2787650"/>
              <a:ext cx="4561332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dirty="0" b="0">
                  <a:solidFill>
                    <a:srgbClr val="FFFFFF"/>
                  </a:solidFill>
                  <a:latin typeface="Instrument Sans SemiBold"/>
                  <a:ea typeface="Noto Sans SC SemiBold"/>
                  <a:cs typeface="Instrument Sans SemiBold"/>
                </a:rPr>
                <a:t>专注北美市场的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90550" y="3530600"/>
              <a:ext cx="2954274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800" dirty="0" b="0">
                  <a:solidFill>
                    <a:srgbClr val="FFFFFF"/>
                  </a:solidFill>
                  <a:latin typeface="Instrument Sans SemiBold"/>
                  <a:ea typeface="Noto Sans SC SemiBold"/>
                  <a:cs typeface="Instrument Sans SemiBold"/>
                </a:rPr>
                <a:t>AI-native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90550" y="4273550"/>
              <a:ext cx="4561332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dirty="0" b="0">
                  <a:solidFill>
                    <a:srgbClr val="FFFFFF"/>
                  </a:solidFill>
                  <a:latin typeface="Instrument Sans SemiBold"/>
                  <a:ea typeface="Noto Sans SC SemiBold"/>
                  <a:cs typeface="Instrument Sans SemiBold"/>
                </a:rPr>
                <a:t>营销与增长团队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99694" y="5616575"/>
              <a:ext cx="377369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 b="0">
                  <a:solidFill>
                    <a:srgbClr val="FFFFFF"/>
                  </a:solidFill>
                  <a:latin typeface="Instrument Sans"/>
                  <a:ea typeface="Noto Sans SC"/>
                  <a:cs typeface="Instrument Sans"/>
                </a:rPr>
                <a:t>策略判断 · 营销规划 · 关键执行</a:t>
              </a:r>
            </a:p>
          </p:txBody>
        </p:sp>
      </p:grpSp>
      <p:grpSp>
        <p:nvGrpSpPr>
          <p:cNvPr id="16" name="upward-field"/>
          <p:cNvGrpSpPr/>
          <p:nvPr/>
        </p:nvGrpSpPr>
        <p:grpSpPr>
          <a:xfrm>
            <a:off x="8514102" y="1846895"/>
            <a:ext cx="3202896" cy="3315655"/>
            <a:chOff x="8514102" y="1846895"/>
            <a:chExt cx="3202896" cy="3315655"/>
          </a:xfrm>
        </p:grpSpPr>
        <p:sp>
          <p:nvSpPr>
            <p:cNvPr id="13" name="Rectangle 13"/>
            <p:cNvSpPr/>
            <p:nvPr/>
          </p:nvSpPr>
          <p:spPr>
            <a:xfrm rot="-1440000">
              <a:off x="8591550" y="3381375"/>
              <a:ext cx="3048000" cy="10287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 rot="-1440000">
              <a:off x="9286875" y="2114550"/>
              <a:ext cx="1352550" cy="1714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9172575" y="5143500"/>
              <a:ext cx="1905000" cy="190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20" name="footer"/>
          <p:cNvGrpSpPr/>
          <p:nvPr/>
        </p:nvGrpSpPr>
        <p:grpSpPr>
          <a:xfrm>
            <a:off x="609600" y="6191250"/>
            <a:ext cx="10978896" cy="501396"/>
            <a:chOff x="609600" y="6191250"/>
            <a:chExt cx="10978896" cy="501396"/>
          </a:xfrm>
        </p:grpSpPr>
        <p:sp>
          <p:nvSpPr>
            <p:cNvPr id="17" name="Line 17"/>
            <p:cNvSpPr/>
            <p:nvPr/>
          </p:nvSpPr>
          <p:spPr>
            <a:xfrm>
              <a:off x="609600" y="6191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0513162" y="6457950"/>
              <a:ext cx="10753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 b="0">
                  <a:solidFill>
                    <a:schemeClr val="accent5"/>
                  </a:solidFill>
                  <a:latin typeface="Instrument Sans"/>
                  <a:ea typeface="Noto Sans SC"/>
                  <a:cs typeface="Instrument Sans"/>
                </a:rPr>
                <a:t>A</a:t>
              </a:r>
              <a:r>
                <a:rPr lang="zh-CN" sz="1200" dirty="0" b="0">
                  <a:solidFill>
                    <a:schemeClr val="accent5"/>
                  </a:solidFill>
                  <a:latin typeface="Instrument Sans"/>
                  <a:ea typeface="Noto Sans SC"/>
                  <a:cs typeface="Instrument Sans"/>
                </a:rPr>
                <a:t>｜暖色编辑式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1035132" y="619125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 b="0">
                  <a:solidFill>
                    <a:schemeClr val="accent5"/>
                  </a:solidFill>
                  <a:latin typeface="Instrument Sans"/>
                  <a:ea typeface="Noto Sans SC"/>
                  <a:cs typeface="Instrument Sans"/>
                </a:rPr>
                <a:t>01 / 09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pening"/>
          <p:cNvGrpSpPr/>
          <p:nvPr/>
        </p:nvGrpSpPr>
        <p:grpSpPr>
          <a:xfrm>
            <a:off x="592836" y="330200"/>
            <a:ext cx="6252972" cy="1089914"/>
            <a:chOff x="592836" y="330200"/>
            <a:chExt cx="6252972" cy="1089914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33020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 b="0">
                  <a:solidFill>
                    <a:schemeClr val="accent5"/>
                  </a:solidFill>
                  <a:latin typeface="Instrument Sans Medium"/>
                  <a:ea typeface="Noto Sans SC Medium"/>
                  <a:cs typeface="Instrument Sans Medium"/>
                </a:rPr>
                <a:t>我们是谁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2836" y="774700"/>
              <a:ext cx="625297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dirty="0" b="0">
                  <a:solidFill>
                    <a:schemeClr val="dk1"/>
                  </a:solidFill>
                  <a:latin typeface="Instrument Sans SemiBold"/>
                  <a:ea typeface="Noto Sans SC SemiBold"/>
                  <a:cs typeface="Instrument Sans SemiBold"/>
                </a:rPr>
                <a:t>专注北美，以策略判断连接行动</a:t>
              </a:r>
            </a:p>
          </p:txBody>
        </p:sp>
      </p:grpSp>
      <p:grpSp>
        <p:nvGrpSpPr>
          <p:cNvPr id="9" name="company-intro"/>
          <p:cNvGrpSpPr/>
          <p:nvPr/>
        </p:nvGrpSpPr>
        <p:grpSpPr>
          <a:xfrm>
            <a:off x="599694" y="1711325"/>
            <a:ext cx="6617491" cy="1467231"/>
            <a:chOff x="599694" y="1711325"/>
            <a:chExt cx="6617491" cy="1467231"/>
          </a:xfrm>
        </p:grpSpPr>
        <p:sp>
          <p:nvSpPr>
            <p:cNvPr id="5" name="TextBox 5"/>
            <p:cNvSpPr txBox="1"/>
            <p:nvPr/>
          </p:nvSpPr>
          <p:spPr>
            <a:xfrm>
              <a:off x="599694" y="1711325"/>
              <a:ext cx="661749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dirty="0" b="0">
                  <a:solidFill>
                    <a:schemeClr val="dk1"/>
                  </a:solidFill>
                  <a:latin typeface="Instrument Sans"/>
                  <a:ea typeface="Noto Sans SC"/>
                  <a:cs typeface="Instrument Sans"/>
                </a:rPr>
                <a:t xml:space="preserve">Outrise </a:t>
              </a:r>
              <a:r>
                <a:rPr lang="zh-CN" sz="1950" dirty="0" b="0">
                  <a:solidFill>
                    <a:schemeClr val="dk1"/>
                  </a:solidFill>
                  <a:latin typeface="Instrument Sans"/>
                  <a:ea typeface="Noto Sans SC"/>
                  <a:cs typeface="Instrument Sans"/>
                </a:rPr>
                <a:t>为消费品牌与科技创业公司提供北美市场的营销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99694" y="2073275"/>
              <a:ext cx="658253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 b="0">
                  <a:solidFill>
                    <a:schemeClr val="dk1"/>
                  </a:solidFill>
                  <a:latin typeface="Instrument Sans"/>
                  <a:ea typeface="Noto Sans SC"/>
                  <a:cs typeface="Instrument Sans"/>
                </a:rPr>
                <a:t>支持。我们从业务目标和用户需求出发，明确市场方向、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99694" y="2435225"/>
              <a:ext cx="658253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 b="0">
                  <a:solidFill>
                    <a:schemeClr val="dk1"/>
                  </a:solidFill>
                  <a:latin typeface="Instrument Sans"/>
                  <a:ea typeface="Noto Sans SC"/>
                  <a:cs typeface="Instrument Sans"/>
                </a:rPr>
                <a:t>建立品牌表达，规划渠道与资源投入，并推进约定的关键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99694" y="2797175"/>
              <a:ext cx="133235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 b="0">
                  <a:solidFill>
                    <a:schemeClr val="dk1"/>
                  </a:solidFill>
                  <a:latin typeface="Instrument Sans"/>
                  <a:ea typeface="Noto Sans SC"/>
                  <a:cs typeface="Instrument Sans"/>
                </a:rPr>
                <a:t>营销工作。</a:t>
              </a:r>
            </a:p>
          </p:txBody>
        </p:sp>
      </p:grpSp>
      <p:grpSp>
        <p:nvGrpSpPr>
          <p:cNvPr id="18" name="north-america"/>
          <p:cNvGrpSpPr/>
          <p:nvPr/>
        </p:nvGrpSpPr>
        <p:grpSpPr>
          <a:xfrm>
            <a:off x="8153400" y="1790700"/>
            <a:ext cx="3429000" cy="4191000"/>
            <a:chOff x="8153400" y="1790700"/>
            <a:chExt cx="3429000" cy="4191000"/>
          </a:xfrm>
        </p:grpSpPr>
        <p:sp>
          <p:nvSpPr>
            <p:cNvPr id="10" name="Rectangle 10"/>
            <p:cNvSpPr/>
            <p:nvPr/>
          </p:nvSpPr>
          <p:spPr>
            <a:xfrm>
              <a:off x="8153400" y="1790700"/>
              <a:ext cx="3429000" cy="4191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446008" y="2127250"/>
              <a:ext cx="196291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 b="0">
                  <a:solidFill>
                    <a:srgbClr val="FFFFFF"/>
                  </a:solidFill>
                  <a:latin typeface="Instrument Sans Medium"/>
                  <a:ea typeface="Noto Sans SC Medium"/>
                  <a:cs typeface="Instrument Sans Medium"/>
                </a:rPr>
                <a:t>北美市场聚焦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448294" y="2863850"/>
              <a:ext cx="264490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 b="0">
                  <a:solidFill>
                    <a:srgbClr val="FFFFFF"/>
                  </a:solidFill>
                  <a:latin typeface="Instrument Sans"/>
                  <a:ea typeface="Noto Sans SC"/>
                  <a:cs typeface="Instrument Sans"/>
                </a:rPr>
                <a:t>围绕当地用户、市场环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448294" y="3225800"/>
              <a:ext cx="264490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 b="0">
                  <a:solidFill>
                    <a:srgbClr val="FFFFFF"/>
                  </a:solidFill>
                  <a:latin typeface="Instrument Sans"/>
                  <a:ea typeface="Noto Sans SC"/>
                  <a:cs typeface="Instrument Sans"/>
                </a:rPr>
                <a:t>境与渠道特点，做出贴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448294" y="3587750"/>
              <a:ext cx="238239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 b="0">
                  <a:solidFill>
                    <a:srgbClr val="FFFFFF"/>
                  </a:solidFill>
                  <a:latin typeface="Instrument Sans"/>
                  <a:ea typeface="Noto Sans SC"/>
                  <a:cs typeface="Instrument Sans"/>
                </a:rPr>
                <a:t>合目标市场的营销选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448294" y="3949700"/>
              <a:ext cx="54483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 b="0">
                  <a:solidFill>
                    <a:srgbClr val="FFFFFF"/>
                  </a:solidFill>
                  <a:latin typeface="Instrument Sans"/>
                  <a:ea typeface="Noto Sans SC"/>
                  <a:cs typeface="Instrument Sans"/>
                </a:rPr>
                <a:t>择。</a:t>
              </a:r>
            </a:p>
          </p:txBody>
        </p:sp>
        <p:sp>
          <p:nvSpPr>
            <p:cNvPr id="16" name="Rectangle 16"/>
            <p:cNvSpPr/>
            <p:nvPr/>
          </p:nvSpPr>
          <p:spPr>
            <a:xfrm rot="-1440000">
              <a:off x="9163050" y="4991100"/>
              <a:ext cx="1657350" cy="152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 rot="-1440000">
              <a:off x="9696450" y="5391150"/>
              <a:ext cx="1047750" cy="952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24" name="strategy"/>
          <p:cNvGrpSpPr/>
          <p:nvPr/>
        </p:nvGrpSpPr>
        <p:grpSpPr>
          <a:xfrm>
            <a:off x="598932" y="3943350"/>
            <a:ext cx="3287268" cy="1816481"/>
            <a:chOff x="598932" y="3943350"/>
            <a:chExt cx="3287268" cy="1816481"/>
          </a:xfrm>
        </p:grpSpPr>
        <p:sp>
          <p:nvSpPr>
            <p:cNvPr id="19" name="Line 19"/>
            <p:cNvSpPr/>
            <p:nvPr/>
          </p:nvSpPr>
          <p:spPr>
            <a:xfrm>
              <a:off x="609600" y="3943350"/>
              <a:ext cx="3276600" cy="9525"/>
            </a:xfrm>
            <a:custGeom>
              <a:avLst/>
              <a:gdLst/>
              <a:ahLst/>
              <a:cxnLst/>
              <a:rect l="l" t="t" r="r" b="b"/>
              <a:pathLst>
                <a:path w="3276600" h="9525">
                  <a:moveTo>
                    <a:pt x="0" y="0"/>
                  </a:moveTo>
                  <a:lnTo>
                    <a:pt x="327660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98932" y="4146550"/>
              <a:ext cx="200025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 b="0">
                  <a:solidFill>
                    <a:schemeClr val="dk1"/>
                  </a:solidFill>
                  <a:latin typeface="Instrument Sans Medium"/>
                  <a:ea typeface="Noto Sans SC Medium"/>
                  <a:cs typeface="Instrument Sans Medium"/>
                </a:rPr>
                <a:t>以策略判断为先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99694" y="4654550"/>
              <a:ext cx="290741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 b="0">
                  <a:solidFill>
                    <a:schemeClr val="dk1"/>
                  </a:solidFill>
                  <a:latin typeface="Instrument Sans"/>
                  <a:ea typeface="Noto Sans SC"/>
                  <a:cs typeface="Instrument Sans"/>
                </a:rPr>
                <a:t>明确面向谁、表达什么价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99694" y="5016500"/>
              <a:ext cx="316992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 b="0">
                  <a:solidFill>
                    <a:schemeClr val="dk1"/>
                  </a:solidFill>
                  <a:latin typeface="Instrument Sans"/>
                  <a:ea typeface="Noto Sans SC"/>
                  <a:cs typeface="Instrument Sans"/>
                </a:rPr>
                <a:t>值、优先投入哪里，将业务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99694" y="5378450"/>
              <a:ext cx="264490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 b="0">
                  <a:solidFill>
                    <a:schemeClr val="dk1"/>
                  </a:solidFill>
                  <a:latin typeface="Instrument Sans"/>
                  <a:ea typeface="Noto Sans SC"/>
                  <a:cs typeface="Instrument Sans"/>
                </a:rPr>
                <a:t>目标转化为营销重点。</a:t>
              </a:r>
            </a:p>
          </p:txBody>
        </p:sp>
      </p:grpSp>
      <p:grpSp>
        <p:nvGrpSpPr>
          <p:cNvPr id="30" name="ai-working"/>
          <p:cNvGrpSpPr/>
          <p:nvPr/>
        </p:nvGrpSpPr>
        <p:grpSpPr>
          <a:xfrm>
            <a:off x="4256532" y="3943350"/>
            <a:ext cx="3287268" cy="1816481"/>
            <a:chOff x="4256532" y="3943350"/>
            <a:chExt cx="3287268" cy="1816481"/>
          </a:xfrm>
        </p:grpSpPr>
        <p:sp>
          <p:nvSpPr>
            <p:cNvPr id="25" name="Line 25"/>
            <p:cNvSpPr/>
            <p:nvPr/>
          </p:nvSpPr>
          <p:spPr>
            <a:xfrm>
              <a:off x="4267200" y="3943350"/>
              <a:ext cx="3276600" cy="9525"/>
            </a:xfrm>
            <a:custGeom>
              <a:avLst/>
              <a:gdLst/>
              <a:ahLst/>
              <a:cxnLst/>
              <a:rect l="l" t="t" r="r" b="b"/>
              <a:pathLst>
                <a:path w="3276600" h="9525">
                  <a:moveTo>
                    <a:pt x="0" y="0"/>
                  </a:moveTo>
                  <a:lnTo>
                    <a:pt x="327660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4256532" y="4146550"/>
              <a:ext cx="2513981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dirty="0" b="0">
                  <a:solidFill>
                    <a:schemeClr val="dk1"/>
                  </a:solidFill>
                  <a:latin typeface="Instrument Sans Medium"/>
                  <a:ea typeface="Noto Sans SC Medium"/>
                  <a:cs typeface="Instrument Sans Medium"/>
                </a:rPr>
                <a:t xml:space="preserve">AI-native </a:t>
              </a:r>
              <a:r>
                <a:rPr lang="zh-CN" sz="2100" dirty="0" b="0">
                  <a:solidFill>
                    <a:schemeClr val="dk1"/>
                  </a:solidFill>
                  <a:latin typeface="Instrument Sans Medium"/>
                  <a:ea typeface="Noto Sans SC Medium"/>
                  <a:cs typeface="Instrument Sans Medium"/>
                </a:rPr>
                <a:t>工作方式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257294" y="4654550"/>
              <a:ext cx="296387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dirty="0" b="0">
                  <a:solidFill>
                    <a:schemeClr val="dk1"/>
                  </a:solidFill>
                  <a:latin typeface="Instrument Sans"/>
                  <a:ea typeface="Noto Sans SC"/>
                  <a:cs typeface="Instrument Sans"/>
                </a:rPr>
                <a:t xml:space="preserve">AI </a:t>
              </a:r>
              <a:r>
                <a:rPr lang="zh-CN" sz="1950" dirty="0" b="0">
                  <a:solidFill>
                    <a:schemeClr val="dk1"/>
                  </a:solidFill>
                  <a:latin typeface="Instrument Sans"/>
                  <a:ea typeface="Noto Sans SC"/>
                  <a:cs typeface="Instrument Sans"/>
                </a:rPr>
                <a:t>融入研究、知识积累、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257294" y="5016500"/>
              <a:ext cx="316992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 b="0">
                  <a:solidFill>
                    <a:schemeClr val="dk1"/>
                  </a:solidFill>
                  <a:latin typeface="Instrument Sans"/>
                  <a:ea typeface="Noto Sans SC"/>
                  <a:cs typeface="Instrument Sans"/>
                </a:rPr>
                <a:t>任务协同与内容生产，团队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257294" y="5378450"/>
              <a:ext cx="264490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 b="0">
                  <a:solidFill>
                    <a:schemeClr val="dk1"/>
                  </a:solidFill>
                  <a:latin typeface="Instrument Sans"/>
                  <a:ea typeface="Noto Sans SC"/>
                  <a:cs typeface="Instrument Sans"/>
                </a:rPr>
                <a:t>负责商业判断与质量。</a:t>
              </a:r>
            </a:p>
          </p:txBody>
        </p:sp>
      </p:grpSp>
      <p:grpSp>
        <p:nvGrpSpPr>
          <p:cNvPr id="35" name="footer"/>
          <p:cNvGrpSpPr/>
          <p:nvPr/>
        </p:nvGrpSpPr>
        <p:grpSpPr>
          <a:xfrm>
            <a:off x="609600" y="6191250"/>
            <a:ext cx="10978896" cy="558403"/>
            <a:chOff x="609600" y="6191250"/>
            <a:chExt cx="10978896" cy="558403"/>
          </a:xfrm>
        </p:grpSpPr>
        <p:sp>
          <p:nvSpPr>
            <p:cNvPr id="31" name="Line 31"/>
            <p:cNvSpPr/>
            <p:nvPr/>
          </p:nvSpPr>
          <p:spPr>
            <a:xfrm>
              <a:off x="609600" y="6191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pic>
          <p:nvPicPr>
            <p:cNvPr id="32" name="Image 3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9600" y="6296025"/>
              <a:ext cx="1714500" cy="453628"/>
            </a:xfrm>
            <a:prstGeom prst="rect">
              <a:avLst/>
            </a:prstGeom>
          </p:spPr>
        </p:pic>
        <p:sp>
          <p:nvSpPr>
            <p:cNvPr id="33" name="TextBox 33"/>
            <p:cNvSpPr txBox="1"/>
            <p:nvPr/>
          </p:nvSpPr>
          <p:spPr>
            <a:xfrm>
              <a:off x="10513162" y="6457950"/>
              <a:ext cx="10753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 b="0">
                  <a:solidFill>
                    <a:schemeClr val="accent5"/>
                  </a:solidFill>
                  <a:latin typeface="Instrument Sans"/>
                  <a:ea typeface="Noto Sans SC"/>
                  <a:cs typeface="Instrument Sans"/>
                </a:rPr>
                <a:t>A</a:t>
              </a:r>
              <a:r>
                <a:rPr lang="zh-CN" sz="1200" dirty="0" b="0">
                  <a:solidFill>
                    <a:schemeClr val="accent5"/>
                  </a:solidFill>
                  <a:latin typeface="Instrument Sans"/>
                  <a:ea typeface="Noto Sans SC"/>
                  <a:cs typeface="Instrument Sans"/>
                </a:rPr>
                <a:t>｜暖色编辑式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1035132" y="619125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 b="0">
                  <a:solidFill>
                    <a:schemeClr val="accent5"/>
                  </a:solidFill>
                  <a:latin typeface="Instrument Sans"/>
                  <a:ea typeface="Noto Sans SC"/>
                  <a:cs typeface="Instrument Sans"/>
                </a:rPr>
                <a:t>02 / 09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pening"/>
          <p:cNvGrpSpPr/>
          <p:nvPr/>
        </p:nvGrpSpPr>
        <p:grpSpPr>
          <a:xfrm>
            <a:off x="592836" y="330200"/>
            <a:ext cx="6252972" cy="1089914"/>
            <a:chOff x="592836" y="330200"/>
            <a:chExt cx="6252972" cy="1089914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330200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 b="0">
                  <a:solidFill>
                    <a:schemeClr val="accent5"/>
                  </a:solidFill>
                  <a:latin typeface="Instrument Sans Medium"/>
                  <a:ea typeface="Noto Sans SC Medium"/>
                  <a:cs typeface="Instrument Sans Medium"/>
                </a:rPr>
                <a:t>我们做什么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2836" y="774700"/>
              <a:ext cx="625297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dirty="0" b="0">
                  <a:solidFill>
                    <a:schemeClr val="dk1"/>
                  </a:solidFill>
                  <a:latin typeface="Instrument Sans SemiBold"/>
                  <a:ea typeface="Noto Sans SC SemiBold"/>
                  <a:cs typeface="Instrument Sans SemiBold"/>
                </a:rPr>
                <a:t>两项核心能力，连接策略与执行</a:t>
              </a:r>
            </a:p>
          </p:txBody>
        </p:sp>
      </p:grpSp>
      <p:grpSp>
        <p:nvGrpSpPr>
          <p:cNvPr id="6" name="service-intro"/>
          <p:cNvGrpSpPr/>
          <p:nvPr/>
        </p:nvGrpSpPr>
        <p:grpSpPr>
          <a:xfrm>
            <a:off x="599694" y="1444625"/>
            <a:ext cx="6582537" cy="381381"/>
            <a:chOff x="599694" y="1444625"/>
            <a:chExt cx="6582537" cy="381381"/>
          </a:xfrm>
        </p:grpSpPr>
        <p:sp>
          <p:nvSpPr>
            <p:cNvPr id="5" name="TextBox 5"/>
            <p:cNvSpPr txBox="1"/>
            <p:nvPr/>
          </p:nvSpPr>
          <p:spPr>
            <a:xfrm>
              <a:off x="599694" y="1444625"/>
              <a:ext cx="658253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 b="0">
                  <a:solidFill>
                    <a:schemeClr val="dk1"/>
                  </a:solidFill>
                  <a:latin typeface="Instrument Sans"/>
                  <a:ea typeface="Noto Sans SC"/>
                  <a:cs typeface="Instrument Sans"/>
                </a:rPr>
                <a:t>以营销判断和渠道规划统筹工作，按目标组合执行能力。</a:t>
              </a:r>
            </a:p>
          </p:txBody>
        </p:sp>
      </p:grpSp>
      <p:grpSp>
        <p:nvGrpSpPr>
          <p:cNvPr id="8" name="core-label"/>
          <p:cNvGrpSpPr/>
          <p:nvPr/>
        </p:nvGrpSpPr>
        <p:grpSpPr>
          <a:xfrm>
            <a:off x="602742" y="1892300"/>
            <a:ext cx="740664" cy="264033"/>
            <a:chOff x="602742" y="1892300"/>
            <a:chExt cx="740664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602742" y="189230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 b="0">
                  <a:solidFill>
                    <a:schemeClr val="accent1"/>
                  </a:solidFill>
                  <a:latin typeface="Instrument Sans Medium"/>
                  <a:ea typeface="Noto Sans SC Medium"/>
                  <a:cs typeface="Instrument Sans Medium"/>
                </a:rPr>
                <a:t>核心能力</a:t>
              </a:r>
            </a:p>
          </p:txBody>
        </p:sp>
      </p:grpSp>
      <p:grpSp>
        <p:nvGrpSpPr>
          <p:cNvPr id="13" name="core-1"/>
          <p:cNvGrpSpPr/>
          <p:nvPr/>
        </p:nvGrpSpPr>
        <p:grpSpPr>
          <a:xfrm>
            <a:off x="609600" y="2209800"/>
            <a:ext cx="5334000" cy="1619250"/>
            <a:chOff x="609600" y="2209800"/>
            <a:chExt cx="5334000" cy="1619250"/>
          </a:xfrm>
        </p:grpSpPr>
        <p:sp>
          <p:nvSpPr>
            <p:cNvPr id="9" name="Rectangle 9"/>
            <p:cNvSpPr/>
            <p:nvPr/>
          </p:nvSpPr>
          <p:spPr>
            <a:xfrm>
              <a:off x="609600" y="2209800"/>
              <a:ext cx="5334000" cy="16192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5632" y="2384425"/>
              <a:ext cx="256565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 b="0">
                  <a:solidFill>
                    <a:srgbClr val="FFFFFF"/>
                  </a:solidFill>
                  <a:latin typeface="Instrument Sans Medium"/>
                  <a:ea typeface="Noto Sans SC Medium"/>
                  <a:cs typeface="Instrument Sans Medium"/>
                </a:rPr>
                <a:t>营销策略与品牌基础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66394" y="2892425"/>
              <a:ext cx="448246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 b="0">
                  <a:solidFill>
                    <a:srgbClr val="FFFFFF"/>
                  </a:solidFill>
                  <a:latin typeface="Instrument Sans"/>
                  <a:ea typeface="Noto Sans SC"/>
                  <a:cs typeface="Instrument Sans"/>
                </a:rPr>
                <a:t>理解市场与用户，明确定位、价值表达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66394" y="3254375"/>
              <a:ext cx="185737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 b="0">
                  <a:solidFill>
                    <a:srgbClr val="FFFFFF"/>
                  </a:solidFill>
                  <a:latin typeface="Instrument Sans"/>
                  <a:ea typeface="Noto Sans SC"/>
                  <a:cs typeface="Instrument Sans"/>
                </a:rPr>
                <a:t>与营销优先级。</a:t>
              </a:r>
            </a:p>
          </p:txBody>
        </p:sp>
      </p:grpSp>
      <p:grpSp>
        <p:nvGrpSpPr>
          <p:cNvPr id="18" name="core-2"/>
          <p:cNvGrpSpPr/>
          <p:nvPr/>
        </p:nvGrpSpPr>
        <p:grpSpPr>
          <a:xfrm>
            <a:off x="6248400" y="2209800"/>
            <a:ext cx="5334000" cy="1619250"/>
            <a:chOff x="6248400" y="2209800"/>
            <a:chExt cx="5334000" cy="1619250"/>
          </a:xfrm>
        </p:grpSpPr>
        <p:sp>
          <p:nvSpPr>
            <p:cNvPr id="14" name="Rectangle 14"/>
            <p:cNvSpPr/>
            <p:nvPr/>
          </p:nvSpPr>
          <p:spPr>
            <a:xfrm>
              <a:off x="6248400" y="2209800"/>
              <a:ext cx="5334000" cy="16192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504432" y="2384425"/>
              <a:ext cx="200025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 b="0">
                  <a:solidFill>
                    <a:srgbClr val="FFFFFF"/>
                  </a:solidFill>
                  <a:latin typeface="Instrument Sans Medium"/>
                  <a:ea typeface="Noto Sans SC Medium"/>
                  <a:cs typeface="Instrument Sans Medium"/>
                </a:rPr>
                <a:t>渠道运营与增长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505194" y="2892425"/>
              <a:ext cx="448246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 b="0">
                  <a:solidFill>
                    <a:srgbClr val="FFFFFF"/>
                  </a:solidFill>
                  <a:latin typeface="Instrument Sans"/>
                  <a:ea typeface="Noto Sans SC"/>
                  <a:cs typeface="Instrument Sans"/>
                </a:rPr>
                <a:t>规划渠道组合、资源投入与运营路径，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505194" y="3254375"/>
              <a:ext cx="238239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 b="0">
                  <a:solidFill>
                    <a:srgbClr val="FFFFFF"/>
                  </a:solidFill>
                  <a:latin typeface="Instrument Sans"/>
                  <a:ea typeface="Noto Sans SC"/>
                  <a:cs typeface="Instrument Sans"/>
                </a:rPr>
                <a:t>结合反馈持续调整。</a:t>
              </a:r>
            </a:p>
          </p:txBody>
        </p:sp>
      </p:grpSp>
      <p:grpSp>
        <p:nvGrpSpPr>
          <p:cNvPr id="20" name="execution-label"/>
          <p:cNvGrpSpPr/>
          <p:nvPr/>
        </p:nvGrpSpPr>
        <p:grpSpPr>
          <a:xfrm>
            <a:off x="602742" y="3997325"/>
            <a:ext cx="740664" cy="264033"/>
            <a:chOff x="602742" y="3997325"/>
            <a:chExt cx="740664" cy="264033"/>
          </a:xfrm>
        </p:grpSpPr>
        <p:sp>
          <p:nvSpPr>
            <p:cNvPr id="19" name="TextBox 19"/>
            <p:cNvSpPr txBox="1"/>
            <p:nvPr/>
          </p:nvSpPr>
          <p:spPr>
            <a:xfrm>
              <a:off x="602742" y="3997325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 b="0">
                  <a:solidFill>
                    <a:schemeClr val="accent1"/>
                  </a:solidFill>
                  <a:latin typeface="Instrument Sans Medium"/>
                  <a:ea typeface="Noto Sans SC Medium"/>
                  <a:cs typeface="Instrument Sans Medium"/>
                </a:rPr>
                <a:t>直接执行</a:t>
              </a:r>
            </a:p>
          </p:txBody>
        </p:sp>
      </p:grpSp>
      <p:grpSp>
        <p:nvGrpSpPr>
          <p:cNvPr id="24" name="execution-1"/>
          <p:cNvGrpSpPr/>
          <p:nvPr/>
        </p:nvGrpSpPr>
        <p:grpSpPr>
          <a:xfrm>
            <a:off x="609600" y="4343400"/>
            <a:ext cx="3352800" cy="838200"/>
            <a:chOff x="609600" y="4343400"/>
            <a:chExt cx="3352800" cy="838200"/>
          </a:xfrm>
        </p:grpSpPr>
        <p:sp>
          <p:nvSpPr>
            <p:cNvPr id="21" name="Rectangle 21"/>
            <p:cNvSpPr/>
            <p:nvPr/>
          </p:nvSpPr>
          <p:spPr>
            <a:xfrm>
              <a:off x="609600" y="4343400"/>
              <a:ext cx="3352800" cy="8382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89432" y="4432300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 b="0">
                  <a:solidFill>
                    <a:schemeClr val="dk1"/>
                  </a:solidFill>
                  <a:latin typeface="Instrument Sans Medium"/>
                  <a:ea typeface="Noto Sans SC Medium"/>
                  <a:cs typeface="Instrument Sans Medium"/>
                </a:rPr>
                <a:t>内容营销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91718" y="4797425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 b="0">
                  <a:solidFill>
                    <a:schemeClr val="accent5"/>
                  </a:solidFill>
                  <a:latin typeface="Instrument Sans"/>
                  <a:ea typeface="Noto Sans SC"/>
                  <a:cs typeface="Instrument Sans"/>
                </a:rPr>
                <a:t>内容方向与素材</a:t>
              </a:r>
            </a:p>
          </p:txBody>
        </p:sp>
      </p:grpSp>
      <p:grpSp>
        <p:nvGrpSpPr>
          <p:cNvPr id="28" name="execution-2"/>
          <p:cNvGrpSpPr/>
          <p:nvPr/>
        </p:nvGrpSpPr>
        <p:grpSpPr>
          <a:xfrm>
            <a:off x="4419600" y="4343400"/>
            <a:ext cx="3352800" cy="838200"/>
            <a:chOff x="4419600" y="4343400"/>
            <a:chExt cx="3352800" cy="838200"/>
          </a:xfrm>
        </p:grpSpPr>
        <p:sp>
          <p:nvSpPr>
            <p:cNvPr id="25" name="Rectangle 25"/>
            <p:cNvSpPr/>
            <p:nvPr/>
          </p:nvSpPr>
          <p:spPr>
            <a:xfrm>
              <a:off x="4419600" y="4343400"/>
              <a:ext cx="3352800" cy="8382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4599432" y="4432300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 b="0">
                  <a:solidFill>
                    <a:schemeClr val="dk1"/>
                  </a:solidFill>
                  <a:latin typeface="Instrument Sans Medium"/>
                  <a:ea typeface="Noto Sans SC Medium"/>
                  <a:cs typeface="Instrument Sans Medium"/>
                </a:rPr>
                <a:t>达人营销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601718" y="4797425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 b="0">
                  <a:solidFill>
                    <a:schemeClr val="accent5"/>
                  </a:solidFill>
                  <a:latin typeface="Instrument Sans"/>
                  <a:ea typeface="Noto Sans SC"/>
                  <a:cs typeface="Instrument Sans"/>
                </a:rPr>
                <a:t>达人筛选与合作</a:t>
              </a:r>
            </a:p>
          </p:txBody>
        </p:sp>
      </p:grpSp>
      <p:grpSp>
        <p:nvGrpSpPr>
          <p:cNvPr id="32" name="execution-3"/>
          <p:cNvGrpSpPr/>
          <p:nvPr/>
        </p:nvGrpSpPr>
        <p:grpSpPr>
          <a:xfrm>
            <a:off x="8229600" y="4343400"/>
            <a:ext cx="3352800" cy="838200"/>
            <a:chOff x="8229600" y="4343400"/>
            <a:chExt cx="3352800" cy="838200"/>
          </a:xfrm>
        </p:grpSpPr>
        <p:sp>
          <p:nvSpPr>
            <p:cNvPr id="29" name="Rectangle 29"/>
            <p:cNvSpPr/>
            <p:nvPr/>
          </p:nvSpPr>
          <p:spPr>
            <a:xfrm>
              <a:off x="8229600" y="4343400"/>
              <a:ext cx="3352800" cy="8382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409432" y="4432300"/>
              <a:ext cx="143484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 b="0">
                  <a:solidFill>
                    <a:schemeClr val="dk1"/>
                  </a:solidFill>
                  <a:latin typeface="Instrument Sans Medium"/>
                  <a:ea typeface="Noto Sans SC Medium"/>
                  <a:cs typeface="Instrument Sans Medium"/>
                </a:rPr>
                <a:t>广告与投放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411718" y="4797425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 b="0">
                  <a:solidFill>
                    <a:schemeClr val="accent5"/>
                  </a:solidFill>
                  <a:latin typeface="Instrument Sans"/>
                  <a:ea typeface="Noto Sans SC"/>
                  <a:cs typeface="Instrument Sans"/>
                </a:rPr>
                <a:t>投放规划与优化</a:t>
              </a:r>
            </a:p>
          </p:txBody>
        </p:sp>
      </p:grpSp>
      <p:grpSp>
        <p:nvGrpSpPr>
          <p:cNvPr id="37" name="partners"/>
          <p:cNvGrpSpPr/>
          <p:nvPr/>
        </p:nvGrpSpPr>
        <p:grpSpPr>
          <a:xfrm>
            <a:off x="602742" y="5410200"/>
            <a:ext cx="10979658" cy="662432"/>
            <a:chOff x="602742" y="5410200"/>
            <a:chExt cx="10979658" cy="662432"/>
          </a:xfrm>
        </p:grpSpPr>
        <p:sp>
          <p:nvSpPr>
            <p:cNvPr id="33" name="Line 33"/>
            <p:cNvSpPr/>
            <p:nvPr/>
          </p:nvSpPr>
          <p:spPr>
            <a:xfrm>
              <a:off x="609600" y="54102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1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02742" y="551180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 b="0">
                  <a:solidFill>
                    <a:schemeClr val="accent1"/>
                  </a:solidFill>
                  <a:latin typeface="Instrument Sans Medium"/>
                  <a:ea typeface="Noto Sans SC Medium"/>
                  <a:cs typeface="Instrument Sans Medium"/>
                </a:rPr>
                <a:t>专业协作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125218" y="5473700"/>
              <a:ext cx="433978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 b="0">
                  <a:solidFill>
                    <a:schemeClr val="dk1"/>
                  </a:solidFill>
                  <a:latin typeface="Instrument Sans"/>
                  <a:ea typeface="Noto Sans SC"/>
                  <a:cs typeface="Instrument Sans"/>
                </a:rPr>
                <a:t>本地渠道拓展 · 落地执行 · 公共关系（</a:t>
              </a:r>
              <a:r>
                <a:rPr lang="en-US" sz="1650" dirty="0" b="0">
                  <a:solidFill>
                    <a:schemeClr val="dk1"/>
                  </a:solidFill>
                  <a:latin typeface="Instrument Sans"/>
                  <a:ea typeface="Noto Sans SC"/>
                  <a:cs typeface="Instrument Sans"/>
                </a:rPr>
                <a:t>PR</a:t>
              </a:r>
              <a:r>
                <a:rPr lang="zh-CN" sz="1650" dirty="0" b="0">
                  <a:solidFill>
                    <a:schemeClr val="dk1"/>
                  </a:solidFill>
                  <a:latin typeface="Instrument Sans"/>
                  <a:ea typeface="Noto Sans SC"/>
                  <a:cs typeface="Instrument Sans"/>
                </a:rPr>
                <a:t>）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125218" y="5749925"/>
              <a:ext cx="366694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 b="0">
                  <a:solidFill>
                    <a:schemeClr val="accent5"/>
                  </a:solidFill>
                  <a:latin typeface="Instrument Sans"/>
                  <a:ea typeface="Noto Sans SC"/>
                  <a:cs typeface="Instrument Sans"/>
                </a:rPr>
                <a:t xml:space="preserve">由 </a:t>
              </a:r>
              <a:r>
                <a:rPr lang="en-US" sz="1650" dirty="0" b="0">
                  <a:solidFill>
                    <a:schemeClr val="accent5"/>
                  </a:solidFill>
                  <a:latin typeface="Instrument Sans"/>
                  <a:ea typeface="Noto Sans SC"/>
                  <a:cs typeface="Instrument Sans"/>
                </a:rPr>
                <a:t xml:space="preserve">Outrise </a:t>
              </a:r>
              <a:r>
                <a:rPr lang="zh-CN" sz="1650" dirty="0" b="0">
                  <a:solidFill>
                    <a:schemeClr val="accent5"/>
                  </a:solidFill>
                  <a:latin typeface="Instrument Sans"/>
                  <a:ea typeface="Noto Sans SC"/>
                  <a:cs typeface="Instrument Sans"/>
                </a:rPr>
                <a:t>按需触达、筛选和协调。</a:t>
              </a:r>
            </a:p>
          </p:txBody>
        </p:sp>
      </p:grpSp>
      <p:grpSp>
        <p:nvGrpSpPr>
          <p:cNvPr id="42" name="footer"/>
          <p:cNvGrpSpPr/>
          <p:nvPr/>
        </p:nvGrpSpPr>
        <p:grpSpPr>
          <a:xfrm>
            <a:off x="609600" y="6191250"/>
            <a:ext cx="10978896" cy="558403"/>
            <a:chOff x="609600" y="6191250"/>
            <a:chExt cx="10978896" cy="558403"/>
          </a:xfrm>
        </p:grpSpPr>
        <p:sp>
          <p:nvSpPr>
            <p:cNvPr id="38" name="Line 38"/>
            <p:cNvSpPr/>
            <p:nvPr/>
          </p:nvSpPr>
          <p:spPr>
            <a:xfrm>
              <a:off x="609600" y="6191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pic>
          <p:nvPicPr>
            <p:cNvPr id="39" name="Image 3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9600" y="6296025"/>
              <a:ext cx="1714500" cy="453628"/>
            </a:xfrm>
            <a:prstGeom prst="rect">
              <a:avLst/>
            </a:prstGeom>
          </p:spPr>
        </p:pic>
        <p:sp>
          <p:nvSpPr>
            <p:cNvPr id="40" name="TextBox 40"/>
            <p:cNvSpPr txBox="1"/>
            <p:nvPr/>
          </p:nvSpPr>
          <p:spPr>
            <a:xfrm>
              <a:off x="10513162" y="6457950"/>
              <a:ext cx="10753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 b="0">
                  <a:solidFill>
                    <a:schemeClr val="accent5"/>
                  </a:solidFill>
                  <a:latin typeface="Instrument Sans"/>
                  <a:ea typeface="Noto Sans SC"/>
                  <a:cs typeface="Instrument Sans"/>
                </a:rPr>
                <a:t>A</a:t>
              </a:r>
              <a:r>
                <a:rPr lang="zh-CN" sz="1200" dirty="0" b="0">
                  <a:solidFill>
                    <a:schemeClr val="accent5"/>
                  </a:solidFill>
                  <a:latin typeface="Instrument Sans"/>
                  <a:ea typeface="Noto Sans SC"/>
                  <a:cs typeface="Instrument Sans"/>
                </a:rPr>
                <a:t>｜暖色编辑式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035132" y="619125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 b="0">
                  <a:solidFill>
                    <a:schemeClr val="accent5"/>
                  </a:solidFill>
                  <a:latin typeface="Instrument Sans"/>
                  <a:ea typeface="Noto Sans SC"/>
                  <a:cs typeface="Instrument Sans"/>
                </a:rPr>
                <a:t>03 / 09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brand"/>
          <p:cNvGrpSpPr/>
          <p:nvPr/>
        </p:nvGrpSpPr>
        <p:grpSpPr>
          <a:xfrm>
            <a:off x="609600" y="609600"/>
            <a:ext cx="10979658" cy="907256"/>
            <a:chOff x="609600" y="609600"/>
            <a:chExt cx="10979658" cy="907256"/>
          </a:xfrm>
        </p:grpSpPr>
        <p:pic>
          <p:nvPicPr>
            <p:cNvPr id="2" name="Image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9600" y="609600"/>
              <a:ext cx="3429000" cy="907256"/>
            </a:xfrm>
            <a:prstGeom prst="rect">
              <a:avLst/>
            </a:prstGeom>
          </p:spPr>
        </p:pic>
        <p:sp>
          <p:nvSpPr>
            <p:cNvPr id="3" name="TextBox 3"/>
            <p:cNvSpPr txBox="1"/>
            <p:nvPr/>
          </p:nvSpPr>
          <p:spPr>
            <a:xfrm>
              <a:off x="9386468" y="673100"/>
              <a:ext cx="22027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 b="0">
                  <a:solidFill>
                    <a:schemeClr val="accent1"/>
                  </a:solidFill>
                  <a:latin typeface="Instrument Sans Medium"/>
                  <a:ea typeface="Noto Sans SC Medium"/>
                  <a:cs typeface="Instrument Sans Medium"/>
                </a:rPr>
                <a:t>NORTH AMERICA FOCUSED</a:t>
              </a:r>
            </a:p>
          </p:txBody>
        </p:sp>
      </p:grpSp>
      <p:grpSp>
        <p:nvGrpSpPr>
          <p:cNvPr id="7" name="positioning"/>
          <p:cNvGrpSpPr/>
          <p:nvPr/>
        </p:nvGrpSpPr>
        <p:grpSpPr>
          <a:xfrm>
            <a:off x="590550" y="2235200"/>
            <a:ext cx="7674102" cy="1733550"/>
            <a:chOff x="590550" y="2235200"/>
            <a:chExt cx="7674102" cy="1733550"/>
          </a:xfrm>
        </p:grpSpPr>
        <p:sp>
          <p:nvSpPr>
            <p:cNvPr id="5" name="TextBox 5"/>
            <p:cNvSpPr txBox="1"/>
            <p:nvPr/>
          </p:nvSpPr>
          <p:spPr>
            <a:xfrm>
              <a:off x="590550" y="2235200"/>
              <a:ext cx="4561332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dirty="0" b="0">
                  <a:solidFill>
                    <a:schemeClr val="dk1"/>
                  </a:solidFill>
                  <a:latin typeface="Instrument Sans SemiBold"/>
                  <a:ea typeface="Noto Sans SC SemiBold"/>
                  <a:cs typeface="Instrument Sans SemiBold"/>
                </a:rPr>
                <a:t>专注北美市场的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90550" y="3035300"/>
              <a:ext cx="7674102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800" dirty="0" b="0">
                  <a:solidFill>
                    <a:schemeClr val="dk1"/>
                  </a:solidFill>
                  <a:latin typeface="Instrument Sans SemiBold"/>
                  <a:ea typeface="Noto Sans SC SemiBold"/>
                  <a:cs typeface="Instrument Sans SemiBold"/>
                </a:rPr>
                <a:t xml:space="preserve">AI-native </a:t>
              </a:r>
              <a:r>
                <a:rPr lang="zh-CN" sz="4800" dirty="0" b="0">
                  <a:solidFill>
                    <a:schemeClr val="dk1"/>
                  </a:solidFill>
                  <a:latin typeface="Instrument Sans SemiBold"/>
                  <a:ea typeface="Noto Sans SC SemiBold"/>
                  <a:cs typeface="Instrument Sans SemiBold"/>
                </a:rPr>
                <a:t>营销与增长团队</a:t>
              </a:r>
            </a:p>
          </p:txBody>
        </p:sp>
      </p:grpSp>
      <p:grpSp>
        <p:nvGrpSpPr>
          <p:cNvPr id="20" name="work-path"/>
          <p:cNvGrpSpPr/>
          <p:nvPr/>
        </p:nvGrpSpPr>
        <p:grpSpPr>
          <a:xfrm>
            <a:off x="609600" y="4762500"/>
            <a:ext cx="10972800" cy="1047750"/>
            <a:chOff x="609600" y="4762500"/>
            <a:chExt cx="10972800" cy="1047750"/>
          </a:xfrm>
        </p:grpSpPr>
        <p:sp>
          <p:nvSpPr>
            <p:cNvPr id="8" name="Line 8"/>
            <p:cNvSpPr/>
            <p:nvPr/>
          </p:nvSpPr>
          <p:spPr>
            <a:xfrm>
              <a:off x="2362200" y="5276850"/>
              <a:ext cx="7467600" cy="9525"/>
            </a:xfrm>
            <a:custGeom>
              <a:avLst/>
              <a:gdLst/>
              <a:ahLst/>
              <a:cxnLst/>
              <a:rect l="l" t="t" r="r" b="b"/>
              <a:pathLst>
                <a:path w="7467600" h="9525">
                  <a:moveTo>
                    <a:pt x="0" y="0"/>
                  </a:moveTo>
                  <a:lnTo>
                    <a:pt x="746760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grpSp>
          <p:nvGrpSpPr>
            <p:cNvPr id="11" name="work-1"/>
            <p:cNvGrpSpPr/>
            <p:nvPr/>
          </p:nvGrpSpPr>
          <p:grpSpPr>
            <a:xfrm>
              <a:off x="609600" y="4762500"/>
              <a:ext cx="3352800" cy="1047750"/>
              <a:chOff x="609600" y="4762500"/>
              <a:chExt cx="3352800" cy="1047750"/>
            </a:xfrm>
          </p:grpSpPr>
          <p:sp>
            <p:nvSpPr>
              <p:cNvPr id="9" name="Rectangle 9"/>
              <p:cNvSpPr/>
              <p:nvPr/>
            </p:nvSpPr>
            <p:spPr>
              <a:xfrm>
                <a:off x="609600" y="4762500"/>
                <a:ext cx="3352800" cy="104775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1751076" y="5149850"/>
                <a:ext cx="1069848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950" dirty="0" b="0">
                    <a:solidFill>
                      <a:srgbClr val="FFFFFF"/>
                    </a:solidFill>
                    <a:latin typeface="Instrument Sans"/>
                    <a:ea typeface="Noto Sans SC"/>
                    <a:cs typeface="Instrument Sans"/>
                  </a:rPr>
                  <a:t>策略判断</a:t>
                </a:r>
              </a:p>
            </p:txBody>
          </p:sp>
        </p:grpSp>
        <p:sp>
          <p:nvSpPr>
            <p:cNvPr id="12" name="TextBox 12"/>
            <p:cNvSpPr txBox="1"/>
            <p:nvPr/>
          </p:nvSpPr>
          <p:spPr>
            <a:xfrm>
              <a:off x="4108904" y="5149850"/>
              <a:ext cx="16419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dirty="0" b="0">
                  <a:solidFill>
                    <a:schemeClr val="accent1"/>
                  </a:solidFill>
                  <a:latin typeface="Instrument Sans"/>
                  <a:ea typeface="Noto Sans SC"/>
                  <a:cs typeface="Instrument Sans"/>
                </a:rPr>
                <a:t>·</a:t>
              </a:r>
            </a:p>
          </p:txBody>
        </p:sp>
        <p:grpSp>
          <p:nvGrpSpPr>
            <p:cNvPr id="15" name="work-2"/>
            <p:cNvGrpSpPr/>
            <p:nvPr/>
          </p:nvGrpSpPr>
          <p:grpSpPr>
            <a:xfrm>
              <a:off x="4419600" y="4762500"/>
              <a:ext cx="3352800" cy="1047750"/>
              <a:chOff x="4419600" y="4762500"/>
              <a:chExt cx="3352800" cy="1047750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4419600" y="4762500"/>
                <a:ext cx="3352800" cy="104775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5561076" y="5149850"/>
                <a:ext cx="1069848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950" dirty="0" b="0">
                    <a:solidFill>
                      <a:srgbClr val="FFFFFF"/>
                    </a:solidFill>
                    <a:latin typeface="Instrument Sans"/>
                    <a:ea typeface="Noto Sans SC"/>
                    <a:cs typeface="Instrument Sans"/>
                  </a:rPr>
                  <a:t>营销规划</a:t>
                </a:r>
              </a:p>
            </p:txBody>
          </p:sp>
        </p:grpSp>
        <p:sp>
          <p:nvSpPr>
            <p:cNvPr id="16" name="TextBox 16"/>
            <p:cNvSpPr txBox="1"/>
            <p:nvPr/>
          </p:nvSpPr>
          <p:spPr>
            <a:xfrm>
              <a:off x="7918904" y="5149850"/>
              <a:ext cx="16419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dirty="0" b="0">
                  <a:solidFill>
                    <a:schemeClr val="accent1"/>
                  </a:solidFill>
                  <a:latin typeface="Instrument Sans"/>
                  <a:ea typeface="Noto Sans SC"/>
                  <a:cs typeface="Instrument Sans"/>
                </a:rPr>
                <a:t>·</a:t>
              </a:r>
            </a:p>
          </p:txBody>
        </p:sp>
        <p:grpSp>
          <p:nvGrpSpPr>
            <p:cNvPr id="19" name="work-3"/>
            <p:cNvGrpSpPr/>
            <p:nvPr/>
          </p:nvGrpSpPr>
          <p:grpSpPr>
            <a:xfrm>
              <a:off x="8229600" y="4762500"/>
              <a:ext cx="3352800" cy="1047750"/>
              <a:chOff x="8229600" y="4762500"/>
              <a:chExt cx="3352800" cy="1047750"/>
            </a:xfrm>
          </p:grpSpPr>
          <p:sp>
            <p:nvSpPr>
              <p:cNvPr id="17" name="Rectangle 17"/>
              <p:cNvSpPr/>
              <p:nvPr/>
            </p:nvSpPr>
            <p:spPr>
              <a:xfrm>
                <a:off x="8229600" y="4762500"/>
                <a:ext cx="3352800" cy="104775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9371076" y="5149850"/>
                <a:ext cx="1069848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950" dirty="0" b="0">
                    <a:solidFill>
                      <a:srgbClr val="FFFFFF"/>
                    </a:solidFill>
                    <a:latin typeface="Instrument Sans"/>
                    <a:ea typeface="Noto Sans SC"/>
                    <a:cs typeface="Instrument Sans"/>
                  </a:rPr>
                  <a:t>关键执行</a:t>
                </a:r>
              </a:p>
            </p:txBody>
          </p:sp>
        </p:grpSp>
      </p:grpSp>
      <p:grpSp>
        <p:nvGrpSpPr>
          <p:cNvPr id="24" name="footer"/>
          <p:cNvGrpSpPr/>
          <p:nvPr/>
        </p:nvGrpSpPr>
        <p:grpSpPr>
          <a:xfrm>
            <a:off x="609600" y="6191250"/>
            <a:ext cx="10978896" cy="501396"/>
            <a:chOff x="609600" y="6191250"/>
            <a:chExt cx="10978896" cy="501396"/>
          </a:xfrm>
        </p:grpSpPr>
        <p:sp>
          <p:nvSpPr>
            <p:cNvPr id="21" name="Line 21"/>
            <p:cNvSpPr/>
            <p:nvPr/>
          </p:nvSpPr>
          <p:spPr>
            <a:xfrm>
              <a:off x="609600" y="6191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0190074" y="6457950"/>
              <a:ext cx="139842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 b="0">
                  <a:solidFill>
                    <a:schemeClr val="accent5"/>
                  </a:solidFill>
                  <a:latin typeface="Instrument Sans"/>
                  <a:ea typeface="Noto Sans SC"/>
                  <a:cs typeface="Instrument Sans"/>
                </a:rPr>
                <a:t>B</a:t>
              </a:r>
              <a:r>
                <a:rPr lang="zh-CN" sz="1200" dirty="0" b="0">
                  <a:solidFill>
                    <a:schemeClr val="accent5"/>
                  </a:solidFill>
                  <a:latin typeface="Instrument Sans"/>
                  <a:ea typeface="Noto Sans SC"/>
                  <a:cs typeface="Instrument Sans"/>
                </a:rPr>
                <a:t>｜营销工作地图式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035132" y="619125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 b="0">
                  <a:solidFill>
                    <a:schemeClr val="accent5"/>
                  </a:solidFill>
                  <a:latin typeface="Instrument Sans"/>
                  <a:ea typeface="Noto Sans SC"/>
                  <a:cs typeface="Instrument Sans"/>
                </a:rPr>
                <a:t>04 / 09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pening"/>
          <p:cNvGrpSpPr/>
          <p:nvPr/>
        </p:nvGrpSpPr>
        <p:grpSpPr>
          <a:xfrm>
            <a:off x="592836" y="330200"/>
            <a:ext cx="6252972" cy="1089914"/>
            <a:chOff x="592836" y="330200"/>
            <a:chExt cx="6252972" cy="1089914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33020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 b="0">
                  <a:solidFill>
                    <a:schemeClr val="accent5"/>
                  </a:solidFill>
                  <a:latin typeface="Instrument Sans Medium"/>
                  <a:ea typeface="Noto Sans SC Medium"/>
                  <a:cs typeface="Instrument Sans Medium"/>
                </a:rPr>
                <a:t>我们是谁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2836" y="774700"/>
              <a:ext cx="625297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dirty="0" b="0">
                  <a:solidFill>
                    <a:schemeClr val="dk1"/>
                  </a:solidFill>
                  <a:latin typeface="Instrument Sans SemiBold"/>
                  <a:ea typeface="Noto Sans SC SemiBold"/>
                  <a:cs typeface="Instrument Sans SemiBold"/>
                </a:rPr>
                <a:t>专注北美，以策略判断连接行动</a:t>
              </a:r>
            </a:p>
          </p:txBody>
        </p:sp>
      </p:grpSp>
      <p:grpSp>
        <p:nvGrpSpPr>
          <p:cNvPr id="7" name="company-intro"/>
          <p:cNvGrpSpPr/>
          <p:nvPr/>
        </p:nvGrpSpPr>
        <p:grpSpPr>
          <a:xfrm>
            <a:off x="599694" y="1501775"/>
            <a:ext cx="10555126" cy="743331"/>
            <a:chOff x="599694" y="1501775"/>
            <a:chExt cx="10555126" cy="743331"/>
          </a:xfrm>
        </p:grpSpPr>
        <p:sp>
          <p:nvSpPr>
            <p:cNvPr id="5" name="TextBox 5"/>
            <p:cNvSpPr txBox="1"/>
            <p:nvPr/>
          </p:nvSpPr>
          <p:spPr>
            <a:xfrm>
              <a:off x="599694" y="1501775"/>
              <a:ext cx="1055512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dirty="0" b="0">
                  <a:solidFill>
                    <a:schemeClr val="dk1"/>
                  </a:solidFill>
                  <a:latin typeface="Instrument Sans"/>
                  <a:ea typeface="Noto Sans SC"/>
                  <a:cs typeface="Instrument Sans"/>
                </a:rPr>
                <a:t xml:space="preserve">Outrise </a:t>
              </a:r>
              <a:r>
                <a:rPr lang="zh-CN" sz="1950" dirty="0" b="0">
                  <a:solidFill>
                    <a:schemeClr val="dk1"/>
                  </a:solidFill>
                  <a:latin typeface="Instrument Sans"/>
                  <a:ea typeface="Noto Sans SC"/>
                  <a:cs typeface="Instrument Sans"/>
                </a:rPr>
                <a:t>为消费品牌与科技创业公司提供北美市场的营销支持。我们从业务目标和用户需求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99694" y="1863725"/>
              <a:ext cx="1052017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 b="0">
                  <a:solidFill>
                    <a:schemeClr val="dk1"/>
                  </a:solidFill>
                  <a:latin typeface="Instrument Sans"/>
                  <a:ea typeface="Noto Sans SC"/>
                  <a:cs typeface="Instrument Sans"/>
                </a:rPr>
                <a:t>出发，明确市场方向、建立品牌表达，规划渠道与资源投入，并推进约定的关键营销工作。</a:t>
              </a:r>
            </a:p>
          </p:txBody>
        </p:sp>
      </p:grpSp>
      <p:grpSp>
        <p:nvGrpSpPr>
          <p:cNvPr id="30" name="company-map"/>
          <p:cNvGrpSpPr/>
          <p:nvPr/>
        </p:nvGrpSpPr>
        <p:grpSpPr>
          <a:xfrm>
            <a:off x="609600" y="2470150"/>
            <a:ext cx="10617022" cy="3670681"/>
            <a:chOff x="609600" y="2470150"/>
            <a:chExt cx="10617022" cy="3670681"/>
          </a:xfrm>
        </p:grpSpPr>
        <p:grpSp>
          <p:nvGrpSpPr>
            <p:cNvPr id="17" name="company-map-spine"/>
            <p:cNvGrpSpPr/>
            <p:nvPr/>
          </p:nvGrpSpPr>
          <p:grpSpPr>
            <a:xfrm>
              <a:off x="609600" y="2581275"/>
              <a:ext cx="2971800" cy="2609850"/>
              <a:chOff x="609600" y="2581275"/>
              <a:chExt cx="2971800" cy="2609850"/>
            </a:xfrm>
          </p:grpSpPr>
          <p:pic>
            <p:nvPicPr>
              <p:cNvPr id="8" name="Image 8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09600" y="4248150"/>
                <a:ext cx="1714500" cy="453628"/>
              </a:xfrm>
              <a:prstGeom prst="rect">
                <a:avLst/>
              </a:prstGeom>
            </p:spPr>
          </p:pic>
          <p:sp>
            <p:nvSpPr>
              <p:cNvPr id="9" name="Line 9"/>
              <p:cNvSpPr/>
              <p:nvPr/>
            </p:nvSpPr>
            <p:spPr>
              <a:xfrm>
                <a:off x="2419350" y="4476750"/>
                <a:ext cx="5524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52450" h="9525">
                    <a:moveTo>
                      <a:pt x="0" y="0"/>
                    </a:moveTo>
                    <a:lnTo>
                      <a:pt x="552450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10" name="Line 10"/>
              <p:cNvSpPr/>
              <p:nvPr/>
            </p:nvSpPr>
            <p:spPr>
              <a:xfrm>
                <a:off x="2971800" y="2628900"/>
                <a:ext cx="9525" cy="25146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514600">
                    <a:moveTo>
                      <a:pt x="0" y="0"/>
                    </a:moveTo>
                    <a:lnTo>
                      <a:pt x="0" y="251460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11" name="Line 11"/>
              <p:cNvSpPr/>
              <p:nvPr/>
            </p:nvSpPr>
            <p:spPr>
              <a:xfrm>
                <a:off x="2971800" y="2628900"/>
                <a:ext cx="609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09600" h="9525">
                    <a:moveTo>
                      <a:pt x="0" y="0"/>
                    </a:moveTo>
                    <a:lnTo>
                      <a:pt x="609600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12" name="Line 12"/>
              <p:cNvSpPr/>
              <p:nvPr/>
            </p:nvSpPr>
            <p:spPr>
              <a:xfrm>
                <a:off x="2971800" y="3886200"/>
                <a:ext cx="609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09600" h="9525">
                    <a:moveTo>
                      <a:pt x="0" y="0"/>
                    </a:moveTo>
                    <a:lnTo>
                      <a:pt x="609600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13" name="Line 13"/>
              <p:cNvSpPr/>
              <p:nvPr/>
            </p:nvSpPr>
            <p:spPr>
              <a:xfrm>
                <a:off x="2971800" y="5143500"/>
                <a:ext cx="609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09600" h="9525">
                    <a:moveTo>
                      <a:pt x="0" y="0"/>
                    </a:moveTo>
                    <a:lnTo>
                      <a:pt x="609600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14" name="Ellipse 14"/>
              <p:cNvSpPr/>
              <p:nvPr/>
            </p:nvSpPr>
            <p:spPr>
              <a:xfrm>
                <a:off x="2924175" y="2581275"/>
                <a:ext cx="95250" cy="9525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15" name="Ellipse 15"/>
              <p:cNvSpPr/>
              <p:nvPr/>
            </p:nvSpPr>
            <p:spPr>
              <a:xfrm>
                <a:off x="2924175" y="3838575"/>
                <a:ext cx="95250" cy="9525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16" name="Ellipse 16"/>
              <p:cNvSpPr/>
              <p:nvPr/>
            </p:nvSpPr>
            <p:spPr>
              <a:xfrm>
                <a:off x="2924175" y="5095875"/>
                <a:ext cx="95250" cy="9525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</p:grpSp>
        <p:grpSp>
          <p:nvGrpSpPr>
            <p:cNvPr id="21" name="feature-1"/>
            <p:cNvGrpSpPr/>
            <p:nvPr/>
          </p:nvGrpSpPr>
          <p:grpSpPr>
            <a:xfrm>
              <a:off x="3799332" y="2470150"/>
              <a:ext cx="7370826" cy="1156081"/>
              <a:chOff x="3799332" y="2470150"/>
              <a:chExt cx="7370826" cy="1156081"/>
            </a:xfrm>
          </p:grpSpPr>
          <p:sp>
            <p:nvSpPr>
              <p:cNvPr id="18" name="TextBox 18"/>
              <p:cNvSpPr txBox="1"/>
              <p:nvPr/>
            </p:nvSpPr>
            <p:spPr>
              <a:xfrm>
                <a:off x="3799332" y="2470150"/>
                <a:ext cx="1717548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dirty="0" b="0">
                    <a:solidFill>
                      <a:schemeClr val="accent1"/>
                    </a:solidFill>
                    <a:latin typeface="Instrument Sans Medium"/>
                    <a:ea typeface="Noto Sans SC Medium"/>
                    <a:cs typeface="Instrument Sans Medium"/>
                  </a:rPr>
                  <a:t>北美市场聚焦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3800094" y="2882900"/>
                <a:ext cx="7370064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dirty="0" b="0">
                    <a:solidFill>
                      <a:schemeClr val="dk1"/>
                    </a:solidFill>
                    <a:latin typeface="Instrument Sans"/>
                    <a:ea typeface="Noto Sans SC"/>
                    <a:cs typeface="Instrument Sans"/>
                  </a:rPr>
                  <a:t>围绕当地用户、市场环境与渠道特点，做出贴合目标市场的营销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3800094" y="3244850"/>
                <a:ext cx="807339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dirty="0" b="0">
                    <a:solidFill>
                      <a:schemeClr val="dk1"/>
                    </a:solidFill>
                    <a:latin typeface="Instrument Sans"/>
                    <a:ea typeface="Noto Sans SC"/>
                    <a:cs typeface="Instrument Sans"/>
                  </a:rPr>
                  <a:t>选择。</a:t>
                </a:r>
              </a:p>
            </p:txBody>
          </p:sp>
        </p:grpSp>
        <p:grpSp>
          <p:nvGrpSpPr>
            <p:cNvPr id="25" name="feature-2"/>
            <p:cNvGrpSpPr/>
            <p:nvPr/>
          </p:nvGrpSpPr>
          <p:grpSpPr>
            <a:xfrm>
              <a:off x="3799332" y="3727450"/>
              <a:ext cx="7370826" cy="1156081"/>
              <a:chOff x="3799332" y="3727450"/>
              <a:chExt cx="7370826" cy="1156081"/>
            </a:xfrm>
          </p:grpSpPr>
          <p:sp>
            <p:nvSpPr>
              <p:cNvPr id="22" name="TextBox 22"/>
              <p:cNvSpPr txBox="1"/>
              <p:nvPr/>
            </p:nvSpPr>
            <p:spPr>
              <a:xfrm>
                <a:off x="3799332" y="3727450"/>
                <a:ext cx="2000250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dirty="0" b="0">
                    <a:solidFill>
                      <a:schemeClr val="accent1"/>
                    </a:solidFill>
                    <a:latin typeface="Instrument Sans Medium"/>
                    <a:ea typeface="Noto Sans SC Medium"/>
                    <a:cs typeface="Instrument Sans Medium"/>
                  </a:rPr>
                  <a:t>以策略判断为先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3800094" y="4140200"/>
                <a:ext cx="7370064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dirty="0" b="0">
                    <a:solidFill>
                      <a:schemeClr val="dk1"/>
                    </a:solidFill>
                    <a:latin typeface="Instrument Sans"/>
                    <a:ea typeface="Noto Sans SC"/>
                    <a:cs typeface="Instrument Sans"/>
                  </a:rPr>
                  <a:t>明确面向谁、表达什么价值、优先投入哪里，将业务目标转化为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3800094" y="4502150"/>
                <a:ext cx="1332357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dirty="0" b="0">
                    <a:solidFill>
                      <a:schemeClr val="dk1"/>
                    </a:solidFill>
                    <a:latin typeface="Instrument Sans"/>
                    <a:ea typeface="Noto Sans SC"/>
                    <a:cs typeface="Instrument Sans"/>
                  </a:rPr>
                  <a:t>营销重点。</a:t>
                </a:r>
              </a:p>
            </p:txBody>
          </p:sp>
        </p:grpSp>
        <p:grpSp>
          <p:nvGrpSpPr>
            <p:cNvPr id="29" name="feature-3"/>
            <p:cNvGrpSpPr/>
            <p:nvPr/>
          </p:nvGrpSpPr>
          <p:grpSpPr>
            <a:xfrm>
              <a:off x="3799332" y="4984750"/>
              <a:ext cx="7427290" cy="1156081"/>
              <a:chOff x="3799332" y="4984750"/>
              <a:chExt cx="7427290" cy="1156081"/>
            </a:xfrm>
          </p:grpSpPr>
          <p:sp>
            <p:nvSpPr>
              <p:cNvPr id="26" name="TextBox 26"/>
              <p:cNvSpPr txBox="1"/>
              <p:nvPr/>
            </p:nvSpPr>
            <p:spPr>
              <a:xfrm>
                <a:off x="3799332" y="4984750"/>
                <a:ext cx="2513981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100" dirty="0" b="0">
                    <a:solidFill>
                      <a:schemeClr val="accent1"/>
                    </a:solidFill>
                    <a:latin typeface="Instrument Sans Medium"/>
                    <a:ea typeface="Noto Sans SC Medium"/>
                    <a:cs typeface="Instrument Sans Medium"/>
                  </a:rPr>
                  <a:t xml:space="preserve">AI-native </a:t>
                </a:r>
                <a:r>
                  <a:rPr lang="zh-CN" sz="2100" dirty="0" b="0">
                    <a:solidFill>
                      <a:schemeClr val="accent1"/>
                    </a:solidFill>
                    <a:latin typeface="Instrument Sans Medium"/>
                    <a:ea typeface="Noto Sans SC Medium"/>
                    <a:cs typeface="Instrument Sans Medium"/>
                  </a:rPr>
                  <a:t>工作方式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3800094" y="5397500"/>
                <a:ext cx="7426528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950" dirty="0" b="0">
                    <a:solidFill>
                      <a:schemeClr val="dk1"/>
                    </a:solidFill>
                    <a:latin typeface="Instrument Sans"/>
                    <a:ea typeface="Noto Sans SC"/>
                    <a:cs typeface="Instrument Sans"/>
                  </a:rPr>
                  <a:t xml:space="preserve">AI </a:t>
                </a:r>
                <a:r>
                  <a:rPr lang="zh-CN" sz="1950" dirty="0" b="0">
                    <a:solidFill>
                      <a:schemeClr val="dk1"/>
                    </a:solidFill>
                    <a:latin typeface="Instrument Sans"/>
                    <a:ea typeface="Noto Sans SC"/>
                    <a:cs typeface="Instrument Sans"/>
                  </a:rPr>
                  <a:t>融入研究、知识积累、任务协同与内容生产，团队负责商业判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3800094" y="5759450"/>
                <a:ext cx="1332357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dirty="0" b="0">
                    <a:solidFill>
                      <a:schemeClr val="dk1"/>
                    </a:solidFill>
                    <a:latin typeface="Instrument Sans"/>
                    <a:ea typeface="Noto Sans SC"/>
                    <a:cs typeface="Instrument Sans"/>
                  </a:rPr>
                  <a:t>断与质量。</a:t>
                </a:r>
              </a:p>
            </p:txBody>
          </p:sp>
        </p:grpSp>
      </p:grpSp>
      <p:grpSp>
        <p:nvGrpSpPr>
          <p:cNvPr id="35" name="footer"/>
          <p:cNvGrpSpPr/>
          <p:nvPr/>
        </p:nvGrpSpPr>
        <p:grpSpPr>
          <a:xfrm>
            <a:off x="609600" y="6191250"/>
            <a:ext cx="10978896" cy="558403"/>
            <a:chOff x="609600" y="6191250"/>
            <a:chExt cx="10978896" cy="558403"/>
          </a:xfrm>
        </p:grpSpPr>
        <p:sp>
          <p:nvSpPr>
            <p:cNvPr id="31" name="Line 31"/>
            <p:cNvSpPr/>
            <p:nvPr/>
          </p:nvSpPr>
          <p:spPr>
            <a:xfrm>
              <a:off x="609600" y="6191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pic>
          <p:nvPicPr>
            <p:cNvPr id="32" name="Image 3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96025"/>
              <a:ext cx="1714500" cy="453628"/>
            </a:xfrm>
            <a:prstGeom prst="rect">
              <a:avLst/>
            </a:prstGeom>
          </p:spPr>
        </p:pic>
        <p:sp>
          <p:nvSpPr>
            <p:cNvPr id="33" name="TextBox 33"/>
            <p:cNvSpPr txBox="1"/>
            <p:nvPr/>
          </p:nvSpPr>
          <p:spPr>
            <a:xfrm>
              <a:off x="10190074" y="6457950"/>
              <a:ext cx="139842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 b="0">
                  <a:solidFill>
                    <a:schemeClr val="accent5"/>
                  </a:solidFill>
                  <a:latin typeface="Instrument Sans"/>
                  <a:ea typeface="Noto Sans SC"/>
                  <a:cs typeface="Instrument Sans"/>
                </a:rPr>
                <a:t>B</a:t>
              </a:r>
              <a:r>
                <a:rPr lang="zh-CN" sz="1200" dirty="0" b="0">
                  <a:solidFill>
                    <a:schemeClr val="accent5"/>
                  </a:solidFill>
                  <a:latin typeface="Instrument Sans"/>
                  <a:ea typeface="Noto Sans SC"/>
                  <a:cs typeface="Instrument Sans"/>
                </a:rPr>
                <a:t>｜营销工作地图式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1035132" y="619125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 b="0">
                  <a:solidFill>
                    <a:schemeClr val="accent5"/>
                  </a:solidFill>
                  <a:latin typeface="Instrument Sans"/>
                  <a:ea typeface="Noto Sans SC"/>
                  <a:cs typeface="Instrument Sans"/>
                </a:rPr>
                <a:t>05 / 09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pening"/>
          <p:cNvGrpSpPr/>
          <p:nvPr/>
        </p:nvGrpSpPr>
        <p:grpSpPr>
          <a:xfrm>
            <a:off x="592836" y="330200"/>
            <a:ext cx="6252972" cy="1089914"/>
            <a:chOff x="592836" y="330200"/>
            <a:chExt cx="6252972" cy="1089914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330200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 b="0">
                  <a:solidFill>
                    <a:schemeClr val="accent5"/>
                  </a:solidFill>
                  <a:latin typeface="Instrument Sans Medium"/>
                  <a:ea typeface="Noto Sans SC Medium"/>
                  <a:cs typeface="Instrument Sans Medium"/>
                </a:rPr>
                <a:t>我们做什么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2836" y="774700"/>
              <a:ext cx="625297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dirty="0" b="0">
                  <a:solidFill>
                    <a:schemeClr val="dk1"/>
                  </a:solidFill>
                  <a:latin typeface="Instrument Sans SemiBold"/>
                  <a:ea typeface="Noto Sans SC SemiBold"/>
                  <a:cs typeface="Instrument Sans SemiBold"/>
                </a:rPr>
                <a:t>两项核心能力，连接策略与执行</a:t>
              </a:r>
            </a:p>
          </p:txBody>
        </p:sp>
      </p:grpSp>
      <p:grpSp>
        <p:nvGrpSpPr>
          <p:cNvPr id="6" name="service-intro"/>
          <p:cNvGrpSpPr/>
          <p:nvPr/>
        </p:nvGrpSpPr>
        <p:grpSpPr>
          <a:xfrm>
            <a:off x="599694" y="1444625"/>
            <a:ext cx="6582537" cy="381381"/>
            <a:chOff x="599694" y="1444625"/>
            <a:chExt cx="6582537" cy="381381"/>
          </a:xfrm>
        </p:grpSpPr>
        <p:sp>
          <p:nvSpPr>
            <p:cNvPr id="5" name="TextBox 5"/>
            <p:cNvSpPr txBox="1"/>
            <p:nvPr/>
          </p:nvSpPr>
          <p:spPr>
            <a:xfrm>
              <a:off x="599694" y="1444625"/>
              <a:ext cx="658253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 b="0">
                  <a:solidFill>
                    <a:schemeClr val="dk1"/>
                  </a:solidFill>
                  <a:latin typeface="Instrument Sans"/>
                  <a:ea typeface="Noto Sans SC"/>
                  <a:cs typeface="Instrument Sans"/>
                </a:rPr>
                <a:t>以营销判断和渠道规划统筹工作，按目标组合执行能力。</a:t>
              </a:r>
            </a:p>
          </p:txBody>
        </p:sp>
      </p:grpSp>
      <p:grpSp>
        <p:nvGrpSpPr>
          <p:cNvPr id="8" name="core-label"/>
          <p:cNvGrpSpPr/>
          <p:nvPr/>
        </p:nvGrpSpPr>
        <p:grpSpPr>
          <a:xfrm>
            <a:off x="602742" y="1882775"/>
            <a:ext cx="740664" cy="264033"/>
            <a:chOff x="602742" y="1882775"/>
            <a:chExt cx="740664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602742" y="1882775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 b="0">
                  <a:solidFill>
                    <a:schemeClr val="accent1"/>
                  </a:solidFill>
                  <a:latin typeface="Instrument Sans Medium"/>
                  <a:ea typeface="Noto Sans SC Medium"/>
                  <a:cs typeface="Instrument Sans Medium"/>
                </a:rPr>
                <a:t>核心能力</a:t>
              </a:r>
            </a:p>
          </p:txBody>
        </p:sp>
      </p:grpSp>
      <p:grpSp>
        <p:nvGrpSpPr>
          <p:cNvPr id="13" name="core-1"/>
          <p:cNvGrpSpPr/>
          <p:nvPr/>
        </p:nvGrpSpPr>
        <p:grpSpPr>
          <a:xfrm>
            <a:off x="609600" y="2228850"/>
            <a:ext cx="5334000" cy="1543050"/>
            <a:chOff x="609600" y="2228850"/>
            <a:chExt cx="5334000" cy="1543050"/>
          </a:xfrm>
        </p:grpSpPr>
        <p:sp>
          <p:nvSpPr>
            <p:cNvPr id="9" name="Rectangle 9"/>
            <p:cNvSpPr/>
            <p:nvPr/>
          </p:nvSpPr>
          <p:spPr>
            <a:xfrm>
              <a:off x="609600" y="2228850"/>
              <a:ext cx="5334000" cy="1543050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5632" y="2393950"/>
              <a:ext cx="256565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 b="0">
                  <a:solidFill>
                    <a:schemeClr val="accent1"/>
                  </a:solidFill>
                  <a:latin typeface="Instrument Sans Medium"/>
                  <a:ea typeface="Noto Sans SC Medium"/>
                  <a:cs typeface="Instrument Sans Medium"/>
                </a:rPr>
                <a:t>营销策略与品牌基础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66394" y="2892425"/>
              <a:ext cx="448246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 b="0">
                  <a:solidFill>
                    <a:schemeClr val="dk1"/>
                  </a:solidFill>
                  <a:latin typeface="Instrument Sans"/>
                  <a:ea typeface="Noto Sans SC"/>
                  <a:cs typeface="Instrument Sans"/>
                </a:rPr>
                <a:t>理解市场与用户，明确定位、价值表达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66394" y="3254375"/>
              <a:ext cx="185737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 b="0">
                  <a:solidFill>
                    <a:schemeClr val="dk1"/>
                  </a:solidFill>
                  <a:latin typeface="Instrument Sans"/>
                  <a:ea typeface="Noto Sans SC"/>
                  <a:cs typeface="Instrument Sans"/>
                </a:rPr>
                <a:t>与营销优先级。</a:t>
              </a:r>
            </a:p>
          </p:txBody>
        </p:sp>
      </p:grpSp>
      <p:grpSp>
        <p:nvGrpSpPr>
          <p:cNvPr id="18" name="core-2"/>
          <p:cNvGrpSpPr/>
          <p:nvPr/>
        </p:nvGrpSpPr>
        <p:grpSpPr>
          <a:xfrm>
            <a:off x="6248400" y="2228850"/>
            <a:ext cx="5334000" cy="1543050"/>
            <a:chOff x="6248400" y="2228850"/>
            <a:chExt cx="5334000" cy="1543050"/>
          </a:xfrm>
        </p:grpSpPr>
        <p:sp>
          <p:nvSpPr>
            <p:cNvPr id="14" name="Rectangle 14"/>
            <p:cNvSpPr/>
            <p:nvPr/>
          </p:nvSpPr>
          <p:spPr>
            <a:xfrm>
              <a:off x="6248400" y="2228850"/>
              <a:ext cx="5334000" cy="1543050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504432" y="2393950"/>
              <a:ext cx="200025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 b="0">
                  <a:solidFill>
                    <a:schemeClr val="accent1"/>
                  </a:solidFill>
                  <a:latin typeface="Instrument Sans Medium"/>
                  <a:ea typeface="Noto Sans SC Medium"/>
                  <a:cs typeface="Instrument Sans Medium"/>
                </a:rPr>
                <a:t>渠道运营与增长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505194" y="2892425"/>
              <a:ext cx="448246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 b="0">
                  <a:solidFill>
                    <a:schemeClr val="dk1"/>
                  </a:solidFill>
                  <a:latin typeface="Instrument Sans"/>
                  <a:ea typeface="Noto Sans SC"/>
                  <a:cs typeface="Instrument Sans"/>
                </a:rPr>
                <a:t>规划渠道组合、资源投入与运营路径，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505194" y="3254375"/>
              <a:ext cx="238239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 b="0">
                  <a:solidFill>
                    <a:schemeClr val="dk1"/>
                  </a:solidFill>
                  <a:latin typeface="Instrument Sans"/>
                  <a:ea typeface="Noto Sans SC"/>
                  <a:cs typeface="Instrument Sans"/>
                </a:rPr>
                <a:t>结合反馈持续调整。</a:t>
              </a:r>
            </a:p>
          </p:txBody>
        </p:sp>
      </p:grpSp>
      <p:grpSp>
        <p:nvGrpSpPr>
          <p:cNvPr id="28" name="shared-execution-links"/>
          <p:cNvGrpSpPr/>
          <p:nvPr/>
        </p:nvGrpSpPr>
        <p:grpSpPr>
          <a:xfrm>
            <a:off x="2286000" y="3771900"/>
            <a:ext cx="7629525" cy="628650"/>
            <a:chOff x="2286000" y="3771900"/>
            <a:chExt cx="7629525" cy="628650"/>
          </a:xfrm>
        </p:grpSpPr>
        <p:sp>
          <p:nvSpPr>
            <p:cNvPr id="19" name="Line 19"/>
            <p:cNvSpPr/>
            <p:nvPr/>
          </p:nvSpPr>
          <p:spPr>
            <a:xfrm>
              <a:off x="3276600" y="3771900"/>
              <a:ext cx="9525" cy="209550"/>
            </a:xfrm>
            <a:custGeom>
              <a:avLst/>
              <a:gdLst/>
              <a:ahLst/>
              <a:cxnLst/>
              <a:rect l="l" t="t" r="r" b="b"/>
              <a:pathLst>
                <a:path w="9525" h="209550">
                  <a:moveTo>
                    <a:pt x="0" y="0"/>
                  </a:moveTo>
                  <a:lnTo>
                    <a:pt x="0" y="20955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8915400" y="3771900"/>
              <a:ext cx="9525" cy="209550"/>
            </a:xfrm>
            <a:custGeom>
              <a:avLst/>
              <a:gdLst/>
              <a:ahLst/>
              <a:cxnLst/>
              <a:rect l="l" t="t" r="r" b="b"/>
              <a:pathLst>
                <a:path w="9525" h="209550">
                  <a:moveTo>
                    <a:pt x="0" y="0"/>
                  </a:moveTo>
                  <a:lnTo>
                    <a:pt x="0" y="20955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3276600" y="3981450"/>
              <a:ext cx="5638800" cy="9525"/>
            </a:xfrm>
            <a:custGeom>
              <a:avLst/>
              <a:gdLst/>
              <a:ahLst/>
              <a:cxnLst/>
              <a:rect l="l" t="t" r="r" b="b"/>
              <a:pathLst>
                <a:path w="5638800" h="9525">
                  <a:moveTo>
                    <a:pt x="0" y="0"/>
                  </a:moveTo>
                  <a:lnTo>
                    <a:pt x="563880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6096000" y="3981450"/>
              <a:ext cx="9525" cy="228600"/>
            </a:xfrm>
            <a:custGeom>
              <a:avLst/>
              <a:gdLst/>
              <a:ahLst/>
              <a:cxnLst/>
              <a:rect l="l" t="t" r="r" b="b"/>
              <a:pathLst>
                <a:path w="9525" h="228600">
                  <a:moveTo>
                    <a:pt x="0" y="0"/>
                  </a:moveTo>
                  <a:lnTo>
                    <a:pt x="0" y="22860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2286000" y="4210050"/>
              <a:ext cx="7620000" cy="9525"/>
            </a:xfrm>
            <a:custGeom>
              <a:avLst/>
              <a:gdLst/>
              <a:ahLst/>
              <a:cxnLst/>
              <a:rect l="l" t="t" r="r" b="b"/>
              <a:pathLst>
                <a:path w="7620000" h="9525">
                  <a:moveTo>
                    <a:pt x="0" y="0"/>
                  </a:moveTo>
                  <a:lnTo>
                    <a:pt x="762000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2286000" y="4210050"/>
              <a:ext cx="9525" cy="190500"/>
            </a:xfrm>
            <a:custGeom>
              <a:avLst/>
              <a:gdLst/>
              <a:ahLst/>
              <a:cxnLst/>
              <a:rect l="l" t="t" r="r" b="b"/>
              <a:pathLst>
                <a:path w="9525" h="190500">
                  <a:moveTo>
                    <a:pt x="0" y="0"/>
                  </a:moveTo>
                  <a:lnTo>
                    <a:pt x="0" y="19050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6096000" y="4210050"/>
              <a:ext cx="9525" cy="190500"/>
            </a:xfrm>
            <a:custGeom>
              <a:avLst/>
              <a:gdLst/>
              <a:ahLst/>
              <a:cxnLst/>
              <a:rect l="l" t="t" r="r" b="b"/>
              <a:pathLst>
                <a:path w="9525" h="190500">
                  <a:moveTo>
                    <a:pt x="0" y="0"/>
                  </a:moveTo>
                  <a:lnTo>
                    <a:pt x="0" y="19050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9906000" y="4210050"/>
              <a:ext cx="9525" cy="190500"/>
            </a:xfrm>
            <a:custGeom>
              <a:avLst/>
              <a:gdLst/>
              <a:ahLst/>
              <a:cxnLst/>
              <a:rect l="l" t="t" r="r" b="b"/>
              <a:pathLst>
                <a:path w="9525" h="190500">
                  <a:moveTo>
                    <a:pt x="0" y="0"/>
                  </a:moveTo>
                  <a:lnTo>
                    <a:pt x="0" y="19050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27" name="Ellipse 27"/>
            <p:cNvSpPr/>
            <p:nvPr/>
          </p:nvSpPr>
          <p:spPr>
            <a:xfrm>
              <a:off x="6048375" y="3933825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30" name="execution-label"/>
          <p:cNvGrpSpPr/>
          <p:nvPr/>
        </p:nvGrpSpPr>
        <p:grpSpPr>
          <a:xfrm>
            <a:off x="602742" y="4016375"/>
            <a:ext cx="740664" cy="264033"/>
            <a:chOff x="602742" y="4016375"/>
            <a:chExt cx="740664" cy="264033"/>
          </a:xfrm>
        </p:grpSpPr>
        <p:sp>
          <p:nvSpPr>
            <p:cNvPr id="29" name="TextBox 29"/>
            <p:cNvSpPr txBox="1"/>
            <p:nvPr/>
          </p:nvSpPr>
          <p:spPr>
            <a:xfrm>
              <a:off x="602742" y="4016375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 b="0">
                  <a:solidFill>
                    <a:schemeClr val="accent1"/>
                  </a:solidFill>
                  <a:latin typeface="Instrument Sans Medium"/>
                  <a:ea typeface="Noto Sans SC Medium"/>
                  <a:cs typeface="Instrument Sans Medium"/>
                </a:rPr>
                <a:t>直接执行</a:t>
              </a:r>
            </a:p>
          </p:txBody>
        </p:sp>
      </p:grpSp>
      <p:grpSp>
        <p:nvGrpSpPr>
          <p:cNvPr id="34" name="execution-1"/>
          <p:cNvGrpSpPr/>
          <p:nvPr/>
        </p:nvGrpSpPr>
        <p:grpSpPr>
          <a:xfrm>
            <a:off x="609600" y="4400550"/>
            <a:ext cx="3352800" cy="800100"/>
            <a:chOff x="609600" y="4400550"/>
            <a:chExt cx="3352800" cy="800100"/>
          </a:xfrm>
        </p:grpSpPr>
        <p:sp>
          <p:nvSpPr>
            <p:cNvPr id="31" name="Rectangle 31"/>
            <p:cNvSpPr/>
            <p:nvPr/>
          </p:nvSpPr>
          <p:spPr>
            <a:xfrm>
              <a:off x="609600" y="4400550"/>
              <a:ext cx="3352800" cy="800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709928" y="4498975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dirty="0" b="0">
                  <a:solidFill>
                    <a:schemeClr val="dk1"/>
                  </a:solidFill>
                  <a:latin typeface="Instrument Sans Medium"/>
                  <a:ea typeface="Noto Sans SC Medium"/>
                  <a:cs typeface="Instrument Sans Medium"/>
                </a:rPr>
                <a:t>内容营销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500188" y="4873625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 b="0">
                  <a:solidFill>
                    <a:schemeClr val="accent5"/>
                  </a:solidFill>
                  <a:latin typeface="Instrument Sans"/>
                  <a:ea typeface="Noto Sans SC"/>
                  <a:cs typeface="Instrument Sans"/>
                </a:rPr>
                <a:t>内容方向与素材</a:t>
              </a:r>
            </a:p>
          </p:txBody>
        </p:sp>
      </p:grpSp>
      <p:grpSp>
        <p:nvGrpSpPr>
          <p:cNvPr id="38" name="execution-2"/>
          <p:cNvGrpSpPr/>
          <p:nvPr/>
        </p:nvGrpSpPr>
        <p:grpSpPr>
          <a:xfrm>
            <a:off x="4419600" y="4400550"/>
            <a:ext cx="3352800" cy="800100"/>
            <a:chOff x="4419600" y="4400550"/>
            <a:chExt cx="3352800" cy="800100"/>
          </a:xfrm>
        </p:grpSpPr>
        <p:sp>
          <p:nvSpPr>
            <p:cNvPr id="35" name="Rectangle 35"/>
            <p:cNvSpPr/>
            <p:nvPr/>
          </p:nvSpPr>
          <p:spPr>
            <a:xfrm>
              <a:off x="4419600" y="4400550"/>
              <a:ext cx="3352800" cy="800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519928" y="4498975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dirty="0" b="0">
                  <a:solidFill>
                    <a:schemeClr val="dk1"/>
                  </a:solidFill>
                  <a:latin typeface="Instrument Sans Medium"/>
                  <a:ea typeface="Noto Sans SC Medium"/>
                  <a:cs typeface="Instrument Sans Medium"/>
                </a:rPr>
                <a:t>达人营销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310188" y="4873625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 b="0">
                  <a:solidFill>
                    <a:schemeClr val="accent5"/>
                  </a:solidFill>
                  <a:latin typeface="Instrument Sans"/>
                  <a:ea typeface="Noto Sans SC"/>
                  <a:cs typeface="Instrument Sans"/>
                </a:rPr>
                <a:t>达人筛选与合作</a:t>
              </a:r>
            </a:p>
          </p:txBody>
        </p:sp>
      </p:grpSp>
      <p:grpSp>
        <p:nvGrpSpPr>
          <p:cNvPr id="42" name="execution-3"/>
          <p:cNvGrpSpPr/>
          <p:nvPr/>
        </p:nvGrpSpPr>
        <p:grpSpPr>
          <a:xfrm>
            <a:off x="8229600" y="4400550"/>
            <a:ext cx="3352800" cy="800100"/>
            <a:chOff x="8229600" y="4400550"/>
            <a:chExt cx="3352800" cy="800100"/>
          </a:xfrm>
        </p:grpSpPr>
        <p:sp>
          <p:nvSpPr>
            <p:cNvPr id="39" name="Rectangle 39"/>
            <p:cNvSpPr/>
            <p:nvPr/>
          </p:nvSpPr>
          <p:spPr>
            <a:xfrm>
              <a:off x="8229600" y="4400550"/>
              <a:ext cx="3352800" cy="800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9188577" y="4498975"/>
              <a:ext cx="143484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dirty="0" b="0">
                  <a:solidFill>
                    <a:schemeClr val="dk1"/>
                  </a:solidFill>
                  <a:latin typeface="Instrument Sans Medium"/>
                  <a:ea typeface="Noto Sans SC Medium"/>
                  <a:cs typeface="Instrument Sans Medium"/>
                </a:rPr>
                <a:t>广告与投放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120188" y="4873625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 b="0">
                  <a:solidFill>
                    <a:schemeClr val="accent5"/>
                  </a:solidFill>
                  <a:latin typeface="Instrument Sans"/>
                  <a:ea typeface="Noto Sans SC"/>
                  <a:cs typeface="Instrument Sans"/>
                </a:rPr>
                <a:t>投放规划与优化</a:t>
              </a:r>
            </a:p>
          </p:txBody>
        </p:sp>
      </p:grpSp>
      <p:grpSp>
        <p:nvGrpSpPr>
          <p:cNvPr id="47" name="partners"/>
          <p:cNvGrpSpPr/>
          <p:nvPr/>
        </p:nvGrpSpPr>
        <p:grpSpPr>
          <a:xfrm>
            <a:off x="602742" y="5410200"/>
            <a:ext cx="10979658" cy="662432"/>
            <a:chOff x="602742" y="5410200"/>
            <a:chExt cx="10979658" cy="662432"/>
          </a:xfrm>
        </p:grpSpPr>
        <p:sp>
          <p:nvSpPr>
            <p:cNvPr id="43" name="Line 43"/>
            <p:cNvSpPr/>
            <p:nvPr/>
          </p:nvSpPr>
          <p:spPr>
            <a:xfrm>
              <a:off x="609600" y="54102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02742" y="551180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 b="0">
                  <a:solidFill>
                    <a:schemeClr val="accent1"/>
                  </a:solidFill>
                  <a:latin typeface="Instrument Sans Medium"/>
                  <a:ea typeface="Noto Sans SC Medium"/>
                  <a:cs typeface="Instrument Sans Medium"/>
                </a:rPr>
                <a:t>专业协作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2125218" y="5473700"/>
              <a:ext cx="433978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 b="0">
                  <a:solidFill>
                    <a:schemeClr val="dk1"/>
                  </a:solidFill>
                  <a:latin typeface="Instrument Sans"/>
                  <a:ea typeface="Noto Sans SC"/>
                  <a:cs typeface="Instrument Sans"/>
                </a:rPr>
                <a:t>本地渠道拓展 · 落地执行 · 公共关系（</a:t>
              </a:r>
              <a:r>
                <a:rPr lang="en-US" sz="1650" dirty="0" b="0">
                  <a:solidFill>
                    <a:schemeClr val="dk1"/>
                  </a:solidFill>
                  <a:latin typeface="Instrument Sans"/>
                  <a:ea typeface="Noto Sans SC"/>
                  <a:cs typeface="Instrument Sans"/>
                </a:rPr>
                <a:t>PR</a:t>
              </a:r>
              <a:r>
                <a:rPr lang="zh-CN" sz="1650" dirty="0" b="0">
                  <a:solidFill>
                    <a:schemeClr val="dk1"/>
                  </a:solidFill>
                  <a:latin typeface="Instrument Sans"/>
                  <a:ea typeface="Noto Sans SC"/>
                  <a:cs typeface="Instrument Sans"/>
                </a:rPr>
                <a:t>）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2125218" y="5749925"/>
              <a:ext cx="366694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 b="0">
                  <a:solidFill>
                    <a:schemeClr val="accent5"/>
                  </a:solidFill>
                  <a:latin typeface="Instrument Sans"/>
                  <a:ea typeface="Noto Sans SC"/>
                  <a:cs typeface="Instrument Sans"/>
                </a:rPr>
                <a:t xml:space="preserve">由 </a:t>
              </a:r>
              <a:r>
                <a:rPr lang="en-US" sz="1650" dirty="0" b="0">
                  <a:solidFill>
                    <a:schemeClr val="accent5"/>
                  </a:solidFill>
                  <a:latin typeface="Instrument Sans"/>
                  <a:ea typeface="Noto Sans SC"/>
                  <a:cs typeface="Instrument Sans"/>
                </a:rPr>
                <a:t xml:space="preserve">Outrise </a:t>
              </a:r>
              <a:r>
                <a:rPr lang="zh-CN" sz="1650" dirty="0" b="0">
                  <a:solidFill>
                    <a:schemeClr val="accent5"/>
                  </a:solidFill>
                  <a:latin typeface="Instrument Sans"/>
                  <a:ea typeface="Noto Sans SC"/>
                  <a:cs typeface="Instrument Sans"/>
                </a:rPr>
                <a:t>按需触达、筛选和协调。</a:t>
              </a:r>
            </a:p>
          </p:txBody>
        </p:sp>
      </p:grpSp>
      <p:grpSp>
        <p:nvGrpSpPr>
          <p:cNvPr id="52" name="footer"/>
          <p:cNvGrpSpPr/>
          <p:nvPr/>
        </p:nvGrpSpPr>
        <p:grpSpPr>
          <a:xfrm>
            <a:off x="609600" y="6191250"/>
            <a:ext cx="10978896" cy="558403"/>
            <a:chOff x="609600" y="6191250"/>
            <a:chExt cx="10978896" cy="558403"/>
          </a:xfrm>
        </p:grpSpPr>
        <p:sp>
          <p:nvSpPr>
            <p:cNvPr id="48" name="Line 48"/>
            <p:cNvSpPr/>
            <p:nvPr/>
          </p:nvSpPr>
          <p:spPr>
            <a:xfrm>
              <a:off x="609600" y="6191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pic>
          <p:nvPicPr>
            <p:cNvPr id="49" name="Image 4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9600" y="6296025"/>
              <a:ext cx="1714500" cy="453628"/>
            </a:xfrm>
            <a:prstGeom prst="rect">
              <a:avLst/>
            </a:prstGeom>
          </p:spPr>
        </p:pic>
        <p:sp>
          <p:nvSpPr>
            <p:cNvPr id="50" name="TextBox 50"/>
            <p:cNvSpPr txBox="1"/>
            <p:nvPr/>
          </p:nvSpPr>
          <p:spPr>
            <a:xfrm>
              <a:off x="10190074" y="6457950"/>
              <a:ext cx="139842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 b="0">
                  <a:solidFill>
                    <a:schemeClr val="accent5"/>
                  </a:solidFill>
                  <a:latin typeface="Instrument Sans"/>
                  <a:ea typeface="Noto Sans SC"/>
                  <a:cs typeface="Instrument Sans"/>
                </a:rPr>
                <a:t>B</a:t>
              </a:r>
              <a:r>
                <a:rPr lang="zh-CN" sz="1200" dirty="0" b="0">
                  <a:solidFill>
                    <a:schemeClr val="accent5"/>
                  </a:solidFill>
                  <a:latin typeface="Instrument Sans"/>
                  <a:ea typeface="Noto Sans SC"/>
                  <a:cs typeface="Instrument Sans"/>
                </a:rPr>
                <a:t>｜营销工作地图式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035132" y="619125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 b="0">
                  <a:solidFill>
                    <a:schemeClr val="accent5"/>
                  </a:solidFill>
                  <a:latin typeface="Instrument Sans"/>
                  <a:ea typeface="Noto Sans SC"/>
                  <a:cs typeface="Instrument Sans"/>
                </a:rPr>
                <a:t>06 / 09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brand"/>
          <p:cNvGrpSpPr/>
          <p:nvPr/>
        </p:nvGrpSpPr>
        <p:grpSpPr>
          <a:xfrm>
            <a:off x="609600" y="473075"/>
            <a:ext cx="10979658" cy="2524125"/>
            <a:chOff x="609600" y="473075"/>
            <a:chExt cx="10979658" cy="2524125"/>
          </a:xfrm>
        </p:grpSpPr>
        <p:sp>
          <p:nvSpPr>
            <p:cNvPr id="2" name="TextBox 2"/>
            <p:cNvSpPr txBox="1"/>
            <p:nvPr/>
          </p:nvSpPr>
          <p:spPr>
            <a:xfrm>
              <a:off x="9386468" y="473075"/>
              <a:ext cx="22027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 b="0">
                  <a:solidFill>
                    <a:srgbClr val="FFFFFF"/>
                  </a:solidFill>
                  <a:latin typeface="Instrument Sans Medium"/>
                  <a:ea typeface="Noto Sans SC Medium"/>
                  <a:cs typeface="Instrument Sans Medium"/>
                </a:rPr>
                <a:t>NORTH AMERICA FOCUSED</a:t>
              </a:r>
            </a:p>
          </p:txBody>
        </p:sp>
        <p:pic>
          <p:nvPicPr>
            <p:cNvPr id="3" name="Image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9600" y="981075"/>
              <a:ext cx="7620000" cy="2016125"/>
            </a:xfrm>
            <a:prstGeom prst="rect">
              <a:avLst/>
            </a:prstGeom>
          </p:spPr>
        </p:pic>
        <p:grpSp>
          <p:nvGrpSpPr>
            <p:cNvPr id="6" name="upward-field"/>
            <p:cNvGrpSpPr/>
            <p:nvPr/>
          </p:nvGrpSpPr>
          <p:grpSpPr>
            <a:xfrm>
              <a:off x="9385291" y="1546836"/>
              <a:ext cx="1746268" cy="1332497"/>
              <a:chOff x="9385291" y="1546836"/>
              <a:chExt cx="1746268" cy="1332497"/>
            </a:xfrm>
          </p:grpSpPr>
          <p:sp>
            <p:nvSpPr>
              <p:cNvPr id="4" name="Rectangle 4"/>
              <p:cNvSpPr/>
              <p:nvPr/>
            </p:nvSpPr>
            <p:spPr>
              <a:xfrm rot="-1440000">
                <a:off x="9353550" y="1905000"/>
                <a:ext cx="1809750" cy="2286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5" name="Rectangle 5"/>
              <p:cNvSpPr/>
              <p:nvPr/>
            </p:nvSpPr>
            <p:spPr>
              <a:xfrm rot="-1440000">
                <a:off x="9906000" y="2533650"/>
                <a:ext cx="1162050" cy="1143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</p:sp>
        </p:grpSp>
      </p:grpSp>
      <p:grpSp>
        <p:nvGrpSpPr>
          <p:cNvPr id="11" name="positioning"/>
          <p:cNvGrpSpPr/>
          <p:nvPr/>
        </p:nvGrpSpPr>
        <p:grpSpPr>
          <a:xfrm>
            <a:off x="590550" y="3521075"/>
            <a:ext cx="7674102" cy="2476881"/>
            <a:chOff x="590550" y="3521075"/>
            <a:chExt cx="7674102" cy="2476881"/>
          </a:xfrm>
        </p:grpSpPr>
        <p:sp>
          <p:nvSpPr>
            <p:cNvPr id="8" name="TextBox 8"/>
            <p:cNvSpPr txBox="1"/>
            <p:nvPr/>
          </p:nvSpPr>
          <p:spPr>
            <a:xfrm>
              <a:off x="590550" y="3521075"/>
              <a:ext cx="4561332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dirty="0" b="0">
                  <a:solidFill>
                    <a:srgbClr val="FFFFFF"/>
                  </a:solidFill>
                  <a:latin typeface="Instrument Sans SemiBold"/>
                  <a:ea typeface="Noto Sans SC SemiBold"/>
                  <a:cs typeface="Instrument Sans SemiBold"/>
                </a:rPr>
                <a:t>专注北美市场的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90550" y="4311650"/>
              <a:ext cx="7674102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800" dirty="0" b="0">
                  <a:solidFill>
                    <a:srgbClr val="FFFFFF"/>
                  </a:solidFill>
                  <a:latin typeface="Instrument Sans SemiBold"/>
                  <a:ea typeface="Noto Sans SC SemiBold"/>
                  <a:cs typeface="Instrument Sans SemiBold"/>
                </a:rPr>
                <a:t xml:space="preserve">AI-native </a:t>
              </a:r>
              <a:r>
                <a:rPr lang="zh-CN" sz="4800" dirty="0" b="0">
                  <a:solidFill>
                    <a:srgbClr val="FFFFFF"/>
                  </a:solidFill>
                  <a:latin typeface="Instrument Sans SemiBold"/>
                  <a:ea typeface="Noto Sans SC SemiBold"/>
                  <a:cs typeface="Instrument Sans SemiBold"/>
                </a:rPr>
                <a:t>营销与增长团队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99694" y="5616575"/>
              <a:ext cx="377369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 b="0">
                  <a:solidFill>
                    <a:srgbClr val="FFFFFF"/>
                  </a:solidFill>
                  <a:latin typeface="Instrument Sans"/>
                  <a:ea typeface="Noto Sans SC"/>
                  <a:cs typeface="Instrument Sans"/>
                </a:rPr>
                <a:t>策略判断 · 营销规划 · 关键执行</a:t>
              </a:r>
            </a:p>
          </p:txBody>
        </p:sp>
      </p:grpSp>
      <p:grpSp>
        <p:nvGrpSpPr>
          <p:cNvPr id="14" name="footer"/>
          <p:cNvGrpSpPr/>
          <p:nvPr/>
        </p:nvGrpSpPr>
        <p:grpSpPr>
          <a:xfrm>
            <a:off x="10513162" y="6191250"/>
            <a:ext cx="1075334" cy="501396"/>
            <a:chOff x="10513162" y="6191250"/>
            <a:chExt cx="1075334" cy="501396"/>
          </a:xfrm>
        </p:grpSpPr>
        <p:sp>
          <p:nvSpPr>
            <p:cNvPr id="12" name="TextBox 12"/>
            <p:cNvSpPr txBox="1"/>
            <p:nvPr/>
          </p:nvSpPr>
          <p:spPr>
            <a:xfrm>
              <a:off x="10513162" y="6457950"/>
              <a:ext cx="10753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 b="0">
                  <a:solidFill>
                    <a:srgbClr val="FFFFFF"/>
                  </a:solidFill>
                  <a:latin typeface="Instrument Sans"/>
                  <a:ea typeface="Noto Sans SC"/>
                  <a:cs typeface="Instrument Sans"/>
                </a:rPr>
                <a:t>C</a:t>
              </a:r>
              <a:r>
                <a:rPr lang="zh-CN" sz="1200" dirty="0" b="0">
                  <a:solidFill>
                    <a:srgbClr val="FFFFFF"/>
                  </a:solidFill>
                  <a:latin typeface="Instrument Sans"/>
                  <a:ea typeface="Noto Sans SC"/>
                  <a:cs typeface="Instrument Sans"/>
                </a:rPr>
                <a:t>｜品牌展示式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035132" y="619125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 b="0">
                  <a:solidFill>
                    <a:srgbClr val="FFFFFF"/>
                  </a:solidFill>
                  <a:latin typeface="Instrument Sans"/>
                  <a:ea typeface="Noto Sans SC"/>
                  <a:cs typeface="Instrument Sans"/>
                </a:rPr>
                <a:t>07 / 09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2000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5" name="opening"/>
          <p:cNvGrpSpPr/>
          <p:nvPr/>
        </p:nvGrpSpPr>
        <p:grpSpPr>
          <a:xfrm>
            <a:off x="592836" y="330200"/>
            <a:ext cx="6252972" cy="1089914"/>
            <a:chOff x="592836" y="330200"/>
            <a:chExt cx="6252972" cy="1089914"/>
          </a:xfrm>
        </p:grpSpPr>
        <p:sp>
          <p:nvSpPr>
            <p:cNvPr id="3" name="TextBox 3"/>
            <p:cNvSpPr txBox="1"/>
            <p:nvPr/>
          </p:nvSpPr>
          <p:spPr>
            <a:xfrm>
              <a:off x="602742" y="33020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 b="0">
                  <a:solidFill>
                    <a:srgbClr val="FFFFFF"/>
                  </a:solidFill>
                  <a:latin typeface="Instrument Sans Medium"/>
                  <a:ea typeface="Noto Sans SC Medium"/>
                  <a:cs typeface="Instrument Sans Medium"/>
                </a:rPr>
                <a:t>我们是谁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2836" y="774700"/>
              <a:ext cx="625297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dirty="0" b="0">
                  <a:solidFill>
                    <a:srgbClr val="FFFFFF"/>
                  </a:solidFill>
                  <a:latin typeface="Instrument Sans SemiBold"/>
                  <a:ea typeface="Noto Sans SC SemiBold"/>
                  <a:cs typeface="Instrument Sans SemiBold"/>
                </a:rPr>
                <a:t>专注北美，以策略判断连接行动</a:t>
              </a:r>
            </a:p>
          </p:txBody>
        </p:sp>
      </p:grpSp>
      <p:grpSp>
        <p:nvGrpSpPr>
          <p:cNvPr id="8" name="company-intro"/>
          <p:cNvGrpSpPr/>
          <p:nvPr/>
        </p:nvGrpSpPr>
        <p:grpSpPr>
          <a:xfrm>
            <a:off x="599694" y="2359025"/>
            <a:ext cx="10555126" cy="743331"/>
            <a:chOff x="599694" y="2359025"/>
            <a:chExt cx="10555126" cy="743331"/>
          </a:xfrm>
        </p:grpSpPr>
        <p:sp>
          <p:nvSpPr>
            <p:cNvPr id="6" name="TextBox 6"/>
            <p:cNvSpPr txBox="1"/>
            <p:nvPr/>
          </p:nvSpPr>
          <p:spPr>
            <a:xfrm>
              <a:off x="599694" y="2359025"/>
              <a:ext cx="1055512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dirty="0" b="0">
                  <a:solidFill>
                    <a:schemeClr val="dk1"/>
                  </a:solidFill>
                  <a:latin typeface="Instrument Sans"/>
                  <a:ea typeface="Noto Sans SC"/>
                  <a:cs typeface="Instrument Sans"/>
                </a:rPr>
                <a:t xml:space="preserve">Outrise </a:t>
              </a:r>
              <a:r>
                <a:rPr lang="zh-CN" sz="1950" dirty="0" b="0">
                  <a:solidFill>
                    <a:schemeClr val="dk1"/>
                  </a:solidFill>
                  <a:latin typeface="Instrument Sans"/>
                  <a:ea typeface="Noto Sans SC"/>
                  <a:cs typeface="Instrument Sans"/>
                </a:rPr>
                <a:t>为消费品牌与科技创业公司提供北美市场的营销支持。我们从业务目标和用户需求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99694" y="2720975"/>
              <a:ext cx="1052017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 b="0">
                  <a:solidFill>
                    <a:schemeClr val="dk1"/>
                  </a:solidFill>
                  <a:latin typeface="Instrument Sans"/>
                  <a:ea typeface="Noto Sans SC"/>
                  <a:cs typeface="Instrument Sans"/>
                </a:rPr>
                <a:t>出发，明确市场方向、建立品牌表达，规划渠道与资源投入，并推进约定的关键营销工作。</a:t>
              </a:r>
            </a:p>
          </p:txBody>
        </p:sp>
      </p:grpSp>
      <p:grpSp>
        <p:nvGrpSpPr>
          <p:cNvPr id="14" name="feature-1"/>
          <p:cNvGrpSpPr/>
          <p:nvPr/>
        </p:nvGrpSpPr>
        <p:grpSpPr>
          <a:xfrm>
            <a:off x="597408" y="3924300"/>
            <a:ext cx="3172206" cy="1873631"/>
            <a:chOff x="597408" y="3924300"/>
            <a:chExt cx="3172206" cy="1873631"/>
          </a:xfrm>
        </p:grpSpPr>
        <p:sp>
          <p:nvSpPr>
            <p:cNvPr id="9" name="Rectangle 9"/>
            <p:cNvSpPr/>
            <p:nvPr/>
          </p:nvSpPr>
          <p:spPr>
            <a:xfrm>
              <a:off x="609600" y="3924300"/>
              <a:ext cx="419100" cy="38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97408" y="4137025"/>
              <a:ext cx="196291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 b="0">
                  <a:solidFill>
                    <a:schemeClr val="dk1"/>
                  </a:solidFill>
                  <a:latin typeface="Instrument Sans Medium"/>
                  <a:ea typeface="Noto Sans SC Medium"/>
                  <a:cs typeface="Instrument Sans Medium"/>
                </a:rPr>
                <a:t>北美市场聚焦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99694" y="4692650"/>
              <a:ext cx="316992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 b="0">
                  <a:solidFill>
                    <a:schemeClr val="dk1"/>
                  </a:solidFill>
                  <a:latin typeface="Instrument Sans"/>
                  <a:ea typeface="Noto Sans SC"/>
                  <a:cs typeface="Instrument Sans"/>
                </a:rPr>
                <a:t>围绕当地用户、市场环境与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99694" y="5054600"/>
              <a:ext cx="316992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 b="0">
                  <a:solidFill>
                    <a:schemeClr val="dk1"/>
                  </a:solidFill>
                  <a:latin typeface="Instrument Sans"/>
                  <a:ea typeface="Noto Sans SC"/>
                  <a:cs typeface="Instrument Sans"/>
                </a:rPr>
                <a:t>渠道特点，做出贴合目标市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99694" y="5416550"/>
              <a:ext cx="185737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 b="0">
                  <a:solidFill>
                    <a:schemeClr val="dk1"/>
                  </a:solidFill>
                  <a:latin typeface="Instrument Sans"/>
                  <a:ea typeface="Noto Sans SC"/>
                  <a:cs typeface="Instrument Sans"/>
                </a:rPr>
                <a:t>场的营销选择。</a:t>
              </a:r>
            </a:p>
          </p:txBody>
        </p:sp>
      </p:grpSp>
      <p:grpSp>
        <p:nvGrpSpPr>
          <p:cNvPr id="20" name="feature-2"/>
          <p:cNvGrpSpPr/>
          <p:nvPr/>
        </p:nvGrpSpPr>
        <p:grpSpPr>
          <a:xfrm>
            <a:off x="4407408" y="3924300"/>
            <a:ext cx="3172206" cy="1873631"/>
            <a:chOff x="4407408" y="3924300"/>
            <a:chExt cx="3172206" cy="1873631"/>
          </a:xfrm>
        </p:grpSpPr>
        <p:sp>
          <p:nvSpPr>
            <p:cNvPr id="15" name="Rectangle 15"/>
            <p:cNvSpPr/>
            <p:nvPr/>
          </p:nvSpPr>
          <p:spPr>
            <a:xfrm>
              <a:off x="4419600" y="3924300"/>
              <a:ext cx="419100" cy="38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407408" y="4137025"/>
              <a:ext cx="228600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 b="0">
                  <a:solidFill>
                    <a:schemeClr val="dk1"/>
                  </a:solidFill>
                  <a:latin typeface="Instrument Sans Medium"/>
                  <a:ea typeface="Noto Sans SC Medium"/>
                  <a:cs typeface="Instrument Sans Medium"/>
                </a:rPr>
                <a:t>以策略判断为先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409694" y="4692650"/>
              <a:ext cx="290741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 b="0">
                  <a:solidFill>
                    <a:schemeClr val="dk1"/>
                  </a:solidFill>
                  <a:latin typeface="Instrument Sans"/>
                  <a:ea typeface="Noto Sans SC"/>
                  <a:cs typeface="Instrument Sans"/>
                </a:rPr>
                <a:t>明确面向谁、表达什么价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409694" y="5054600"/>
              <a:ext cx="316992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 b="0">
                  <a:solidFill>
                    <a:schemeClr val="dk1"/>
                  </a:solidFill>
                  <a:latin typeface="Instrument Sans"/>
                  <a:ea typeface="Noto Sans SC"/>
                  <a:cs typeface="Instrument Sans"/>
                </a:rPr>
                <a:t>值、优先投入哪里，将业务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409694" y="5416550"/>
              <a:ext cx="264490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 b="0">
                  <a:solidFill>
                    <a:schemeClr val="dk1"/>
                  </a:solidFill>
                  <a:latin typeface="Instrument Sans"/>
                  <a:ea typeface="Noto Sans SC"/>
                  <a:cs typeface="Instrument Sans"/>
                </a:rPr>
                <a:t>目标转化为营销重点。</a:t>
              </a:r>
            </a:p>
          </p:txBody>
        </p:sp>
      </p:grpSp>
      <p:grpSp>
        <p:nvGrpSpPr>
          <p:cNvPr id="26" name="feature-3"/>
          <p:cNvGrpSpPr/>
          <p:nvPr/>
        </p:nvGrpSpPr>
        <p:grpSpPr>
          <a:xfrm>
            <a:off x="8217408" y="3924300"/>
            <a:ext cx="3228670" cy="1873631"/>
            <a:chOff x="8217408" y="3924300"/>
            <a:chExt cx="3228670" cy="1873631"/>
          </a:xfrm>
        </p:grpSpPr>
        <p:sp>
          <p:nvSpPr>
            <p:cNvPr id="21" name="Rectangle 21"/>
            <p:cNvSpPr/>
            <p:nvPr/>
          </p:nvSpPr>
          <p:spPr>
            <a:xfrm>
              <a:off x="8229600" y="3924300"/>
              <a:ext cx="419100" cy="38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217408" y="4137025"/>
              <a:ext cx="287312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dirty="0" b="0">
                  <a:solidFill>
                    <a:schemeClr val="dk1"/>
                  </a:solidFill>
                  <a:latin typeface="Instrument Sans Medium"/>
                  <a:ea typeface="Noto Sans SC Medium"/>
                  <a:cs typeface="Instrument Sans Medium"/>
                </a:rPr>
                <a:t xml:space="preserve">AI-native </a:t>
              </a:r>
              <a:r>
                <a:rPr lang="zh-CN" sz="2400" dirty="0" b="0">
                  <a:solidFill>
                    <a:schemeClr val="dk1"/>
                  </a:solidFill>
                  <a:latin typeface="Instrument Sans Medium"/>
                  <a:ea typeface="Noto Sans SC Medium"/>
                  <a:cs typeface="Instrument Sans Medium"/>
                </a:rPr>
                <a:t>工作方式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219694" y="4692650"/>
              <a:ext cx="322638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dirty="0" b="0">
                  <a:solidFill>
                    <a:schemeClr val="dk1"/>
                  </a:solidFill>
                  <a:latin typeface="Instrument Sans"/>
                  <a:ea typeface="Noto Sans SC"/>
                  <a:cs typeface="Instrument Sans"/>
                </a:rPr>
                <a:t xml:space="preserve">AI </a:t>
              </a:r>
              <a:r>
                <a:rPr lang="zh-CN" sz="1950" dirty="0" b="0">
                  <a:solidFill>
                    <a:schemeClr val="dk1"/>
                  </a:solidFill>
                  <a:latin typeface="Instrument Sans"/>
                  <a:ea typeface="Noto Sans SC"/>
                  <a:cs typeface="Instrument Sans"/>
                </a:rPr>
                <a:t>融入研究、知识积累、任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219694" y="5054600"/>
              <a:ext cx="316992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 b="0">
                  <a:solidFill>
                    <a:schemeClr val="dk1"/>
                  </a:solidFill>
                  <a:latin typeface="Instrument Sans"/>
                  <a:ea typeface="Noto Sans SC"/>
                  <a:cs typeface="Instrument Sans"/>
                </a:rPr>
                <a:t>务协同与内容生产，团队负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219694" y="5416550"/>
              <a:ext cx="238239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 b="0">
                  <a:solidFill>
                    <a:schemeClr val="dk1"/>
                  </a:solidFill>
                  <a:latin typeface="Instrument Sans"/>
                  <a:ea typeface="Noto Sans SC"/>
                  <a:cs typeface="Instrument Sans"/>
                </a:rPr>
                <a:t>责商业判断与质量。</a:t>
              </a:r>
            </a:p>
          </p:txBody>
        </p:sp>
      </p:grpSp>
      <p:grpSp>
        <p:nvGrpSpPr>
          <p:cNvPr id="31" name="footer"/>
          <p:cNvGrpSpPr/>
          <p:nvPr/>
        </p:nvGrpSpPr>
        <p:grpSpPr>
          <a:xfrm>
            <a:off x="609600" y="6191250"/>
            <a:ext cx="10978896" cy="558403"/>
            <a:chOff x="609600" y="6191250"/>
            <a:chExt cx="10978896" cy="558403"/>
          </a:xfrm>
        </p:grpSpPr>
        <p:sp>
          <p:nvSpPr>
            <p:cNvPr id="27" name="Line 27"/>
            <p:cNvSpPr/>
            <p:nvPr/>
          </p:nvSpPr>
          <p:spPr>
            <a:xfrm>
              <a:off x="609600" y="6191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pic>
          <p:nvPicPr>
            <p:cNvPr id="28" name="Image 2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9600" y="6296025"/>
              <a:ext cx="1714500" cy="453628"/>
            </a:xfrm>
            <a:prstGeom prst="rect">
              <a:avLst/>
            </a:prstGeom>
          </p:spPr>
        </p:pic>
        <p:sp>
          <p:nvSpPr>
            <p:cNvPr id="29" name="TextBox 29"/>
            <p:cNvSpPr txBox="1"/>
            <p:nvPr/>
          </p:nvSpPr>
          <p:spPr>
            <a:xfrm>
              <a:off x="10513162" y="6457950"/>
              <a:ext cx="10753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 b="0">
                  <a:solidFill>
                    <a:schemeClr val="accent5"/>
                  </a:solidFill>
                  <a:latin typeface="Instrument Sans"/>
                  <a:ea typeface="Noto Sans SC"/>
                  <a:cs typeface="Instrument Sans"/>
                </a:rPr>
                <a:t>C</a:t>
              </a:r>
              <a:r>
                <a:rPr lang="zh-CN" sz="1200" dirty="0" b="0">
                  <a:solidFill>
                    <a:schemeClr val="accent5"/>
                  </a:solidFill>
                  <a:latin typeface="Instrument Sans"/>
                  <a:ea typeface="Noto Sans SC"/>
                  <a:cs typeface="Instrument Sans"/>
                </a:rPr>
                <a:t>｜品牌展示式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035132" y="619125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 b="0">
                  <a:solidFill>
                    <a:schemeClr val="accent5"/>
                  </a:solidFill>
                  <a:latin typeface="Instrument Sans"/>
                  <a:ea typeface="Noto Sans SC"/>
                  <a:cs typeface="Instrument Sans"/>
                </a:rPr>
                <a:t>08 / 09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pening"/>
          <p:cNvGrpSpPr/>
          <p:nvPr/>
        </p:nvGrpSpPr>
        <p:grpSpPr>
          <a:xfrm>
            <a:off x="592836" y="330200"/>
            <a:ext cx="6252972" cy="1089914"/>
            <a:chOff x="592836" y="330200"/>
            <a:chExt cx="6252972" cy="1089914"/>
          </a:xfrm>
        </p:grpSpPr>
        <p:sp>
          <p:nvSpPr>
            <p:cNvPr id="2" name="TextBox 2"/>
            <p:cNvSpPr txBox="1"/>
            <p:nvPr/>
          </p:nvSpPr>
          <p:spPr>
            <a:xfrm>
              <a:off x="602742" y="330200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 b="0">
                  <a:solidFill>
                    <a:schemeClr val="accent5"/>
                  </a:solidFill>
                  <a:latin typeface="Instrument Sans Medium"/>
                  <a:ea typeface="Noto Sans SC Medium"/>
                  <a:cs typeface="Instrument Sans Medium"/>
                </a:rPr>
                <a:t>我们做什么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2836" y="774700"/>
              <a:ext cx="625297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dirty="0" b="0">
                  <a:solidFill>
                    <a:schemeClr val="dk1"/>
                  </a:solidFill>
                  <a:latin typeface="Instrument Sans SemiBold"/>
                  <a:ea typeface="Noto Sans SC SemiBold"/>
                  <a:cs typeface="Instrument Sans SemiBold"/>
                </a:rPr>
                <a:t>两项核心能力，连接策略与执行</a:t>
              </a:r>
            </a:p>
          </p:txBody>
        </p:sp>
      </p:grpSp>
      <p:grpSp>
        <p:nvGrpSpPr>
          <p:cNvPr id="6" name="service-intro"/>
          <p:cNvGrpSpPr/>
          <p:nvPr/>
        </p:nvGrpSpPr>
        <p:grpSpPr>
          <a:xfrm>
            <a:off x="599694" y="1444625"/>
            <a:ext cx="6582537" cy="381381"/>
            <a:chOff x="599694" y="1444625"/>
            <a:chExt cx="6582537" cy="381381"/>
          </a:xfrm>
        </p:grpSpPr>
        <p:sp>
          <p:nvSpPr>
            <p:cNvPr id="5" name="TextBox 5"/>
            <p:cNvSpPr txBox="1"/>
            <p:nvPr/>
          </p:nvSpPr>
          <p:spPr>
            <a:xfrm>
              <a:off x="599694" y="1444625"/>
              <a:ext cx="658253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 b="0">
                  <a:solidFill>
                    <a:schemeClr val="dk1"/>
                  </a:solidFill>
                  <a:latin typeface="Instrument Sans"/>
                  <a:ea typeface="Noto Sans SC"/>
                  <a:cs typeface="Instrument Sans"/>
                </a:rPr>
                <a:t>以营销判断和渠道规划统筹工作，按目标组合执行能力。</a:t>
              </a:r>
            </a:p>
          </p:txBody>
        </p:sp>
      </p:grpSp>
      <p:grpSp>
        <p:nvGrpSpPr>
          <p:cNvPr id="8" name="core-label"/>
          <p:cNvGrpSpPr/>
          <p:nvPr/>
        </p:nvGrpSpPr>
        <p:grpSpPr>
          <a:xfrm>
            <a:off x="602742" y="1882775"/>
            <a:ext cx="740664" cy="264033"/>
            <a:chOff x="602742" y="1882775"/>
            <a:chExt cx="740664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602742" y="1882775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 b="0">
                  <a:solidFill>
                    <a:schemeClr val="accent1"/>
                  </a:solidFill>
                  <a:latin typeface="Instrument Sans Medium"/>
                  <a:ea typeface="Noto Sans SC Medium"/>
                  <a:cs typeface="Instrument Sans Medium"/>
                </a:rPr>
                <a:t>核心能力</a:t>
              </a:r>
            </a:p>
          </p:txBody>
        </p:sp>
      </p:grpSp>
      <p:grpSp>
        <p:nvGrpSpPr>
          <p:cNvPr id="19" name="core-field"/>
          <p:cNvGrpSpPr/>
          <p:nvPr/>
        </p:nvGrpSpPr>
        <p:grpSpPr>
          <a:xfrm>
            <a:off x="0" y="2228850"/>
            <a:ext cx="12192000" cy="1619250"/>
            <a:chOff x="0" y="2228850"/>
            <a:chExt cx="12192000" cy="1619250"/>
          </a:xfrm>
        </p:grpSpPr>
        <p:sp>
          <p:nvSpPr>
            <p:cNvPr id="9" name="Rectangle 9"/>
            <p:cNvSpPr/>
            <p:nvPr/>
          </p:nvSpPr>
          <p:spPr>
            <a:xfrm>
              <a:off x="0" y="2228850"/>
              <a:ext cx="12192000" cy="16192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" name="Line 10"/>
            <p:cNvSpPr/>
            <p:nvPr/>
          </p:nvSpPr>
          <p:spPr>
            <a:xfrm>
              <a:off x="6096000" y="2457450"/>
              <a:ext cx="9525" cy="1162050"/>
            </a:xfrm>
            <a:custGeom>
              <a:avLst/>
              <a:gdLst/>
              <a:ahLst/>
              <a:cxnLst/>
              <a:rect l="l" t="t" r="r" b="b"/>
              <a:pathLst>
                <a:path w="9525" h="1162050">
                  <a:moveTo>
                    <a:pt x="0" y="0"/>
                  </a:moveTo>
                  <a:lnTo>
                    <a:pt x="0" y="1162050"/>
                  </a:lnTo>
                </a:path>
              </a:pathLst>
            </a:custGeom>
            <a:noFill/>
            <a:ln w="9525">
              <a:solidFill>
                <a:srgbClr val="FFFFFF"/>
              </a:solidFill>
            </a:ln>
          </p:spPr>
        </p:sp>
        <p:grpSp>
          <p:nvGrpSpPr>
            <p:cNvPr id="14" name="core-1"/>
            <p:cNvGrpSpPr/>
            <p:nvPr/>
          </p:nvGrpSpPr>
          <p:grpSpPr>
            <a:xfrm>
              <a:off x="597408" y="2365375"/>
              <a:ext cx="4484751" cy="1308481"/>
              <a:chOff x="597408" y="2365375"/>
              <a:chExt cx="4484751" cy="1308481"/>
            </a:xfrm>
          </p:grpSpPr>
          <p:sp>
            <p:nvSpPr>
              <p:cNvPr id="11" name="TextBox 11"/>
              <p:cNvSpPr txBox="1"/>
              <p:nvPr/>
            </p:nvSpPr>
            <p:spPr>
              <a:xfrm>
                <a:off x="597408" y="2365375"/>
                <a:ext cx="2932176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dirty="0" b="0">
                    <a:solidFill>
                      <a:srgbClr val="FFFFFF"/>
                    </a:solidFill>
                    <a:latin typeface="Instrument Sans Medium"/>
                    <a:ea typeface="Noto Sans SC Medium"/>
                    <a:cs typeface="Instrument Sans Medium"/>
                  </a:rPr>
                  <a:t>营销策略与品牌基础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599694" y="2930525"/>
                <a:ext cx="4482465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dirty="0" b="0">
                    <a:solidFill>
                      <a:srgbClr val="FFFFFF"/>
                    </a:solidFill>
                    <a:latin typeface="Instrument Sans"/>
                    <a:ea typeface="Noto Sans SC"/>
                    <a:cs typeface="Instrument Sans"/>
                  </a:rPr>
                  <a:t>理解市场与用户，明确定位、价值表达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599694" y="3292475"/>
                <a:ext cx="1857375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dirty="0" b="0">
                    <a:solidFill>
                      <a:srgbClr val="FFFFFF"/>
                    </a:solidFill>
                    <a:latin typeface="Instrument Sans"/>
                    <a:ea typeface="Noto Sans SC"/>
                    <a:cs typeface="Instrument Sans"/>
                  </a:rPr>
                  <a:t>与营销优先级。</a:t>
                </a:r>
              </a:p>
            </p:txBody>
          </p:sp>
        </p:grpSp>
        <p:grpSp>
          <p:nvGrpSpPr>
            <p:cNvPr id="18" name="core-2"/>
            <p:cNvGrpSpPr/>
            <p:nvPr/>
          </p:nvGrpSpPr>
          <p:grpSpPr>
            <a:xfrm>
              <a:off x="6693408" y="2365375"/>
              <a:ext cx="4484751" cy="1308481"/>
              <a:chOff x="6693408" y="2365375"/>
              <a:chExt cx="4484751" cy="1308481"/>
            </a:xfrm>
          </p:grpSpPr>
          <p:sp>
            <p:nvSpPr>
              <p:cNvPr id="15" name="TextBox 15"/>
              <p:cNvSpPr txBox="1"/>
              <p:nvPr/>
            </p:nvSpPr>
            <p:spPr>
              <a:xfrm>
                <a:off x="6693408" y="2365375"/>
                <a:ext cx="2286000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dirty="0" b="0">
                    <a:solidFill>
                      <a:srgbClr val="FFFFFF"/>
                    </a:solidFill>
                    <a:latin typeface="Instrument Sans Medium"/>
                    <a:ea typeface="Noto Sans SC Medium"/>
                    <a:cs typeface="Instrument Sans Medium"/>
                  </a:rPr>
                  <a:t>渠道运营与增长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6695694" y="2930525"/>
                <a:ext cx="4482465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dirty="0" b="0">
                    <a:solidFill>
                      <a:srgbClr val="FFFFFF"/>
                    </a:solidFill>
                    <a:latin typeface="Instrument Sans"/>
                    <a:ea typeface="Noto Sans SC"/>
                    <a:cs typeface="Instrument Sans"/>
                  </a:rPr>
                  <a:t>规划渠道组合、资源投入与运营路径，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6695694" y="3292475"/>
                <a:ext cx="2382393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dirty="0" b="0">
                    <a:solidFill>
                      <a:srgbClr val="FFFFFF"/>
                    </a:solidFill>
                    <a:latin typeface="Instrument Sans"/>
                    <a:ea typeface="Noto Sans SC"/>
                    <a:cs typeface="Instrument Sans"/>
                  </a:rPr>
                  <a:t>结合反馈持续调整。</a:t>
                </a:r>
              </a:p>
            </p:txBody>
          </p:sp>
        </p:grpSp>
      </p:grpSp>
      <p:grpSp>
        <p:nvGrpSpPr>
          <p:cNvPr id="21" name="execution-label"/>
          <p:cNvGrpSpPr/>
          <p:nvPr/>
        </p:nvGrpSpPr>
        <p:grpSpPr>
          <a:xfrm>
            <a:off x="602742" y="4006850"/>
            <a:ext cx="740664" cy="264033"/>
            <a:chOff x="602742" y="4006850"/>
            <a:chExt cx="740664" cy="264033"/>
          </a:xfrm>
        </p:grpSpPr>
        <p:sp>
          <p:nvSpPr>
            <p:cNvPr id="20" name="TextBox 20"/>
            <p:cNvSpPr txBox="1"/>
            <p:nvPr/>
          </p:nvSpPr>
          <p:spPr>
            <a:xfrm>
              <a:off x="602742" y="400685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 b="0">
                  <a:solidFill>
                    <a:schemeClr val="accent1"/>
                  </a:solidFill>
                  <a:latin typeface="Instrument Sans Medium"/>
                  <a:ea typeface="Noto Sans SC Medium"/>
                  <a:cs typeface="Instrument Sans Medium"/>
                </a:rPr>
                <a:t>直接执行</a:t>
              </a:r>
            </a:p>
          </p:txBody>
        </p:sp>
      </p:grpSp>
      <p:grpSp>
        <p:nvGrpSpPr>
          <p:cNvPr id="25" name="execution-1"/>
          <p:cNvGrpSpPr/>
          <p:nvPr/>
        </p:nvGrpSpPr>
        <p:grpSpPr>
          <a:xfrm>
            <a:off x="597408" y="4356100"/>
            <a:ext cx="3526917" cy="802132"/>
            <a:chOff x="597408" y="4356100"/>
            <a:chExt cx="3526917" cy="802132"/>
          </a:xfrm>
        </p:grpSpPr>
        <p:sp>
          <p:nvSpPr>
            <p:cNvPr id="22" name="TextBox 22"/>
            <p:cNvSpPr txBox="1"/>
            <p:nvPr/>
          </p:nvSpPr>
          <p:spPr>
            <a:xfrm>
              <a:off x="597408" y="4356100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 b="0">
                  <a:solidFill>
                    <a:schemeClr val="dk1"/>
                  </a:solidFill>
                  <a:latin typeface="Instrument Sans Medium"/>
                  <a:ea typeface="Noto Sans SC Medium"/>
                  <a:cs typeface="Instrument Sans Medium"/>
                </a:rPr>
                <a:t>内容营销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01218" y="4835525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 b="0">
                  <a:solidFill>
                    <a:schemeClr val="accent5"/>
                  </a:solidFill>
                  <a:latin typeface="Instrument Sans"/>
                  <a:ea typeface="Noto Sans SC"/>
                  <a:cs typeface="Instrument Sans"/>
                </a:rPr>
                <a:t>内容方向与素材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4114800" y="4419600"/>
              <a:ext cx="9525" cy="723900"/>
            </a:xfrm>
            <a:custGeom>
              <a:avLst/>
              <a:gdLst/>
              <a:ahLst/>
              <a:cxnLst/>
              <a:rect l="l" t="t" r="r" b="b"/>
              <a:pathLst>
                <a:path w="9525" h="723900">
                  <a:moveTo>
                    <a:pt x="0" y="0"/>
                  </a:moveTo>
                  <a:lnTo>
                    <a:pt x="0" y="72390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29" name="execution-2"/>
          <p:cNvGrpSpPr/>
          <p:nvPr/>
        </p:nvGrpSpPr>
        <p:grpSpPr>
          <a:xfrm>
            <a:off x="4407408" y="4356100"/>
            <a:ext cx="3526917" cy="802132"/>
            <a:chOff x="4407408" y="4356100"/>
            <a:chExt cx="3526917" cy="802132"/>
          </a:xfrm>
        </p:grpSpPr>
        <p:sp>
          <p:nvSpPr>
            <p:cNvPr id="26" name="TextBox 26"/>
            <p:cNvSpPr txBox="1"/>
            <p:nvPr/>
          </p:nvSpPr>
          <p:spPr>
            <a:xfrm>
              <a:off x="4407408" y="4356100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 b="0">
                  <a:solidFill>
                    <a:schemeClr val="dk1"/>
                  </a:solidFill>
                  <a:latin typeface="Instrument Sans Medium"/>
                  <a:ea typeface="Noto Sans SC Medium"/>
                  <a:cs typeface="Instrument Sans Medium"/>
                </a:rPr>
                <a:t>达人营销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411218" y="4835525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 b="0">
                  <a:solidFill>
                    <a:schemeClr val="accent5"/>
                  </a:solidFill>
                  <a:latin typeface="Instrument Sans"/>
                  <a:ea typeface="Noto Sans SC"/>
                  <a:cs typeface="Instrument Sans"/>
                </a:rPr>
                <a:t>达人筛选与合作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7924800" y="4419600"/>
              <a:ext cx="9525" cy="723900"/>
            </a:xfrm>
            <a:custGeom>
              <a:avLst/>
              <a:gdLst/>
              <a:ahLst/>
              <a:cxnLst/>
              <a:rect l="l" t="t" r="r" b="b"/>
              <a:pathLst>
                <a:path w="9525" h="723900">
                  <a:moveTo>
                    <a:pt x="0" y="0"/>
                  </a:moveTo>
                  <a:lnTo>
                    <a:pt x="0" y="72390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32" name="execution-3"/>
          <p:cNvGrpSpPr/>
          <p:nvPr/>
        </p:nvGrpSpPr>
        <p:grpSpPr>
          <a:xfrm>
            <a:off x="8217408" y="4356100"/>
            <a:ext cx="1639824" cy="802132"/>
            <a:chOff x="8217408" y="4356100"/>
            <a:chExt cx="1639824" cy="802132"/>
          </a:xfrm>
        </p:grpSpPr>
        <p:sp>
          <p:nvSpPr>
            <p:cNvPr id="30" name="TextBox 30"/>
            <p:cNvSpPr txBox="1"/>
            <p:nvPr/>
          </p:nvSpPr>
          <p:spPr>
            <a:xfrm>
              <a:off x="8217408" y="4356100"/>
              <a:ext cx="163982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 b="0">
                  <a:solidFill>
                    <a:schemeClr val="dk1"/>
                  </a:solidFill>
                  <a:latin typeface="Instrument Sans Medium"/>
                  <a:ea typeface="Noto Sans SC Medium"/>
                  <a:cs typeface="Instrument Sans Medium"/>
                </a:rPr>
                <a:t>广告与投放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221218" y="4835525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 b="0">
                  <a:solidFill>
                    <a:schemeClr val="accent5"/>
                  </a:solidFill>
                  <a:latin typeface="Instrument Sans"/>
                  <a:ea typeface="Noto Sans SC"/>
                  <a:cs typeface="Instrument Sans"/>
                </a:rPr>
                <a:t>投放规划与优化</a:t>
              </a:r>
            </a:p>
          </p:txBody>
        </p:sp>
      </p:grpSp>
      <p:grpSp>
        <p:nvGrpSpPr>
          <p:cNvPr id="37" name="partners"/>
          <p:cNvGrpSpPr/>
          <p:nvPr/>
        </p:nvGrpSpPr>
        <p:grpSpPr>
          <a:xfrm>
            <a:off x="609600" y="5410200"/>
            <a:ext cx="10972800" cy="662432"/>
            <a:chOff x="609600" y="5410200"/>
            <a:chExt cx="10972800" cy="662432"/>
          </a:xfrm>
        </p:grpSpPr>
        <p:sp>
          <p:nvSpPr>
            <p:cNvPr id="33" name="Rectangle 33"/>
            <p:cNvSpPr/>
            <p:nvPr/>
          </p:nvSpPr>
          <p:spPr>
            <a:xfrm>
              <a:off x="609600" y="5410200"/>
              <a:ext cx="10972800" cy="647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93242" y="551180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 b="0">
                  <a:solidFill>
                    <a:srgbClr val="FFFFFF"/>
                  </a:solidFill>
                  <a:latin typeface="Instrument Sans Medium"/>
                  <a:ea typeface="Noto Sans SC Medium"/>
                  <a:cs typeface="Instrument Sans Medium"/>
                </a:rPr>
                <a:t>专业协作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144268" y="5473700"/>
              <a:ext cx="433978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 b="0">
                  <a:solidFill>
                    <a:srgbClr val="FFFFFF"/>
                  </a:solidFill>
                  <a:latin typeface="Instrument Sans"/>
                  <a:ea typeface="Noto Sans SC"/>
                  <a:cs typeface="Instrument Sans"/>
                </a:rPr>
                <a:t>本地渠道拓展 · 落地执行 · 公共关系（</a:t>
              </a:r>
              <a:r>
                <a:rPr lang="en-US" sz="1650" dirty="0" b="0">
                  <a:solidFill>
                    <a:srgbClr val="FFFFFF"/>
                  </a:solidFill>
                  <a:latin typeface="Instrument Sans"/>
                  <a:ea typeface="Noto Sans SC"/>
                  <a:cs typeface="Instrument Sans"/>
                </a:rPr>
                <a:t>PR</a:t>
              </a:r>
              <a:r>
                <a:rPr lang="zh-CN" sz="1650" dirty="0" b="0">
                  <a:solidFill>
                    <a:srgbClr val="FFFFFF"/>
                  </a:solidFill>
                  <a:latin typeface="Instrument Sans"/>
                  <a:ea typeface="Noto Sans SC"/>
                  <a:cs typeface="Instrument Sans"/>
                </a:rPr>
                <a:t>）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144268" y="5749925"/>
              <a:ext cx="366694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 b="0">
                  <a:solidFill>
                    <a:srgbClr val="FFFFFF"/>
                  </a:solidFill>
                  <a:latin typeface="Instrument Sans"/>
                  <a:ea typeface="Noto Sans SC"/>
                  <a:cs typeface="Instrument Sans"/>
                </a:rPr>
                <a:t xml:space="preserve">由 </a:t>
              </a:r>
              <a:r>
                <a:rPr lang="en-US" sz="1650" dirty="0" b="0">
                  <a:solidFill>
                    <a:srgbClr val="FFFFFF"/>
                  </a:solidFill>
                  <a:latin typeface="Instrument Sans"/>
                  <a:ea typeface="Noto Sans SC"/>
                  <a:cs typeface="Instrument Sans"/>
                </a:rPr>
                <a:t xml:space="preserve">Outrise </a:t>
              </a:r>
              <a:r>
                <a:rPr lang="zh-CN" sz="1650" dirty="0" b="0">
                  <a:solidFill>
                    <a:srgbClr val="FFFFFF"/>
                  </a:solidFill>
                  <a:latin typeface="Instrument Sans"/>
                  <a:ea typeface="Noto Sans SC"/>
                  <a:cs typeface="Instrument Sans"/>
                </a:rPr>
                <a:t>按需触达、筛选和协调。</a:t>
              </a:r>
            </a:p>
          </p:txBody>
        </p:sp>
      </p:grpSp>
      <p:grpSp>
        <p:nvGrpSpPr>
          <p:cNvPr id="42" name="footer"/>
          <p:cNvGrpSpPr/>
          <p:nvPr/>
        </p:nvGrpSpPr>
        <p:grpSpPr>
          <a:xfrm>
            <a:off x="609600" y="6191250"/>
            <a:ext cx="10978896" cy="558403"/>
            <a:chOff x="609600" y="6191250"/>
            <a:chExt cx="10978896" cy="558403"/>
          </a:xfrm>
        </p:grpSpPr>
        <p:sp>
          <p:nvSpPr>
            <p:cNvPr id="38" name="Line 38"/>
            <p:cNvSpPr/>
            <p:nvPr/>
          </p:nvSpPr>
          <p:spPr>
            <a:xfrm>
              <a:off x="609600" y="6191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pic>
          <p:nvPicPr>
            <p:cNvPr id="39" name="Image 3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9600" y="6296025"/>
              <a:ext cx="1714500" cy="453628"/>
            </a:xfrm>
            <a:prstGeom prst="rect">
              <a:avLst/>
            </a:prstGeom>
          </p:spPr>
        </p:pic>
        <p:sp>
          <p:nvSpPr>
            <p:cNvPr id="40" name="TextBox 40"/>
            <p:cNvSpPr txBox="1"/>
            <p:nvPr/>
          </p:nvSpPr>
          <p:spPr>
            <a:xfrm>
              <a:off x="10513162" y="6457950"/>
              <a:ext cx="10753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 b="0">
                  <a:solidFill>
                    <a:schemeClr val="accent5"/>
                  </a:solidFill>
                  <a:latin typeface="Instrument Sans"/>
                  <a:ea typeface="Noto Sans SC"/>
                  <a:cs typeface="Instrument Sans"/>
                </a:rPr>
                <a:t>C</a:t>
              </a:r>
              <a:r>
                <a:rPr lang="zh-CN" sz="1200" dirty="0" b="0">
                  <a:solidFill>
                    <a:schemeClr val="accent5"/>
                  </a:solidFill>
                  <a:latin typeface="Instrument Sans"/>
                  <a:ea typeface="Noto Sans SC"/>
                  <a:cs typeface="Instrument Sans"/>
                </a:rPr>
                <a:t>｜品牌展示式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035132" y="619125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 b="0">
                  <a:solidFill>
                    <a:schemeClr val="accent5"/>
                  </a:solidFill>
                  <a:latin typeface="Instrument Sans"/>
                  <a:ea typeface="Noto Sans SC"/>
                  <a:cs typeface="Instrument Sans"/>
                </a:rPr>
                <a:t>09 / 09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utrise-v8-demo">
  <a:themeElements>
    <a:clrScheme name="outrise-v8-demo">
      <a:dk1>
        <a:srgbClr val="111111"/>
      </a:dk1>
      <a:lt1>
        <a:srgbClr val="F4F1E9"/>
      </a:lt1>
      <a:dk2>
        <a:srgbClr val="1F497D"/>
      </a:dk2>
      <a:lt2>
        <a:srgbClr val="FFFFFF"/>
      </a:lt2>
      <a:accent1>
        <a:srgbClr val="C9381E"/>
      </a:accent1>
      <a:accent2>
        <a:srgbClr val="9B5E00"/>
      </a:accent2>
      <a:accent3>
        <a:srgbClr val="111111"/>
      </a:accent3>
      <a:accent4>
        <a:srgbClr val="C9381E"/>
      </a:accent4>
      <a:accent5>
        <a:srgbClr val="62625D"/>
      </a:accent5>
      <a:accent6>
        <a:srgbClr val="D6D4CB"/>
      </a:accent6>
      <a:hlink>
        <a:srgbClr val="9B5E00"/>
      </a:hlink>
      <a:folHlink>
        <a:srgbClr val="111111"/>
      </a:folHlink>
    </a:clrScheme>
    <a:fontScheme name="outrise-v8-demo">
      <a:majorFont>
        <a:latin typeface="Instrument Sans SemiBold"/>
        <a:ea typeface="Noto Sans SC SemiBold"/>
        <a:cs typeface="Instrument Sans SemiBold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nstrument Sans"/>
        <a:ea typeface="Noto Sans SC"/>
        <a:cs typeface="Instrument Sans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utrise-v8-dem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2026-10-26T20:46:34Z</dcterms:created>
  <dcterms:modified xsi:type="dcterms:W3CDTF">2026-10-26T20:46:34Z</dcterms:modified>
  <cp:category/>
  <cp:contentStatus/>
</cp:coreProperties>
</file>