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utrise-v82-case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utrise-v82-case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1d0490fb75741f9.png"/>
  <Relationship Id="rId3" Type="http://schemas.openxmlformats.org/officeDocument/2006/relationships/image" Target="../media/image_c15022a00a3df4f8.png"/>
  <Relationship Id="rId4" Type="http://schemas.openxmlformats.org/officeDocument/2006/relationships/image" Target="../media/image_d1b850f0abb79a8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52d9877935f0bbc.png"/>
  <Relationship Id="rId3" Type="http://schemas.openxmlformats.org/officeDocument/2006/relationships/image" Target="../media/image_3f05e442caf2d0dd.png"/>
  <Relationship Id="rId4" Type="http://schemas.openxmlformats.org/officeDocument/2006/relationships/image" Target="../media/image_d1b850f0abb79a84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91cf47285c93e92.png"/>
  <Relationship Id="rId3" Type="http://schemas.openxmlformats.org/officeDocument/2006/relationships/image" Target="../media/image_c3e58199164f2838.png"/>
  <Relationship Id="rId4" Type="http://schemas.openxmlformats.org/officeDocument/2006/relationships/image" Target="../media/image_d1b850f0abb79a84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c5b9715327ea4bf.jpg"/>
  <Relationship Id="rId3" Type="http://schemas.openxmlformats.org/officeDocument/2006/relationships/image" Target="../media/image_ed9ca49bb00e1ca0.png"/>
  <Relationship Id="rId4" Type="http://schemas.openxmlformats.org/officeDocument/2006/relationships/image" Target="../media/image_85ed4e1b7b943e06.jpg"/>
  <Relationship Id="rId5" Type="http://schemas.openxmlformats.org/officeDocument/2006/relationships/image" Target="../media/image_8dc87ddb0565c9d9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pening"/>
          <p:cNvGrpSpPr/>
          <p:nvPr/>
        </p:nvGrpSpPr>
        <p:grpSpPr>
          <a:xfrm>
            <a:off x="592836" y="330200"/>
            <a:ext cx="5364480" cy="1013714"/>
            <a:chOff x="592836" y="330200"/>
            <a:chExt cx="5364480" cy="1013714"/>
          </a:xfrm>
        </p:grpSpPr>
        <p:grpSp>
          <p:nvGrpSpPr>
            <p:cNvPr id="4" name="Group 4"/>
            <p:cNvGrpSpPr/>
            <p:nvPr/>
          </p:nvGrpSpPr>
          <p:grpSpPr>
            <a:xfrm>
              <a:off x="602742" y="330200"/>
              <a:ext cx="2317606" cy="264033"/>
              <a:chOff x="602742" y="330200"/>
              <a:chExt cx="2317606" cy="264033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602742" y="330200"/>
                <a:ext cx="16249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项目经验 / 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1432608" y="330200"/>
                <a:ext cx="2351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 b="0">
                    <a:solidFill>
                      <a:schemeClr val="accent5"/>
                    </a:solidFill>
                    <a:latin typeface="Instrument Sans Medium"/>
                    <a:ea typeface="Instrument Sans Medium"/>
                    <a:cs typeface="Instrument Sans Medium"/>
                  </a:rPr>
                  <a:t>Inner Brightness</a:t>
                </a:r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592836" y="698500"/>
              <a:ext cx="8080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Noto Sans SC SemiBold"/>
                  <a:ea typeface="Noto Sans SC SemiBold"/>
                  <a:cs typeface="Noto Sans SC SemiBold"/>
                </a:rPr>
                <a:t>两个月推进北美渠道冷启动</a:t>
              </a:r>
            </a:p>
          </p:txBody>
        </p:sp>
      </p:grpSp>
      <p:grpSp>
        <p:nvGrpSpPr>
          <p:cNvPr id="14" name="lead"/>
          <p:cNvGrpSpPr/>
          <p:nvPr/>
        </p:nvGrpSpPr>
        <p:grpSpPr>
          <a:xfrm>
            <a:off x="599694" y="1292225"/>
            <a:ext cx="7506742" cy="724281"/>
            <a:chOff x="599694" y="1292225"/>
            <a:chExt cx="7506742" cy="724281"/>
          </a:xfrm>
        </p:grpSpPr>
        <p:grpSp>
          <p:nvGrpSpPr>
            <p:cNvPr id="13" name="Group 13"/>
            <p:cNvGrpSpPr/>
            <p:nvPr/>
          </p:nvGrpSpPr>
          <p:grpSpPr>
            <a:xfrm>
              <a:off x="599694" y="1292225"/>
              <a:ext cx="7506742" cy="724281"/>
              <a:chOff x="599694" y="1292225"/>
              <a:chExt cx="7506742" cy="72428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99694" y="1292225"/>
                <a:ext cx="275468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 xml:space="preserve">团队参与北美 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141107" y="1292225"/>
                <a:ext cx="173164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TikTok 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929003" y="1292225"/>
                <a:ext cx="488100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 xml:space="preserve">渠道冷启动，以达人合作与 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56316" y="1292225"/>
                <a:ext cx="95266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AI 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249061" y="1292225"/>
                <a:ext cx="3002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辅助素材测试，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9694" y="1635125"/>
                <a:ext cx="72554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快速验证内容方向、获取流量并推动销售。</a:t>
                </a:r>
              </a:p>
            </p:txBody>
          </p:sp>
        </p:grpSp>
      </p:grpSp>
      <p:grpSp>
        <p:nvGrpSpPr>
          <p:cNvPr id="24" name="case-outcomes"/>
          <p:cNvGrpSpPr/>
          <p:nvPr/>
        </p:nvGrpSpPr>
        <p:grpSpPr>
          <a:xfrm>
            <a:off x="590550" y="2120900"/>
            <a:ext cx="4465254" cy="1103757"/>
            <a:chOff x="590550" y="2120900"/>
            <a:chExt cx="4465254" cy="1103757"/>
          </a:xfrm>
        </p:grpSpPr>
        <p:grpSp>
          <p:nvGrpSpPr>
            <p:cNvPr id="17" name="Group 17"/>
            <p:cNvGrpSpPr/>
            <p:nvPr/>
          </p:nvGrpSpPr>
          <p:grpSpPr>
            <a:xfrm>
              <a:off x="590550" y="2120900"/>
              <a:ext cx="1787652" cy="933450"/>
              <a:chOff x="590550" y="2120900"/>
              <a:chExt cx="1787652" cy="93345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90550" y="2120900"/>
                <a:ext cx="2012122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dirty="0" b="0">
                    <a:solidFill>
                      <a:schemeClr val="accent1"/>
                    </a:solidFill>
                    <a:latin typeface="Instrument Sans SemiBold"/>
                    <a:ea typeface="Instrument Sans SemiBold"/>
                    <a:cs typeface="Instrument Sans SemiBold"/>
                  </a:rPr>
                  <a:t xml:space="preserve">2 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47750" y="2120900"/>
                <a:ext cx="301531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dirty="0" b="0">
                    <a:solidFill>
                      <a:schemeClr val="accent1"/>
                    </a:solidFill>
                    <a:latin typeface="Noto Sans SC SemiBold"/>
                    <a:ea typeface="Noto Sans SC SemiBold"/>
                    <a:cs typeface="Noto Sans SC SemiBold"/>
                  </a:rPr>
                  <a:t>个月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01218" y="2901950"/>
              <a:ext cx="2240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完成项目落地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33700" y="2120900"/>
              <a:ext cx="380535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dirty="0" b="0">
                  <a:solidFill>
                    <a:schemeClr val="accent1"/>
                  </a:solidFill>
                  <a:latin typeface="Instrument Sans SemiBold"/>
                  <a:ea typeface="Instrument Sans SemiBold"/>
                  <a:cs typeface="Instrument Sans SemiBold"/>
                </a:rPr>
                <a:t>$10K+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2944368" y="2901950"/>
              <a:ext cx="2111436" cy="322707"/>
              <a:chOff x="2944368" y="2901950"/>
              <a:chExt cx="2111436" cy="322707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2944368" y="2901950"/>
                <a:ext cx="233088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 xml:space="preserve">月销售额超过 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48698" y="2901950"/>
                <a:ext cx="69661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 xml:space="preserve">1 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372671" y="2901950"/>
                <a:ext cx="13413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>万美元</a:t>
                </a:r>
              </a:p>
            </p:txBody>
          </p:sp>
        </p:grpSp>
      </p:grpSp>
      <p:grpSp>
        <p:nvGrpSpPr>
          <p:cNvPr id="28" name="work-1"/>
          <p:cNvGrpSpPr/>
          <p:nvPr/>
        </p:nvGrpSpPr>
        <p:grpSpPr>
          <a:xfrm>
            <a:off x="609600" y="3308350"/>
            <a:ext cx="4138041" cy="746506"/>
            <a:chOff x="609600" y="3308350"/>
            <a:chExt cx="4138041" cy="746506"/>
          </a:xfrm>
        </p:grpSpPr>
        <p:sp>
          <p:nvSpPr>
            <p:cNvPr id="25" name="Rectangle 25"/>
            <p:cNvSpPr/>
            <p:nvPr/>
          </p:nvSpPr>
          <p:spPr>
            <a:xfrm>
              <a:off x="609600" y="3352800"/>
              <a:ext cx="47625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9432" y="3308350"/>
              <a:ext cx="28520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选择切入方向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0194" y="3673475"/>
              <a:ext cx="58378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明确卖点、受众与达人合作重点。</a:t>
              </a:r>
            </a:p>
          </p:txBody>
        </p:sp>
      </p:grpSp>
      <p:grpSp>
        <p:nvGrpSpPr>
          <p:cNvPr id="35" name="work-2"/>
          <p:cNvGrpSpPr/>
          <p:nvPr/>
        </p:nvGrpSpPr>
        <p:grpSpPr>
          <a:xfrm>
            <a:off x="609600" y="4165600"/>
            <a:ext cx="4367427" cy="746506"/>
            <a:chOff x="609600" y="4165600"/>
            <a:chExt cx="4367427" cy="746506"/>
          </a:xfrm>
        </p:grpSpPr>
        <p:sp>
          <p:nvSpPr>
            <p:cNvPr id="29" name="Rectangle 29"/>
            <p:cNvSpPr/>
            <p:nvPr/>
          </p:nvSpPr>
          <p:spPr>
            <a:xfrm>
              <a:off x="609600" y="4210050"/>
              <a:ext cx="47625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9432" y="4165600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组织达人与素材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90194" y="4530725"/>
              <a:ext cx="4186833" cy="381381"/>
              <a:chOff x="790194" y="4530725"/>
              <a:chExt cx="4186833" cy="381381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90194" y="4530725"/>
                <a:ext cx="346346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 xml:space="preserve">推进达人合作，以 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826907" y="4530725"/>
                <a:ext cx="95266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AI 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119652" y="4530725"/>
                <a:ext cx="3002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辅助测试脚本。</a:t>
                </a:r>
              </a:p>
            </p:txBody>
          </p:sp>
        </p:grpSp>
      </p:grpSp>
      <p:grpSp>
        <p:nvGrpSpPr>
          <p:cNvPr id="39" name="work-3"/>
          <p:cNvGrpSpPr/>
          <p:nvPr/>
        </p:nvGrpSpPr>
        <p:grpSpPr>
          <a:xfrm>
            <a:off x="609600" y="5022850"/>
            <a:ext cx="4138041" cy="746506"/>
            <a:chOff x="609600" y="5022850"/>
            <a:chExt cx="4138041" cy="746506"/>
          </a:xfrm>
        </p:grpSpPr>
        <p:sp>
          <p:nvSpPr>
            <p:cNvPr id="36" name="Rectangle 36"/>
            <p:cNvSpPr/>
            <p:nvPr/>
          </p:nvSpPr>
          <p:spPr>
            <a:xfrm>
              <a:off x="609600" y="5067300"/>
              <a:ext cx="47625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9432" y="5022850"/>
              <a:ext cx="28520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根据反馈迭代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0194" y="5387975"/>
              <a:ext cx="58378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结合内容与投放反馈，持续迭代。</a:t>
              </a:r>
            </a:p>
          </p:txBody>
        </p:sp>
      </p:grpSp>
      <p:grpSp>
        <p:nvGrpSpPr>
          <p:cNvPr id="47" name="analytics"/>
          <p:cNvGrpSpPr/>
          <p:nvPr/>
        </p:nvGrpSpPr>
        <p:grpSpPr>
          <a:xfrm>
            <a:off x="5936742" y="2171700"/>
            <a:ext cx="5645658" cy="3023108"/>
            <a:chOff x="5936742" y="2171700"/>
            <a:chExt cx="5645658" cy="3023108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0" y="2171700"/>
              <a:ext cx="5638800" cy="2676525"/>
            </a:xfrm>
            <a:prstGeom prst="rect">
              <a:avLst/>
            </a:prstGeom>
          </p:spPr>
        </p:pic>
        <p:grpSp>
          <p:nvGrpSpPr>
            <p:cNvPr id="46" name="Group 46"/>
            <p:cNvGrpSpPr/>
            <p:nvPr/>
          </p:nvGrpSpPr>
          <p:grpSpPr>
            <a:xfrm>
              <a:off x="5936742" y="4930775"/>
              <a:ext cx="3245420" cy="264033"/>
              <a:chOff x="5936742" y="4930775"/>
              <a:chExt cx="3245420" cy="264033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5936742" y="4930775"/>
                <a:ext cx="17108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>2026/03/25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69894" y="4930775"/>
                <a:ext cx="4963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>—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041344" y="4930775"/>
                <a:ext cx="10361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>04/03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528012" y="4930775"/>
                <a:ext cx="6067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>｜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99462" y="4930775"/>
                <a:ext cx="23445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>GMV $12,595.73</a:t>
                </a:r>
              </a:p>
            </p:txBody>
          </p:sp>
        </p:grpSp>
      </p:grpSp>
      <p:grpSp>
        <p:nvGrpSpPr>
          <p:cNvPr id="54" name="account-proof"/>
          <p:cNvGrpSpPr/>
          <p:nvPr/>
        </p:nvGrpSpPr>
        <p:grpSpPr>
          <a:xfrm>
            <a:off x="5943600" y="5143500"/>
            <a:ext cx="4372356" cy="1019175"/>
            <a:chOff x="5943600" y="5143500"/>
            <a:chExt cx="4372356" cy="1019175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00" y="5143500"/>
              <a:ext cx="1714500" cy="1019175"/>
            </a:xfrm>
            <a:prstGeom prst="rect">
              <a:avLst/>
            </a:prstGeom>
          </p:spPr>
        </p:pic>
        <p:grpSp>
          <p:nvGrpSpPr>
            <p:cNvPr id="51" name="Group 51"/>
            <p:cNvGrpSpPr/>
            <p:nvPr/>
          </p:nvGrpSpPr>
          <p:grpSpPr>
            <a:xfrm>
              <a:off x="7879842" y="5235575"/>
              <a:ext cx="2352161" cy="264033"/>
              <a:chOff x="7879842" y="5235575"/>
              <a:chExt cx="2352161" cy="264033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7879842" y="5235575"/>
                <a:ext cx="4963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@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046530" y="5235575"/>
                <a:ext cx="32932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 b="0">
                    <a:solidFill>
                      <a:schemeClr val="dk1"/>
                    </a:solidFill>
                    <a:latin typeface="Instrument Sans Medium"/>
                    <a:ea typeface="Instrument Sans Medium"/>
                    <a:cs typeface="Instrument Sans Medium"/>
                  </a:rPr>
                  <a:t>innerbrightness.official</a:t>
                </a:r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7879842" y="5549900"/>
              <a:ext cx="3060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官方账号与内容发布阵地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80604" y="5857875"/>
              <a:ext cx="3592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截图为独立期间数据，非整月统计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609600" y="6186488"/>
            <a:ext cx="11056617" cy="563165"/>
            <a:chOff x="609600" y="6186488"/>
            <a:chExt cx="11056617" cy="563165"/>
          </a:xfrm>
        </p:grpSpPr>
        <p:sp>
          <p:nvSpPr>
            <p:cNvPr id="55" name="Rectangle 55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57" name="TextBox 57"/>
            <p:cNvSpPr txBox="1"/>
            <p:nvPr/>
          </p:nvSpPr>
          <p:spPr>
            <a:xfrm>
              <a:off x="10966704" y="6191250"/>
              <a:ext cx="1149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项目经验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12853" y="6457950"/>
              <a:ext cx="1002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14 / 20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0" name="opening"/>
          <p:cNvGrpSpPr/>
          <p:nvPr/>
        </p:nvGrpSpPr>
        <p:grpSpPr>
          <a:xfrm>
            <a:off x="592836" y="330200"/>
            <a:ext cx="6757380" cy="1013714"/>
            <a:chOff x="592836" y="330200"/>
            <a:chExt cx="6757380" cy="1013714"/>
          </a:xfrm>
        </p:grpSpPr>
        <p:grpSp>
          <p:nvGrpSpPr>
            <p:cNvPr id="5" name="Group 5"/>
            <p:cNvGrpSpPr/>
            <p:nvPr/>
          </p:nvGrpSpPr>
          <p:grpSpPr>
            <a:xfrm>
              <a:off x="602742" y="330200"/>
              <a:ext cx="1678886" cy="264033"/>
              <a:chOff x="602742" y="330200"/>
              <a:chExt cx="1678886" cy="264033"/>
            </a:xfrm>
          </p:grpSpPr>
          <p:sp>
            <p:nvSpPr>
              <p:cNvPr id="3" name="TextBox 3"/>
              <p:cNvSpPr txBox="1"/>
              <p:nvPr/>
            </p:nvSpPr>
            <p:spPr>
              <a:xfrm>
                <a:off x="602742" y="330200"/>
                <a:ext cx="16249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项目经验 / 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1432608" y="330200"/>
                <a:ext cx="14890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 b="0">
                    <a:solidFill>
                      <a:srgbClr val="FFFFFF"/>
                    </a:solidFill>
                    <a:latin typeface="Instrument Sans Medium"/>
                    <a:ea typeface="Instrument Sans Medium"/>
                    <a:cs typeface="Instrument Sans Medium"/>
                  </a:rPr>
                  <a:t>ARTILUME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92836" y="698500"/>
              <a:ext cx="6757380" cy="645414"/>
              <a:chOff x="592836" y="698500"/>
              <a:chExt cx="6757380" cy="645414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92836" y="698500"/>
                <a:ext cx="3462311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dirty="0" b="0">
                    <a:solidFill>
                      <a:srgbClr val="FFFFFF"/>
                    </a:solidFill>
                    <a:latin typeface="Noto Sans SC SemiBold"/>
                    <a:ea typeface="Noto Sans SC SemiBold"/>
                    <a:cs typeface="Noto Sans SC SemiBold"/>
                  </a:rPr>
                  <a:t xml:space="preserve">重新规划 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2364039" y="698500"/>
                <a:ext cx="2055769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300" dirty="0" b="0">
                    <a:solidFill>
                      <a:srgbClr val="FFFFFF"/>
                    </a:solidFill>
                    <a:latin typeface="Instrument Sans SemiBold"/>
                    <a:ea typeface="Instrument Sans SemiBold"/>
                    <a:cs typeface="Instrument Sans SemiBold"/>
                  </a:rPr>
                  <a:t>GTM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318474" y="698500"/>
                <a:ext cx="6281052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dirty="0" b="0">
                    <a:solidFill>
                      <a:srgbClr val="FFFFFF"/>
                    </a:solidFill>
                    <a:latin typeface="Noto Sans SC SemiBold"/>
                    <a:ea typeface="Noto Sans SC SemiBold"/>
                    <a:cs typeface="Noto Sans SC SemiBold"/>
                  </a:rPr>
                  <a:t>，推动第二阶段增长</a:t>
                </a:r>
              </a:p>
            </p:txBody>
          </p:sp>
        </p:grpSp>
      </p:grpSp>
      <p:grpSp>
        <p:nvGrpSpPr>
          <p:cNvPr id="18" name="lead"/>
          <p:cNvGrpSpPr/>
          <p:nvPr/>
        </p:nvGrpSpPr>
        <p:grpSpPr>
          <a:xfrm>
            <a:off x="599694" y="1292225"/>
            <a:ext cx="6346918" cy="724281"/>
            <a:chOff x="599694" y="1292225"/>
            <a:chExt cx="6346918" cy="724281"/>
          </a:xfrm>
        </p:grpSpPr>
        <p:grpSp>
          <p:nvGrpSpPr>
            <p:cNvPr id="17" name="Group 17"/>
            <p:cNvGrpSpPr/>
            <p:nvPr/>
          </p:nvGrpSpPr>
          <p:grpSpPr>
            <a:xfrm>
              <a:off x="599694" y="1292225"/>
              <a:ext cx="6346918" cy="724281"/>
              <a:chOff x="599694" y="1292225"/>
              <a:chExt cx="6346918" cy="72428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99694" y="1292225"/>
                <a:ext cx="842488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面对销量增长放缓与达人渠道依赖，团队参与调整 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103507" y="1292225"/>
                <a:ext cx="121477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>GTM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664291" y="1292225"/>
                <a:ext cx="87643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99694" y="1635125"/>
                <a:ext cx="55897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拓展品牌表达、自有内容矩阵与 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122307" y="1635125"/>
                <a:ext cx="173164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 xml:space="preserve">TikTok 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910203" y="1635125"/>
                <a:ext cx="264836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之外的曝光。</a:t>
                </a:r>
              </a:p>
            </p:txBody>
          </p:sp>
        </p:grpSp>
      </p:grpSp>
      <p:grpSp>
        <p:nvGrpSpPr>
          <p:cNvPr id="23" name="comparison-heads"/>
          <p:cNvGrpSpPr/>
          <p:nvPr/>
        </p:nvGrpSpPr>
        <p:grpSpPr>
          <a:xfrm>
            <a:off x="601218" y="2254250"/>
            <a:ext cx="7089430" cy="322707"/>
            <a:chOff x="601218" y="2254250"/>
            <a:chExt cx="7089430" cy="322707"/>
          </a:xfrm>
        </p:grpSpPr>
        <p:sp>
          <p:nvSpPr>
            <p:cNvPr id="19" name="TextBox 19"/>
            <p:cNvSpPr txBox="1"/>
            <p:nvPr/>
          </p:nvSpPr>
          <p:spPr>
            <a:xfrm>
              <a:off x="601218" y="2254250"/>
              <a:ext cx="2240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原有增长方式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354318" y="2254250"/>
              <a:ext cx="1336330" cy="322707"/>
              <a:chOff x="6354318" y="2254250"/>
              <a:chExt cx="1336330" cy="322707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354318" y="2254250"/>
                <a:ext cx="17311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chemeClr val="accent1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调整后的 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239696" y="2254250"/>
                <a:ext cx="10278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 b="0">
                    <a:solidFill>
                      <a:schemeClr val="accent1"/>
                    </a:solidFill>
                    <a:latin typeface="Instrument Sans Medium"/>
                    <a:ea typeface="Instrument Sans Medium"/>
                    <a:cs typeface="Instrument Sans Medium"/>
                  </a:rPr>
                  <a:t>GTM</a:t>
                </a:r>
              </a:p>
            </p:txBody>
          </p:sp>
        </p:grpSp>
      </p:grpSp>
      <p:grpSp>
        <p:nvGrpSpPr>
          <p:cNvPr id="30" name="gtm-shift-1"/>
          <p:cNvGrpSpPr/>
          <p:nvPr/>
        </p:nvGrpSpPr>
        <p:grpSpPr>
          <a:xfrm>
            <a:off x="599694" y="2597150"/>
            <a:ext cx="10982706" cy="417513"/>
            <a:chOff x="599694" y="2597150"/>
            <a:chExt cx="10982706" cy="417513"/>
          </a:xfrm>
        </p:grpSpPr>
        <p:sp>
          <p:nvSpPr>
            <p:cNvPr id="24" name="TextBox 24"/>
            <p:cNvSpPr txBox="1"/>
            <p:nvPr/>
          </p:nvSpPr>
          <p:spPr>
            <a:xfrm>
              <a:off x="599694" y="2597150"/>
              <a:ext cx="40659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销售高度依赖达人渠道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5524500" y="2705100"/>
              <a:ext cx="457200" cy="95250"/>
              <a:chOff x="5524500" y="2705100"/>
              <a:chExt cx="457200" cy="952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524500" y="2743200"/>
                <a:ext cx="457200" cy="19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67400" y="2705100"/>
                <a:ext cx="114300" cy="95250"/>
              </a:xfrm>
              <a:prstGeom prst="right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352794" y="2597150"/>
              <a:ext cx="57630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建立自有内容，丰富品牌流量来源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300513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37" name="gtm-shift-2"/>
          <p:cNvGrpSpPr/>
          <p:nvPr/>
        </p:nvGrpSpPr>
        <p:grpSpPr>
          <a:xfrm>
            <a:off x="599694" y="3140075"/>
            <a:ext cx="10982706" cy="417512"/>
            <a:chOff x="599694" y="3140075"/>
            <a:chExt cx="10982706" cy="417512"/>
          </a:xfrm>
        </p:grpSpPr>
        <p:sp>
          <p:nvSpPr>
            <p:cNvPr id="31" name="TextBox 31"/>
            <p:cNvSpPr txBox="1"/>
            <p:nvPr/>
          </p:nvSpPr>
          <p:spPr>
            <a:xfrm>
              <a:off x="599694" y="3140075"/>
              <a:ext cx="442030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技术参数多，理解门槛高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524500" y="3248025"/>
              <a:ext cx="457200" cy="95250"/>
              <a:chOff x="5524500" y="3248025"/>
              <a:chExt cx="457200" cy="952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524500" y="3286125"/>
                <a:ext cx="457200" cy="19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867400" y="3248025"/>
                <a:ext cx="114300" cy="95250"/>
              </a:xfrm>
              <a:prstGeom prst="right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352794" y="3140075"/>
              <a:ext cx="57630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围绕场景、创作价值与操作体验表达产品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" y="3548062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44" name="gtm-shift-3"/>
          <p:cNvGrpSpPr/>
          <p:nvPr/>
        </p:nvGrpSpPr>
        <p:grpSpPr>
          <a:xfrm>
            <a:off x="599694" y="3683000"/>
            <a:ext cx="10982706" cy="417513"/>
            <a:chOff x="599694" y="3683000"/>
            <a:chExt cx="10982706" cy="417513"/>
          </a:xfrm>
        </p:grpSpPr>
        <p:sp>
          <p:nvSpPr>
            <p:cNvPr id="38" name="TextBox 38"/>
            <p:cNvSpPr txBox="1"/>
            <p:nvPr/>
          </p:nvSpPr>
          <p:spPr>
            <a:xfrm>
              <a:off x="599694" y="3683000"/>
              <a:ext cx="33571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渠道动作相对分散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5524500" y="3790950"/>
              <a:ext cx="457200" cy="95250"/>
              <a:chOff x="5524500" y="3790950"/>
              <a:chExt cx="457200" cy="952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524500" y="3829050"/>
                <a:ext cx="457200" cy="19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867400" y="3790950"/>
                <a:ext cx="114300" cy="95250"/>
              </a:xfrm>
              <a:prstGeom prst="right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352794" y="3683000"/>
              <a:ext cx="57630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统筹内容、达人、投放与站外曝光节奏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9600" y="40909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48" name="content-proof"/>
          <p:cNvGrpSpPr/>
          <p:nvPr/>
        </p:nvGrpSpPr>
        <p:grpSpPr>
          <a:xfrm>
            <a:off x="609600" y="4276725"/>
            <a:ext cx="5791200" cy="1901571"/>
            <a:chOff x="609600" y="4276725"/>
            <a:chExt cx="5791200" cy="1901571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276725"/>
              <a:ext cx="2667000" cy="1771650"/>
            </a:xfrm>
            <a:prstGeom prst="rect">
              <a:avLst/>
            </a:prstGeom>
          </p:spPr>
        </p:pic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5200" y="4417890"/>
              <a:ext cx="2895600" cy="1317869"/>
            </a:xfrm>
            <a:prstGeom prst="rect">
              <a:avLst/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3499104" y="5943600"/>
              <a:ext cx="2720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操作教程与产品使用场景</a:t>
              </a:r>
            </a:p>
          </p:txBody>
        </p:sp>
      </p:grpSp>
      <p:grpSp>
        <p:nvGrpSpPr>
          <p:cNvPr id="56" name="growth-takeaway"/>
          <p:cNvGrpSpPr/>
          <p:nvPr/>
        </p:nvGrpSpPr>
        <p:grpSpPr>
          <a:xfrm>
            <a:off x="6896100" y="4381500"/>
            <a:ext cx="3148584" cy="1683131"/>
            <a:chOff x="6896100" y="4381500"/>
            <a:chExt cx="3148584" cy="1683131"/>
          </a:xfrm>
        </p:grpSpPr>
        <p:sp>
          <p:nvSpPr>
            <p:cNvPr id="49" name="Rectangle 49"/>
            <p:cNvSpPr/>
            <p:nvPr/>
          </p:nvSpPr>
          <p:spPr>
            <a:xfrm>
              <a:off x="6896100" y="4381500"/>
              <a:ext cx="381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112508" y="4403725"/>
              <a:ext cx="2932176" cy="888492"/>
              <a:chOff x="7112508" y="4403725"/>
              <a:chExt cx="2932176" cy="888492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7112508" y="4403725"/>
                <a:ext cx="45680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从达人出单，拓展为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112508" y="4822825"/>
                <a:ext cx="45680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品牌与内容共同驱动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7114794" y="5340350"/>
              <a:ext cx="2907411" cy="724281"/>
              <a:chOff x="7114794" y="5340350"/>
              <a:chExt cx="2907411" cy="724281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7114794" y="5340350"/>
                <a:ext cx="335714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支持科技硬件产品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114794" y="5683250"/>
                <a:ext cx="442030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在美国市场的二次增长。</a:t>
                </a:r>
              </a:p>
            </p:txBody>
          </p:sp>
        </p:grpSp>
      </p:grpSp>
      <p:grpSp>
        <p:nvGrpSpPr>
          <p:cNvPr id="61" name="footer"/>
          <p:cNvGrpSpPr/>
          <p:nvPr/>
        </p:nvGrpSpPr>
        <p:grpSpPr>
          <a:xfrm>
            <a:off x="609600" y="6186488"/>
            <a:ext cx="11059445" cy="563165"/>
            <a:chOff x="609600" y="6186488"/>
            <a:chExt cx="11059445" cy="563165"/>
          </a:xfrm>
        </p:grpSpPr>
        <p:sp>
          <p:nvSpPr>
            <p:cNvPr id="57" name="Rectangle 57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59" name="TextBox 59"/>
            <p:cNvSpPr txBox="1"/>
            <p:nvPr/>
          </p:nvSpPr>
          <p:spPr>
            <a:xfrm>
              <a:off x="10966704" y="6191250"/>
              <a:ext cx="1149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项目经验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15681" y="6457950"/>
              <a:ext cx="1000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15 / 20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pening"/>
          <p:cNvGrpSpPr/>
          <p:nvPr/>
        </p:nvGrpSpPr>
        <p:grpSpPr>
          <a:xfrm>
            <a:off x="592836" y="330200"/>
            <a:ext cx="5364480" cy="1013714"/>
            <a:chOff x="592836" y="330200"/>
            <a:chExt cx="5364480" cy="1013714"/>
          </a:xfrm>
        </p:grpSpPr>
        <p:grpSp>
          <p:nvGrpSpPr>
            <p:cNvPr id="4" name="Group 4"/>
            <p:cNvGrpSpPr/>
            <p:nvPr/>
          </p:nvGrpSpPr>
          <p:grpSpPr>
            <a:xfrm>
              <a:off x="602742" y="330200"/>
              <a:ext cx="1218029" cy="264033"/>
              <a:chOff x="602742" y="330200"/>
              <a:chExt cx="1218029" cy="264033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602742" y="330200"/>
                <a:ext cx="16249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项目经验 / 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1432608" y="330200"/>
                <a:ext cx="8669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 b="0">
                    <a:solidFill>
                      <a:schemeClr val="accent5"/>
                    </a:solidFill>
                    <a:latin typeface="Instrument Sans Medium"/>
                    <a:ea typeface="Instrument Sans Medium"/>
                    <a:cs typeface="Instrument Sans Medium"/>
                  </a:rPr>
                  <a:t>INUK</a:t>
                </a:r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592836" y="698500"/>
              <a:ext cx="8080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Noto Sans SC SemiBold"/>
                  <a:ea typeface="Noto Sans SC SemiBold"/>
                  <a:cs typeface="Noto Sans SC SemiBold"/>
                </a:rPr>
                <a:t>从品牌定位到北美市场表达</a:t>
              </a:r>
            </a:p>
          </p:txBody>
        </p:sp>
      </p:grpSp>
      <p:grpSp>
        <p:nvGrpSpPr>
          <p:cNvPr id="12" name="lead"/>
          <p:cNvGrpSpPr/>
          <p:nvPr/>
        </p:nvGrpSpPr>
        <p:grpSpPr>
          <a:xfrm>
            <a:off x="599694" y="1292225"/>
            <a:ext cx="8300859" cy="724281"/>
            <a:chOff x="599694" y="1292225"/>
            <a:chExt cx="8300859" cy="724281"/>
          </a:xfrm>
        </p:grpSpPr>
        <p:grpSp>
          <p:nvGrpSpPr>
            <p:cNvPr id="11" name="Group 11"/>
            <p:cNvGrpSpPr/>
            <p:nvPr/>
          </p:nvGrpSpPr>
          <p:grpSpPr>
            <a:xfrm>
              <a:off x="599694" y="1292225"/>
              <a:ext cx="8300859" cy="724281"/>
              <a:chOff x="599694" y="1292225"/>
              <a:chExt cx="8300859" cy="72428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99694" y="1292225"/>
                <a:ext cx="133713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 xml:space="preserve">参与 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50507" y="1292225"/>
                <a:ext cx="136455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INUK 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92998" y="1292225"/>
                <a:ext cx="1009049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的北美品牌冷启动，将品牌理念、产品特点与用户需求连接，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9694" y="1635125"/>
                <a:ext cx="867295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形成可持续用于内容、店铺与渠道传播的营销基础。</a:t>
                </a:r>
              </a:p>
            </p:txBody>
          </p:sp>
        </p:grpSp>
      </p:grpSp>
      <p:grpSp>
        <p:nvGrpSpPr>
          <p:cNvPr id="17" name="brand-work-1"/>
          <p:cNvGrpSpPr/>
          <p:nvPr/>
        </p:nvGrpSpPr>
        <p:grpSpPr>
          <a:xfrm>
            <a:off x="598932" y="2289175"/>
            <a:ext cx="3170682" cy="1156081"/>
            <a:chOff x="598932" y="2289175"/>
            <a:chExt cx="3170682" cy="1156081"/>
          </a:xfrm>
        </p:grpSpPr>
        <p:sp>
          <p:nvSpPr>
            <p:cNvPr id="13" name="TextBox 13"/>
            <p:cNvSpPr txBox="1"/>
            <p:nvPr/>
          </p:nvSpPr>
          <p:spPr>
            <a:xfrm>
              <a:off x="598932" y="2289175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市场与产品判断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99694" y="2720975"/>
              <a:ext cx="3169920" cy="724281"/>
              <a:chOff x="599694" y="2720975"/>
              <a:chExt cx="3169920" cy="72428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599694" y="272097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明确目标用户、使用场景、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99694" y="3063875"/>
                <a:ext cx="442030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主推产品与阶段优先级。</a:t>
                </a:r>
              </a:p>
            </p:txBody>
          </p:sp>
        </p:grpSp>
      </p:grpSp>
      <p:grpSp>
        <p:nvGrpSpPr>
          <p:cNvPr id="24" name="brand-work-2"/>
          <p:cNvGrpSpPr/>
          <p:nvPr/>
        </p:nvGrpSpPr>
        <p:grpSpPr>
          <a:xfrm>
            <a:off x="598932" y="3546475"/>
            <a:ext cx="3262426" cy="1156081"/>
            <a:chOff x="598932" y="3546475"/>
            <a:chExt cx="3262426" cy="1156081"/>
          </a:xfrm>
        </p:grpSpPr>
        <p:sp>
          <p:nvSpPr>
            <p:cNvPr id="18" name="TextBox 18"/>
            <p:cNvSpPr txBox="1"/>
            <p:nvPr/>
          </p:nvSpPr>
          <p:spPr>
            <a:xfrm>
              <a:off x="598932" y="3546475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品牌与价值表达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99694" y="3978275"/>
              <a:ext cx="3261664" cy="724281"/>
              <a:chOff x="599694" y="3978275"/>
              <a:chExt cx="3261664" cy="724281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599694" y="3978275"/>
                <a:ext cx="133713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 xml:space="preserve">围绕 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50507" y="3978275"/>
                <a:ext cx="313347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>Common Nature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054019" y="3978275"/>
                <a:ext cx="158520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，梳理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9694" y="432117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适合北美用户的品牌叙事。</a:t>
                </a:r>
              </a:p>
            </p:txBody>
          </p:sp>
        </p:grpSp>
      </p:grpSp>
      <p:grpSp>
        <p:nvGrpSpPr>
          <p:cNvPr id="29" name="brand-work-3"/>
          <p:cNvGrpSpPr/>
          <p:nvPr/>
        </p:nvGrpSpPr>
        <p:grpSpPr>
          <a:xfrm>
            <a:off x="598932" y="4803775"/>
            <a:ext cx="2908173" cy="1156081"/>
            <a:chOff x="598932" y="4803775"/>
            <a:chExt cx="2908173" cy="1156081"/>
          </a:xfrm>
        </p:grpSpPr>
        <p:sp>
          <p:nvSpPr>
            <p:cNvPr id="25" name="TextBox 25"/>
            <p:cNvSpPr txBox="1"/>
            <p:nvPr/>
          </p:nvSpPr>
          <p:spPr>
            <a:xfrm>
              <a:off x="598932" y="4803775"/>
              <a:ext cx="36153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可复用的内容资产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99694" y="5235575"/>
              <a:ext cx="2907411" cy="724281"/>
              <a:chOff x="599694" y="5235575"/>
              <a:chExt cx="2907411" cy="724281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599694" y="5235575"/>
                <a:ext cx="442030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将定位落实到产品卖点、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99694" y="5578475"/>
                <a:ext cx="406591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视觉素材与渠道文案。</a:t>
                </a:r>
              </a:p>
            </p:txBody>
          </p:sp>
        </p:grpSp>
      </p:grpSp>
      <p:grpSp>
        <p:nvGrpSpPr>
          <p:cNvPr id="36" name="brand-asset"/>
          <p:cNvGrpSpPr/>
          <p:nvPr/>
        </p:nvGrpSpPr>
        <p:grpSpPr>
          <a:xfrm>
            <a:off x="4944618" y="2247900"/>
            <a:ext cx="2294382" cy="3568446"/>
            <a:chOff x="4944618" y="2247900"/>
            <a:chExt cx="2294382" cy="3568446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3000" y="2247900"/>
              <a:ext cx="2286000" cy="286131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4944618" y="5235575"/>
              <a:ext cx="2840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品牌故事内容资产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4946904" y="5581650"/>
              <a:ext cx="2181046" cy="234696"/>
              <a:chOff x="4946904" y="5581650"/>
              <a:chExt cx="2181046" cy="234696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4946904" y="5581650"/>
                <a:ext cx="12590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 xml:space="preserve">基于既有 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590734" y="5581650"/>
                <a:ext cx="19943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 xml:space="preserve">Common Nature 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92670" y="5581650"/>
                <a:ext cx="7574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>理念</a:t>
                </a:r>
              </a:p>
            </p:txBody>
          </p:sp>
        </p:grpSp>
      </p:grpSp>
      <p:grpSp>
        <p:nvGrpSpPr>
          <p:cNvPr id="41" name="product-asset"/>
          <p:cNvGrpSpPr/>
          <p:nvPr/>
        </p:nvGrpSpPr>
        <p:grpSpPr>
          <a:xfrm>
            <a:off x="7613142" y="2247900"/>
            <a:ext cx="3664458" cy="3766058"/>
            <a:chOff x="7613142" y="2247900"/>
            <a:chExt cx="3664458" cy="3766058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4800" y="2247900"/>
              <a:ext cx="3352800" cy="3352800"/>
            </a:xfrm>
            <a:prstGeom prst="rect">
              <a:avLst/>
            </a:prstGeom>
          </p:spPr>
        </p:pic>
        <p:grpSp>
          <p:nvGrpSpPr>
            <p:cNvPr id="40" name="Group 40"/>
            <p:cNvGrpSpPr/>
            <p:nvPr/>
          </p:nvGrpSpPr>
          <p:grpSpPr>
            <a:xfrm>
              <a:off x="7613142" y="5749925"/>
              <a:ext cx="2407033" cy="264033"/>
              <a:chOff x="7613142" y="5749925"/>
              <a:chExt cx="2407033" cy="264033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7613142" y="5749925"/>
                <a:ext cx="137242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 xml:space="preserve">CRUISER 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370826" y="5749925"/>
                <a:ext cx="25695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>产品卖点与视觉表达</a:t>
                </a:r>
              </a:p>
            </p:txBody>
          </p:sp>
        </p:grpSp>
      </p:grpSp>
      <p:grpSp>
        <p:nvGrpSpPr>
          <p:cNvPr id="43" name="asset-attribution"/>
          <p:cNvGrpSpPr/>
          <p:nvPr/>
        </p:nvGrpSpPr>
        <p:grpSpPr>
          <a:xfrm>
            <a:off x="603504" y="5943600"/>
            <a:ext cx="3889248" cy="234696"/>
            <a:chOff x="603504" y="5943600"/>
            <a:chExt cx="3889248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603504" y="5943600"/>
              <a:ext cx="55552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基于品牌既有理念与素材，进行表达梳理和渠道应用。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9600" y="6186488"/>
            <a:ext cx="11053938" cy="563165"/>
            <a:chOff x="609600" y="6186488"/>
            <a:chExt cx="11053938" cy="563165"/>
          </a:xfrm>
        </p:grpSpPr>
        <p:sp>
          <p:nvSpPr>
            <p:cNvPr id="44" name="Rectangle 44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10966704" y="6191250"/>
              <a:ext cx="1149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项目经验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10174" y="6457950"/>
              <a:ext cx="1005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16 / 20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pening"/>
          <p:cNvGrpSpPr/>
          <p:nvPr/>
        </p:nvGrpSpPr>
        <p:grpSpPr>
          <a:xfrm>
            <a:off x="592836" y="330200"/>
            <a:ext cx="5808726" cy="1013714"/>
            <a:chOff x="592836" y="330200"/>
            <a:chExt cx="5808726" cy="1013714"/>
          </a:xfrm>
        </p:grpSpPr>
        <p:grpSp>
          <p:nvGrpSpPr>
            <p:cNvPr id="4" name="Group 4"/>
            <p:cNvGrpSpPr/>
            <p:nvPr/>
          </p:nvGrpSpPr>
          <p:grpSpPr>
            <a:xfrm>
              <a:off x="602742" y="330200"/>
              <a:ext cx="1218029" cy="264033"/>
              <a:chOff x="602742" y="330200"/>
              <a:chExt cx="1218029" cy="264033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602742" y="330200"/>
                <a:ext cx="16249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项目经验 / 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1432608" y="330200"/>
                <a:ext cx="8669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 b="0">
                    <a:solidFill>
                      <a:srgbClr val="FFFFFF"/>
                    </a:solidFill>
                    <a:latin typeface="Instrument Sans Medium"/>
                    <a:ea typeface="Instrument Sans Medium"/>
                    <a:cs typeface="Instrument Sans Medium"/>
                  </a:rPr>
                  <a:t>INUK</a:t>
                </a:r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592836" y="698500"/>
              <a:ext cx="86799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Noto Sans SC SemiBold"/>
                  <a:ea typeface="Noto Sans SC SemiBold"/>
                  <a:cs typeface="Noto Sans SC SemiBold"/>
                </a:rPr>
                <a:t>让内容、达人和渠道协同运行</a:t>
              </a:r>
            </a:p>
          </p:txBody>
        </p:sp>
      </p:grpSp>
      <p:grpSp>
        <p:nvGrpSpPr>
          <p:cNvPr id="10" name="lead"/>
          <p:cNvGrpSpPr/>
          <p:nvPr/>
        </p:nvGrpSpPr>
        <p:grpSpPr>
          <a:xfrm>
            <a:off x="599694" y="1292225"/>
            <a:ext cx="7370064" cy="724281"/>
            <a:chOff x="599694" y="1292225"/>
            <a:chExt cx="7370064" cy="724281"/>
          </a:xfrm>
        </p:grpSpPr>
        <p:grpSp>
          <p:nvGrpSpPr>
            <p:cNvPr id="9" name="Group 9"/>
            <p:cNvGrpSpPr/>
            <p:nvPr/>
          </p:nvGrpSpPr>
          <p:grpSpPr>
            <a:xfrm>
              <a:off x="599694" y="1292225"/>
              <a:ext cx="7370064" cy="724281"/>
              <a:chOff x="599694" y="1292225"/>
              <a:chExt cx="7370064" cy="72428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99694" y="1292225"/>
                <a:ext cx="1044488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将统一的品牌与产品表达落实到内容、达人、广告和渠道承接，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99694" y="1635125"/>
                <a:ext cx="512907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通过持续复盘调整工作重点。</a:t>
                </a:r>
              </a:p>
            </p:txBody>
          </p:sp>
        </p:grpSp>
      </p:grpSp>
      <p:grpSp>
        <p:nvGrpSpPr>
          <p:cNvPr id="17" name="integrated-work-1"/>
          <p:cNvGrpSpPr/>
          <p:nvPr/>
        </p:nvGrpSpPr>
        <p:grpSpPr>
          <a:xfrm>
            <a:off x="590550" y="2184400"/>
            <a:ext cx="4982718" cy="930275"/>
            <a:chOff x="590550" y="2184400"/>
            <a:chExt cx="4982718" cy="930275"/>
          </a:xfrm>
        </p:grpSpPr>
        <p:sp>
          <p:nvSpPr>
            <p:cNvPr id="11" name="Rectangle 11"/>
            <p:cNvSpPr/>
            <p:nvPr/>
          </p:nvSpPr>
          <p:spPr>
            <a:xfrm>
              <a:off x="609600" y="2219325"/>
              <a:ext cx="571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532" y="2184400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内容与产品素材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294" y="2559050"/>
              <a:ext cx="69010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产品图、场景内容、品牌文章与短视频。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90550" y="2952750"/>
              <a:ext cx="95250" cy="161925"/>
              <a:chOff x="590550" y="2952750"/>
              <a:chExt cx="95250" cy="1619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28650" y="2952750"/>
                <a:ext cx="19050" cy="1619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90550" y="3000375"/>
                <a:ext cx="95250" cy="114300"/>
              </a:xfrm>
              <a:prstGeom prst="down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</p:grpSp>
      <p:grpSp>
        <p:nvGrpSpPr>
          <p:cNvPr id="24" name="integrated-work-2"/>
          <p:cNvGrpSpPr/>
          <p:nvPr/>
        </p:nvGrpSpPr>
        <p:grpSpPr>
          <a:xfrm>
            <a:off x="590550" y="3098800"/>
            <a:ext cx="4457700" cy="930275"/>
            <a:chOff x="590550" y="3098800"/>
            <a:chExt cx="4457700" cy="930275"/>
          </a:xfrm>
        </p:grpSpPr>
        <p:sp>
          <p:nvSpPr>
            <p:cNvPr id="18" name="Rectangle 18"/>
            <p:cNvSpPr/>
            <p:nvPr/>
          </p:nvSpPr>
          <p:spPr>
            <a:xfrm>
              <a:off x="609600" y="3133725"/>
              <a:ext cx="571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7532" y="3098800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达人及广告触达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8294" y="3473450"/>
              <a:ext cx="61922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达人筛选、建联、寄样与发布跟进。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90550" y="3867150"/>
              <a:ext cx="95250" cy="161925"/>
              <a:chOff x="590550" y="3867150"/>
              <a:chExt cx="95250" cy="16192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28650" y="3867150"/>
                <a:ext cx="19050" cy="1619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90550" y="3914775"/>
                <a:ext cx="95250" cy="114300"/>
              </a:xfrm>
              <a:prstGeom prst="down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</p:grpSp>
      <p:grpSp>
        <p:nvGrpSpPr>
          <p:cNvPr id="36" name="integrated-work-3"/>
          <p:cNvGrpSpPr/>
          <p:nvPr/>
        </p:nvGrpSpPr>
        <p:grpSpPr>
          <a:xfrm>
            <a:off x="590550" y="4013200"/>
            <a:ext cx="4889046" cy="930275"/>
            <a:chOff x="590550" y="4013200"/>
            <a:chExt cx="4889046" cy="930275"/>
          </a:xfrm>
        </p:grpSpPr>
        <p:sp>
          <p:nvSpPr>
            <p:cNvPr id="25" name="Rectangle 25"/>
            <p:cNvSpPr/>
            <p:nvPr/>
          </p:nvSpPr>
          <p:spPr>
            <a:xfrm>
              <a:off x="609600" y="4048125"/>
              <a:ext cx="571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532" y="4013200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官网与电商承接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28294" y="4387850"/>
              <a:ext cx="4651302" cy="381381"/>
              <a:chOff x="828294" y="4387850"/>
              <a:chExt cx="4651302" cy="381381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828294" y="4387850"/>
                <a:ext cx="133713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衔接 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379107" y="4387850"/>
                <a:ext cx="162332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>TikTok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117443" y="4387850"/>
                <a:ext cx="87643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365093" y="4387850"/>
                <a:ext cx="188142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 xml:space="preserve">Amazon 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59712" y="4387850"/>
                <a:ext cx="335714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与官网购买路径。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90550" y="4781550"/>
              <a:ext cx="95250" cy="161925"/>
              <a:chOff x="590550" y="4781550"/>
              <a:chExt cx="95250" cy="16192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28650" y="4781550"/>
                <a:ext cx="19050" cy="1619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90550" y="4829175"/>
                <a:ext cx="95250" cy="114300"/>
              </a:xfrm>
              <a:prstGeom prst="down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</p:grpSp>
      <p:grpSp>
        <p:nvGrpSpPr>
          <p:cNvPr id="40" name="integrated-work-4"/>
          <p:cNvGrpSpPr/>
          <p:nvPr/>
        </p:nvGrpSpPr>
        <p:grpSpPr>
          <a:xfrm>
            <a:off x="609600" y="4927600"/>
            <a:ext cx="5226177" cy="756031"/>
            <a:chOff x="609600" y="4927600"/>
            <a:chExt cx="5226177" cy="756031"/>
          </a:xfrm>
        </p:grpSpPr>
        <p:sp>
          <p:nvSpPr>
            <p:cNvPr id="37" name="Rectangle 37"/>
            <p:cNvSpPr/>
            <p:nvPr/>
          </p:nvSpPr>
          <p:spPr>
            <a:xfrm>
              <a:off x="609600" y="4962525"/>
              <a:ext cx="5715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7532" y="4927600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表现复盘与调整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8294" y="5302250"/>
              <a:ext cx="72554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测试素材，调整关键词与预算，持续复盘。</a:t>
              </a:r>
            </a:p>
          </p:txBody>
        </p:sp>
      </p:grpSp>
      <p:grpSp>
        <p:nvGrpSpPr>
          <p:cNvPr id="42" name="live-landing"/>
          <p:cNvGrpSpPr/>
          <p:nvPr/>
        </p:nvGrpSpPr>
        <p:grpSpPr>
          <a:xfrm>
            <a:off x="5943600" y="2095500"/>
            <a:ext cx="1847850" cy="4000500"/>
            <a:chOff x="5943600" y="2095500"/>
            <a:chExt cx="1847850" cy="4000500"/>
          </a:xfrm>
        </p:grpSpPr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0" y="2095500"/>
              <a:ext cx="1847850" cy="4000500"/>
            </a:xfrm>
            <a:prstGeom prst="rect">
              <a:avLst/>
            </a:prstGeom>
          </p:spPr>
        </p:pic>
      </p:grpSp>
      <p:grpSp>
        <p:nvGrpSpPr>
          <p:cNvPr id="44" name="live-blog"/>
          <p:cNvGrpSpPr/>
          <p:nvPr/>
        </p:nvGrpSpPr>
        <p:grpSpPr>
          <a:xfrm>
            <a:off x="8020050" y="2095500"/>
            <a:ext cx="3562350" cy="2057400"/>
            <a:chOff x="8020050" y="2095500"/>
            <a:chExt cx="3562350" cy="2057400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0050" y="2095500"/>
              <a:ext cx="3562350" cy="2057400"/>
            </a:xfrm>
            <a:prstGeom prst="rect">
              <a:avLst/>
            </a:prstGeom>
          </p:spPr>
        </p:pic>
      </p:grpSp>
      <p:grpSp>
        <p:nvGrpSpPr>
          <p:cNvPr id="46" name="live-products"/>
          <p:cNvGrpSpPr/>
          <p:nvPr/>
        </p:nvGrpSpPr>
        <p:grpSpPr>
          <a:xfrm>
            <a:off x="8339280" y="4381500"/>
            <a:ext cx="2923890" cy="1714500"/>
            <a:chOff x="8339280" y="4381500"/>
            <a:chExt cx="2923890" cy="1714500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39280" y="4381500"/>
              <a:ext cx="2923890" cy="1714500"/>
            </a:xfrm>
            <a:prstGeom prst="rect">
              <a:avLst/>
            </a:prstGeom>
          </p:spPr>
        </p:pic>
      </p:grpSp>
      <p:grpSp>
        <p:nvGrpSpPr>
          <p:cNvPr id="48" name="live-captions"/>
          <p:cNvGrpSpPr/>
          <p:nvPr/>
        </p:nvGrpSpPr>
        <p:grpSpPr>
          <a:xfrm>
            <a:off x="8013954" y="4152900"/>
            <a:ext cx="2112264" cy="234696"/>
            <a:chOff x="8013954" y="4152900"/>
            <a:chExt cx="2112264" cy="234696"/>
          </a:xfrm>
        </p:grpSpPr>
        <p:sp>
          <p:nvSpPr>
            <p:cNvPr id="47" name="TextBox 47"/>
            <p:cNvSpPr txBox="1"/>
            <p:nvPr/>
          </p:nvSpPr>
          <p:spPr>
            <a:xfrm>
              <a:off x="8013954" y="4152900"/>
              <a:ext cx="3156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已上线品牌文章与广告落地页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9600" y="6186488"/>
            <a:ext cx="11065696" cy="563165"/>
            <a:chOff x="609600" y="6186488"/>
            <a:chExt cx="11065696" cy="563165"/>
          </a:xfrm>
        </p:grpSpPr>
        <p:sp>
          <p:nvSpPr>
            <p:cNvPr id="49" name="Rectangle 49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rgbClr val="62625D"/>
            </a:solidFill>
            <a:ln>
              <a:noFill/>
            </a:ln>
          </p:spPr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51" name="TextBox 51"/>
            <p:cNvSpPr txBox="1"/>
            <p:nvPr/>
          </p:nvSpPr>
          <p:spPr>
            <a:xfrm>
              <a:off x="10966704" y="6191250"/>
              <a:ext cx="1149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项目经验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21932" y="6457950"/>
              <a:ext cx="9938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Instrument Sans"/>
                  <a:cs typeface="Instrument Sans"/>
                </a:rPr>
                <a:t>17 / 20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utrise-v82-cases">
  <a:themeElements>
    <a:clrScheme name="outrise-v82-cases">
      <a:dk1>
        <a:srgbClr val="111111"/>
      </a:dk1>
      <a:lt1>
        <a:srgbClr val="F4F1E9"/>
      </a:lt1>
      <a:dk2>
        <a:srgbClr val="1F497D"/>
      </a:dk2>
      <a:lt2>
        <a:srgbClr val="FFFFFF"/>
      </a:lt2>
      <a:accent1>
        <a:srgbClr val="C9381E"/>
      </a:accent1>
      <a:accent2>
        <a:srgbClr val="9B5E00"/>
      </a:accent2>
      <a:accent3>
        <a:srgbClr val="111111"/>
      </a:accent3>
      <a:accent4>
        <a:srgbClr val="C9381E"/>
      </a:accent4>
      <a:accent5>
        <a:srgbClr val="62625D"/>
      </a:accent5>
      <a:accent6>
        <a:srgbClr val="D6D4CB"/>
      </a:accent6>
      <a:hlink>
        <a:srgbClr val="9B5E00"/>
      </a:hlink>
      <a:folHlink>
        <a:srgbClr val="111111"/>
      </a:folHlink>
    </a:clrScheme>
    <a:fontScheme name="outrise-v82-cases">
      <a:majorFont>
        <a:latin typeface="Noto Sans SC SemiBold"/>
        <a:ea typeface="Microsoft YaHei"/>
        <a:cs typeface="Noto Sans SC Semi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Microsoft YaHei"/>
        <a:cs typeface="Instrument San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utrise-v82-cas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2026-10-27T21:09:42Z</dcterms:created>
  <dcterms:modified xsi:type="dcterms:W3CDTF">2026-10-27T21:09:42Z</dcterms:modified>
  <cp:category/>
  <cp:contentStatus/>
</cp:coreProperties>
</file>