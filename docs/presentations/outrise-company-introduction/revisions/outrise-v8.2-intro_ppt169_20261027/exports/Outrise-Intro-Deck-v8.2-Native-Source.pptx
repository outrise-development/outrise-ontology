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16x9"/>
  <p:notesSz cx="6858000" cy="9144000"/>
  <p:embeddedFontLst>
    <p:embeddedFont>
      <p:font typeface="Instrument Sans" charset="1"/>
      <p:regular r:id="rIdOutriseFont1"/>
    </p:embeddedFont>
    <p:embeddedFont>
      <p:font typeface="Instrument Sans Medium" charset="1"/>
      <p:regular r:id="rIdOutriseFont2"/>
    </p:embeddedFont>
    <p:embeddedFont>
      <p:font typeface="Instrument Sans SemiBold" charset="1"/>
      <p:regular r:id="rIdOutriseFont3"/>
    </p:embeddedFont>
    <p:embeddedFont>
      <p:font typeface="Noto Sans SC" charset="1"/>
      <p:regular r:id="rIdOutriseFont4"/>
    </p:embeddedFont>
    <p:embeddedFont>
      <p:font typeface="Noto Sans SC Medium" charset="1"/>
      <p:regular r:id="rIdOutriseFont5"/>
    </p:embeddedFont>
    <p:embeddedFont>
      <p:font typeface="Noto Sans SC SemiBold" charset="1"/>
      <p:regular r:id="rIdOutriseFont6"/>
    </p:embeddedFont>
  </p:embeddedFontLst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OutriseFont1" Type="http://schemas.openxmlformats.org/officeDocument/2006/relationships/font" Target="fonts/outrise-1.fntdata"/><Relationship Id="rIdOutriseFont2" Type="http://schemas.openxmlformats.org/officeDocument/2006/relationships/font" Target="fonts/outrise-2.fntdata"/><Relationship Id="rIdOutriseFont3" Type="http://schemas.openxmlformats.org/officeDocument/2006/relationships/font" Target="fonts/outrise-3.fntdata"/><Relationship Id="rIdOutriseFont4" Type="http://schemas.openxmlformats.org/officeDocument/2006/relationships/font" Target="fonts/outrise-4.fntdata"/><Relationship Id="rIdOutriseFont5" Type="http://schemas.openxmlformats.org/officeDocument/2006/relationships/font" Target="fonts/outrise-5.fntdata"/><Relationship Id="rIdOutriseFont6" Type="http://schemas.openxmlformats.org/officeDocument/2006/relationships/font" Target="fonts/outrise-6.fntdata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utrise-v8.2-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utrise-v8.2-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  <Relationship Id="rId3" Type="http://schemas.openxmlformats.org/officeDocument/2006/relationships/image" Target="../media/image_d1b850f0abb79a8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  <Relationship Id="rId3" Type="http://schemas.openxmlformats.org/officeDocument/2006/relationships/image" Target="../media/image_d1b850f0abb79a84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1d0490fb75741f9.png"/>
  <Relationship Id="rId3" Type="http://schemas.openxmlformats.org/officeDocument/2006/relationships/image" Target="../media/image_c15022a00a3df4f8.png"/>
  <Relationship Id="rId4" Type="http://schemas.openxmlformats.org/officeDocument/2006/relationships/image" Target="../media/image_d1b850f0abb79a84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52d9877935f0bbc.png"/>
  <Relationship Id="rId3" Type="http://schemas.openxmlformats.org/officeDocument/2006/relationships/image" Target="../media/image_3f05e442caf2d0dd.png"/>
  <Relationship Id="rId4" Type="http://schemas.openxmlformats.org/officeDocument/2006/relationships/image" Target="../media/image_d1b850f0abb79a84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91cf47285c93e92.png"/>
  <Relationship Id="rId3" Type="http://schemas.openxmlformats.org/officeDocument/2006/relationships/image" Target="../media/image_c3e58199164f2838.png"/>
  <Relationship Id="rId4" Type="http://schemas.openxmlformats.org/officeDocument/2006/relationships/image" Target="../media/image_d1b850f0abb79a84.png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c5b9715327ea4bf.jpg"/>
  <Relationship Id="rId3" Type="http://schemas.openxmlformats.org/officeDocument/2006/relationships/image" Target="../media/image_ed9ca49bb00e1ca0.png"/>
  <Relationship Id="rId4" Type="http://schemas.openxmlformats.org/officeDocument/2006/relationships/image" Target="../media/image_85ed4e1b7b943e06.jpg"/>
  <Relationship Id="rId5" Type="http://schemas.openxmlformats.org/officeDocument/2006/relationships/image" Target="../media/image_8dc87ddb0565c9d9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  <Relationship Id="rId3" Type="http://schemas.openxmlformats.org/officeDocument/2006/relationships/image" Target="../media/image_d1b850f0abb79a84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rand"/>
          <p:cNvGrpSpPr/>
          <p:nvPr/>
        </p:nvGrpSpPr>
        <p:grpSpPr>
          <a:xfrm>
            <a:off x="609600" y="981075"/>
            <a:ext cx="10521959" cy="2016125"/>
            <a:chOff x="609600" y="981075"/>
            <a:chExt cx="10521959" cy="201612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981075"/>
              <a:ext cx="7620000" cy="2016125"/>
            </a:xfrm>
            <a:prstGeom prst="rect">
              <a:avLst/>
            </a:prstGeom>
          </p:spPr>
        </p:pic>
        <p:grpSp>
          <p:nvGrpSpPr>
            <p:cNvPr id="5" name="upward-field"/>
            <p:cNvGrpSpPr/>
            <p:nvPr/>
          </p:nvGrpSpPr>
          <p:grpSpPr>
            <a:xfrm>
              <a:off x="9385291" y="1546836"/>
              <a:ext cx="1746268" cy="1332497"/>
              <a:chOff x="9385291" y="1546836"/>
              <a:chExt cx="1746268" cy="1332497"/>
            </a:xfrm>
          </p:grpSpPr>
          <p:sp>
            <p:nvSpPr>
              <p:cNvPr id="3" name="Rectangle 3"/>
              <p:cNvSpPr/>
              <p:nvPr/>
            </p:nvSpPr>
            <p:spPr>
              <a:xfrm rot="-1440000">
                <a:off x="9353550" y="1905000"/>
                <a:ext cx="1809750" cy="22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" name="Rectangle 4"/>
              <p:cNvSpPr/>
              <p:nvPr/>
            </p:nvSpPr>
            <p:spPr>
              <a:xfrm rot="-1440000">
                <a:off x="9906000" y="2533650"/>
                <a:ext cx="1162050" cy="11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0" name="positioning"/>
          <p:cNvGrpSpPr/>
          <p:nvPr/>
        </p:nvGrpSpPr>
        <p:grpSpPr>
          <a:xfrm>
            <a:off x="590550" y="3521075"/>
            <a:ext cx="7674102" cy="2476881"/>
            <a:chOff x="590550" y="3521075"/>
            <a:chExt cx="7674102" cy="2476881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3521075"/>
              <a:ext cx="456133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专注北美市场的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4311650"/>
              <a:ext cx="767410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 xml:space="preserve">AI-native </a:t>
              </a:r>
              <a:r>
                <a:rPr lang="zh-CN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营销与增长团队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5616575"/>
              <a:ext cx="37736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策略判断 · 营销规划 · 关键执行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603504" y="6191250"/>
            <a:ext cx="10984992" cy="501396"/>
            <a:chOff x="603504" y="6191250"/>
            <a:chExt cx="10984992" cy="501396"/>
          </a:xfrm>
        </p:grpSpPr>
        <p:sp>
          <p:nvSpPr>
            <p:cNvPr id="11" name="TextBox 11"/>
            <p:cNvSpPr txBox="1"/>
            <p:nvPr/>
          </p:nvSpPr>
          <p:spPr>
            <a:xfrm>
              <a:off x="603504" y="6457950"/>
              <a:ext cx="2743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OUTRISE / COMPANY INTRODUCTION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30128" y="6191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我们是谁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01 / 20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30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我们是谁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774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专注北美，以策略判断连接行动</a:t>
              </a:r>
            </a:p>
          </p:txBody>
        </p:sp>
      </p:grpSp>
      <p:grpSp>
        <p:nvGrpSpPr>
          <p:cNvPr id="8" name="company-intro"/>
          <p:cNvGrpSpPr/>
          <p:nvPr/>
        </p:nvGrpSpPr>
        <p:grpSpPr>
          <a:xfrm>
            <a:off x="599694" y="2359025"/>
            <a:ext cx="10555126" cy="743331"/>
            <a:chOff x="599694" y="2359025"/>
            <a:chExt cx="10555126" cy="743331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2359025"/>
              <a:ext cx="105551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为消费品牌与科技创业公司提供北美市场的营销支持。我们从业务目标和用户需求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2720975"/>
              <a:ext cx="1052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出发，明确市场方向、建立品牌表达，规划渠道与资源投入，并推进约定的关键营销工作。</a:t>
              </a:r>
            </a:p>
          </p:txBody>
        </p:sp>
      </p:grpSp>
      <p:grpSp>
        <p:nvGrpSpPr>
          <p:cNvPr id="14" name="feature-1"/>
          <p:cNvGrpSpPr/>
          <p:nvPr/>
        </p:nvGrpSpPr>
        <p:grpSpPr>
          <a:xfrm>
            <a:off x="597408" y="3924300"/>
            <a:ext cx="3172206" cy="1873631"/>
            <a:chOff x="597408" y="3924300"/>
            <a:chExt cx="3172206" cy="1873631"/>
          </a:xfrm>
        </p:grpSpPr>
        <p:sp>
          <p:nvSpPr>
            <p:cNvPr id="9" name="Rectangle 9"/>
            <p:cNvSpPr/>
            <p:nvPr/>
          </p:nvSpPr>
          <p:spPr>
            <a:xfrm>
              <a:off x="609600" y="3924300"/>
              <a:ext cx="4191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7408" y="413702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北美市场聚焦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46926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围绕当地用户、市场环境与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0546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渠道特点，做出贴合目标市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694" y="54165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场的营销选择。</a:t>
              </a:r>
            </a:p>
          </p:txBody>
        </p:sp>
      </p:grpSp>
      <p:grpSp>
        <p:nvGrpSpPr>
          <p:cNvPr id="20" name="feature-2"/>
          <p:cNvGrpSpPr/>
          <p:nvPr/>
        </p:nvGrpSpPr>
        <p:grpSpPr>
          <a:xfrm>
            <a:off x="4407408" y="3924300"/>
            <a:ext cx="3172206" cy="1873631"/>
            <a:chOff x="4407408" y="3924300"/>
            <a:chExt cx="3172206" cy="1873631"/>
          </a:xfrm>
        </p:grpSpPr>
        <p:sp>
          <p:nvSpPr>
            <p:cNvPr id="15" name="Rectangle 15"/>
            <p:cNvSpPr/>
            <p:nvPr/>
          </p:nvSpPr>
          <p:spPr>
            <a:xfrm>
              <a:off x="4419600" y="3924300"/>
              <a:ext cx="4191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07408" y="413702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以策略判断为先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09694" y="469265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明确面向谁、表达什么价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09694" y="50546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值、优先投入哪里，将业务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09694" y="54165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目标转化为营销重点。</a:t>
              </a:r>
            </a:p>
          </p:txBody>
        </p:sp>
      </p:grpSp>
      <p:grpSp>
        <p:nvGrpSpPr>
          <p:cNvPr id="26" name="feature-3"/>
          <p:cNvGrpSpPr/>
          <p:nvPr/>
        </p:nvGrpSpPr>
        <p:grpSpPr>
          <a:xfrm>
            <a:off x="8217408" y="3924300"/>
            <a:ext cx="3228670" cy="1873631"/>
            <a:chOff x="8217408" y="3924300"/>
            <a:chExt cx="3228670" cy="1873631"/>
          </a:xfrm>
        </p:grpSpPr>
        <p:sp>
          <p:nvSpPr>
            <p:cNvPr id="21" name="Rectangle 21"/>
            <p:cNvSpPr/>
            <p:nvPr/>
          </p:nvSpPr>
          <p:spPr>
            <a:xfrm>
              <a:off x="8229600" y="3924300"/>
              <a:ext cx="4191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17408" y="4137025"/>
              <a:ext cx="28731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AI-native </a:t>
              </a:r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工作方式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9694" y="4692650"/>
              <a:ext cx="32263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AI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融入研究、知识积累、任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19694" y="50546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务协同与内容生产，团队负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9694" y="54165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责商业判断与质量。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27" name="Line 2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10930128" y="6191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我们是谁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02 / 20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5808726" cy="1089914"/>
            <a:chOff x="592836" y="330200"/>
            <a:chExt cx="5808726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我们服务谁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服务消费品牌与科技创业公司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4482465" cy="381381"/>
            <a:chOff x="599694" y="1473200"/>
            <a:chExt cx="4482465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同样聚焦北美，回应不同的业务需求。</a:t>
              </a:r>
            </a:p>
          </p:txBody>
        </p:sp>
      </p:grpSp>
      <p:grpSp>
        <p:nvGrpSpPr>
          <p:cNvPr id="15" name="client-1"/>
          <p:cNvGrpSpPr/>
          <p:nvPr/>
        </p:nvGrpSpPr>
        <p:grpSpPr>
          <a:xfrm>
            <a:off x="609600" y="2343150"/>
            <a:ext cx="5334000" cy="3524250"/>
            <a:chOff x="609600" y="2343150"/>
            <a:chExt cx="5334000" cy="3524250"/>
          </a:xfrm>
        </p:grpSpPr>
        <p:sp>
          <p:nvSpPr>
            <p:cNvPr id="7" name="Rectangle 7"/>
            <p:cNvSpPr/>
            <p:nvPr/>
          </p:nvSpPr>
          <p:spPr>
            <a:xfrm>
              <a:off x="609600" y="2343150"/>
              <a:ext cx="5334000" cy="3524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2559050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CONSUMER BRANDS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0684" y="2984500"/>
              <a:ext cx="2208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消费品牌出海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4494" y="3635375"/>
              <a:ext cx="46491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面向希望进入或拓展北美市场的 </a:t>
              </a:r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To C 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4494" y="3997325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牌，兼顾电商销售增长，以及品牌认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4494" y="43592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知、定位与持续传播。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14400" y="52197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4494" y="53784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品牌建设／电商增长</a:t>
              </a:r>
            </a:p>
          </p:txBody>
        </p:sp>
      </p:grpSp>
      <p:grpSp>
        <p:nvGrpSpPr>
          <p:cNvPr id="25" name="client-2"/>
          <p:cNvGrpSpPr/>
          <p:nvPr/>
        </p:nvGrpSpPr>
        <p:grpSpPr>
          <a:xfrm>
            <a:off x="6248400" y="2343150"/>
            <a:ext cx="5334000" cy="3524250"/>
            <a:chOff x="6248400" y="2343150"/>
            <a:chExt cx="5334000" cy="3524250"/>
          </a:xfrm>
        </p:grpSpPr>
        <p:sp>
          <p:nvSpPr>
            <p:cNvPr id="16" name="Rectangle 16"/>
            <p:cNvSpPr/>
            <p:nvPr/>
          </p:nvSpPr>
          <p:spPr>
            <a:xfrm>
              <a:off x="6248400" y="2343150"/>
              <a:ext cx="5334000" cy="3524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46342" y="2559050"/>
              <a:ext cx="1338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TECH STARTUPS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39484" y="2984500"/>
              <a:ext cx="30278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科技创业公司 </a:t>
              </a:r>
              <a:r>
                <a:rPr lang="en-US" sz="27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GTM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3294" y="36353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面向不同类型的科技创业公司，围绕市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3294" y="3997325"/>
              <a:ext cx="42080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场进入与增长（</a:t>
              </a:r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GTM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），讲清产品价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3294" y="4359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值、明确目标用户，并确定当前阶段的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43294" y="4721225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营销重点。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553200" y="52197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3294" y="53784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市场进入／增长规划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26" name="Line 26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10768584" y="61912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我们服务谁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03 / 20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5808726" cy="1089914"/>
            <a:chOff x="592836" y="330200"/>
            <a:chExt cx="5808726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我们是谁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深入业务讨论，统筹关键工作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10030108" cy="381381"/>
            <a:chOff x="599694" y="1473200"/>
            <a:chExt cx="10030108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100301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围绕业务目标参与关键营销工作，让客户团队、</a:t>
              </a:r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与专业伙伴按同一计划协作。</a:t>
              </a:r>
            </a:p>
          </p:txBody>
        </p:sp>
      </p:grpSp>
      <p:grpSp>
        <p:nvGrpSpPr>
          <p:cNvPr id="11" name="participation-entry"/>
          <p:cNvGrpSpPr/>
          <p:nvPr/>
        </p:nvGrpSpPr>
        <p:grpSpPr>
          <a:xfrm>
            <a:off x="609600" y="2362200"/>
            <a:ext cx="2667000" cy="3238500"/>
            <a:chOff x="609600" y="2362200"/>
            <a:chExt cx="2667000" cy="3238500"/>
          </a:xfrm>
        </p:grpSpPr>
        <p:sp>
          <p:nvSpPr>
            <p:cNvPr id="7" name="Rectangle 7"/>
            <p:cNvSpPr/>
            <p:nvPr/>
          </p:nvSpPr>
          <p:spPr>
            <a:xfrm>
              <a:off x="609600" y="2362200"/>
              <a:ext cx="2667000" cy="3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800350"/>
              <a:ext cx="2209800" cy="584676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826008" y="38036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持续参与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6008" y="42608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关键营销工作</a:t>
              </a:r>
            </a:p>
          </p:txBody>
        </p:sp>
      </p:grpSp>
      <p:grpSp>
        <p:nvGrpSpPr>
          <p:cNvPr id="16" name="participation-1"/>
          <p:cNvGrpSpPr/>
          <p:nvPr/>
        </p:nvGrpSpPr>
        <p:grpSpPr>
          <a:xfrm>
            <a:off x="3799332" y="2362200"/>
            <a:ext cx="7783068" cy="806831"/>
            <a:chOff x="3799332" y="2362200"/>
            <a:chExt cx="7783068" cy="806831"/>
          </a:xfrm>
        </p:grpSpPr>
        <p:sp>
          <p:nvSpPr>
            <p:cNvPr id="12" name="Line 12"/>
            <p:cNvSpPr/>
            <p:nvPr/>
          </p:nvSpPr>
          <p:spPr>
            <a:xfrm>
              <a:off x="3810000" y="236220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99332" y="24511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共同判断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00394" y="2425700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把产品与业务信息放进市场和用户视角中讨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00394" y="27876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论，比较方向，确定营销重点。</a:t>
              </a:r>
            </a:p>
          </p:txBody>
        </p:sp>
      </p:grpSp>
      <p:grpSp>
        <p:nvGrpSpPr>
          <p:cNvPr id="21" name="participation-2"/>
          <p:cNvGrpSpPr/>
          <p:nvPr/>
        </p:nvGrpSpPr>
        <p:grpSpPr>
          <a:xfrm>
            <a:off x="3799332" y="3409950"/>
            <a:ext cx="7783068" cy="806831"/>
            <a:chOff x="3799332" y="3409950"/>
            <a:chExt cx="7783068" cy="806831"/>
          </a:xfrm>
        </p:grpSpPr>
        <p:sp>
          <p:nvSpPr>
            <p:cNvPr id="17" name="Line 17"/>
            <p:cNvSpPr/>
            <p:nvPr/>
          </p:nvSpPr>
          <p:spPr>
            <a:xfrm>
              <a:off x="3810000" y="340995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99332" y="34988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营销统筹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00394" y="3473450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将目标转化为阶段计划，协调各方分工，让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0394" y="3835400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内容、渠道和资源安排相互衔接。</a:t>
              </a:r>
            </a:p>
          </p:txBody>
        </p:sp>
      </p:grpSp>
      <p:grpSp>
        <p:nvGrpSpPr>
          <p:cNvPr id="26" name="participation-3"/>
          <p:cNvGrpSpPr/>
          <p:nvPr/>
        </p:nvGrpSpPr>
        <p:grpSpPr>
          <a:xfrm>
            <a:off x="3799332" y="4457700"/>
            <a:ext cx="7783068" cy="806831"/>
            <a:chOff x="3799332" y="4457700"/>
            <a:chExt cx="7783068" cy="806831"/>
          </a:xfrm>
        </p:grpSpPr>
        <p:sp>
          <p:nvSpPr>
            <p:cNvPr id="22" name="Line 22"/>
            <p:cNvSpPr/>
            <p:nvPr/>
          </p:nvSpPr>
          <p:spPr>
            <a:xfrm>
              <a:off x="3810000" y="445770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99332" y="45466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约定执行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00394" y="4521200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推进双方确认的关键任务，跟进进展，并把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00394" y="488315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市场反馈带回后续讨论。</a:t>
              </a:r>
            </a:p>
          </p:txBody>
        </p:sp>
      </p:grpSp>
      <p:grpSp>
        <p:nvGrpSpPr>
          <p:cNvPr id="28" name="scope-note"/>
          <p:cNvGrpSpPr/>
          <p:nvPr/>
        </p:nvGrpSpPr>
        <p:grpSpPr>
          <a:xfrm>
            <a:off x="601218" y="5740400"/>
            <a:ext cx="5569839" cy="322707"/>
            <a:chOff x="601218" y="5740400"/>
            <a:chExt cx="5569839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01218" y="5740400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从关键选择到后续推进，持续提供营销判断与协作支持。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29" name="Line 29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10930128" y="6191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我们是谁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04 / 20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我们做什么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两项核心能力，连接策略与执行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6582537" cy="381381"/>
            <a:chOff x="599694" y="1473200"/>
            <a:chExt cx="6582537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以营销判断和渠道规划统筹工作，按目标组合执行能力。</a:t>
              </a:r>
            </a:p>
          </p:txBody>
        </p:sp>
      </p:grpSp>
      <p:grpSp>
        <p:nvGrpSpPr>
          <p:cNvPr id="8" name="core-label"/>
          <p:cNvGrpSpPr/>
          <p:nvPr/>
        </p:nvGrpSpPr>
        <p:grpSpPr>
          <a:xfrm>
            <a:off x="599313" y="1825625"/>
            <a:ext cx="4371492" cy="396050"/>
            <a:chOff x="599313" y="1825625"/>
            <a:chExt cx="4371492" cy="396050"/>
          </a:xfrm>
        </p:grpSpPr>
        <p:sp>
          <p:nvSpPr>
            <p:cNvPr id="7" name="TextBox 7"/>
            <p:cNvSpPr txBox="1"/>
            <p:nvPr/>
          </p:nvSpPr>
          <p:spPr>
            <a:xfrm>
              <a:off x="599313" y="1825625"/>
              <a:ext cx="43714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核心能力｜明确营销方向与增长路径</a:t>
              </a:r>
            </a:p>
          </p:txBody>
        </p:sp>
      </p:grpSp>
      <p:grpSp>
        <p:nvGrpSpPr>
          <p:cNvPr id="19" name="core-field"/>
          <p:cNvGrpSpPr/>
          <p:nvPr/>
        </p:nvGrpSpPr>
        <p:grpSpPr>
          <a:xfrm>
            <a:off x="0" y="2228850"/>
            <a:ext cx="12192000" cy="1619250"/>
            <a:chOff x="0" y="2228850"/>
            <a:chExt cx="12192000" cy="1619250"/>
          </a:xfrm>
        </p:grpSpPr>
        <p:sp>
          <p:nvSpPr>
            <p:cNvPr id="9" name="Rectangle 9"/>
            <p:cNvSpPr/>
            <p:nvPr/>
          </p:nvSpPr>
          <p:spPr>
            <a:xfrm>
              <a:off x="0" y="2228850"/>
              <a:ext cx="1219200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2457450"/>
              <a:ext cx="9525" cy="1162050"/>
            </a:xfrm>
            <a:custGeom>
              <a:avLst/>
              <a:gdLst/>
              <a:ahLst/>
              <a:cxnLst/>
              <a:rect l="l" t="t" r="r" b="b"/>
              <a:pathLst>
                <a:path w="9525" h="1162050">
                  <a:moveTo>
                    <a:pt x="0" y="0"/>
                  </a:moveTo>
                  <a:lnTo>
                    <a:pt x="0" y="116205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grpSp>
          <p:nvGrpSpPr>
            <p:cNvPr id="14" name="core-1"/>
            <p:cNvGrpSpPr/>
            <p:nvPr/>
          </p:nvGrpSpPr>
          <p:grpSpPr>
            <a:xfrm>
              <a:off x="597408" y="2365375"/>
              <a:ext cx="4484751" cy="1308481"/>
              <a:chOff x="597408" y="2365375"/>
              <a:chExt cx="4484751" cy="130848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97408" y="2365375"/>
                <a:ext cx="293217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营销策略与品牌基础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9694" y="2930525"/>
                <a:ext cx="448246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理解市场与用户，明确定位、价值表达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99694" y="3292475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与营销优先级。</a:t>
                </a:r>
              </a:p>
            </p:txBody>
          </p:sp>
        </p:grpSp>
        <p:grpSp>
          <p:nvGrpSpPr>
            <p:cNvPr id="18" name="core-2"/>
            <p:cNvGrpSpPr/>
            <p:nvPr/>
          </p:nvGrpSpPr>
          <p:grpSpPr>
            <a:xfrm>
              <a:off x="6693408" y="2365375"/>
              <a:ext cx="4484751" cy="1308481"/>
              <a:chOff x="6693408" y="2365375"/>
              <a:chExt cx="4484751" cy="130848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693408" y="23653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渠道运营与增长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95694" y="2930525"/>
                <a:ext cx="448246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规划渠道组合、资源投入与运营路径，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695694" y="3292475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结合反馈持续调整。</a:t>
                </a:r>
              </a:p>
            </p:txBody>
          </p:sp>
        </p:grpSp>
      </p:grpSp>
      <p:grpSp>
        <p:nvGrpSpPr>
          <p:cNvPr id="21" name="execution-label"/>
          <p:cNvGrpSpPr/>
          <p:nvPr/>
        </p:nvGrpSpPr>
        <p:grpSpPr>
          <a:xfrm>
            <a:off x="599313" y="3949700"/>
            <a:ext cx="4915357" cy="396050"/>
            <a:chOff x="599313" y="3949700"/>
            <a:chExt cx="4915357" cy="396050"/>
          </a:xfrm>
        </p:grpSpPr>
        <p:sp>
          <p:nvSpPr>
            <p:cNvPr id="20" name="TextBox 20"/>
            <p:cNvSpPr txBox="1"/>
            <p:nvPr/>
          </p:nvSpPr>
          <p:spPr>
            <a:xfrm>
              <a:off x="599313" y="3949700"/>
              <a:ext cx="491535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直接执行｜推进关键工作，交付约定成果</a:t>
              </a:r>
            </a:p>
          </p:txBody>
        </p:sp>
      </p:grpSp>
      <p:grpSp>
        <p:nvGrpSpPr>
          <p:cNvPr id="25" name="execution-1"/>
          <p:cNvGrpSpPr/>
          <p:nvPr/>
        </p:nvGrpSpPr>
        <p:grpSpPr>
          <a:xfrm>
            <a:off x="597408" y="4356100"/>
            <a:ext cx="3526917" cy="802132"/>
            <a:chOff x="597408" y="4356100"/>
            <a:chExt cx="3526917" cy="802132"/>
          </a:xfrm>
        </p:grpSpPr>
        <p:sp>
          <p:nvSpPr>
            <p:cNvPr id="22" name="TextBox 22"/>
            <p:cNvSpPr txBox="1"/>
            <p:nvPr/>
          </p:nvSpPr>
          <p:spPr>
            <a:xfrm>
              <a:off x="597408" y="43561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内容营销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48355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内容方向与素材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114800" y="441960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9" name="execution-2"/>
          <p:cNvGrpSpPr/>
          <p:nvPr/>
        </p:nvGrpSpPr>
        <p:grpSpPr>
          <a:xfrm>
            <a:off x="4407408" y="4356100"/>
            <a:ext cx="3526917" cy="802132"/>
            <a:chOff x="4407408" y="4356100"/>
            <a:chExt cx="3526917" cy="802132"/>
          </a:xfrm>
        </p:grpSpPr>
        <p:sp>
          <p:nvSpPr>
            <p:cNvPr id="26" name="TextBox 26"/>
            <p:cNvSpPr txBox="1"/>
            <p:nvPr/>
          </p:nvSpPr>
          <p:spPr>
            <a:xfrm>
              <a:off x="4407408" y="43561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达人营销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11218" y="48355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达人筛选与合作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924800" y="441960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execution-3"/>
          <p:cNvGrpSpPr/>
          <p:nvPr/>
        </p:nvGrpSpPr>
        <p:grpSpPr>
          <a:xfrm>
            <a:off x="8217408" y="4356100"/>
            <a:ext cx="1639824" cy="802132"/>
            <a:chOff x="8217408" y="4356100"/>
            <a:chExt cx="1639824" cy="802132"/>
          </a:xfrm>
        </p:grpSpPr>
        <p:sp>
          <p:nvSpPr>
            <p:cNvPr id="30" name="TextBox 30"/>
            <p:cNvSpPr txBox="1"/>
            <p:nvPr/>
          </p:nvSpPr>
          <p:spPr>
            <a:xfrm>
              <a:off x="8217408" y="4356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广告与投放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1218" y="48355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投放规划与优化</a:t>
              </a:r>
            </a:p>
          </p:txBody>
        </p:sp>
      </p:grpSp>
      <p:grpSp>
        <p:nvGrpSpPr>
          <p:cNvPr id="37" name="partners"/>
          <p:cNvGrpSpPr/>
          <p:nvPr/>
        </p:nvGrpSpPr>
        <p:grpSpPr>
          <a:xfrm>
            <a:off x="609600" y="5410200"/>
            <a:ext cx="10972800" cy="700532"/>
            <a:chOff x="609600" y="5410200"/>
            <a:chExt cx="10972800" cy="700532"/>
          </a:xfrm>
        </p:grpSpPr>
        <p:sp>
          <p:nvSpPr>
            <p:cNvPr id="33" name="Rectangle 33"/>
            <p:cNvSpPr/>
            <p:nvPr/>
          </p:nvSpPr>
          <p:spPr>
            <a:xfrm>
              <a:off x="609600" y="5410200"/>
              <a:ext cx="1097280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9813" y="54737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专业协作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44268" y="5511800"/>
              <a:ext cx="4525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能力示例：渠道拓展 · 落地执行 · 技术搭建等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44268" y="5788025"/>
              <a:ext cx="5666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由 </a:t>
              </a:r>
              <a:r>
                <a:rPr lang="en-US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判断所需能力，联系、筛选并协调合适资源。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8" name="Line 38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10768584" y="61912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我们做什么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05 / 20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4031742" cy="1089914"/>
            <a:chOff x="592836" y="330200"/>
            <a:chExt cx="4031742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我们做什么 · 核心能力 </a:t>
              </a:r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01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营销策略与品牌基础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7632573" cy="381381"/>
            <a:chOff x="599694" y="1473200"/>
            <a:chExt cx="7632573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把业务信息转化为市场判断，让品牌表达与阶段行动有共同依据。</a:t>
              </a:r>
            </a:p>
          </p:txBody>
        </p:sp>
      </p:grpSp>
      <p:grpSp>
        <p:nvGrpSpPr>
          <p:cNvPr id="16" name="strategy-1"/>
          <p:cNvGrpSpPr/>
          <p:nvPr/>
        </p:nvGrpSpPr>
        <p:grpSpPr>
          <a:xfrm>
            <a:off x="597408" y="2403475"/>
            <a:ext cx="3364992" cy="3708781"/>
            <a:chOff x="597408" y="2403475"/>
            <a:chExt cx="3364992" cy="3708781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2403475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面向谁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9718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8932" y="31654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市场与用户判断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6734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梳理产品、业务目标与目标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40354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人群，理解需求、使用场景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439737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和购买考虑。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5381625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2742" y="54832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形成的工作成果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9694" y="57308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用户与需求梳理</a:t>
              </a:r>
            </a:p>
          </p:txBody>
        </p:sp>
      </p:grpSp>
      <p:grpSp>
        <p:nvGrpSpPr>
          <p:cNvPr id="26" name="strategy-2"/>
          <p:cNvGrpSpPr/>
          <p:nvPr/>
        </p:nvGrpSpPr>
        <p:grpSpPr>
          <a:xfrm>
            <a:off x="4407408" y="2403475"/>
            <a:ext cx="3364992" cy="3708781"/>
            <a:chOff x="4407408" y="2403475"/>
            <a:chExt cx="3364992" cy="3708781"/>
          </a:xfrm>
        </p:grpSpPr>
        <p:sp>
          <p:nvSpPr>
            <p:cNvPr id="17" name="TextBox 17"/>
            <p:cNvSpPr txBox="1"/>
            <p:nvPr/>
          </p:nvSpPr>
          <p:spPr>
            <a:xfrm>
              <a:off x="4407408" y="240347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表达什么价值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419600" y="29718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08932" y="31654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定位与价值表达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09694" y="36734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明确为谁创造什么价值，形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9694" y="40354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成适合北美市场的定位、叙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09694" y="43973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事和沟通重点。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419600" y="5381625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12742" y="54832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形成的工作成果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9694" y="57308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定位与价值表达</a:t>
              </a:r>
            </a:p>
          </p:txBody>
        </p:sp>
      </p:grpSp>
      <p:grpSp>
        <p:nvGrpSpPr>
          <p:cNvPr id="36" name="strategy-3"/>
          <p:cNvGrpSpPr/>
          <p:nvPr/>
        </p:nvGrpSpPr>
        <p:grpSpPr>
          <a:xfrm>
            <a:off x="8217408" y="2403475"/>
            <a:ext cx="3364992" cy="3708781"/>
            <a:chOff x="8217408" y="2403475"/>
            <a:chExt cx="3364992" cy="3708781"/>
          </a:xfrm>
        </p:grpSpPr>
        <p:sp>
          <p:nvSpPr>
            <p:cNvPr id="27" name="TextBox 27"/>
            <p:cNvSpPr txBox="1"/>
            <p:nvPr/>
          </p:nvSpPr>
          <p:spPr>
            <a:xfrm>
              <a:off x="8217408" y="240347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优先做什么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229600" y="29718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18932" y="3165475"/>
              <a:ext cx="20770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GTM </a:t>
              </a:r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与营销路线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9694" y="36734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确定阶段重点、渠道优先级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19694" y="40354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与资源安排，形成可以推进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19694" y="439737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的行动计划。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229600" y="5381625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22742" y="54832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形成的工作成果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19694" y="57308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阶段营销路线图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7" name="Line 3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9710471" y="619125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我们做什么 · 核心能力 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06 / 20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3143250" cy="1089914"/>
            <a:chOff x="592836" y="330200"/>
            <a:chExt cx="3143250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我们做什么 · 核心能力 </a:t>
              </a:r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渠道运营与增长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6845046" cy="381381"/>
            <a:chOff x="599694" y="1473200"/>
            <a:chExt cx="6845046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把渠道选择、资源投入和关键行动放在同一条增长路径上。</a:t>
              </a:r>
            </a:p>
          </p:txBody>
        </p:sp>
      </p:grpSp>
      <p:grpSp>
        <p:nvGrpSpPr>
          <p:cNvPr id="12" name="channel-field"/>
          <p:cNvGrpSpPr/>
          <p:nvPr/>
        </p:nvGrpSpPr>
        <p:grpSpPr>
          <a:xfrm>
            <a:off x="609600" y="2247900"/>
            <a:ext cx="2667000" cy="3695700"/>
            <a:chOff x="609600" y="2247900"/>
            <a:chExt cx="2667000" cy="3695700"/>
          </a:xfrm>
        </p:grpSpPr>
        <p:sp>
          <p:nvSpPr>
            <p:cNvPr id="7" name="Rectangle 7"/>
            <p:cNvSpPr/>
            <p:nvPr/>
          </p:nvSpPr>
          <p:spPr>
            <a:xfrm>
              <a:off x="609600" y="2247900"/>
              <a:ext cx="2667000" cy="369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9818" y="24828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从渠道到行动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6008" y="30797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渠道角色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6008" y="39179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资源投入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6008" y="47561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市场反馈</a:t>
              </a:r>
            </a:p>
          </p:txBody>
        </p:sp>
      </p:grpSp>
      <p:grpSp>
        <p:nvGrpSpPr>
          <p:cNvPr id="18" name="channel-work-1"/>
          <p:cNvGrpSpPr/>
          <p:nvPr/>
        </p:nvGrpSpPr>
        <p:grpSpPr>
          <a:xfrm>
            <a:off x="3799332" y="2247900"/>
            <a:ext cx="7791450" cy="1302131"/>
            <a:chOff x="3799332" y="2247900"/>
            <a:chExt cx="7791450" cy="1302131"/>
          </a:xfrm>
        </p:grpSpPr>
        <p:sp>
          <p:nvSpPr>
            <p:cNvPr id="13" name="Line 13"/>
            <p:cNvSpPr/>
            <p:nvPr/>
          </p:nvSpPr>
          <p:spPr>
            <a:xfrm>
              <a:off x="3810000" y="224790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99332" y="23749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确定渠道组合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19157" y="24257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渠道角色与组合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00094" y="2806700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结合用户路径与业务阶段，判断社交媒体、电商平台、品牌官网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0094" y="316865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及其他渠道各自的作用。</a:t>
              </a:r>
            </a:p>
          </p:txBody>
        </p:sp>
      </p:grpSp>
      <p:grpSp>
        <p:nvGrpSpPr>
          <p:cNvPr id="24" name="channel-work-2"/>
          <p:cNvGrpSpPr/>
          <p:nvPr/>
        </p:nvGrpSpPr>
        <p:grpSpPr>
          <a:xfrm>
            <a:off x="3799332" y="3543300"/>
            <a:ext cx="7791450" cy="1302131"/>
            <a:chOff x="3799332" y="3543300"/>
            <a:chExt cx="7791450" cy="1302131"/>
          </a:xfrm>
        </p:grpSpPr>
        <p:sp>
          <p:nvSpPr>
            <p:cNvPr id="19" name="Line 19"/>
            <p:cNvSpPr/>
            <p:nvPr/>
          </p:nvSpPr>
          <p:spPr>
            <a:xfrm>
              <a:off x="3810000" y="354330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99332" y="36703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安排资源与行动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74911" y="37211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资源安排与执行分工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0094" y="4102100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明确投入顺序、预算重点、内容需求和团队分工，让关键工作能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00094" y="446405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够衔接推进。</a:t>
              </a:r>
            </a:p>
          </p:txBody>
        </p:sp>
      </p:grpSp>
      <p:grpSp>
        <p:nvGrpSpPr>
          <p:cNvPr id="30" name="channel-work-3"/>
          <p:cNvGrpSpPr/>
          <p:nvPr/>
        </p:nvGrpSpPr>
        <p:grpSpPr>
          <a:xfrm>
            <a:off x="3799332" y="4838700"/>
            <a:ext cx="7791450" cy="1302131"/>
            <a:chOff x="3799332" y="4838700"/>
            <a:chExt cx="7791450" cy="1302131"/>
          </a:xfrm>
        </p:grpSpPr>
        <p:sp>
          <p:nvSpPr>
            <p:cNvPr id="25" name="Line 25"/>
            <p:cNvSpPr/>
            <p:nvPr/>
          </p:nvSpPr>
          <p:spPr>
            <a:xfrm>
              <a:off x="3810000" y="483870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99332" y="496570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根据反馈持续调整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74911" y="50165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表现复盘与调整建议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00094" y="5397500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结合渠道表现和用户反馈，判断哪些方向值得继续投入，调整下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00094" y="575945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一步计划。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1" name="Line 3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9710471" y="619125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我们做什么 · 核心能力 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07 / 20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opening"/>
          <p:cNvGrpSpPr/>
          <p:nvPr/>
        </p:nvGrpSpPr>
        <p:grpSpPr>
          <a:xfrm>
            <a:off x="592836" y="330200"/>
            <a:ext cx="5808726" cy="1089914"/>
            <a:chOff x="592836" y="330200"/>
            <a:chExt cx="5808726" cy="1089914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30200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我们做什么 · 直接执行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7747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三类执行能力，承接关键任务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599694" y="1473200"/>
            <a:ext cx="7483771" cy="381381"/>
            <a:chOff x="599694" y="1473200"/>
            <a:chExt cx="7483771" cy="381381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473200"/>
              <a:ext cx="74837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根据策略选择工作模块，由 </a:t>
              </a:r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直接推进约定的关键执行。</a:t>
              </a:r>
            </a:p>
          </p:txBody>
        </p:sp>
      </p:grpSp>
      <p:grpSp>
        <p:nvGrpSpPr>
          <p:cNvPr id="16" name="execution-1"/>
          <p:cNvGrpSpPr/>
          <p:nvPr/>
        </p:nvGrpSpPr>
        <p:grpSpPr>
          <a:xfrm>
            <a:off x="597408" y="2428875"/>
            <a:ext cx="3603117" cy="3286125"/>
            <a:chOff x="597408" y="2428875"/>
            <a:chExt cx="3603117" cy="3286125"/>
          </a:xfrm>
        </p:grpSpPr>
        <p:sp>
          <p:nvSpPr>
            <p:cNvPr id="8" name="Rectangle 8"/>
            <p:cNvSpPr/>
            <p:nvPr/>
          </p:nvSpPr>
          <p:spPr>
            <a:xfrm>
              <a:off x="609600" y="2428875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7408" y="26892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内容营销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2924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围绕品牌与产品价值，制定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36544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内容方向、创意和传播计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40163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划，制作约定的图文、视频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694" y="43783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及社媒素材。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18" y="52451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内容方向／创意方案／传播素材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191000" y="2428875"/>
              <a:ext cx="9525" cy="3286125"/>
            </a:xfrm>
            <a:custGeom>
              <a:avLst/>
              <a:gdLst/>
              <a:ahLst/>
              <a:cxnLst/>
              <a:rect l="l" t="t" r="r" b="b"/>
              <a:pathLst>
                <a:path w="9525" h="3286125">
                  <a:moveTo>
                    <a:pt x="0" y="0"/>
                  </a:moveTo>
                  <a:lnTo>
                    <a:pt x="0" y="3286125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execution-2"/>
          <p:cNvGrpSpPr/>
          <p:nvPr/>
        </p:nvGrpSpPr>
        <p:grpSpPr>
          <a:xfrm>
            <a:off x="4407408" y="2428875"/>
            <a:ext cx="3603117" cy="3286125"/>
            <a:chOff x="4407408" y="2428875"/>
            <a:chExt cx="3603117" cy="3286125"/>
          </a:xfrm>
        </p:grpSpPr>
        <p:sp>
          <p:nvSpPr>
            <p:cNvPr id="17" name="Rectangle 17"/>
            <p:cNvSpPr/>
            <p:nvPr/>
          </p:nvSpPr>
          <p:spPr>
            <a:xfrm>
              <a:off x="4419600" y="2428875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07408" y="26892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达人营销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09694" y="32924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筛选与触达适配达人，策划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09694" y="36544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合作方式，沟通内容要求，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9694" y="40163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推进发布并复盘合作表现。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11218" y="52451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达人筛选／合作沟通／发布跟进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01000" y="2428875"/>
              <a:ext cx="9525" cy="3286125"/>
            </a:xfrm>
            <a:custGeom>
              <a:avLst/>
              <a:gdLst/>
              <a:ahLst/>
              <a:cxnLst/>
              <a:rect l="l" t="t" r="r" b="b"/>
              <a:pathLst>
                <a:path w="9525" h="3286125">
                  <a:moveTo>
                    <a:pt x="0" y="0"/>
                  </a:moveTo>
                  <a:lnTo>
                    <a:pt x="0" y="3286125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1" name="execution-3"/>
          <p:cNvGrpSpPr/>
          <p:nvPr/>
        </p:nvGrpSpPr>
        <p:grpSpPr>
          <a:xfrm>
            <a:off x="8217408" y="2428875"/>
            <a:ext cx="3172206" cy="3138932"/>
            <a:chOff x="8217408" y="2428875"/>
            <a:chExt cx="3172206" cy="3138932"/>
          </a:xfrm>
        </p:grpSpPr>
        <p:sp>
          <p:nvSpPr>
            <p:cNvPr id="25" name="Rectangle 25"/>
            <p:cNvSpPr/>
            <p:nvPr/>
          </p:nvSpPr>
          <p:spPr>
            <a:xfrm>
              <a:off x="8229600" y="2428875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17408" y="26892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广告与投放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19694" y="32924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制定投放计划，协同广告素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19694" y="36544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材，执行约定渠道的广告工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19694" y="40163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作，并根据反馈优化。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21218" y="52451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投放计划／广告执行／优化建议</a:t>
              </a:r>
            </a:p>
          </p:txBody>
        </p:sp>
      </p:grpSp>
      <p:grpSp>
        <p:nvGrpSpPr>
          <p:cNvPr id="33" name="scope-note"/>
          <p:cNvGrpSpPr/>
          <p:nvPr/>
        </p:nvGrpSpPr>
        <p:grpSpPr>
          <a:xfrm>
            <a:off x="601218" y="5873750"/>
            <a:ext cx="4681347" cy="322707"/>
            <a:chOff x="601218" y="5873750"/>
            <a:chExt cx="4681347" cy="322707"/>
          </a:xfrm>
        </p:grpSpPr>
        <p:sp>
          <p:nvSpPr>
            <p:cNvPr id="32" name="TextBox 32"/>
            <p:cNvSpPr txBox="1"/>
            <p:nvPr/>
          </p:nvSpPr>
          <p:spPr>
            <a:xfrm>
              <a:off x="601218" y="5873750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具体渠道、素材与推进职责根据项目目标约定。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4" name="Line 34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9936632" y="619125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我们做什么 · 直接执行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08 / 20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5808726" cy="1089914"/>
            <a:chOff x="592836" y="330200"/>
            <a:chExt cx="5808726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我们做什么 · 专业协作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判断专业需求，连接合适资源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599694" y="1473200"/>
            <a:ext cx="8192545" cy="743331"/>
            <a:chOff x="599694" y="1473200"/>
            <a:chExt cx="8192545" cy="74333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当项目需要我们直接执行范围之外的专业能力，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1835150"/>
              <a:ext cx="81925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会协助判断需要什么支持，再联系、筛选并协调合适的资源。</a:t>
              </a:r>
            </a:p>
          </p:txBody>
        </p:sp>
      </p:grpSp>
      <p:grpSp>
        <p:nvGrpSpPr>
          <p:cNvPr id="31" name="resource-map"/>
          <p:cNvGrpSpPr/>
          <p:nvPr/>
        </p:nvGrpSpPr>
        <p:grpSpPr>
          <a:xfrm>
            <a:off x="609600" y="2470150"/>
            <a:ext cx="8655177" cy="3365881"/>
            <a:chOff x="609600" y="2470150"/>
            <a:chExt cx="8655177" cy="3365881"/>
          </a:xfrm>
        </p:grpSpPr>
        <p:grpSp>
          <p:nvGrpSpPr>
            <p:cNvPr id="12" name="resource-entry"/>
            <p:cNvGrpSpPr/>
            <p:nvPr/>
          </p:nvGrpSpPr>
          <p:grpSpPr>
            <a:xfrm>
              <a:off x="609600" y="2571750"/>
              <a:ext cx="2857500" cy="3143250"/>
              <a:chOff x="609600" y="2571750"/>
              <a:chExt cx="2857500" cy="3143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09600" y="2571750"/>
                <a:ext cx="2857500" cy="3143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5350" y="2914650"/>
                <a:ext cx="2286000" cy="604838"/>
              </a:xfrm>
              <a:prstGeom prst="rect">
                <a:avLst/>
              </a:prstGeom>
            </p:spPr>
          </p:pic>
          <p:sp>
            <p:nvSpPr>
              <p:cNvPr id="10" name="TextBox 10"/>
              <p:cNvSpPr txBox="1"/>
              <p:nvPr/>
            </p:nvSpPr>
            <p:spPr>
              <a:xfrm>
                <a:off x="883158" y="4079875"/>
                <a:ext cx="19629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判断专业需求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83158" y="4537075"/>
                <a:ext cx="19629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连接合适资源</a:t>
                </a:r>
              </a:p>
            </p:txBody>
          </p:sp>
        </p:grpSp>
        <p:grpSp>
          <p:nvGrpSpPr>
            <p:cNvPr id="18" name="resource-links"/>
            <p:cNvGrpSpPr/>
            <p:nvPr/>
          </p:nvGrpSpPr>
          <p:grpSpPr>
            <a:xfrm>
              <a:off x="3467100" y="2647950"/>
              <a:ext cx="533400" cy="2209801"/>
              <a:chOff x="3467100" y="2647950"/>
              <a:chExt cx="533400" cy="2209801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3467100" y="4143375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>
                    <a:moveTo>
                      <a:pt x="0" y="0"/>
                    </a:moveTo>
                    <a:lnTo>
                      <a:pt x="3429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0000" y="2647950"/>
                <a:ext cx="9525" cy="2209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09800">
                    <a:moveTo>
                      <a:pt x="0" y="0"/>
                    </a:moveTo>
                    <a:lnTo>
                      <a:pt x="0" y="22098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3810000" y="2647950"/>
                <a:ext cx="1905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810000" y="3752850"/>
                <a:ext cx="1905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3810000" y="4857750"/>
                <a:ext cx="1905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</p:grpSp>
        <p:grpSp>
          <p:nvGrpSpPr>
            <p:cNvPr id="22" name="professional-resource-1"/>
            <p:cNvGrpSpPr/>
            <p:nvPr/>
          </p:nvGrpSpPr>
          <p:grpSpPr>
            <a:xfrm>
              <a:off x="4256532" y="2470150"/>
              <a:ext cx="5008245" cy="1156081"/>
              <a:chOff x="4256532" y="2470150"/>
              <a:chExt cx="5008245" cy="1156081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256532" y="24701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渠道拓展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57294" y="2882900"/>
                <a:ext cx="50074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根据业务目标识别合适的渠道与合作资源，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57294" y="3244850"/>
                <a:ext cx="316992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协助建立联系并推进沟通。</a:t>
                </a:r>
              </a:p>
            </p:txBody>
          </p:sp>
        </p:grpSp>
        <p:grpSp>
          <p:nvGrpSpPr>
            <p:cNvPr id="26" name="professional-resource-2"/>
            <p:cNvGrpSpPr/>
            <p:nvPr/>
          </p:nvGrpSpPr>
          <p:grpSpPr>
            <a:xfrm>
              <a:off x="4256532" y="3575050"/>
              <a:ext cx="3695700" cy="1156081"/>
              <a:chOff x="4256532" y="3575050"/>
              <a:chExt cx="3695700" cy="115608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4256532" y="35750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落地执行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257294" y="3987800"/>
                <a:ext cx="316992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梳理执行任务与协作要求，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257294" y="4349750"/>
                <a:ext cx="369493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对接合适团队，协调工作衔接。</a:t>
                </a:r>
              </a:p>
            </p:txBody>
          </p:sp>
        </p:grpSp>
        <p:grpSp>
          <p:nvGrpSpPr>
            <p:cNvPr id="30" name="professional-resource-3"/>
            <p:cNvGrpSpPr/>
            <p:nvPr/>
          </p:nvGrpSpPr>
          <p:grpSpPr>
            <a:xfrm>
              <a:off x="4256532" y="4679950"/>
              <a:ext cx="3433191" cy="1156081"/>
              <a:chOff x="4256532" y="4679950"/>
              <a:chExt cx="3433191" cy="1156081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256532" y="46799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技术搭建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57294" y="5092700"/>
                <a:ext cx="316992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梳理项目所需的技术支持，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257294" y="5454650"/>
                <a:ext cx="343242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对接合适的搭建与实施团队。</a:t>
                </a:r>
              </a:p>
            </p:txBody>
          </p:sp>
        </p:grpSp>
      </p:grpSp>
      <p:grpSp>
        <p:nvGrpSpPr>
          <p:cNvPr id="33" name="scope-note"/>
          <p:cNvGrpSpPr/>
          <p:nvPr/>
        </p:nvGrpSpPr>
        <p:grpSpPr>
          <a:xfrm>
            <a:off x="601218" y="5873750"/>
            <a:ext cx="7346823" cy="322707"/>
            <a:chOff x="601218" y="5873750"/>
            <a:chExt cx="7346823" cy="322707"/>
          </a:xfrm>
        </p:grpSpPr>
        <p:sp>
          <p:nvSpPr>
            <p:cNvPr id="32" name="TextBox 32"/>
            <p:cNvSpPr txBox="1"/>
            <p:nvPr/>
          </p:nvSpPr>
          <p:spPr>
            <a:xfrm>
              <a:off x="601218" y="5873750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专业协作包括但不限于以上示例，具体能力、分工与工作范围按项目约定。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4" name="Line 34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9936632" y="619125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我们做什么 · 专业协作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09 / 20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7141464" cy="1089914"/>
            <a:chOff x="592836" y="330200"/>
            <a:chExt cx="7141464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怎样推进项目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让营销工作有依据、有计划、有成果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7107555" cy="381381"/>
            <a:chOff x="599694" y="1473200"/>
            <a:chExt cx="7107555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把策略、规划、执行和反馈转化为团队能够使用的工作成果。</a:t>
              </a:r>
            </a:p>
          </p:txBody>
        </p:sp>
      </p:grpSp>
      <p:grpSp>
        <p:nvGrpSpPr>
          <p:cNvPr id="11" name="deliverable-1"/>
          <p:cNvGrpSpPr/>
          <p:nvPr/>
        </p:nvGrpSpPr>
        <p:grpSpPr>
          <a:xfrm>
            <a:off x="597408" y="2247900"/>
            <a:ext cx="5193792" cy="1397381"/>
            <a:chOff x="597408" y="2247900"/>
            <a:chExt cx="5193792" cy="1397381"/>
          </a:xfrm>
        </p:grpSpPr>
        <p:sp>
          <p:nvSpPr>
            <p:cNvPr id="7" name="Line 7"/>
            <p:cNvSpPr/>
            <p:nvPr/>
          </p:nvSpPr>
          <p:spPr>
            <a:xfrm>
              <a:off x="609600" y="22479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7408" y="23939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定位与价值表达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290195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说明目标用户、核心价值与沟通重点，以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26390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及重要选择背后的判断依据。</a:t>
              </a:r>
            </a:p>
          </p:txBody>
        </p:sp>
      </p:grpSp>
      <p:grpSp>
        <p:nvGrpSpPr>
          <p:cNvPr id="16" name="deliverable-2"/>
          <p:cNvGrpSpPr/>
          <p:nvPr/>
        </p:nvGrpSpPr>
        <p:grpSpPr>
          <a:xfrm>
            <a:off x="6388608" y="2247900"/>
            <a:ext cx="5193792" cy="1397381"/>
            <a:chOff x="6388608" y="2247900"/>
            <a:chExt cx="5193792" cy="1397381"/>
          </a:xfrm>
        </p:grpSpPr>
        <p:sp>
          <p:nvSpPr>
            <p:cNvPr id="12" name="Line 12"/>
            <p:cNvSpPr/>
            <p:nvPr/>
          </p:nvSpPr>
          <p:spPr>
            <a:xfrm>
              <a:off x="6400800" y="22479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88608" y="23939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渠道组合与行动计划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0894" y="290195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明确阶段重点、投入顺序、资源安排与责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0894" y="32639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任分工。</a:t>
              </a:r>
            </a:p>
          </p:txBody>
        </p:sp>
      </p:grpSp>
      <p:grpSp>
        <p:nvGrpSpPr>
          <p:cNvPr id="21" name="deliverable-3"/>
          <p:cNvGrpSpPr/>
          <p:nvPr/>
        </p:nvGrpSpPr>
        <p:grpSpPr>
          <a:xfrm>
            <a:off x="597408" y="4038600"/>
            <a:ext cx="5193792" cy="1397381"/>
            <a:chOff x="597408" y="4038600"/>
            <a:chExt cx="5193792" cy="1397381"/>
          </a:xfrm>
        </p:grpSpPr>
        <p:sp>
          <p:nvSpPr>
            <p:cNvPr id="17" name="Line 17"/>
            <p:cNvSpPr/>
            <p:nvPr/>
          </p:nvSpPr>
          <p:spPr>
            <a:xfrm>
              <a:off x="609600" y="40386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7408" y="41846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约定的执行成果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9694" y="469265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按合作范围交付内容素材、达人合作、广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9694" y="505460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告工作等关键成果。</a:t>
              </a:r>
            </a:p>
          </p:txBody>
        </p:sp>
      </p:grpSp>
      <p:grpSp>
        <p:nvGrpSpPr>
          <p:cNvPr id="26" name="deliverable-4"/>
          <p:cNvGrpSpPr/>
          <p:nvPr/>
        </p:nvGrpSpPr>
        <p:grpSpPr>
          <a:xfrm>
            <a:off x="6388608" y="4038600"/>
            <a:ext cx="5193792" cy="1397381"/>
            <a:chOff x="6388608" y="4038600"/>
            <a:chExt cx="5193792" cy="1397381"/>
          </a:xfrm>
        </p:grpSpPr>
        <p:sp>
          <p:nvSpPr>
            <p:cNvPr id="22" name="Line 22"/>
            <p:cNvSpPr/>
            <p:nvPr/>
          </p:nvSpPr>
          <p:spPr>
            <a:xfrm>
              <a:off x="6400800" y="40386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8608" y="41846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复盘记录与后续建议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0894" y="469265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整理渠道表现与用户反馈，提出下一轮行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90894" y="505460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动与调整建议。</a:t>
              </a:r>
            </a:p>
          </p:txBody>
        </p:sp>
      </p:grpSp>
      <p:grpSp>
        <p:nvGrpSpPr>
          <p:cNvPr id="28" name="scope-note"/>
          <p:cNvGrpSpPr/>
          <p:nvPr/>
        </p:nvGrpSpPr>
        <p:grpSpPr>
          <a:xfrm>
            <a:off x="601218" y="5816600"/>
            <a:ext cx="4459224" cy="322707"/>
            <a:chOff x="601218" y="5816600"/>
            <a:chExt cx="4459224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01218" y="5816600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交付项、深度与形式根据合作目标共同明确。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10607040" y="61912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怎样推进项目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10 / 20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697218" cy="1089914"/>
            <a:chOff x="592836" y="330200"/>
            <a:chExt cx="6697218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怎样推进项目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从业务理解到复盘，六步推进项目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6845046" cy="381381"/>
            <a:chOff x="599694" y="1473200"/>
            <a:chExt cx="6845046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在关键选择与计划上形成共识，再推进执行、反馈和调整。</a:t>
              </a:r>
            </a:p>
          </p:txBody>
        </p:sp>
      </p:grpSp>
      <p:grpSp>
        <p:nvGrpSpPr>
          <p:cNvPr id="54" name="six-step-process"/>
          <p:cNvGrpSpPr/>
          <p:nvPr/>
        </p:nvGrpSpPr>
        <p:grpSpPr>
          <a:xfrm>
            <a:off x="609600" y="2190750"/>
            <a:ext cx="10972800" cy="3511931"/>
            <a:chOff x="609600" y="2190750"/>
            <a:chExt cx="10972800" cy="3511931"/>
          </a:xfrm>
        </p:grpSpPr>
        <p:sp>
          <p:nvSpPr>
            <p:cNvPr id="7" name="Line 7"/>
            <p:cNvSpPr/>
            <p:nvPr/>
          </p:nvSpPr>
          <p:spPr>
            <a:xfrm>
              <a:off x="4038600" y="299085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7848600" y="299085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4038600" y="489585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7848600" y="489585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9906000" y="3790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286000" y="39433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7620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286000" y="3943350"/>
              <a:ext cx="1" cy="1524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0" name="process-step-1"/>
            <p:cNvGrpSpPr/>
            <p:nvPr/>
          </p:nvGrpSpPr>
          <p:grpSpPr>
            <a:xfrm>
              <a:off x="609600" y="2190750"/>
              <a:ext cx="3352800" cy="1606931"/>
              <a:chOff x="609600" y="2190750"/>
              <a:chExt cx="3352800" cy="1606931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190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93242" y="23114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89432" y="26225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理解业务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0194" y="3054350"/>
                <a:ext cx="26449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明确产品、目标、现有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0194" y="3416300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基础与资源约束。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311908" y="232410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 b="0">
                    <a:solidFill>
                      <a:schemeClr val="accent1"/>
                    </a:solidFill>
                    <a:latin typeface="Instrument Sans"/>
                    <a:ea typeface="Noto Sans SC"/>
                    <a:cs typeface="Instrument Sans"/>
                  </a:rPr>
                  <a:t>共同梳理业务与目标</a:t>
                </a:r>
              </a:p>
            </p:txBody>
          </p:sp>
        </p:grpSp>
        <p:grpSp>
          <p:nvGrpSpPr>
            <p:cNvPr id="26" name="process-step-2"/>
            <p:cNvGrpSpPr/>
            <p:nvPr/>
          </p:nvGrpSpPr>
          <p:grpSpPr>
            <a:xfrm>
              <a:off x="4419600" y="2190750"/>
              <a:ext cx="3352800" cy="1606931"/>
              <a:chOff x="4419600" y="2190750"/>
              <a:chExt cx="3352800" cy="1606931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419600" y="2190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603242" y="23114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>02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99432" y="26225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建立判断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00194" y="3054350"/>
                <a:ext cx="26449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研究市场与用户，识别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00194" y="341630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核心营销问题。</a:t>
                </a:r>
              </a:p>
            </p:txBody>
          </p:sp>
        </p:grpSp>
        <p:grpSp>
          <p:nvGrpSpPr>
            <p:cNvPr id="33" name="process-step-3"/>
            <p:cNvGrpSpPr/>
            <p:nvPr/>
          </p:nvGrpSpPr>
          <p:grpSpPr>
            <a:xfrm>
              <a:off x="8229600" y="2190750"/>
              <a:ext cx="3352800" cy="1606931"/>
              <a:chOff x="8229600" y="2190750"/>
              <a:chExt cx="3352800" cy="1606931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229600" y="2190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413242" y="23114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>03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409432" y="26225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确定选择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410194" y="3054350"/>
                <a:ext cx="26449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比较方向与优先级，确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410194" y="3416300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认当前重点。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093452" y="232410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 b="0">
                    <a:solidFill>
                      <a:schemeClr val="accent1"/>
                    </a:solidFill>
                    <a:latin typeface="Instrument Sans"/>
                    <a:ea typeface="Noto Sans SC"/>
                    <a:cs typeface="Instrument Sans"/>
                  </a:rPr>
                  <a:t>共同确认关键选择</a:t>
                </a:r>
              </a:p>
            </p:txBody>
          </p:sp>
        </p:grpSp>
        <p:grpSp>
          <p:nvGrpSpPr>
            <p:cNvPr id="40" name="process-step-4"/>
            <p:cNvGrpSpPr/>
            <p:nvPr/>
          </p:nvGrpSpPr>
          <p:grpSpPr>
            <a:xfrm>
              <a:off x="609600" y="4095750"/>
              <a:ext cx="3352800" cy="1606931"/>
              <a:chOff x="609600" y="4095750"/>
              <a:chExt cx="3352800" cy="1606931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09600" y="4095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93242" y="42164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>04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89432" y="45275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制定规划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90194" y="4959350"/>
                <a:ext cx="26449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形成阶段计划、任务分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90194" y="532130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工与资源安排。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311908" y="422910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 b="0">
                    <a:solidFill>
                      <a:schemeClr val="accent1"/>
                    </a:solidFill>
                    <a:latin typeface="Instrument Sans"/>
                    <a:ea typeface="Noto Sans SC"/>
                    <a:cs typeface="Instrument Sans"/>
                  </a:rPr>
                  <a:t>共同确认计划与分工</a:t>
                </a:r>
              </a:p>
            </p:txBody>
          </p:sp>
        </p:grpSp>
        <p:grpSp>
          <p:nvGrpSpPr>
            <p:cNvPr id="46" name="process-step-5"/>
            <p:cNvGrpSpPr/>
            <p:nvPr/>
          </p:nvGrpSpPr>
          <p:grpSpPr>
            <a:xfrm>
              <a:off x="4419600" y="4095750"/>
              <a:ext cx="3352800" cy="1606931"/>
              <a:chOff x="4419600" y="4095750"/>
              <a:chExt cx="3352800" cy="1606931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4419600" y="4095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603242" y="42164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>05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599432" y="45275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推进执行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0194" y="4959350"/>
                <a:ext cx="26449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推进约定任务，协调客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600194" y="532130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户团队与专业伙伴。</a:t>
                </a:r>
              </a:p>
            </p:txBody>
          </p:sp>
        </p:grpSp>
        <p:grpSp>
          <p:nvGrpSpPr>
            <p:cNvPr id="53" name="process-step-6"/>
            <p:cNvGrpSpPr/>
            <p:nvPr/>
          </p:nvGrpSpPr>
          <p:grpSpPr>
            <a:xfrm>
              <a:off x="8229600" y="4095750"/>
              <a:ext cx="3352800" cy="1606931"/>
              <a:chOff x="8229600" y="4095750"/>
              <a:chExt cx="3352800" cy="1606931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8229600" y="4095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413242" y="42164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>06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409432" y="45275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复盘调整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10194" y="4959350"/>
                <a:ext cx="26449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结合市场反馈，确定下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10194" y="5321300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一步行动。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093452" y="422910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 b="0">
                    <a:solidFill>
                      <a:schemeClr val="accent1"/>
                    </a:solidFill>
                    <a:latin typeface="Instrument Sans"/>
                    <a:ea typeface="Noto Sans SC"/>
                    <a:cs typeface="Instrument Sans"/>
                  </a:rPr>
                  <a:t>共同讨论后续行动</a:t>
                </a:r>
              </a:p>
            </p:txBody>
          </p:sp>
        </p:grpSp>
      </p:grpSp>
      <p:grpSp>
        <p:nvGrpSpPr>
          <p:cNvPr id="56" name="scope-note"/>
          <p:cNvGrpSpPr/>
          <p:nvPr/>
        </p:nvGrpSpPr>
        <p:grpSpPr>
          <a:xfrm>
            <a:off x="601218" y="5816600"/>
            <a:ext cx="6043661" cy="322707"/>
            <a:chOff x="601218" y="5816600"/>
            <a:chExt cx="6043661" cy="322707"/>
          </a:xfrm>
        </p:grpSpPr>
        <p:sp>
          <p:nvSpPr>
            <p:cNvPr id="55" name="TextBox 55"/>
            <p:cNvSpPr txBox="1"/>
            <p:nvPr/>
          </p:nvSpPr>
          <p:spPr>
            <a:xfrm>
              <a:off x="601218" y="5816600"/>
              <a:ext cx="60436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客户参与关键选择与计划确认；</a:t>
              </a:r>
              <a:r>
                <a:rPr lang="en-US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组织推进约定工作。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57" name="Line 5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59" name="TextBox 59"/>
            <p:cNvSpPr txBox="1"/>
            <p:nvPr/>
          </p:nvSpPr>
          <p:spPr>
            <a:xfrm>
              <a:off x="10607040" y="61912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怎样推进项目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11 / 20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5904281" cy="1089914"/>
            <a:chOff x="592836" y="330200"/>
            <a:chExt cx="5904281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2315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为什么选择我们 · </a:t>
              </a:r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AI-native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590428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 xml:space="preserve">AI </a:t>
              </a:r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已融入我们的内部执行体系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7540235" cy="381381"/>
            <a:chOff x="599694" y="1473200"/>
            <a:chExt cx="7540235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754023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已建立高度自动化、智能化、以 </a:t>
              </a:r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AI 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为驱动的执行体系。</a:t>
              </a:r>
            </a:p>
          </p:txBody>
        </p:sp>
      </p:grpSp>
      <p:grpSp>
        <p:nvGrpSpPr>
          <p:cNvPr id="37" name="ai-work-chain"/>
          <p:cNvGrpSpPr/>
          <p:nvPr/>
        </p:nvGrpSpPr>
        <p:grpSpPr>
          <a:xfrm>
            <a:off x="609600" y="2571750"/>
            <a:ext cx="10972800" cy="2714625"/>
            <a:chOff x="609600" y="2571750"/>
            <a:chExt cx="10972800" cy="2714625"/>
          </a:xfrm>
        </p:grpSpPr>
        <p:grpSp>
          <p:nvGrpSpPr>
            <p:cNvPr id="12" name="ai-stage-1"/>
            <p:cNvGrpSpPr/>
            <p:nvPr/>
          </p:nvGrpSpPr>
          <p:grpSpPr>
            <a:xfrm>
              <a:off x="609600" y="2571750"/>
              <a:ext cx="2514600" cy="2419350"/>
              <a:chOff x="609600" y="2571750"/>
              <a:chExt cx="2514600" cy="24193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2571750"/>
                <a:ext cx="2514600" cy="241935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89432" y="275590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研究与知识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90194" y="330200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整理资料与信息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90194" y="3663950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积累项目经验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0194" y="4025900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形成知识基础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3200400" y="3790950"/>
              <a:ext cx="152400" cy="1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tailEnd type="triangle" w="lg" len="lg"/>
            </a:ln>
          </p:spPr>
        </p:sp>
        <p:grpSp>
          <p:nvGrpSpPr>
            <p:cNvPr id="19" name="ai-stage-2"/>
            <p:cNvGrpSpPr/>
            <p:nvPr/>
          </p:nvGrpSpPr>
          <p:grpSpPr>
            <a:xfrm>
              <a:off x="3429000" y="2571750"/>
              <a:ext cx="2514600" cy="2419350"/>
              <a:chOff x="3429000" y="2571750"/>
              <a:chExt cx="2514600" cy="24193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2571750"/>
                <a:ext cx="2514600" cy="241935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608832" y="275590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规划与任务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609594" y="330200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衔接信息与计划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609594" y="366395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协调任务与进度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09594" y="4025900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跟进工作反馈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6019800" y="3790950"/>
              <a:ext cx="152400" cy="1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tailEnd type="triangle" w="lg" len="lg"/>
            </a:ln>
          </p:spPr>
        </p:sp>
        <p:grpSp>
          <p:nvGrpSpPr>
            <p:cNvPr id="26" name="ai-stage-3"/>
            <p:cNvGrpSpPr/>
            <p:nvPr/>
          </p:nvGrpSpPr>
          <p:grpSpPr>
            <a:xfrm>
              <a:off x="6248400" y="2571750"/>
              <a:ext cx="2514600" cy="2419350"/>
              <a:chOff x="6248400" y="2571750"/>
              <a:chExt cx="2514600" cy="24193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248400" y="2571750"/>
                <a:ext cx="2514600" cy="241935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428232" y="275590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内容与创意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28994" y="3302000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支持创意探索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28994" y="3663950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协同素材生产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28994" y="4025900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推进内容迭代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8839200" y="3790950"/>
              <a:ext cx="152400" cy="1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tailEnd type="triangle" w="lg" len="lg"/>
            </a:ln>
          </p:spPr>
        </p:sp>
        <p:grpSp>
          <p:nvGrpSpPr>
            <p:cNvPr id="33" name="ai-stage-4"/>
            <p:cNvGrpSpPr/>
            <p:nvPr/>
          </p:nvGrpSpPr>
          <p:grpSpPr>
            <a:xfrm>
              <a:off x="9067800" y="2571750"/>
              <a:ext cx="2514600" cy="2419350"/>
              <a:chOff x="9067800" y="2571750"/>
              <a:chExt cx="2514600" cy="2419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9067800" y="2571750"/>
                <a:ext cx="2514600" cy="241935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247632" y="275590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反馈与改进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248394" y="3302000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整理项目反馈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248394" y="366395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更新知识与流程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248394" y="402590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支持下一轮工作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10325100" y="49911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866900" y="5276850"/>
              <a:ext cx="8458200" cy="9525"/>
            </a:xfrm>
            <a:custGeom>
              <a:avLst/>
              <a:gdLst/>
              <a:ahLst/>
              <a:cxnLst/>
              <a:rect l="l" t="t" r="r" b="b"/>
              <a:pathLst>
                <a:path w="8458200" h="9525">
                  <a:moveTo>
                    <a:pt x="84582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36" name="Line 36"/>
            <p:cNvSpPr/>
            <p:nvPr/>
          </p:nvSpPr>
          <p:spPr>
            <a:xfrm flipV="1">
              <a:off x="1866900" y="4991100"/>
              <a:ext cx="1" cy="28575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tailEnd type="triangle" w="lg" len="lg"/>
            </a:ln>
          </p:spPr>
        </p:sp>
      </p:grpSp>
      <p:grpSp>
        <p:nvGrpSpPr>
          <p:cNvPr id="40" name="team-judgment"/>
          <p:cNvGrpSpPr/>
          <p:nvPr/>
        </p:nvGrpSpPr>
        <p:grpSpPr>
          <a:xfrm>
            <a:off x="609600" y="5619750"/>
            <a:ext cx="10972800" cy="444881"/>
            <a:chOff x="609600" y="5619750"/>
            <a:chExt cx="10972800" cy="444881"/>
          </a:xfrm>
        </p:grpSpPr>
        <p:sp>
          <p:nvSpPr>
            <p:cNvPr id="38" name="Rectangle 38"/>
            <p:cNvSpPr/>
            <p:nvPr/>
          </p:nvSpPr>
          <p:spPr>
            <a:xfrm>
              <a:off x="609600" y="5619750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17276" y="5683250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团队负责商业判断、方向与质量。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9530677" y="6191250"/>
              <a:ext cx="2057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为什么选择我们 · </a:t>
              </a:r>
              <a:r>
                <a:rPr lang="en-US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AI-native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12 / 20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4475988" cy="1089914"/>
            <a:chOff x="592836" y="330200"/>
            <a:chExt cx="4475988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为什么选择我们 · 市场理解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理解技术，也理解市场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6320028" cy="381381"/>
            <a:chOff x="599694" y="1473200"/>
            <a:chExt cx="6320028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把产品逻辑，转化为用户能够理解的价值与营销行动。</a:t>
              </a:r>
            </a:p>
          </p:txBody>
        </p:sp>
      </p:grpSp>
      <p:grpSp>
        <p:nvGrpSpPr>
          <p:cNvPr id="11" name="market-understanding-1"/>
          <p:cNvGrpSpPr/>
          <p:nvPr/>
        </p:nvGrpSpPr>
        <p:grpSpPr>
          <a:xfrm>
            <a:off x="592836" y="2327275"/>
            <a:ext cx="10989564" cy="1035050"/>
            <a:chOff x="592836" y="2327275"/>
            <a:chExt cx="10989564" cy="1035050"/>
          </a:xfrm>
        </p:grpSpPr>
        <p:sp>
          <p:nvSpPr>
            <p:cNvPr id="7" name="TextBox 7"/>
            <p:cNvSpPr txBox="1"/>
            <p:nvPr/>
          </p:nvSpPr>
          <p:spPr>
            <a:xfrm>
              <a:off x="592836" y="232727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产品价值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00094" y="2368550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理解产品、目标与需求，把产品力转化为具体价值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00094" y="273050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与使用场景。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810000" y="335280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9525">
              <a:solidFill>
                <a:srgbClr val="62625D"/>
              </a:solidFill>
            </a:ln>
          </p:spPr>
        </p:sp>
      </p:grpSp>
      <p:grpSp>
        <p:nvGrpSpPr>
          <p:cNvPr id="16" name="market-understanding-2"/>
          <p:cNvGrpSpPr/>
          <p:nvPr/>
        </p:nvGrpSpPr>
        <p:grpSpPr>
          <a:xfrm>
            <a:off x="592836" y="3565525"/>
            <a:ext cx="10989564" cy="1035050"/>
            <a:chOff x="592836" y="3565525"/>
            <a:chExt cx="10989564" cy="1035050"/>
          </a:xfrm>
        </p:grpSpPr>
        <p:sp>
          <p:nvSpPr>
            <p:cNvPr id="12" name="TextBox 12"/>
            <p:cNvSpPr txBox="1"/>
            <p:nvPr/>
          </p:nvSpPr>
          <p:spPr>
            <a:xfrm>
              <a:off x="592836" y="356552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市场变化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0094" y="3606800"/>
              <a:ext cx="75052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关注 </a:t>
              </a:r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AI 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对信息发现、内容传播和用户决策的影响，持续调整策略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0094" y="396875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与渠道选择。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810000" y="459105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9525">
              <a:solidFill>
                <a:srgbClr val="62625D"/>
              </a:solidFill>
            </a:ln>
          </p:spPr>
        </p:sp>
      </p:grpSp>
      <p:grpSp>
        <p:nvGrpSpPr>
          <p:cNvPr id="21" name="market-understanding-3"/>
          <p:cNvGrpSpPr/>
          <p:nvPr/>
        </p:nvGrpSpPr>
        <p:grpSpPr>
          <a:xfrm>
            <a:off x="592836" y="4803775"/>
            <a:ext cx="10989564" cy="1035050"/>
            <a:chOff x="592836" y="4803775"/>
            <a:chExt cx="10989564" cy="1035050"/>
          </a:xfrm>
        </p:grpSpPr>
        <p:sp>
          <p:nvSpPr>
            <p:cNvPr id="17" name="TextBox 17"/>
            <p:cNvSpPr txBox="1"/>
            <p:nvPr/>
          </p:nvSpPr>
          <p:spPr>
            <a:xfrm>
              <a:off x="592836" y="480377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快速适应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0094" y="4845050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衔接研究、创意与市场反馈，更灵活地组织尝试，并调整下一轮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00094" y="52070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行动。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810000" y="582930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9525">
              <a:solidFill>
                <a:srgbClr val="62625D"/>
              </a:solidFill>
            </a:ln>
          </p:spPr>
        </p:sp>
      </p:grpSp>
      <p:grpSp>
        <p:nvGrpSpPr>
          <p:cNvPr id="25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9613544" y="619125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为什么选择我们 · 市场理解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13 / 20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5364480" cy="1013714"/>
            <a:chOff x="592836" y="330200"/>
            <a:chExt cx="5364480" cy="10137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2423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项目经验 / </a:t>
              </a:r>
              <a:r>
                <a:rPr lang="en-US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Inner Brightness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6985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两个月推进北美渠道冷启动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599694" y="1292225"/>
            <a:ext cx="7955013" cy="724281"/>
            <a:chOff x="599694" y="1292225"/>
            <a:chExt cx="7955013" cy="7242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292225"/>
              <a:ext cx="79550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团队参与北美 </a:t>
              </a:r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TikTok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渠道冷启动，以达人合作与 </a:t>
              </a:r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AI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辅助素材测试，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163512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快速验证内容方向、获取流量并推动销售。</a:t>
              </a:r>
            </a:p>
          </p:txBody>
        </p:sp>
      </p:grpSp>
      <p:grpSp>
        <p:nvGrpSpPr>
          <p:cNvPr id="12" name="case-outcomes"/>
          <p:cNvGrpSpPr/>
          <p:nvPr/>
        </p:nvGrpSpPr>
        <p:grpSpPr>
          <a:xfrm>
            <a:off x="590550" y="2120900"/>
            <a:ext cx="4625130" cy="1103757"/>
            <a:chOff x="590550" y="2120900"/>
            <a:chExt cx="4625130" cy="1103757"/>
          </a:xfrm>
        </p:grpSpPr>
        <p:sp>
          <p:nvSpPr>
            <p:cNvPr id="8" name="TextBox 8"/>
            <p:cNvSpPr txBox="1"/>
            <p:nvPr/>
          </p:nvSpPr>
          <p:spPr>
            <a:xfrm>
              <a:off x="590550" y="2120900"/>
              <a:ext cx="187970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 b="0">
                  <a:solidFill>
                    <a:schemeClr val="accent1"/>
                  </a:solidFill>
                  <a:latin typeface="Instrument Sans SemiBold"/>
                  <a:ea typeface="Noto Sans SC SemiBold"/>
                  <a:cs typeface="Instrument Sans SemiBold"/>
                </a:rPr>
                <a:t xml:space="preserve">2 </a:t>
              </a:r>
              <a:r>
                <a:rPr lang="zh-CN" sz="4800" dirty="0" b="0">
                  <a:solidFill>
                    <a:schemeClr val="accent1"/>
                  </a:solidFill>
                  <a:latin typeface="Instrument Sans SemiBold"/>
                  <a:ea typeface="Noto Sans SC SemiBold"/>
                  <a:cs typeface="Instrument Sans SemiBold"/>
                </a:rPr>
                <a:t>个月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29019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完成项目落地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33700" y="2120900"/>
              <a:ext cx="191566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dirty="0" b="0">
                  <a:solidFill>
                    <a:schemeClr val="accent1"/>
                  </a:solidFill>
                  <a:latin typeface="Instrument Sans SemiBold"/>
                  <a:ea typeface="Noto Sans SC SemiBold"/>
                  <a:cs typeface="Instrument Sans SemiBold"/>
                </a:rPr>
                <a:t>$10K+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4368" y="2901950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月销售额超过 </a:t>
              </a:r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1 </a:t>
              </a:r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万美元</a:t>
              </a:r>
            </a:p>
          </p:txBody>
        </p:sp>
      </p:grpSp>
      <p:grpSp>
        <p:nvGrpSpPr>
          <p:cNvPr id="16" name="work-1"/>
          <p:cNvGrpSpPr/>
          <p:nvPr/>
        </p:nvGrpSpPr>
        <p:grpSpPr>
          <a:xfrm>
            <a:off x="609600" y="3308350"/>
            <a:ext cx="4138041" cy="746506"/>
            <a:chOff x="609600" y="3308350"/>
            <a:chExt cx="4138041" cy="746506"/>
          </a:xfrm>
        </p:grpSpPr>
        <p:sp>
          <p:nvSpPr>
            <p:cNvPr id="13" name="Rectangle 13"/>
            <p:cNvSpPr/>
            <p:nvPr/>
          </p:nvSpPr>
          <p:spPr>
            <a:xfrm>
              <a:off x="609600" y="3352800"/>
              <a:ext cx="47625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9432" y="33083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选择切入方向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0194" y="3673475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明确卖点、受众与达人合作重点。</a:t>
              </a:r>
            </a:p>
          </p:txBody>
        </p:sp>
      </p:grpSp>
      <p:grpSp>
        <p:nvGrpSpPr>
          <p:cNvPr id="20" name="work-2"/>
          <p:cNvGrpSpPr/>
          <p:nvPr/>
        </p:nvGrpSpPr>
        <p:grpSpPr>
          <a:xfrm>
            <a:off x="609600" y="4165600"/>
            <a:ext cx="4535767" cy="746506"/>
            <a:chOff x="609600" y="4165600"/>
            <a:chExt cx="4535767" cy="746506"/>
          </a:xfrm>
        </p:grpSpPr>
        <p:sp>
          <p:nvSpPr>
            <p:cNvPr id="17" name="Rectangle 17"/>
            <p:cNvSpPr/>
            <p:nvPr/>
          </p:nvSpPr>
          <p:spPr>
            <a:xfrm>
              <a:off x="609600" y="4210050"/>
              <a:ext cx="47625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9432" y="41656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组织达人与素材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0194" y="4530725"/>
              <a:ext cx="43551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推进达人合作，以 </a:t>
              </a:r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AI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辅助测试脚本。</a:t>
              </a:r>
            </a:p>
          </p:txBody>
        </p:sp>
      </p:grpSp>
      <p:grpSp>
        <p:nvGrpSpPr>
          <p:cNvPr id="24" name="work-3"/>
          <p:cNvGrpSpPr/>
          <p:nvPr/>
        </p:nvGrpSpPr>
        <p:grpSpPr>
          <a:xfrm>
            <a:off x="609600" y="5022850"/>
            <a:ext cx="4138041" cy="746506"/>
            <a:chOff x="609600" y="5022850"/>
            <a:chExt cx="4138041" cy="746506"/>
          </a:xfrm>
        </p:grpSpPr>
        <p:sp>
          <p:nvSpPr>
            <p:cNvPr id="21" name="Rectangle 21"/>
            <p:cNvSpPr/>
            <p:nvPr/>
          </p:nvSpPr>
          <p:spPr>
            <a:xfrm>
              <a:off x="609600" y="5067300"/>
              <a:ext cx="47625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9432" y="50228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根据反馈迭代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0194" y="5387975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结合内容与投放反馈，持续迭代。</a:t>
              </a:r>
            </a:p>
          </p:txBody>
        </p:sp>
      </p:grpSp>
      <p:grpSp>
        <p:nvGrpSpPr>
          <p:cNvPr id="27" name="analytics"/>
          <p:cNvGrpSpPr/>
          <p:nvPr/>
        </p:nvGrpSpPr>
        <p:grpSpPr>
          <a:xfrm>
            <a:off x="5936742" y="2171700"/>
            <a:ext cx="5645658" cy="3023108"/>
            <a:chOff x="5936742" y="2171700"/>
            <a:chExt cx="5645658" cy="3023108"/>
          </a:xfrm>
        </p:grpSpPr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0" y="2171700"/>
              <a:ext cx="5638800" cy="2676525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5936742" y="4930775"/>
              <a:ext cx="3263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2026/03/25</a:t>
              </a:r>
              <a:r>
                <a:rPr lang="zh-CN" sz="13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—</a:t>
              </a:r>
              <a:r>
                <a:rPr lang="zh-CN" sz="13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04/03</a:t>
              </a:r>
              <a:r>
                <a:rPr lang="zh-CN" sz="13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｜</a:t>
              </a:r>
              <a:r>
                <a:rPr lang="en-US" sz="13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GMV $12,595.73</a:t>
              </a:r>
            </a:p>
          </p:txBody>
        </p:sp>
      </p:grpSp>
      <p:grpSp>
        <p:nvGrpSpPr>
          <p:cNvPr id="32" name="account-proof"/>
          <p:cNvGrpSpPr/>
          <p:nvPr/>
        </p:nvGrpSpPr>
        <p:grpSpPr>
          <a:xfrm>
            <a:off x="5943600" y="5143500"/>
            <a:ext cx="4372356" cy="1019175"/>
            <a:chOff x="5943600" y="5143500"/>
            <a:chExt cx="4372356" cy="1019175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00" y="5143500"/>
              <a:ext cx="1714500" cy="1019175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879842" y="5235575"/>
              <a:ext cx="2285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@</a:t>
              </a:r>
              <a:r>
                <a:rPr lang="en-US" sz="135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innerbrightness.official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79842" y="55499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官方账号与内容发布阵地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80604" y="585787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截图为独立期间数据，非整月统计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3" name="Line 33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10930128" y="6191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项目经验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14 / 20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opening"/>
          <p:cNvGrpSpPr/>
          <p:nvPr/>
        </p:nvGrpSpPr>
        <p:grpSpPr>
          <a:xfrm>
            <a:off x="592836" y="330200"/>
            <a:ext cx="6810375" cy="1013714"/>
            <a:chOff x="592836" y="330200"/>
            <a:chExt cx="6810375" cy="1013714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30200"/>
              <a:ext cx="1784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项目经验 / </a:t>
              </a:r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ARTILUME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698500"/>
              <a:ext cx="681037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 xml:space="preserve">重新规划 </a:t>
              </a:r>
              <a:r>
                <a:rPr lang="en-US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GTM</a:t>
              </a:r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，推动第二阶段增长</a:t>
              </a:r>
            </a:p>
          </p:txBody>
        </p:sp>
      </p:grpSp>
      <p:grpSp>
        <p:nvGrpSpPr>
          <p:cNvPr id="8" name="lead"/>
          <p:cNvGrpSpPr/>
          <p:nvPr/>
        </p:nvGrpSpPr>
        <p:grpSpPr>
          <a:xfrm>
            <a:off x="599694" y="1292225"/>
            <a:ext cx="6649403" cy="724281"/>
            <a:chOff x="599694" y="1292225"/>
            <a:chExt cx="6649403" cy="724281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292225"/>
              <a:ext cx="66494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面对销量增长放缓与达人渠道依赖，团队参与调整 </a:t>
              </a:r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GTM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1635125"/>
              <a:ext cx="624474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拓展品牌表达、自有内容矩阵与 </a:t>
              </a:r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TikTok 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之外的曝光。</a:t>
              </a:r>
            </a:p>
          </p:txBody>
        </p:sp>
      </p:grpSp>
      <p:grpSp>
        <p:nvGrpSpPr>
          <p:cNvPr id="11" name="comparison-heads"/>
          <p:cNvGrpSpPr/>
          <p:nvPr/>
        </p:nvGrpSpPr>
        <p:grpSpPr>
          <a:xfrm>
            <a:off x="601218" y="2254250"/>
            <a:ext cx="7159180" cy="322707"/>
            <a:chOff x="601218" y="2254250"/>
            <a:chExt cx="7159180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2542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原有增长方式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4318" y="2254250"/>
              <a:ext cx="14060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调整后的 </a:t>
              </a:r>
              <a:r>
                <a:rPr lang="en-US" sz="16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GTM</a:t>
              </a:r>
            </a:p>
          </p:txBody>
        </p:sp>
      </p:grpSp>
      <p:grpSp>
        <p:nvGrpSpPr>
          <p:cNvPr id="16" name="gtm-shift-1"/>
          <p:cNvGrpSpPr/>
          <p:nvPr/>
        </p:nvGrpSpPr>
        <p:grpSpPr>
          <a:xfrm>
            <a:off x="599694" y="2597150"/>
            <a:ext cx="10982706" cy="422275"/>
            <a:chOff x="599694" y="2597150"/>
            <a:chExt cx="10982706" cy="422275"/>
          </a:xfrm>
        </p:grpSpPr>
        <p:sp>
          <p:nvSpPr>
            <p:cNvPr id="12" name="TextBox 12"/>
            <p:cNvSpPr txBox="1"/>
            <p:nvPr/>
          </p:nvSpPr>
          <p:spPr>
            <a:xfrm>
              <a:off x="599694" y="25971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销售高度依赖达人渠道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524500" y="2752725"/>
              <a:ext cx="4572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2794" y="2597150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建立自有内容，丰富品牌流量来源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009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gtm-shift-2"/>
          <p:cNvGrpSpPr/>
          <p:nvPr/>
        </p:nvGrpSpPr>
        <p:grpSpPr>
          <a:xfrm>
            <a:off x="599694" y="3140075"/>
            <a:ext cx="10982706" cy="422275"/>
            <a:chOff x="599694" y="3140075"/>
            <a:chExt cx="10982706" cy="422275"/>
          </a:xfrm>
        </p:grpSpPr>
        <p:sp>
          <p:nvSpPr>
            <p:cNvPr id="17" name="TextBox 17"/>
            <p:cNvSpPr txBox="1"/>
            <p:nvPr/>
          </p:nvSpPr>
          <p:spPr>
            <a:xfrm>
              <a:off x="599694" y="31400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技术参数多，理解门槛高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524500" y="3295650"/>
              <a:ext cx="4572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52794" y="31400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围绕场景、创作价值与操作体验表达产品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35528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gtm-shift-3"/>
          <p:cNvGrpSpPr/>
          <p:nvPr/>
        </p:nvGrpSpPr>
        <p:grpSpPr>
          <a:xfrm>
            <a:off x="599694" y="3683000"/>
            <a:ext cx="10982706" cy="422275"/>
            <a:chOff x="599694" y="3683000"/>
            <a:chExt cx="10982706" cy="422275"/>
          </a:xfrm>
        </p:grpSpPr>
        <p:sp>
          <p:nvSpPr>
            <p:cNvPr id="22" name="TextBox 22"/>
            <p:cNvSpPr txBox="1"/>
            <p:nvPr/>
          </p:nvSpPr>
          <p:spPr>
            <a:xfrm>
              <a:off x="599694" y="368300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渠道动作相对分散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524500" y="3838575"/>
              <a:ext cx="4572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2794" y="3683000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统筹内容、达人、投放与站外曝光节奏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4095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0" name="content-proof"/>
          <p:cNvGrpSpPr/>
          <p:nvPr/>
        </p:nvGrpSpPr>
        <p:grpSpPr>
          <a:xfrm>
            <a:off x="609600" y="4276725"/>
            <a:ext cx="5791200" cy="1901571"/>
            <a:chOff x="609600" y="4276725"/>
            <a:chExt cx="5791200" cy="1901571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276725"/>
              <a:ext cx="2667000" cy="1771650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5200" y="4417890"/>
              <a:ext cx="2895600" cy="1317869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3499104" y="59436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操作教程与产品使用场景</a:t>
              </a:r>
            </a:p>
          </p:txBody>
        </p:sp>
      </p:grpSp>
      <p:grpSp>
        <p:nvGrpSpPr>
          <p:cNvPr id="36" name="growth-takeaway"/>
          <p:cNvGrpSpPr/>
          <p:nvPr/>
        </p:nvGrpSpPr>
        <p:grpSpPr>
          <a:xfrm>
            <a:off x="6896100" y="4381500"/>
            <a:ext cx="3148584" cy="1683131"/>
            <a:chOff x="6896100" y="4381500"/>
            <a:chExt cx="3148584" cy="1683131"/>
          </a:xfrm>
        </p:grpSpPr>
        <p:sp>
          <p:nvSpPr>
            <p:cNvPr id="31" name="Rectangle 31"/>
            <p:cNvSpPr/>
            <p:nvPr/>
          </p:nvSpPr>
          <p:spPr>
            <a:xfrm>
              <a:off x="6896100" y="4381500"/>
              <a:ext cx="381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12508" y="44037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从达人出单，拓展为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12508" y="48228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品牌与内容共同驱动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14794" y="53403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支持科技硬件产品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14794" y="568325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在美国市场的二次增长。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7" name="Line 3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10930128" y="6191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项目经验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15 / 20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5364480" cy="1013714"/>
            <a:chOff x="592836" y="330200"/>
            <a:chExt cx="5364480" cy="10137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324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项目经验 / </a:t>
              </a:r>
              <a:r>
                <a:rPr lang="en-US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INUK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6985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从品牌定位到北美市场表达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599694" y="1292225"/>
            <a:ext cx="8335404" cy="724281"/>
            <a:chOff x="599694" y="1292225"/>
            <a:chExt cx="8335404" cy="7242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292225"/>
              <a:ext cx="8335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参与 </a:t>
              </a:r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INUK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的北美品牌冷启动，将品牌理念、产品特点与用户需求连接，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1635125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形成可持续用于内容、店铺与渠道传播的营销基础。</a:t>
              </a:r>
            </a:p>
          </p:txBody>
        </p:sp>
      </p:grpSp>
      <p:grpSp>
        <p:nvGrpSpPr>
          <p:cNvPr id="11" name="brand-work-1"/>
          <p:cNvGrpSpPr/>
          <p:nvPr/>
        </p:nvGrpSpPr>
        <p:grpSpPr>
          <a:xfrm>
            <a:off x="598932" y="2289175"/>
            <a:ext cx="3170682" cy="1156081"/>
            <a:chOff x="598932" y="2289175"/>
            <a:chExt cx="3170682" cy="1156081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22891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市场与产品判断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27209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明确目标用户、使用场景、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0638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主推产品与阶段优先级。</a:t>
              </a:r>
            </a:p>
          </p:txBody>
        </p:sp>
      </p:grpSp>
      <p:grpSp>
        <p:nvGrpSpPr>
          <p:cNvPr id="15" name="brand-work-2"/>
          <p:cNvGrpSpPr/>
          <p:nvPr/>
        </p:nvGrpSpPr>
        <p:grpSpPr>
          <a:xfrm>
            <a:off x="598932" y="3546475"/>
            <a:ext cx="3346266" cy="1156081"/>
            <a:chOff x="598932" y="3546475"/>
            <a:chExt cx="3346266" cy="1156081"/>
          </a:xfrm>
        </p:grpSpPr>
        <p:sp>
          <p:nvSpPr>
            <p:cNvPr id="12" name="TextBox 12"/>
            <p:cNvSpPr txBox="1"/>
            <p:nvPr/>
          </p:nvSpPr>
          <p:spPr>
            <a:xfrm>
              <a:off x="598932" y="35464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品牌与价值表达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694" y="3978275"/>
              <a:ext cx="33455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围绕 </a:t>
              </a:r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Common Nature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，梳理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694" y="43211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适合北美用户的品牌叙事。</a:t>
              </a:r>
            </a:p>
          </p:txBody>
        </p:sp>
      </p:grpSp>
      <p:grpSp>
        <p:nvGrpSpPr>
          <p:cNvPr id="19" name="brand-work-3"/>
          <p:cNvGrpSpPr/>
          <p:nvPr/>
        </p:nvGrpSpPr>
        <p:grpSpPr>
          <a:xfrm>
            <a:off x="598932" y="4803775"/>
            <a:ext cx="2908173" cy="1156081"/>
            <a:chOff x="598932" y="4803775"/>
            <a:chExt cx="2908173" cy="1156081"/>
          </a:xfrm>
        </p:grpSpPr>
        <p:sp>
          <p:nvSpPr>
            <p:cNvPr id="16" name="TextBox 16"/>
            <p:cNvSpPr txBox="1"/>
            <p:nvPr/>
          </p:nvSpPr>
          <p:spPr>
            <a:xfrm>
              <a:off x="598932" y="480377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可复用的内容资产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9694" y="52355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将定位落实到产品卖点、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9694" y="55784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视觉素材与渠道文案。</a:t>
              </a:r>
            </a:p>
          </p:txBody>
        </p:sp>
      </p:grpSp>
      <p:grpSp>
        <p:nvGrpSpPr>
          <p:cNvPr id="23" name="brand-asset"/>
          <p:cNvGrpSpPr/>
          <p:nvPr/>
        </p:nvGrpSpPr>
        <p:grpSpPr>
          <a:xfrm>
            <a:off x="4944618" y="2247900"/>
            <a:ext cx="2294382" cy="3568446"/>
            <a:chOff x="4944618" y="2247900"/>
            <a:chExt cx="2294382" cy="3568446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3000" y="2247900"/>
              <a:ext cx="2286000" cy="286131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4944618" y="52355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品牌故事内容资产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46904" y="5581650"/>
              <a:ext cx="2269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基于既有 </a:t>
              </a:r>
              <a:r>
                <a:rPr lang="en-US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Common Nature 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理念</a:t>
              </a:r>
            </a:p>
          </p:txBody>
        </p:sp>
      </p:grpSp>
      <p:grpSp>
        <p:nvGrpSpPr>
          <p:cNvPr id="26" name="product-asset"/>
          <p:cNvGrpSpPr/>
          <p:nvPr/>
        </p:nvGrpSpPr>
        <p:grpSpPr>
          <a:xfrm>
            <a:off x="7613142" y="2247900"/>
            <a:ext cx="3664458" cy="3766058"/>
            <a:chOff x="7613142" y="2247900"/>
            <a:chExt cx="3664458" cy="3766058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4800" y="2247900"/>
              <a:ext cx="3352800" cy="33528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613142" y="5749925"/>
              <a:ext cx="2398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CRUISER </a:t>
              </a:r>
              <a:r>
                <a:rPr lang="zh-CN" sz="13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产品卖点与视觉表达</a:t>
              </a:r>
            </a:p>
          </p:txBody>
        </p:sp>
      </p:grpSp>
      <p:grpSp>
        <p:nvGrpSpPr>
          <p:cNvPr id="28" name="asset-attribution"/>
          <p:cNvGrpSpPr/>
          <p:nvPr/>
        </p:nvGrpSpPr>
        <p:grpSpPr>
          <a:xfrm>
            <a:off x="603504" y="5943600"/>
            <a:ext cx="3889248" cy="234696"/>
            <a:chOff x="603504" y="5943600"/>
            <a:chExt cx="3889248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594360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基于品牌既有理念与素材，进行表达梳理和渠道应用。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29" name="Line 29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10930128" y="6191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项目经验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16 / 20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5808726" cy="1013714"/>
            <a:chOff x="592836" y="330200"/>
            <a:chExt cx="5808726" cy="10137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324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项目经验 / </a:t>
              </a:r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INUK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6985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让内容、达人和渠道协同运行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599694" y="1292225"/>
            <a:ext cx="7370064" cy="724281"/>
            <a:chOff x="599694" y="1292225"/>
            <a:chExt cx="7370064" cy="7242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292225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将统一的品牌与产品表达落实到内容、达人、广告和渠道承接，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163512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通过持续复盘调整工作重点。</a:t>
              </a:r>
            </a:p>
          </p:txBody>
        </p:sp>
      </p:grpSp>
      <p:grpSp>
        <p:nvGrpSpPr>
          <p:cNvPr id="12" name="integrated-work-1"/>
          <p:cNvGrpSpPr/>
          <p:nvPr/>
        </p:nvGrpSpPr>
        <p:grpSpPr>
          <a:xfrm>
            <a:off x="609600" y="2184400"/>
            <a:ext cx="4963668" cy="930275"/>
            <a:chOff x="609600" y="2184400"/>
            <a:chExt cx="4963668" cy="930275"/>
          </a:xfrm>
        </p:grpSpPr>
        <p:sp>
          <p:nvSpPr>
            <p:cNvPr id="8" name="Rectangle 8"/>
            <p:cNvSpPr/>
            <p:nvPr/>
          </p:nvSpPr>
          <p:spPr>
            <a:xfrm>
              <a:off x="609600" y="2219325"/>
              <a:ext cx="571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532" y="21844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内容与产品素材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8294" y="255905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产品图、场景内容、品牌文章与短视频。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38175" y="2952750"/>
              <a:ext cx="1" cy="161925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17" name="integrated-work-2"/>
          <p:cNvGrpSpPr/>
          <p:nvPr/>
        </p:nvGrpSpPr>
        <p:grpSpPr>
          <a:xfrm>
            <a:off x="609600" y="3098800"/>
            <a:ext cx="4438650" cy="930275"/>
            <a:chOff x="609600" y="3098800"/>
            <a:chExt cx="4438650" cy="930275"/>
          </a:xfrm>
        </p:grpSpPr>
        <p:sp>
          <p:nvSpPr>
            <p:cNvPr id="13" name="Rectangle 13"/>
            <p:cNvSpPr/>
            <p:nvPr/>
          </p:nvSpPr>
          <p:spPr>
            <a:xfrm>
              <a:off x="609600" y="3133725"/>
              <a:ext cx="571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532" y="30988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达人及广告触达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8294" y="3473450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达人筛选、建联、寄样与发布跟进。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38175" y="3867150"/>
              <a:ext cx="1" cy="161925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2" name="integrated-work-3"/>
          <p:cNvGrpSpPr/>
          <p:nvPr/>
        </p:nvGrpSpPr>
        <p:grpSpPr>
          <a:xfrm>
            <a:off x="609600" y="4013200"/>
            <a:ext cx="5027562" cy="930275"/>
            <a:chOff x="609600" y="4013200"/>
            <a:chExt cx="5027562" cy="930275"/>
          </a:xfrm>
        </p:grpSpPr>
        <p:sp>
          <p:nvSpPr>
            <p:cNvPr id="18" name="Rectangle 18"/>
            <p:cNvSpPr/>
            <p:nvPr/>
          </p:nvSpPr>
          <p:spPr>
            <a:xfrm>
              <a:off x="609600" y="4048125"/>
              <a:ext cx="571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7532" y="40132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官网与电商承接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8294" y="4387850"/>
              <a:ext cx="48088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衔接 </a:t>
              </a:r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TikTok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、</a:t>
              </a:r>
              <a:r>
                <a:rPr lang="en-US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Amazon </a:t>
              </a:r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与官网购买路径。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38175" y="4781550"/>
              <a:ext cx="1" cy="161925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6" name="integrated-work-4"/>
          <p:cNvGrpSpPr/>
          <p:nvPr/>
        </p:nvGrpSpPr>
        <p:grpSpPr>
          <a:xfrm>
            <a:off x="609600" y="4927600"/>
            <a:ext cx="5226177" cy="756031"/>
            <a:chOff x="609600" y="4927600"/>
            <a:chExt cx="5226177" cy="756031"/>
          </a:xfrm>
        </p:grpSpPr>
        <p:sp>
          <p:nvSpPr>
            <p:cNvPr id="23" name="Rectangle 23"/>
            <p:cNvSpPr/>
            <p:nvPr/>
          </p:nvSpPr>
          <p:spPr>
            <a:xfrm>
              <a:off x="609600" y="4962525"/>
              <a:ext cx="571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532" y="49276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表现复盘与调整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8294" y="5302250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测试素材，调整关键词与预算，持续复盘。</a:t>
              </a:r>
            </a:p>
          </p:txBody>
        </p:sp>
      </p:grpSp>
      <p:grpSp>
        <p:nvGrpSpPr>
          <p:cNvPr id="28" name="live-landing"/>
          <p:cNvGrpSpPr/>
          <p:nvPr/>
        </p:nvGrpSpPr>
        <p:grpSpPr>
          <a:xfrm>
            <a:off x="5943600" y="2095500"/>
            <a:ext cx="1847850" cy="4000500"/>
            <a:chOff x="5943600" y="2095500"/>
            <a:chExt cx="1847850" cy="4000500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0" y="2095500"/>
              <a:ext cx="1847850" cy="4000500"/>
            </a:xfrm>
            <a:prstGeom prst="rect">
              <a:avLst/>
            </a:prstGeom>
          </p:spPr>
        </p:pic>
      </p:grpSp>
      <p:grpSp>
        <p:nvGrpSpPr>
          <p:cNvPr id="30" name="live-blog"/>
          <p:cNvGrpSpPr/>
          <p:nvPr/>
        </p:nvGrpSpPr>
        <p:grpSpPr>
          <a:xfrm>
            <a:off x="8020050" y="2095500"/>
            <a:ext cx="3562350" cy="2057400"/>
            <a:chOff x="8020050" y="2095500"/>
            <a:chExt cx="3562350" cy="205740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0050" y="2095500"/>
              <a:ext cx="3562350" cy="2057400"/>
            </a:xfrm>
            <a:prstGeom prst="rect">
              <a:avLst/>
            </a:prstGeom>
          </p:spPr>
        </p:pic>
      </p:grpSp>
      <p:grpSp>
        <p:nvGrpSpPr>
          <p:cNvPr id="32" name="live-products"/>
          <p:cNvGrpSpPr/>
          <p:nvPr/>
        </p:nvGrpSpPr>
        <p:grpSpPr>
          <a:xfrm>
            <a:off x="8339280" y="4381500"/>
            <a:ext cx="2923890" cy="1714500"/>
            <a:chOff x="8339280" y="4381500"/>
            <a:chExt cx="2923890" cy="1714500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39280" y="4381500"/>
              <a:ext cx="2923890" cy="1714500"/>
            </a:xfrm>
            <a:prstGeom prst="rect">
              <a:avLst/>
            </a:prstGeom>
          </p:spPr>
        </p:pic>
      </p:grpSp>
      <p:grpSp>
        <p:nvGrpSpPr>
          <p:cNvPr id="34" name="live-captions"/>
          <p:cNvGrpSpPr/>
          <p:nvPr/>
        </p:nvGrpSpPr>
        <p:grpSpPr>
          <a:xfrm>
            <a:off x="8013954" y="4152900"/>
            <a:ext cx="2112264" cy="234696"/>
            <a:chOff x="8013954" y="4152900"/>
            <a:chExt cx="2112264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8013954" y="41529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已上线品牌文章与广告落地页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5" name="Line 3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2625D"/>
              </a:solidFill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10930128" y="6191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项目经验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17 / 20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445399" cy="1089914"/>
            <a:chOff x="592836" y="330200"/>
            <a:chExt cx="6445399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谁来为客户负责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644539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 xml:space="preserve">一个入口，由 </a:t>
              </a:r>
              <a:r>
                <a:rPr lang="en-US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 xml:space="preserve">Outrise </a:t>
              </a:r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统一负责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9995154" cy="381381"/>
            <a:chOff x="599694" y="1473200"/>
            <a:chExt cx="9995154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99951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在约定合作范围内，统筹策略、进度、质量与专业伙伴，对整体合作交付负责并背书。</a:t>
              </a:r>
            </a:p>
          </p:txBody>
        </p:sp>
      </p:grpSp>
      <p:grpSp>
        <p:nvGrpSpPr>
          <p:cNvPr id="42" name="accountability-map"/>
          <p:cNvGrpSpPr/>
          <p:nvPr/>
        </p:nvGrpSpPr>
        <p:grpSpPr>
          <a:xfrm>
            <a:off x="598932" y="2324100"/>
            <a:ext cx="10841355" cy="3511931"/>
            <a:chOff x="598932" y="2324100"/>
            <a:chExt cx="10841355" cy="3511931"/>
          </a:xfrm>
        </p:grpSpPr>
        <p:grpSp>
          <p:nvGrpSpPr>
            <p:cNvPr id="9" name="client"/>
            <p:cNvGrpSpPr/>
            <p:nvPr/>
          </p:nvGrpSpPr>
          <p:grpSpPr>
            <a:xfrm>
              <a:off x="609600" y="2324100"/>
              <a:ext cx="1752600" cy="990600"/>
              <a:chOff x="609600" y="2324100"/>
              <a:chExt cx="1752600" cy="9906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2324100"/>
                <a:ext cx="1752600" cy="99060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150620" y="2622550"/>
                <a:ext cx="67056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客户</a:t>
                </a:r>
              </a:p>
            </p:txBody>
          </p:sp>
        </p:grpSp>
        <p:grpSp>
          <p:nvGrpSpPr>
            <p:cNvPr id="13" name="unified-owner"/>
            <p:cNvGrpSpPr/>
            <p:nvPr/>
          </p:nvGrpSpPr>
          <p:grpSpPr>
            <a:xfrm>
              <a:off x="3238500" y="2324100"/>
              <a:ext cx="5715000" cy="990600"/>
              <a:chOff x="3238500" y="2324100"/>
              <a:chExt cx="5715000" cy="9906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3238500" y="2324100"/>
                <a:ext cx="5715000" cy="99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pic>
            <p:nvPicPr>
              <p:cNvPr id="11" name="Image 1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05200" y="2590800"/>
                <a:ext cx="1714500" cy="453628"/>
              </a:xfrm>
              <a:prstGeom prst="rect">
                <a:avLst/>
              </a:prstGeom>
            </p:spPr>
          </p:pic>
          <p:sp>
            <p:nvSpPr>
              <p:cNvPr id="12" name="TextBox 12"/>
              <p:cNvSpPr txBox="1"/>
              <p:nvPr/>
            </p:nvSpPr>
            <p:spPr>
              <a:xfrm>
                <a:off x="5705094" y="267335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统一负责与背书</a:t>
                </a:r>
              </a:p>
            </p:txBody>
          </p:sp>
        </p:grpSp>
        <p:grpSp>
          <p:nvGrpSpPr>
            <p:cNvPr id="21" name="responsibility-links"/>
            <p:cNvGrpSpPr/>
            <p:nvPr/>
          </p:nvGrpSpPr>
          <p:grpSpPr>
            <a:xfrm>
              <a:off x="1866900" y="2819400"/>
              <a:ext cx="8458201" cy="1219200"/>
              <a:chOff x="1866900" y="2819400"/>
              <a:chExt cx="8458201" cy="12192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2590800" y="2819400"/>
                <a:ext cx="4572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6096000" y="3314700"/>
                <a:ext cx="95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95300">
                    <a:moveTo>
                      <a:pt x="0" y="0"/>
                    </a:moveTo>
                    <a:lnTo>
                      <a:pt x="0" y="4953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866900" y="3810000"/>
                <a:ext cx="8458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458200" h="9525">
                    <a:moveTo>
                      <a:pt x="0" y="0"/>
                    </a:moveTo>
                    <a:lnTo>
                      <a:pt x="8458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866900" y="3810000"/>
                <a:ext cx="1" cy="22860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4686300" y="3810000"/>
                <a:ext cx="1" cy="22860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7505700" y="3810000"/>
                <a:ext cx="1" cy="22860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10325100" y="3810000"/>
                <a:ext cx="1" cy="22860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</p:grpSp>
        <p:grpSp>
          <p:nvGrpSpPr>
            <p:cNvPr id="26" name="responsibility-1"/>
            <p:cNvGrpSpPr/>
            <p:nvPr/>
          </p:nvGrpSpPr>
          <p:grpSpPr>
            <a:xfrm>
              <a:off x="598932" y="4260850"/>
              <a:ext cx="2383155" cy="1575181"/>
              <a:chOff x="598932" y="4260850"/>
              <a:chExt cx="2383155" cy="1575181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98932" y="426085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策略与决策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99694" y="4730750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理解业务，提出判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99694" y="509270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断，制定方向与阶段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9694" y="5454650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规划。</a:t>
                </a:r>
              </a:p>
            </p:txBody>
          </p:sp>
        </p:grpSp>
        <p:grpSp>
          <p:nvGrpSpPr>
            <p:cNvPr id="31" name="responsibility-2"/>
            <p:cNvGrpSpPr/>
            <p:nvPr/>
          </p:nvGrpSpPr>
          <p:grpSpPr>
            <a:xfrm>
              <a:off x="3418332" y="4260850"/>
              <a:ext cx="2383155" cy="1575181"/>
              <a:chOff x="3418332" y="4260850"/>
              <a:chExt cx="2383155" cy="1575181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3418332" y="42608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项目统筹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419094" y="473075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协调任务、进度与沟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19094" y="509270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通，跟进交付、处理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419094" y="5454650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协作问题。</a:t>
                </a:r>
              </a:p>
            </p:txBody>
          </p:sp>
        </p:grpSp>
        <p:grpSp>
          <p:nvGrpSpPr>
            <p:cNvPr id="36" name="responsibility-3"/>
            <p:cNvGrpSpPr/>
            <p:nvPr/>
          </p:nvGrpSpPr>
          <p:grpSpPr>
            <a:xfrm>
              <a:off x="6237732" y="4260850"/>
              <a:ext cx="2383155" cy="1575181"/>
              <a:chOff x="6237732" y="4260850"/>
              <a:chExt cx="2383155" cy="1575181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6237732" y="42608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直接执行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238494" y="473075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承担约定的内容、达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238494" y="509270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人、广告与投放等关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38494" y="54546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键工作。</a:t>
                </a:r>
              </a:p>
            </p:txBody>
          </p:sp>
        </p:grpSp>
        <p:grpSp>
          <p:nvGrpSpPr>
            <p:cNvPr id="41" name="responsibility-4"/>
            <p:cNvGrpSpPr/>
            <p:nvPr/>
          </p:nvGrpSpPr>
          <p:grpSpPr>
            <a:xfrm>
              <a:off x="9057132" y="4260850"/>
              <a:ext cx="2383155" cy="1575181"/>
              <a:chOff x="9057132" y="4260850"/>
              <a:chExt cx="2383155" cy="1575181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9057132" y="42608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Instrument Sans Medium"/>
                    <a:ea typeface="Noto Sans SC Medium"/>
                    <a:cs typeface="Instrument Sans Medium"/>
                  </a:rPr>
                  <a:t>专业协作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057894" y="473075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组织专项伙伴，明确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57894" y="509270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要求与分工，衔接整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057894" y="54546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体交付。</a:t>
                </a:r>
              </a:p>
            </p:txBody>
          </p:sp>
        </p:grpSp>
      </p:grpSp>
      <p:grpSp>
        <p:nvGrpSpPr>
          <p:cNvPr id="44" name="scope-note"/>
          <p:cNvGrpSpPr/>
          <p:nvPr/>
        </p:nvGrpSpPr>
        <p:grpSpPr>
          <a:xfrm>
            <a:off x="601218" y="5873750"/>
            <a:ext cx="4777560" cy="322707"/>
            <a:chOff x="601218" y="5873750"/>
            <a:chExt cx="4777560" cy="322707"/>
          </a:xfrm>
        </p:grpSpPr>
        <p:sp>
          <p:nvSpPr>
            <p:cNvPr id="43" name="TextBox 43"/>
            <p:cNvSpPr txBox="1"/>
            <p:nvPr/>
          </p:nvSpPr>
          <p:spPr>
            <a:xfrm>
              <a:off x="601218" y="5873750"/>
              <a:ext cx="47775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伙伴参与执行时，客户仍由 </a:t>
              </a:r>
              <a:r>
                <a:rPr lang="en-US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统一承接。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45" name="Line 4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10445496" y="61912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谁来为客户负责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18 / 20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opening"/>
          <p:cNvGrpSpPr/>
          <p:nvPr/>
        </p:nvGrpSpPr>
        <p:grpSpPr>
          <a:xfrm>
            <a:off x="592836" y="330200"/>
            <a:ext cx="6697218" cy="1089914"/>
            <a:chOff x="592836" y="330200"/>
            <a:chExt cx="6697218" cy="1089914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302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如何与我们合作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7747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按业务阶段，选择合适的合作深度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599694" y="1473200"/>
            <a:ext cx="7107555" cy="381381"/>
            <a:chOff x="599694" y="1473200"/>
            <a:chExt cx="7107555" cy="381381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473200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以策略咨询为核心，结合业务目标约定工作范围与执行支持。</a:t>
              </a:r>
            </a:p>
          </p:txBody>
        </p:sp>
      </p:grpSp>
      <p:grpSp>
        <p:nvGrpSpPr>
          <p:cNvPr id="15" name="cooperation-1"/>
          <p:cNvGrpSpPr/>
          <p:nvPr/>
        </p:nvGrpSpPr>
        <p:grpSpPr>
          <a:xfrm>
            <a:off x="597408" y="2343150"/>
            <a:ext cx="3603117" cy="3371850"/>
            <a:chOff x="597408" y="2343150"/>
            <a:chExt cx="3603117" cy="3371850"/>
          </a:xfrm>
        </p:grpSpPr>
        <p:sp>
          <p:nvSpPr>
            <p:cNvPr id="8" name="Rectangle 8"/>
            <p:cNvSpPr/>
            <p:nvPr/>
          </p:nvSpPr>
          <p:spPr>
            <a:xfrm>
              <a:off x="609600" y="2343150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7408" y="2527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策略咨询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4353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需要厘清问题与方向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38544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围绕市场、定位或渠道等明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42164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确问题，形成判断、建议与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694" y="457835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行动方向。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191000" y="2343150"/>
              <a:ext cx="9525" cy="3371850"/>
            </a:xfrm>
            <a:custGeom>
              <a:avLst/>
              <a:gdLst/>
              <a:ahLst/>
              <a:cxnLst/>
              <a:rect l="l" t="t" r="r" b="b"/>
              <a:pathLst>
                <a:path w="9525" h="3371850">
                  <a:moveTo>
                    <a:pt x="0" y="0"/>
                  </a:moveTo>
                  <a:lnTo>
                    <a:pt x="0" y="33718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cooperation-2"/>
          <p:cNvGrpSpPr/>
          <p:nvPr/>
        </p:nvGrpSpPr>
        <p:grpSpPr>
          <a:xfrm>
            <a:off x="4407408" y="2343150"/>
            <a:ext cx="3603117" cy="3371850"/>
            <a:chOff x="4407408" y="2343150"/>
            <a:chExt cx="3603117" cy="3371850"/>
          </a:xfrm>
        </p:grpSpPr>
        <p:sp>
          <p:nvSpPr>
            <p:cNvPr id="16" name="Rectangle 16"/>
            <p:cNvSpPr/>
            <p:nvPr/>
          </p:nvSpPr>
          <p:spPr>
            <a:xfrm>
              <a:off x="4419600" y="2343150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07408" y="2527300"/>
              <a:ext cx="20452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阶段性 </a:t>
              </a:r>
              <a:r>
                <a:rPr lang="en-US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GTM</a:t>
              </a:r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07408" y="2946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品牌项目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11218" y="34353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需要推进阶段性目标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09694" y="38544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围绕明确的阶段目标，共同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9694" y="42164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制定方案，完成规划与选定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09694" y="457835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的关键执行。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01000" y="2343150"/>
              <a:ext cx="9525" cy="3371850"/>
            </a:xfrm>
            <a:custGeom>
              <a:avLst/>
              <a:gdLst/>
              <a:ahLst/>
              <a:cxnLst/>
              <a:rect l="l" t="t" r="r" b="b"/>
              <a:pathLst>
                <a:path w="9525" h="3371850">
                  <a:moveTo>
                    <a:pt x="0" y="0"/>
                  </a:moveTo>
                  <a:lnTo>
                    <a:pt x="0" y="33718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4" name="cooperation-3"/>
          <p:cNvGrpSpPr/>
          <p:nvPr/>
        </p:nvGrpSpPr>
        <p:grpSpPr>
          <a:xfrm>
            <a:off x="8217408" y="2343150"/>
            <a:ext cx="3294545" cy="3340481"/>
            <a:chOff x="8217408" y="2343150"/>
            <a:chExt cx="3294545" cy="3340481"/>
          </a:xfrm>
        </p:grpSpPr>
        <p:sp>
          <p:nvSpPr>
            <p:cNvPr id="25" name="Rectangle 25"/>
            <p:cNvSpPr/>
            <p:nvPr/>
          </p:nvSpPr>
          <p:spPr>
            <a:xfrm>
              <a:off x="8229600" y="2343150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17408" y="25273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持续营销统筹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17408" y="29464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与团队支持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1218" y="34353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需要持续判断与推进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19694" y="38544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持续参与重点讨论、资源协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9694" y="42164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调与工作复盘。在持续合作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19694" y="4578350"/>
              <a:ext cx="32922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中，我们承担类似外部 </a:t>
              </a:r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CMO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19694" y="49403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的营销统筹职责，并按约定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19694" y="53022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推进关键工作。</a:t>
              </a:r>
            </a:p>
          </p:txBody>
        </p:sp>
      </p:grpSp>
      <p:grpSp>
        <p:nvGrpSpPr>
          <p:cNvPr id="36" name="scope-note"/>
          <p:cNvGrpSpPr/>
          <p:nvPr/>
        </p:nvGrpSpPr>
        <p:grpSpPr>
          <a:xfrm>
            <a:off x="601218" y="5873750"/>
            <a:ext cx="5125593" cy="322707"/>
            <a:chOff x="601218" y="5873750"/>
            <a:chExt cx="5125593" cy="322707"/>
          </a:xfrm>
        </p:grpSpPr>
        <p:sp>
          <p:nvSpPr>
            <p:cNvPr id="35" name="TextBox 35"/>
            <p:cNvSpPr txBox="1"/>
            <p:nvPr/>
          </p:nvSpPr>
          <p:spPr>
            <a:xfrm>
              <a:off x="601218" y="5873750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每次合作共同明确：目标、交付、分工与评估方式。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7" name="Line 3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10445496" y="61912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如何与我们合作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19 / 20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-brand"/>
          <p:cNvGrpSpPr/>
          <p:nvPr/>
        </p:nvGrpSpPr>
        <p:grpSpPr>
          <a:xfrm>
            <a:off x="609600" y="771525"/>
            <a:ext cx="6096000" cy="1612900"/>
            <a:chOff x="609600" y="771525"/>
            <a:chExt cx="6096000" cy="16129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771525"/>
              <a:ext cx="6096000" cy="1612900"/>
            </a:xfrm>
            <a:prstGeom prst="rect">
              <a:avLst/>
            </a:prstGeom>
          </p:spPr>
        </p:pic>
      </p:grpSp>
      <p:grpSp>
        <p:nvGrpSpPr>
          <p:cNvPr id="8" name="closing-invitation"/>
          <p:cNvGrpSpPr/>
          <p:nvPr/>
        </p:nvGrpSpPr>
        <p:grpSpPr>
          <a:xfrm>
            <a:off x="590550" y="2787650"/>
            <a:ext cx="7116699" cy="2467356"/>
            <a:chOff x="590550" y="2787650"/>
            <a:chExt cx="7116699" cy="2467356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787650"/>
              <a:ext cx="456133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从你的北美市场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357822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目标开始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4511675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告诉我们你的产品、目标与当前营销难题，一起确定合适的合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4873625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作切入点。</a:t>
              </a:r>
            </a:p>
          </p:txBody>
        </p:sp>
      </p:grpSp>
      <p:grpSp>
        <p:nvGrpSpPr>
          <p:cNvPr id="10" name="contact-email"/>
          <p:cNvGrpSpPr/>
          <p:nvPr/>
        </p:nvGrpSpPr>
        <p:grpSpPr>
          <a:xfrm>
            <a:off x="592836" y="5480050"/>
            <a:ext cx="4920234" cy="645414"/>
            <a:chOff x="592836" y="5480050"/>
            <a:chExt cx="4920234" cy="645414"/>
          </a:xfrm>
        </p:grpSpPr>
        <p:sp>
          <p:nvSpPr>
            <p:cNvPr id="9" name="TextBox 9"/>
            <p:cNvSpPr txBox="1"/>
            <p:nvPr/>
          </p:nvSpPr>
          <p:spPr>
            <a:xfrm>
              <a:off x="592836" y="5480050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hello@outrisetech.com</a:t>
              </a:r>
            </a:p>
          </p:txBody>
        </p:sp>
      </p:grpSp>
      <p:grpSp>
        <p:nvGrpSpPr>
          <p:cNvPr id="21" name="conversation-inputs"/>
          <p:cNvGrpSpPr/>
          <p:nvPr/>
        </p:nvGrpSpPr>
        <p:grpSpPr>
          <a:xfrm>
            <a:off x="8534400" y="3105150"/>
            <a:ext cx="2756535" cy="2895600"/>
            <a:chOff x="8534400" y="3105150"/>
            <a:chExt cx="2756535" cy="2895600"/>
          </a:xfrm>
        </p:grpSpPr>
        <p:sp>
          <p:nvSpPr>
            <p:cNvPr id="11" name="Line 11"/>
            <p:cNvSpPr/>
            <p:nvPr/>
          </p:nvSpPr>
          <p:spPr>
            <a:xfrm>
              <a:off x="8534400" y="3105150"/>
              <a:ext cx="9525" cy="2895600"/>
            </a:xfrm>
            <a:custGeom>
              <a:avLst/>
              <a:gdLst/>
              <a:ahLst/>
              <a:cxnLst/>
              <a:rect l="l" t="t" r="r" b="b"/>
              <a:pathLst>
                <a:path w="9525" h="2895600">
                  <a:moveTo>
                    <a:pt x="0" y="0"/>
                  </a:moveTo>
                  <a:lnTo>
                    <a:pt x="0" y="289560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grpSp>
          <p:nvGrpSpPr>
            <p:cNvPr id="14" name="conversation-input-1"/>
            <p:cNvGrpSpPr/>
            <p:nvPr/>
          </p:nvGrpSpPr>
          <p:grpSpPr>
            <a:xfrm>
              <a:off x="8828532" y="3117850"/>
              <a:ext cx="2240280" cy="773557"/>
              <a:chOff x="8828532" y="3117850"/>
              <a:chExt cx="2240280" cy="773557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828532" y="311785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产品与业务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830818" y="3568700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你为谁提供什么价值？</a:t>
                </a:r>
              </a:p>
            </p:txBody>
          </p:sp>
        </p:grpSp>
        <p:grpSp>
          <p:nvGrpSpPr>
            <p:cNvPr id="17" name="conversation-input-2"/>
            <p:cNvGrpSpPr/>
            <p:nvPr/>
          </p:nvGrpSpPr>
          <p:grpSpPr>
            <a:xfrm>
              <a:off x="8828532" y="4051300"/>
              <a:ext cx="2240280" cy="773557"/>
              <a:chOff x="8828532" y="4051300"/>
              <a:chExt cx="2240280" cy="773557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828532" y="405130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北美市场目标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30818" y="4502150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当前最希望推进什么？</a:t>
                </a:r>
              </a:p>
            </p:txBody>
          </p:sp>
        </p:grpSp>
        <p:grpSp>
          <p:nvGrpSpPr>
            <p:cNvPr id="20" name="conversation-input-3"/>
            <p:cNvGrpSpPr/>
            <p:nvPr/>
          </p:nvGrpSpPr>
          <p:grpSpPr>
            <a:xfrm>
              <a:off x="8828532" y="4984750"/>
              <a:ext cx="2462403" cy="773557"/>
              <a:chOff x="8828532" y="4984750"/>
              <a:chExt cx="2462403" cy="77355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828532" y="49847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营销难题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30818" y="5435600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哪些营销工作需要支持？</a:t>
                </a:r>
              </a:p>
            </p:txBody>
          </p:sp>
        </p:grpSp>
      </p:grpSp>
      <p:grpSp>
        <p:nvGrpSpPr>
          <p:cNvPr id="25" name="footer"/>
          <p:cNvGrpSpPr/>
          <p:nvPr/>
        </p:nvGrpSpPr>
        <p:grpSpPr>
          <a:xfrm>
            <a:off x="603504" y="6191250"/>
            <a:ext cx="10984992" cy="501396"/>
            <a:chOff x="603504" y="6191250"/>
            <a:chExt cx="10984992" cy="5013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457950"/>
              <a:ext cx="3100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专注北美市场的 </a:t>
              </a:r>
              <a:r>
                <a:rPr lang="en-US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AI-native </a:t>
              </a:r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营销与增长团队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30128" y="6191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开始合作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351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20 / 20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utrise-v8.2-intro">
  <a:themeElements>
    <a:clrScheme name="outrise-v8.2-intro">
      <a:dk1>
        <a:srgbClr val="111111"/>
      </a:dk1>
      <a:lt1>
        <a:srgbClr val="F4F1E9"/>
      </a:lt1>
      <a:dk2>
        <a:srgbClr val="1F497D"/>
      </a:dk2>
      <a:lt2>
        <a:srgbClr val="FFFFFF"/>
      </a:lt2>
      <a:accent1>
        <a:srgbClr val="C9381E"/>
      </a:accent1>
      <a:accent2>
        <a:srgbClr val="9B5E00"/>
      </a:accent2>
      <a:accent3>
        <a:srgbClr val="111111"/>
      </a:accent3>
      <a:accent4>
        <a:srgbClr val="C9381E"/>
      </a:accent4>
      <a:accent5>
        <a:srgbClr val="62625D"/>
      </a:accent5>
      <a:accent6>
        <a:srgbClr val="D6D4CB"/>
      </a:accent6>
      <a:hlink>
        <a:srgbClr val="9B5E00"/>
      </a:hlink>
      <a:folHlink>
        <a:srgbClr val="111111"/>
      </a:folHlink>
    </a:clrScheme>
    <a:fontScheme name="outrise-v8.2-intro">
      <a:majorFont>
        <a:latin typeface="Instrument Sans SemiBold"/>
        <a:ea typeface="Noto Sans SC SemiBold"/>
        <a:cs typeface="Instrument Sans Semi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Noto Sans SC"/>
        <a:cs typeface="Instrument San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utrise-v8.2-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2026-10-27T21:26:33Z</dcterms:created>
  <dcterms:modified xsi:type="dcterms:W3CDTF">2026-10-27T21:26:33Z</dcterms:modified>
  <cp:category/>
  <cp:contentStatus/>
</cp:coreProperties>
</file>