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Noto Sans SC Semi-Bold" charset="1" panose="020B0200000000000000"/>
      <p:regular r:id="rId26"/>
    </p:embeddedFont>
    <p:embeddedFont>
      <p:font typeface="Instrument Sans Semi-Bold" charset="1" panose="00000000000000000000"/>
      <p:regular r:id="rId27"/>
    </p:embeddedFont>
    <p:embeddedFont>
      <p:font typeface="Noto Sans SC" charset="1" panose="020B0200000000000000"/>
      <p:regular r:id="rId28"/>
    </p:embeddedFont>
    <p:embeddedFont>
      <p:font typeface="Instrument Sans" charset="1" panose="00000000000000000000"/>
      <p:regular r:id="rId29"/>
    </p:embeddedFont>
    <p:embeddedFont>
      <p:font typeface="Noto Sans SC Medium" charset="1" panose="020B0200000000000000"/>
      <p:regular r:id="rId30"/>
    </p:embeddedFont>
    <p:embeddedFont>
      <p:font typeface="Instrument Sans Medium" charset="1" panose="00000000000000000000"/>
      <p:regular r:id="rId31"/>
    </p:embeddedFont>
    <p:embeddedFont>
      <p:font typeface="字由经典黑 Bold" charset="1" panose="02000B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jpeg" Type="http://schemas.openxmlformats.org/officeDocument/2006/relationships/image"/><Relationship Id="rId5" Target="../media/image27.png" Type="http://schemas.openxmlformats.org/officeDocument/2006/relationships/image"/><Relationship Id="rId6" Target="../media/image28.jpeg" Type="http://schemas.openxmlformats.org/officeDocument/2006/relationships/image"/><Relationship Id="rId7" Target="../media/image2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.pn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93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1471612"/>
            <a:ext cx="11430000" cy="3024188"/>
            <a:chOff x="0" y="0"/>
            <a:chExt cx="15240000" cy="4032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4032250"/>
            </a:xfrm>
            <a:custGeom>
              <a:avLst/>
              <a:gdLst/>
              <a:ahLst/>
              <a:cxnLst/>
              <a:rect r="r" b="b" t="t" l="l"/>
              <a:pathLst>
                <a:path h="403225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4032250"/>
                  </a:lnTo>
                  <a:lnTo>
                    <a:pt x="0" y="4032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4077940" y="2320252"/>
            <a:ext cx="2619404" cy="1998745"/>
          </a:xfrm>
          <a:custGeom>
            <a:avLst/>
            <a:gdLst/>
            <a:ahLst/>
            <a:cxnLst/>
            <a:rect r="r" b="b" t="t" l="l"/>
            <a:pathLst>
              <a:path h="1998745" w="2619404">
                <a:moveTo>
                  <a:pt x="0" y="0"/>
                </a:moveTo>
                <a:lnTo>
                  <a:pt x="2619404" y="0"/>
                </a:lnTo>
                <a:lnTo>
                  <a:pt x="2619404" y="1998745"/>
                </a:lnTo>
                <a:lnTo>
                  <a:pt x="0" y="19987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85825" y="5281612"/>
            <a:ext cx="11065497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FFFFFF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专注北美市场的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5825" y="6467475"/>
            <a:ext cx="8209312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FFFFFF"/>
                </a:solidFill>
                <a:latin typeface="Instrument Sans Semi-Bold"/>
                <a:ea typeface="Instrument Sans Semi-Bold"/>
                <a:cs typeface="Instrument Sans Semi-Bold"/>
                <a:sym typeface="Instrument Sans Semi-Bold"/>
              </a:rPr>
              <a:t>AI-native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48174" y="6467475"/>
            <a:ext cx="11065497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FFFFFF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营销与增长团队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9541" y="8415337"/>
            <a:ext cx="838467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策略判断 · 营销规划 · 关键执行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05256" y="9686925"/>
            <a:ext cx="601218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OUTRISE / COMPANY INTRODUCTION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50056" y="9286875"/>
            <a:ext cx="17236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我们是谁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723747" y="9686925"/>
            <a:ext cx="144995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01 / 20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000375"/>
            <a:chOff x="0" y="0"/>
            <a:chExt cx="24384000" cy="4000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000500"/>
            </a:xfrm>
            <a:custGeom>
              <a:avLst/>
              <a:gdLst/>
              <a:ahLst/>
              <a:cxnLst/>
              <a:rect r="r" b="b" t="t" l="l"/>
              <a:pathLst>
                <a:path h="40005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000500"/>
                  </a:lnTo>
                  <a:lnTo>
                    <a:pt x="0" y="40005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04113" y="485775"/>
            <a:ext cx="201419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我们是谁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9254" y="1162050"/>
            <a:ext cx="13919568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FFFFFF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专注北美，以策略判断连接行动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9541" y="3538538"/>
            <a:ext cx="298017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Outrise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39223" y="3529013"/>
            <a:ext cx="1593447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为消费品牌与科技创业公司提供北美市场的营销支持。我们从业务目标和用户需求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9541" y="4071937"/>
            <a:ext cx="1727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出发，明确市场方向、建立品牌表达，规划渠道与资源投入，并推进约定的关键营销工作。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4400" y="5886450"/>
            <a:ext cx="628650" cy="57150"/>
            <a:chOff x="0" y="0"/>
            <a:chExt cx="838200" cy="76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38200" cy="76200"/>
            </a:xfrm>
            <a:custGeom>
              <a:avLst/>
              <a:gdLst/>
              <a:ahLst/>
              <a:cxnLst/>
              <a:rect r="r" b="b" t="t" l="l"/>
              <a:pathLst>
                <a:path h="76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96112" y="6205538"/>
            <a:ext cx="488929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北美市场聚焦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9541" y="7029450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围绕当地用户、市场环境与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9541" y="7572375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渠道特点，做出贴合目标市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9184" y="8115300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场的营销选择。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629400" y="5886450"/>
            <a:ext cx="628650" cy="57150"/>
            <a:chOff x="0" y="0"/>
            <a:chExt cx="838200" cy="76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38200" cy="76200"/>
            </a:xfrm>
            <a:custGeom>
              <a:avLst/>
              <a:gdLst/>
              <a:ahLst/>
              <a:cxnLst/>
              <a:rect r="r" b="b" t="t" l="l"/>
              <a:pathLst>
                <a:path h="76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611112" y="6205538"/>
            <a:ext cx="554355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以策略判断为先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614541" y="7029450"/>
            <a:ext cx="663045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明确面向谁、表达什么价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14541" y="7572375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值、优先投入哪里，将业务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14541" y="8115300"/>
            <a:ext cx="609887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目标转化为营销重点。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344400" y="5886450"/>
            <a:ext cx="628650" cy="57150"/>
            <a:chOff x="0" y="0"/>
            <a:chExt cx="838200" cy="76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38200" cy="76200"/>
            </a:xfrm>
            <a:custGeom>
              <a:avLst/>
              <a:gdLst/>
              <a:ahLst/>
              <a:cxnLst/>
              <a:rect r="r" b="b" t="t" l="l"/>
              <a:pathLst>
                <a:path h="76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326112" y="6205538"/>
            <a:ext cx="411545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AI-native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393332" y="6205538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工作方式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329541" y="7038975"/>
            <a:ext cx="142898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768663" y="7029450"/>
            <a:ext cx="540503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融入研究、知识积累、任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29541" y="7572375"/>
            <a:ext cx="584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务协同与内容生产，团队负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29541" y="8115300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责商业判断与质量。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6450056" y="9286875"/>
            <a:ext cx="17236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我们是谁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687362" y="9686925"/>
            <a:ext cx="148633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238221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我们服务谁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9254" y="1162050"/>
            <a:ext cx="1301997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111111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服务消费品牌与科技创业公司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9541" y="2200275"/>
            <a:ext cx="981994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同样聚焦北美，回应不同的业务需求。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400" y="3514725"/>
            <a:ext cx="8001000" cy="5286375"/>
            <a:chOff x="0" y="0"/>
            <a:chExt cx="10668000" cy="7048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68000" cy="7048500"/>
            </a:xfrm>
            <a:custGeom>
              <a:avLst/>
              <a:gdLst/>
              <a:ahLst/>
              <a:cxnLst/>
              <a:rect r="r" b="b" t="t" l="l"/>
              <a:pathLst>
                <a:path h="70485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7048500"/>
                  </a:lnTo>
                  <a:lnTo>
                    <a:pt x="0" y="70485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361313" y="3838575"/>
            <a:ext cx="380845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CONSUMER BRANDS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1026" y="4467225"/>
            <a:ext cx="5500459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消费品牌出海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6741" y="5443537"/>
            <a:ext cx="838467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面向希望进入或拓展北美市场的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40659" y="5453062"/>
            <a:ext cx="202426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 C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82954" y="5443537"/>
            <a:ext cx="131465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品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6741" y="5986463"/>
            <a:ext cx="928836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牌，兼顾电商销售增长，以及品牌认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6741" y="6529387"/>
            <a:ext cx="609887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知、定位与持续传播。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71600" y="7822406"/>
            <a:ext cx="7086600" cy="14288"/>
            <a:chOff x="0" y="0"/>
            <a:chExt cx="9448800" cy="19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48800" cy="19050"/>
            </a:xfrm>
            <a:custGeom>
              <a:avLst/>
              <a:gdLst/>
              <a:ahLst/>
              <a:cxnLst/>
              <a:rect r="r" b="b" t="t" l="l"/>
              <a:pathLst>
                <a:path h="19050" w="9448800">
                  <a:moveTo>
                    <a:pt x="0" y="0"/>
                  </a:moveTo>
                  <a:lnTo>
                    <a:pt x="9448800" y="0"/>
                  </a:lnTo>
                  <a:lnTo>
                    <a:pt x="9448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356741" y="8058150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品牌建设／电商增长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372600" y="3514725"/>
            <a:ext cx="8001000" cy="5286375"/>
            <a:chOff x="0" y="0"/>
            <a:chExt cx="10668000" cy="7048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68000" cy="7048500"/>
            </a:xfrm>
            <a:custGeom>
              <a:avLst/>
              <a:gdLst/>
              <a:ahLst/>
              <a:cxnLst/>
              <a:rect r="r" b="b" t="t" l="l"/>
              <a:pathLst>
                <a:path h="70485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7048500"/>
                  </a:lnTo>
                  <a:lnTo>
                    <a:pt x="0" y="70485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819513" y="3838575"/>
            <a:ext cx="322518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TECH STARTUPS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09226" y="4467225"/>
            <a:ext cx="5721267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科技创业公司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11188" y="4486275"/>
            <a:ext cx="2522992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FFFFF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GTM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14941" y="5443537"/>
            <a:ext cx="83587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面向不同类型的科技创业公司，围绕市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14941" y="5986463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场进入与增长（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15266" y="5995988"/>
            <a:ext cx="182216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GTM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256438" y="5986463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），讲清产品价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14941" y="6529387"/>
            <a:ext cx="83587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值、明确目标用户，并确定当前阶段的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14941" y="7072313"/>
            <a:ext cx="344097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营销重点。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829800" y="7822406"/>
            <a:ext cx="7086600" cy="14288"/>
            <a:chOff x="0" y="0"/>
            <a:chExt cx="9448800" cy="190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448800" cy="19050"/>
            </a:xfrm>
            <a:custGeom>
              <a:avLst/>
              <a:gdLst/>
              <a:ahLst/>
              <a:cxnLst/>
              <a:rect r="r" b="b" t="t" l="l"/>
              <a:pathLst>
                <a:path h="19050" w="9448800">
                  <a:moveTo>
                    <a:pt x="0" y="0"/>
                  </a:moveTo>
                  <a:lnTo>
                    <a:pt x="9448800" y="0"/>
                  </a:lnTo>
                  <a:lnTo>
                    <a:pt x="9448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814941" y="8058150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市场进入／增长规划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6221456" y="9286875"/>
            <a:ext cx="19522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我们服务谁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681561" y="9686925"/>
            <a:ext cx="149213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201419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我们是谁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9254" y="1162050"/>
            <a:ext cx="1301997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111111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深入业务讨论，统筹关键工作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9541" y="2200275"/>
            <a:ext cx="1194626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围绕业务目标参与关键营销工作，让客户团队、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00516" y="2209800"/>
            <a:ext cx="298017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Outrise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40198" y="2200275"/>
            <a:ext cx="769361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与专业伙伴按同一计划协作。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400" y="3543300"/>
            <a:ext cx="4000500" cy="4857750"/>
            <a:chOff x="0" y="0"/>
            <a:chExt cx="5334000" cy="6477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34000" cy="6477000"/>
            </a:xfrm>
            <a:custGeom>
              <a:avLst/>
              <a:gdLst/>
              <a:ahLst/>
              <a:cxnLst/>
              <a:rect r="r" b="b" t="t" l="l"/>
              <a:pathLst>
                <a:path h="6477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6477000"/>
                  </a:lnTo>
                  <a:lnTo>
                    <a:pt x="0" y="64770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57300" y="4200525"/>
            <a:ext cx="3314700" cy="877014"/>
            <a:chOff x="0" y="0"/>
            <a:chExt cx="4419600" cy="11693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19600" cy="1169289"/>
            </a:xfrm>
            <a:custGeom>
              <a:avLst/>
              <a:gdLst/>
              <a:ahLst/>
              <a:cxnLst/>
              <a:rect r="r" b="b" t="t" l="l"/>
              <a:pathLst>
                <a:path h="1169289" w="4419600">
                  <a:moveTo>
                    <a:pt x="0" y="0"/>
                  </a:moveTo>
                  <a:lnTo>
                    <a:pt x="4419600" y="0"/>
                  </a:lnTo>
                  <a:lnTo>
                    <a:pt x="4419600" y="1169289"/>
                  </a:lnTo>
                  <a:lnTo>
                    <a:pt x="0" y="11692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5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39012" y="5705475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持续参与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9012" y="6391275"/>
            <a:ext cx="488929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关键营销工作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715000" y="3536156"/>
            <a:ext cx="11658600" cy="14288"/>
            <a:chOff x="0" y="0"/>
            <a:chExt cx="15544800" cy="19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544800" cy="19050"/>
            </a:xfrm>
            <a:custGeom>
              <a:avLst/>
              <a:gdLst/>
              <a:ahLst/>
              <a:cxnLst/>
              <a:rect r="r" b="b" t="t" l="l"/>
              <a:pathLst>
                <a:path h="1905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5698998" y="3686175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共同判断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00591" y="3629025"/>
            <a:ext cx="887310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把产品与业务信息放进市场和用户视角中讨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00591" y="4171950"/>
            <a:ext cx="822519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论，比较方向，确定营销重点。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715000" y="5107781"/>
            <a:ext cx="11658600" cy="14288"/>
            <a:chOff x="0" y="0"/>
            <a:chExt cx="15544800" cy="190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544800" cy="19050"/>
            </a:xfrm>
            <a:custGeom>
              <a:avLst/>
              <a:gdLst/>
              <a:ahLst/>
              <a:cxnLst/>
              <a:rect r="r" b="b" t="t" l="l"/>
              <a:pathLst>
                <a:path h="1905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698998" y="5257800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营销统筹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00591" y="5200650"/>
            <a:ext cx="887310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将目标转化为阶段计划，协调各方分工，让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00591" y="5743575"/>
            <a:ext cx="875678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内容、渠道和资源安排相互衔接。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715000" y="6679406"/>
            <a:ext cx="11658600" cy="14288"/>
            <a:chOff x="0" y="0"/>
            <a:chExt cx="15544800" cy="19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544800" cy="19050"/>
            </a:xfrm>
            <a:custGeom>
              <a:avLst/>
              <a:gdLst/>
              <a:ahLst/>
              <a:cxnLst/>
              <a:rect r="r" b="b" t="t" l="l"/>
              <a:pathLst>
                <a:path h="1905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5698998" y="6829425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约定执行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00591" y="6772275"/>
            <a:ext cx="887310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推进双方确认的关键任务，跟进进展，并把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00591" y="7315200"/>
            <a:ext cx="663045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市场反馈带回后续讨论。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01827" y="8610600"/>
            <a:ext cx="1190757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从关键选择到后续推进，持续提供营销判断与协作支持。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6450056" y="9286875"/>
            <a:ext cx="17236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我们是谁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675532" y="9686925"/>
            <a:ext cx="149816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04 / 20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238221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我们做什么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9254" y="1162050"/>
            <a:ext cx="13919568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111111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两项核心能力，连接策略与执行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9541" y="2200275"/>
            <a:ext cx="1407258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以营销判断和渠道规划统筹工作，按目标组合执行能力。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04113" y="2819400"/>
            <a:ext cx="123825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FFFFFF"/>
                </a:solidFill>
                <a:latin typeface="字由经典黑 Bold"/>
                <a:ea typeface="字由经典黑 Bold"/>
                <a:cs typeface="字由经典黑 Bold"/>
                <a:sym typeface="字由经典黑 Bold"/>
              </a:rPr>
              <a:t>核心能力｜明确营销方向与增长路径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3343275"/>
            <a:ext cx="18288000" cy="2428875"/>
            <a:chOff x="0" y="0"/>
            <a:chExt cx="24384000" cy="323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3238500"/>
            </a:xfrm>
            <a:custGeom>
              <a:avLst/>
              <a:gdLst/>
              <a:ahLst/>
              <a:cxnLst/>
              <a:rect r="r" b="b" t="t" l="l"/>
              <a:pathLst>
                <a:path h="32385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238500"/>
                  </a:lnTo>
                  <a:lnTo>
                    <a:pt x="0" y="32385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36856" y="3686175"/>
            <a:ext cx="14288" cy="1743075"/>
            <a:chOff x="0" y="0"/>
            <a:chExt cx="19050" cy="2324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050" cy="2324100"/>
            </a:xfrm>
            <a:custGeom>
              <a:avLst/>
              <a:gdLst/>
              <a:ahLst/>
              <a:cxnLst/>
              <a:rect r="r" b="b" t="t" l="l"/>
              <a:pathLst>
                <a:path h="2324100" w="19050">
                  <a:moveTo>
                    <a:pt x="0" y="0"/>
                  </a:moveTo>
                  <a:lnTo>
                    <a:pt x="19050" y="0"/>
                  </a:lnTo>
                  <a:lnTo>
                    <a:pt x="19050" y="2324100"/>
                  </a:lnTo>
                  <a:lnTo>
                    <a:pt x="0" y="23241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96112" y="3548062"/>
            <a:ext cx="68520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营销策略与品牌基础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9541" y="4386263"/>
            <a:ext cx="981994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理解市场与用户，明确定位、价值表达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9541" y="4929187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与营销优先级。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40112" y="3548062"/>
            <a:ext cx="554355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渠道运营与增长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43541" y="4386263"/>
            <a:ext cx="8130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规划渠道组合、资源投入与运营路径，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43541" y="4929187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结合反馈持续调整。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04113" y="6010275"/>
            <a:ext cx="133350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FFFFFF"/>
                </a:solidFill>
                <a:latin typeface="字由经典黑 Bold"/>
                <a:ea typeface="字由经典黑 Bold"/>
                <a:cs typeface="字由经典黑 Bold"/>
                <a:sym typeface="字由经典黑 Bold"/>
              </a:rPr>
              <a:t>直接执行｜推进关键工作，交付约定成果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6112" y="6534150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内容营销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1827" y="7253288"/>
            <a:ext cx="381119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内容方向与素材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165056" y="6629400"/>
            <a:ext cx="14288" cy="1085850"/>
            <a:chOff x="0" y="0"/>
            <a:chExt cx="19050" cy="1447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0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050">
                  <a:moveTo>
                    <a:pt x="0" y="0"/>
                  </a:moveTo>
                  <a:lnTo>
                    <a:pt x="19050" y="0"/>
                  </a:lnTo>
                  <a:lnTo>
                    <a:pt x="19050" y="14478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611112" y="6534150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达人营销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16827" y="7253288"/>
            <a:ext cx="381119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达人筛选与合作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880056" y="6629400"/>
            <a:ext cx="14288" cy="1085850"/>
            <a:chOff x="0" y="0"/>
            <a:chExt cx="19050" cy="1447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0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050">
                  <a:moveTo>
                    <a:pt x="0" y="0"/>
                  </a:moveTo>
                  <a:lnTo>
                    <a:pt x="19050" y="0"/>
                  </a:lnTo>
                  <a:lnTo>
                    <a:pt x="19050" y="14478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326112" y="6534150"/>
            <a:ext cx="423504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广告与投放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31827" y="7253288"/>
            <a:ext cx="381119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投放规划与优化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14400" y="8115300"/>
            <a:ext cx="16459200" cy="971550"/>
            <a:chOff x="0" y="0"/>
            <a:chExt cx="21945600" cy="1295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45600" cy="1295400"/>
            </a:xfrm>
            <a:custGeom>
              <a:avLst/>
              <a:gdLst/>
              <a:ahLst/>
              <a:cxnLst/>
              <a:rect r="r" b="b" t="t" l="l"/>
              <a:pathLst>
                <a:path h="129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95400"/>
                  </a:lnTo>
                  <a:lnTo>
                    <a:pt x="0" y="12954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189863" y="8258175"/>
            <a:ext cx="201419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专业协作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216402" y="8210550"/>
            <a:ext cx="1381125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70"/>
              </a:lnSpc>
              <a:spcBef>
                <a:spcPct val="0"/>
              </a:spcBef>
            </a:pPr>
            <a:r>
              <a:rPr lang="en-US" sz="2475" strike="noStrike" u="non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能力示例：渠道拓展 · 落地执行 · 技术搭建等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216402" y="8624888"/>
            <a:ext cx="124733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由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601269" y="8634413"/>
            <a:ext cx="252168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Outrise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734897" y="8624888"/>
            <a:ext cx="12382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70"/>
              </a:lnSpc>
              <a:spcBef>
                <a:spcPct val="0"/>
              </a:spcBef>
            </a:pPr>
            <a:r>
              <a:rPr lang="en-US" sz="2475" strike="noStrike" u="non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判断所需能力，联系、筛选并协调合适资源。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6221456" y="9286875"/>
            <a:ext cx="19522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我们做什么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679551" y="9686925"/>
            <a:ext cx="149414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05 / 20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438791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我们做什么 · 核心能力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649542" y="495300"/>
            <a:ext cx="94694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62625D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89254" y="1162050"/>
            <a:ext cx="9421578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111111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营销策略与品牌基础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9541" y="2200275"/>
            <a:ext cx="1619891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把业务信息转化为市场判断，让品牌表达与阶段行动有共同依据。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6112" y="3605212"/>
            <a:ext cx="292653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C9381E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面向谁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400" y="4450556"/>
            <a:ext cx="5029200" cy="14288"/>
            <a:chOff x="0" y="0"/>
            <a:chExt cx="6705600" cy="190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05600" cy="19050"/>
            </a:xfrm>
            <a:custGeom>
              <a:avLst/>
              <a:gdLst/>
              <a:ahLst/>
              <a:cxnLst/>
              <a:rect r="r" b="b" t="t" l="l"/>
              <a:pathLst>
                <a:path h="1905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898398" y="4757737"/>
            <a:ext cx="485060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市场与用户判断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9541" y="5500687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梳理产品、业务目标与目标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9541" y="6043613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人群，理解需求、使用场景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9541" y="6586537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和购买考虑。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4400" y="8065294"/>
            <a:ext cx="5029200" cy="14288"/>
            <a:chOff x="0" y="0"/>
            <a:chExt cx="6705600" cy="19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05600" cy="19050"/>
            </a:xfrm>
            <a:custGeom>
              <a:avLst/>
              <a:gdLst/>
              <a:ahLst/>
              <a:cxnLst/>
              <a:rect r="r" b="b" t="t" l="l"/>
              <a:pathLst>
                <a:path h="1905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04113" y="8215313"/>
            <a:ext cx="311824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形成的工作成果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9541" y="8586787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C9381E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用户与需求梳理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11112" y="3605212"/>
            <a:ext cx="488929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C9381E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表达什么价值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629400" y="4450556"/>
            <a:ext cx="5029200" cy="14288"/>
            <a:chOff x="0" y="0"/>
            <a:chExt cx="6705600" cy="190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05600" cy="19050"/>
            </a:xfrm>
            <a:custGeom>
              <a:avLst/>
              <a:gdLst/>
              <a:ahLst/>
              <a:cxnLst/>
              <a:rect r="r" b="b" t="t" l="l"/>
              <a:pathLst>
                <a:path h="1905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613398" y="4757737"/>
            <a:ext cx="485060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定位与价值表达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14541" y="5500687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明确为谁创造什么价值，形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14541" y="6043613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成适合北美市场的定位、叙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14541" y="6586537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事和沟通重点。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629400" y="8065294"/>
            <a:ext cx="5029200" cy="14288"/>
            <a:chOff x="0" y="0"/>
            <a:chExt cx="6705600" cy="190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05600" cy="19050"/>
            </a:xfrm>
            <a:custGeom>
              <a:avLst/>
              <a:gdLst/>
              <a:ahLst/>
              <a:cxnLst/>
              <a:rect r="r" b="b" t="t" l="l"/>
              <a:pathLst>
                <a:path h="1905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619113" y="8215313"/>
            <a:ext cx="311824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形成的工作成果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614541" y="8586787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C9381E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定位与价值表达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26112" y="3605212"/>
            <a:ext cx="423504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C9381E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优先做什么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344400" y="4450556"/>
            <a:ext cx="5029200" cy="14288"/>
            <a:chOff x="0" y="0"/>
            <a:chExt cx="6705600" cy="190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705600" cy="19050"/>
            </a:xfrm>
            <a:custGeom>
              <a:avLst/>
              <a:gdLst/>
              <a:ahLst/>
              <a:cxnLst/>
              <a:rect r="r" b="b" t="t" l="l"/>
              <a:pathLst>
                <a:path h="1905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2328398" y="4748212"/>
            <a:ext cx="214379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GTM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315350" y="4757737"/>
            <a:ext cx="370566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与营销路线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29541" y="5500687"/>
            <a:ext cx="584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确定阶段重点、渠道优先级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29541" y="6043613"/>
            <a:ext cx="584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与资源安排，形成可以推进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29541" y="6586537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的行动计划。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2344400" y="8065294"/>
            <a:ext cx="5029200" cy="14288"/>
            <a:chOff x="0" y="0"/>
            <a:chExt cx="6705600" cy="190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705600" cy="19050"/>
            </a:xfrm>
            <a:custGeom>
              <a:avLst/>
              <a:gdLst/>
              <a:ahLst/>
              <a:cxnLst/>
              <a:rect r="r" b="b" t="t" l="l"/>
              <a:pathLst>
                <a:path h="1905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2334113" y="8215313"/>
            <a:ext cx="311824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形成的工作成果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329541" y="8586787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C9381E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阶段营销路线图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4685331" y="9286875"/>
            <a:ext cx="34883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我们做什么 · 核心能力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7125140" y="9286875"/>
            <a:ext cx="84172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01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670169" y="9686925"/>
            <a:ext cx="150353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06 / 20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438791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我们做什么 · 核心能力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649542" y="495300"/>
            <a:ext cx="94694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62625D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89254" y="1162050"/>
            <a:ext cx="7622381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111111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渠道运营与增长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9541" y="2200275"/>
            <a:ext cx="1460416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把渠道选择、资源投入和关键行动放在同一条增长路径上。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14400" y="3371850"/>
            <a:ext cx="4000500" cy="5543550"/>
            <a:chOff x="0" y="0"/>
            <a:chExt cx="5334000" cy="7391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34000" cy="7391400"/>
            </a:xfrm>
            <a:custGeom>
              <a:avLst/>
              <a:gdLst/>
              <a:ahLst/>
              <a:cxnLst/>
              <a:rect r="r" b="b" t="t" l="l"/>
              <a:pathLst>
                <a:path h="73914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7391400"/>
                  </a:lnTo>
                  <a:lnTo>
                    <a:pt x="0" y="73914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44727" y="3724275"/>
            <a:ext cx="336139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从渠道到行动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9012" y="4619625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渠道角色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9012" y="5876925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资源投入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9012" y="7134225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市场反馈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715000" y="3364706"/>
            <a:ext cx="11658600" cy="14288"/>
            <a:chOff x="0" y="0"/>
            <a:chExt cx="15544800" cy="19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544800" cy="19050"/>
            </a:xfrm>
            <a:custGeom>
              <a:avLst/>
              <a:gdLst/>
              <a:ahLst/>
              <a:cxnLst/>
              <a:rect r="r" b="b" t="t" l="l"/>
              <a:pathLst>
                <a:path h="1905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698998" y="3571875"/>
            <a:ext cx="427813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确定渠道组合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160752" y="3638550"/>
            <a:ext cx="301294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渠道角色与组合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700141" y="4200525"/>
            <a:ext cx="124735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结合用户路径与业务阶段，判断社交媒体、电商平台、品牌官网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00141" y="4743450"/>
            <a:ext cx="663045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及其他渠道各自的作用。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715000" y="5307806"/>
            <a:ext cx="11658600" cy="14288"/>
            <a:chOff x="0" y="0"/>
            <a:chExt cx="15544800" cy="190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544800" cy="19050"/>
            </a:xfrm>
            <a:custGeom>
              <a:avLst/>
              <a:gdLst/>
              <a:ahLst/>
              <a:cxnLst/>
              <a:rect r="r" b="b" t="t" l="l"/>
              <a:pathLst>
                <a:path h="1905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698998" y="5514975"/>
            <a:ext cx="485060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安排资源与行动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532102" y="5581650"/>
            <a:ext cx="364159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资源安排与执行分工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700141" y="6143625"/>
            <a:ext cx="124735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明确投入顺序、预算重点、内容需求和团队分工，让关键工作能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700141" y="6686550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够衔接推进。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715000" y="7250906"/>
            <a:ext cx="11658600" cy="14288"/>
            <a:chOff x="0" y="0"/>
            <a:chExt cx="15544800" cy="190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544800" cy="19050"/>
            </a:xfrm>
            <a:custGeom>
              <a:avLst/>
              <a:gdLst/>
              <a:ahLst/>
              <a:cxnLst/>
              <a:rect r="r" b="b" t="t" l="l"/>
              <a:pathLst>
                <a:path h="1905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5698998" y="7458075"/>
            <a:ext cx="542307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根据反馈持续调整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532102" y="7524750"/>
            <a:ext cx="364159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表现复盘与调整建议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700141" y="8086725"/>
            <a:ext cx="124735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结合渠道表现和用户反馈，判断哪些方向值得继续投入，调整下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700141" y="8629650"/>
            <a:ext cx="344097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一步计划。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4649164" y="9286875"/>
            <a:ext cx="352453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我们做什么 · 核心能力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088974" y="9286875"/>
            <a:ext cx="84172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697411" y="9686925"/>
            <a:ext cx="147628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000375"/>
            <a:chOff x="0" y="0"/>
            <a:chExt cx="24384000" cy="4000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000500"/>
            </a:xfrm>
            <a:custGeom>
              <a:avLst/>
              <a:gdLst/>
              <a:ahLst/>
              <a:cxnLst/>
              <a:rect r="r" b="b" t="t" l="l"/>
              <a:pathLst>
                <a:path h="40005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000500"/>
                  </a:lnTo>
                  <a:lnTo>
                    <a:pt x="0" y="40005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04113" y="485775"/>
            <a:ext cx="427750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我们做什么 · 直接执行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9254" y="1162050"/>
            <a:ext cx="1301997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FFFFFF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三类执行能力，承接关键任务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9541" y="2200275"/>
            <a:ext cx="732151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根据策略选择工作模块，由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40509" y="2209800"/>
            <a:ext cx="298017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Outrise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80190" y="2200275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直接推进约定的关键执行。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4400" y="3643312"/>
            <a:ext cx="685800" cy="57150"/>
            <a:chOff x="0" y="0"/>
            <a:chExt cx="914400" cy="76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0" cy="76200"/>
            </a:xfrm>
            <a:custGeom>
              <a:avLst/>
              <a:gdLst/>
              <a:ahLst/>
              <a:cxnLst/>
              <a:rect r="r" b="b" t="t" l="l"/>
              <a:pathLst>
                <a:path h="76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96112" y="4033838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内容营销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9541" y="4929187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围绕品牌与产品价值，制定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9541" y="5472113"/>
            <a:ext cx="663045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内容方向、创意和传播计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9541" y="6015037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划，制作约定的图文、视频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9541" y="6557963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及社媒素材。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01827" y="7867650"/>
            <a:ext cx="695978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内容方向／创意方案／传播素材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279356" y="3643312"/>
            <a:ext cx="14288" cy="4929188"/>
            <a:chOff x="0" y="0"/>
            <a:chExt cx="19050" cy="65722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050" cy="6572250"/>
            </a:xfrm>
            <a:custGeom>
              <a:avLst/>
              <a:gdLst/>
              <a:ahLst/>
              <a:cxnLst/>
              <a:rect r="r" b="b" t="t" l="l"/>
              <a:pathLst>
                <a:path h="6572250" w="19050">
                  <a:moveTo>
                    <a:pt x="0" y="0"/>
                  </a:moveTo>
                  <a:lnTo>
                    <a:pt x="19050" y="0"/>
                  </a:lnTo>
                  <a:lnTo>
                    <a:pt x="19050" y="6572250"/>
                  </a:lnTo>
                  <a:lnTo>
                    <a:pt x="0" y="65722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629400" y="3643312"/>
            <a:ext cx="685800" cy="57150"/>
            <a:chOff x="0" y="0"/>
            <a:chExt cx="914400" cy="76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76200"/>
            </a:xfrm>
            <a:custGeom>
              <a:avLst/>
              <a:gdLst/>
              <a:ahLst/>
              <a:cxnLst/>
              <a:rect r="r" b="b" t="t" l="l"/>
              <a:pathLst>
                <a:path h="76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611112" y="4033838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达人营销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14541" y="4929187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筛选与触达适配达人，策划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14541" y="5472113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合作方式，沟通内容要求，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14541" y="6015037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推进发布并复盘合作表现。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616827" y="7867650"/>
            <a:ext cx="695978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达人筛选／合作沟通／发布跟进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994356" y="3643312"/>
            <a:ext cx="14288" cy="4929188"/>
            <a:chOff x="0" y="0"/>
            <a:chExt cx="19050" cy="6572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050" cy="6572250"/>
            </a:xfrm>
            <a:custGeom>
              <a:avLst/>
              <a:gdLst/>
              <a:ahLst/>
              <a:cxnLst/>
              <a:rect r="r" b="b" t="t" l="l"/>
              <a:pathLst>
                <a:path h="6572250" w="19050">
                  <a:moveTo>
                    <a:pt x="0" y="0"/>
                  </a:moveTo>
                  <a:lnTo>
                    <a:pt x="19050" y="0"/>
                  </a:lnTo>
                  <a:lnTo>
                    <a:pt x="19050" y="6572250"/>
                  </a:lnTo>
                  <a:lnTo>
                    <a:pt x="0" y="65722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344400" y="3643312"/>
            <a:ext cx="685800" cy="57150"/>
            <a:chOff x="0" y="0"/>
            <a:chExt cx="914400" cy="76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" cy="76200"/>
            </a:xfrm>
            <a:custGeom>
              <a:avLst/>
              <a:gdLst/>
              <a:ahLst/>
              <a:cxnLst/>
              <a:rect r="r" b="b" t="t" l="l"/>
              <a:pathLst>
                <a:path h="76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2326112" y="4033838"/>
            <a:ext cx="423504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广告与投放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29541" y="4929187"/>
            <a:ext cx="584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制定投放计划，协同广告素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329541" y="5472113"/>
            <a:ext cx="584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材，执行约定渠道的广告工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29541" y="6015037"/>
            <a:ext cx="584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作，并根据反馈优化。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31827" y="7867650"/>
            <a:ext cx="584187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投放计划／广告执行／优化建议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01827" y="8810625"/>
            <a:ext cx="1010837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具体渠道、素材与推进职责根据项目目标约定。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4975986" y="9286875"/>
            <a:ext cx="319771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我们做什么 · 直接执行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673970" y="9686925"/>
            <a:ext cx="149973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08 / 20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427750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我们做什么 · 专业协作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9254" y="1162050"/>
            <a:ext cx="1481916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40"/>
              </a:lnSpc>
              <a:spcBef>
                <a:spcPct val="0"/>
              </a:spcBef>
            </a:pPr>
            <a:r>
              <a:rPr lang="en-US" b="true" sz="4950" strike="noStrike" u="none">
                <a:solidFill>
                  <a:srgbClr val="111111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判断专业需求，连接合适资源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9541" y="2200275"/>
            <a:ext cx="163830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sz="2925" strike="noStrike" u="none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当项目需要我们直接执行范围之外的专业能力，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9541" y="2752725"/>
            <a:ext cx="298017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Outrise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39223" y="2743200"/>
            <a:ext cx="150495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sz="2925" strike="noStrike" u="none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会协助判断需要什么支持，再联系、筛选并协调合适的资源。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1827" y="8810625"/>
            <a:ext cx="163830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70"/>
              </a:lnSpc>
              <a:spcBef>
                <a:spcPct val="0"/>
              </a:spcBef>
            </a:pPr>
            <a:r>
              <a:rPr lang="en-US" sz="2475" strike="noStrike" u="none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专业协作包括但不限于以上示例，具体能力、分工与工作范围按项目约定。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4400" y="3857625"/>
            <a:ext cx="4286250" cy="4714875"/>
            <a:chOff x="0" y="0"/>
            <a:chExt cx="5715000" cy="6286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15000" cy="6286500"/>
            </a:xfrm>
            <a:custGeom>
              <a:avLst/>
              <a:gdLst/>
              <a:ahLst/>
              <a:cxnLst/>
              <a:rect r="r" b="b" t="t" l="l"/>
              <a:pathLst>
                <a:path h="62865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6286500"/>
                  </a:lnTo>
                  <a:lnTo>
                    <a:pt x="0" y="62865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3025" y="4371975"/>
            <a:ext cx="3429000" cy="907256"/>
            <a:chOff x="0" y="0"/>
            <a:chExt cx="4572000" cy="12096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72000" cy="1209675"/>
            </a:xfrm>
            <a:custGeom>
              <a:avLst/>
              <a:gdLst/>
              <a:ahLst/>
              <a:cxnLst/>
              <a:rect r="r" b="b" t="t" l="l"/>
              <a:pathLst>
                <a:path h="1209675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209675"/>
                  </a:lnTo>
                  <a:lnTo>
                    <a:pt x="0" y="120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24737" y="6119812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判断专业需求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4737" y="6805612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连接合适资源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5186362" y="3900488"/>
            <a:ext cx="828675" cy="3457575"/>
          </a:xfrm>
          <a:custGeom>
            <a:avLst/>
            <a:gdLst/>
            <a:ahLst/>
            <a:cxnLst/>
            <a:rect r="r" b="b" t="t" l="l"/>
            <a:pathLst>
              <a:path h="3457575" w="828675">
                <a:moveTo>
                  <a:pt x="0" y="0"/>
                </a:moveTo>
                <a:lnTo>
                  <a:pt x="828676" y="0"/>
                </a:lnTo>
                <a:lnTo>
                  <a:pt x="828676" y="3457574"/>
                </a:lnTo>
                <a:lnTo>
                  <a:pt x="0" y="34575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384798" y="3714750"/>
            <a:ext cx="427813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3150" strike="noStrike" u="non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渠道拓展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85941" y="4314825"/>
            <a:ext cx="1076325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sz="2925" strike="noStrike" u="none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根据业务目标识别合适的渠道与合作资源，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85941" y="4857750"/>
            <a:ext cx="875678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sz="2925" strike="noStrike" u="none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协助建立联系并推进沟通。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384798" y="5372100"/>
            <a:ext cx="427813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3150" strike="noStrike" u="non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落地执行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385941" y="5972175"/>
            <a:ext cx="1076325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sz="2925" strike="noStrike" u="none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梳理执行任务与协作要求，对接合适团队，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385941" y="6515100"/>
            <a:ext cx="981994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sz="2925" strike="noStrike" u="none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协调工作衔接。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384798" y="7029450"/>
            <a:ext cx="370566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技术搭建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85941" y="7629525"/>
            <a:ext cx="875678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sz="2925" strike="noStrike" u="none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梳理项目所需的技术支持，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385941" y="8172450"/>
            <a:ext cx="822519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sz="2925" strike="noStrike" u="none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对接合适的搭建与实施团队。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2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4975986" y="9286875"/>
            <a:ext cx="319771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我们做什么 · 专业协作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667493" y="9686925"/>
            <a:ext cx="150620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09 / 20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93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275022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怎样推进项目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9254" y="1162050"/>
            <a:ext cx="1571876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FFFFFF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让营销工作有依据、有计划、有成果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9541" y="2200275"/>
            <a:ext cx="1513574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把策略、规划、执行和反馈转化为团队能够使用的工作成果。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400" y="3364706"/>
            <a:ext cx="7772400" cy="14288"/>
            <a:chOff x="0" y="0"/>
            <a:chExt cx="10363200" cy="190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363200" cy="19050"/>
            </a:xfrm>
            <a:custGeom>
              <a:avLst/>
              <a:gdLst/>
              <a:ahLst/>
              <a:cxnLst/>
              <a:rect r="r" b="b" t="t" l="l"/>
              <a:pathLst>
                <a:path h="1905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896112" y="3590925"/>
            <a:ext cx="554355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定位与价值表达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9541" y="4343400"/>
            <a:ext cx="1035152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说明目标用户、核心价值与沟通重点，以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9541" y="4886325"/>
            <a:ext cx="769361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及重要选择背后的判断依据。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601200" y="3364706"/>
            <a:ext cx="7772400" cy="14288"/>
            <a:chOff x="0" y="0"/>
            <a:chExt cx="10363200" cy="190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63200" cy="19050"/>
            </a:xfrm>
            <a:custGeom>
              <a:avLst/>
              <a:gdLst/>
              <a:ahLst/>
              <a:cxnLst/>
              <a:rect r="r" b="b" t="t" l="l"/>
              <a:pathLst>
                <a:path h="1905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582912" y="3590925"/>
            <a:ext cx="68520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渠道组合与行动计划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86341" y="4343400"/>
            <a:ext cx="85873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明确阶段重点、投入顺序、资源安排与责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86341" y="4886325"/>
            <a:ext cx="290939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任分工。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14400" y="6050756"/>
            <a:ext cx="7772400" cy="14288"/>
            <a:chOff x="0" y="0"/>
            <a:chExt cx="10363200" cy="190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363200" cy="19050"/>
            </a:xfrm>
            <a:custGeom>
              <a:avLst/>
              <a:gdLst/>
              <a:ahLst/>
              <a:cxnLst/>
              <a:rect r="r" b="b" t="t" l="l"/>
              <a:pathLst>
                <a:path h="1905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96112" y="6276975"/>
            <a:ext cx="554355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约定的执行成果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9541" y="7029450"/>
            <a:ext cx="1035152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按合作范围交付内容素材、达人合作、广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9541" y="7572375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告工作等关键成果。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601200" y="6050756"/>
            <a:ext cx="7772400" cy="14288"/>
            <a:chOff x="0" y="0"/>
            <a:chExt cx="10363200" cy="19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363200" cy="19050"/>
            </a:xfrm>
            <a:custGeom>
              <a:avLst/>
              <a:gdLst/>
              <a:ahLst/>
              <a:cxnLst/>
              <a:rect r="r" b="b" t="t" l="l"/>
              <a:pathLst>
                <a:path h="1905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582912" y="6276975"/>
            <a:ext cx="68520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复盘记录与后续建议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86341" y="7029450"/>
            <a:ext cx="85873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整理渠道表现与用户反馈，提出下一轮行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86341" y="7572375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动与调整建议。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01827" y="8724900"/>
            <a:ext cx="965857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交付项、深度与形式根据合作目标共同明确。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5992856" y="9286875"/>
            <a:ext cx="21808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怎样推进项目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721299" y="9686925"/>
            <a:ext cx="145240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275022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怎样推进项目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9254" y="1162050"/>
            <a:ext cx="1481916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111111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从业务理解到复盘，六步推进项目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9541" y="2200275"/>
            <a:ext cx="1460416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在关键选择与计划上形成共识，再推进执行、反馈和调整。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057900" y="4414838"/>
            <a:ext cx="457200" cy="142875"/>
          </a:xfrm>
          <a:custGeom>
            <a:avLst/>
            <a:gdLst/>
            <a:ahLst/>
            <a:cxnLst/>
            <a:rect r="r" b="b" t="t" l="l"/>
            <a:pathLst>
              <a:path h="142875" w="457200">
                <a:moveTo>
                  <a:pt x="0" y="0"/>
                </a:moveTo>
                <a:lnTo>
                  <a:pt x="457200" y="0"/>
                </a:lnTo>
                <a:lnTo>
                  <a:pt x="457200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72900" y="4414838"/>
            <a:ext cx="457200" cy="142875"/>
          </a:xfrm>
          <a:custGeom>
            <a:avLst/>
            <a:gdLst/>
            <a:ahLst/>
            <a:cxnLst/>
            <a:rect r="r" b="b" t="t" l="l"/>
            <a:pathLst>
              <a:path h="142875" w="457200">
                <a:moveTo>
                  <a:pt x="0" y="0"/>
                </a:moveTo>
                <a:lnTo>
                  <a:pt x="457200" y="0"/>
                </a:lnTo>
                <a:lnTo>
                  <a:pt x="457200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57900" y="7272338"/>
            <a:ext cx="457200" cy="142875"/>
          </a:xfrm>
          <a:custGeom>
            <a:avLst/>
            <a:gdLst/>
            <a:ahLst/>
            <a:cxnLst/>
            <a:rect r="r" b="b" t="t" l="l"/>
            <a:pathLst>
              <a:path h="142875" w="457200">
                <a:moveTo>
                  <a:pt x="0" y="0"/>
                </a:moveTo>
                <a:lnTo>
                  <a:pt x="457200" y="0"/>
                </a:lnTo>
                <a:lnTo>
                  <a:pt x="457200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772900" y="7272338"/>
            <a:ext cx="457200" cy="142875"/>
          </a:xfrm>
          <a:custGeom>
            <a:avLst/>
            <a:gdLst/>
            <a:ahLst/>
            <a:cxnLst/>
            <a:rect r="r" b="b" t="t" l="l"/>
            <a:pathLst>
              <a:path h="142875" w="457200">
                <a:moveTo>
                  <a:pt x="0" y="0"/>
                </a:moveTo>
                <a:lnTo>
                  <a:pt x="457200" y="0"/>
                </a:lnTo>
                <a:lnTo>
                  <a:pt x="457200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844712" y="5686425"/>
            <a:ext cx="28575" cy="228600"/>
            <a:chOff x="0" y="0"/>
            <a:chExt cx="38100" cy="304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100" cy="304800"/>
            </a:xfrm>
            <a:custGeom>
              <a:avLst/>
              <a:gdLst/>
              <a:ahLst/>
              <a:cxnLst/>
              <a:rect r="r" b="b" t="t" l="l"/>
              <a:pathLst>
                <a:path h="304800" w="38100">
                  <a:moveTo>
                    <a:pt x="0" y="0"/>
                  </a:moveTo>
                  <a:lnTo>
                    <a:pt x="38100" y="0"/>
                  </a:lnTo>
                  <a:lnTo>
                    <a:pt x="381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429000" y="5900738"/>
            <a:ext cx="11430000" cy="28575"/>
            <a:chOff x="0" y="0"/>
            <a:chExt cx="15240000" cy="38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240000" cy="38100"/>
            </a:xfrm>
            <a:custGeom>
              <a:avLst/>
              <a:gdLst/>
              <a:ahLst/>
              <a:cxnLst/>
              <a:rect r="r" b="b" t="t" l="l"/>
              <a:pathLst>
                <a:path h="381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3357562" y="5915025"/>
            <a:ext cx="142875" cy="228600"/>
          </a:xfrm>
          <a:custGeom>
            <a:avLst/>
            <a:gdLst/>
            <a:ahLst/>
            <a:cxnLst/>
            <a:rect r="r" b="b" t="t" l="l"/>
            <a:pathLst>
              <a:path h="228600" w="142875">
                <a:moveTo>
                  <a:pt x="0" y="0"/>
                </a:moveTo>
                <a:lnTo>
                  <a:pt x="142876" y="0"/>
                </a:lnTo>
                <a:lnTo>
                  <a:pt x="142876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07256" y="3278981"/>
            <a:ext cx="5043488" cy="2414588"/>
            <a:chOff x="0" y="0"/>
            <a:chExt cx="6724650" cy="3219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724650" cy="3219450"/>
            </a:xfrm>
            <a:custGeom>
              <a:avLst/>
              <a:gdLst/>
              <a:ahLst/>
              <a:cxnLst/>
              <a:rect r="r" b="b" t="t" l="l"/>
              <a:pathLst>
                <a:path h="321945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3219450"/>
                  </a:lnTo>
                  <a:lnTo>
                    <a:pt x="0" y="32194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D4CB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189863" y="3467100"/>
            <a:ext cx="94694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C9381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84148" y="3943350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理解业务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5291" y="4572000"/>
            <a:ext cx="609887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明确产品、目标、现有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5291" y="5114925"/>
            <a:ext cx="503571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基础与资源约束。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91306" y="3486150"/>
            <a:ext cx="342602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共同梳理业务与目标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622256" y="3278981"/>
            <a:ext cx="5043488" cy="2414588"/>
            <a:chOff x="0" y="0"/>
            <a:chExt cx="6724650" cy="32194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724650" cy="3219450"/>
            </a:xfrm>
            <a:custGeom>
              <a:avLst/>
              <a:gdLst/>
              <a:ahLst/>
              <a:cxnLst/>
              <a:rect r="r" b="b" t="t" l="l"/>
              <a:pathLst>
                <a:path h="321945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3219450"/>
                  </a:lnTo>
                  <a:lnTo>
                    <a:pt x="0" y="32194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D4CB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6904863" y="3467100"/>
            <a:ext cx="94694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C9381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99148" y="3943350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建立判断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900291" y="4572000"/>
            <a:ext cx="609887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研究市场与用户，识别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00291" y="5114925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核心营销问题。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337256" y="3278981"/>
            <a:ext cx="5043488" cy="2414588"/>
            <a:chOff x="0" y="0"/>
            <a:chExt cx="6724650" cy="32194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24650" cy="3219450"/>
            </a:xfrm>
            <a:custGeom>
              <a:avLst/>
              <a:gdLst/>
              <a:ahLst/>
              <a:cxnLst/>
              <a:rect r="r" b="b" t="t" l="l"/>
              <a:pathLst>
                <a:path h="321945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3219450"/>
                  </a:lnTo>
                  <a:lnTo>
                    <a:pt x="0" y="32194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D4CB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2619863" y="3467100"/>
            <a:ext cx="94694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C9381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03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614148" y="3943350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确定选择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615291" y="4572000"/>
            <a:ext cx="555840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比较方向与优先级，确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615291" y="5114925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认当前重点。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249906" y="3486150"/>
            <a:ext cx="292379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共同确认关键选择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07256" y="6136481"/>
            <a:ext cx="5043488" cy="2414588"/>
            <a:chOff x="0" y="0"/>
            <a:chExt cx="6724650" cy="32194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724650" cy="3219450"/>
            </a:xfrm>
            <a:custGeom>
              <a:avLst/>
              <a:gdLst/>
              <a:ahLst/>
              <a:cxnLst/>
              <a:rect r="r" b="b" t="t" l="l"/>
              <a:pathLst>
                <a:path h="321945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3219450"/>
                  </a:lnTo>
                  <a:lnTo>
                    <a:pt x="0" y="32194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D4CB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1189863" y="6324600"/>
            <a:ext cx="94694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C9381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04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84148" y="6800850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制定规划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85291" y="7429500"/>
            <a:ext cx="609887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形成阶段计划、任务分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85291" y="7972425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工与资源安排。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591306" y="6343650"/>
            <a:ext cx="342602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共同确认计划与分工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6622256" y="6136481"/>
            <a:ext cx="5043488" cy="2414588"/>
            <a:chOff x="0" y="0"/>
            <a:chExt cx="6724650" cy="32194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724650" cy="3219450"/>
            </a:xfrm>
            <a:custGeom>
              <a:avLst/>
              <a:gdLst/>
              <a:ahLst/>
              <a:cxnLst/>
              <a:rect r="r" b="b" t="t" l="l"/>
              <a:pathLst>
                <a:path h="321945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3219450"/>
                  </a:lnTo>
                  <a:lnTo>
                    <a:pt x="0" y="32194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D4CB"/>
              </a:solidFill>
              <a:prstDash val="solid"/>
              <a:miter/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6904863" y="6324600"/>
            <a:ext cx="94694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C9381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05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899148" y="6800850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推进执行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900291" y="7429500"/>
            <a:ext cx="609887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推进约定任务，协调客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900291" y="7972425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户团队与专业伙伴。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2337256" y="6136481"/>
            <a:ext cx="5043488" cy="2414588"/>
            <a:chOff x="0" y="0"/>
            <a:chExt cx="6724650" cy="321945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724650" cy="3219450"/>
            </a:xfrm>
            <a:custGeom>
              <a:avLst/>
              <a:gdLst/>
              <a:ahLst/>
              <a:cxnLst/>
              <a:rect r="r" b="b" t="t" l="l"/>
              <a:pathLst>
                <a:path h="321945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3219450"/>
                  </a:lnTo>
                  <a:lnTo>
                    <a:pt x="0" y="32194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D4CB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12619863" y="6324600"/>
            <a:ext cx="94694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C9381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06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614148" y="6800850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复盘调整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615291" y="7429500"/>
            <a:ext cx="555840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结合市场反馈，确定下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615291" y="7972425"/>
            <a:ext cx="344097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一步行动。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249906" y="6343650"/>
            <a:ext cx="292379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共同讨论后续行动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01827" y="8724900"/>
            <a:ext cx="695978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客户参与关键选择与计划确认；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302377" y="8734425"/>
            <a:ext cx="252168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Outrise 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436004" y="8724900"/>
            <a:ext cx="471078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组织推进约定工作。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2"/>
              </a:stretch>
            </a:blip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15992856" y="9286875"/>
            <a:ext cx="21808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怎样推进项目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6786927" y="9686925"/>
            <a:ext cx="138677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93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354147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为什么选择我们 ·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77375" y="495300"/>
            <a:ext cx="220298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AI-native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89254" y="1171575"/>
            <a:ext cx="2418293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FFFFFF"/>
                </a:solidFill>
                <a:latin typeface="Instrument Sans Semi-Bold"/>
                <a:ea typeface="Instrument Sans Semi-Bold"/>
                <a:cs typeface="Instrument Sans Semi-Bold"/>
                <a:sym typeface="Instrument Sans Semi-Bold"/>
              </a:rPr>
              <a:t>AI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1090" y="1162050"/>
            <a:ext cx="12120372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FFFFFF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已融入我们的内部执行体系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9541" y="2209800"/>
            <a:ext cx="298017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Outrise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39223" y="2200275"/>
            <a:ext cx="838467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已建立高度自动化、智能化、以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23140" y="2209800"/>
            <a:ext cx="142898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62252" y="2200275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为驱动的执行体系。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07256" y="3850481"/>
            <a:ext cx="3786188" cy="3643312"/>
            <a:chOff x="0" y="0"/>
            <a:chExt cx="5048250" cy="48577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48250" cy="4857750"/>
            </a:xfrm>
            <a:custGeom>
              <a:avLst/>
              <a:gdLst/>
              <a:ahLst/>
              <a:cxnLst/>
              <a:rect r="r" b="b" t="t" l="l"/>
              <a:pathLst>
                <a:path h="4857750" w="5048250">
                  <a:moveTo>
                    <a:pt x="0" y="0"/>
                  </a:moveTo>
                  <a:lnTo>
                    <a:pt x="5048250" y="0"/>
                  </a:lnTo>
                  <a:lnTo>
                    <a:pt x="5048250" y="4857750"/>
                  </a:lnTo>
                  <a:lnTo>
                    <a:pt x="0" y="48577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3461" t="0" r="-73461" b="0"/>
              </a:stretch>
            </a:blip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184148" y="4143375"/>
            <a:ext cx="370566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研究与知识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5291" y="4943475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整理资料与信息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5291" y="5486400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积累项目经验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5291" y="6029325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形成知识基础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4800600" y="5614988"/>
            <a:ext cx="228600" cy="142875"/>
          </a:xfrm>
          <a:custGeom>
            <a:avLst/>
            <a:gdLst/>
            <a:ahLst/>
            <a:cxnLst/>
            <a:rect r="r" b="b" t="t" l="l"/>
            <a:pathLst>
              <a:path h="142875" w="228600">
                <a:moveTo>
                  <a:pt x="0" y="0"/>
                </a:moveTo>
                <a:lnTo>
                  <a:pt x="228600" y="0"/>
                </a:lnTo>
                <a:lnTo>
                  <a:pt x="228600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5136356" y="3850481"/>
            <a:ext cx="3786188" cy="3643312"/>
            <a:chOff x="0" y="0"/>
            <a:chExt cx="5048250" cy="48577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48250" cy="4857750"/>
            </a:xfrm>
            <a:custGeom>
              <a:avLst/>
              <a:gdLst/>
              <a:ahLst/>
              <a:cxnLst/>
              <a:rect r="r" b="b" t="t" l="l"/>
              <a:pathLst>
                <a:path h="4857750" w="5048250">
                  <a:moveTo>
                    <a:pt x="0" y="0"/>
                  </a:moveTo>
                  <a:lnTo>
                    <a:pt x="5048250" y="0"/>
                  </a:lnTo>
                  <a:lnTo>
                    <a:pt x="5048250" y="4857750"/>
                  </a:lnTo>
                  <a:lnTo>
                    <a:pt x="0" y="48577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3461" t="0" r="-73461" b="0"/>
              </a:stretch>
            </a:blip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5413248" y="4143375"/>
            <a:ext cx="370566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规划与任务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414391" y="4943475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衔接信息与计划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414391" y="5486400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协调任务与进度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414391" y="6029325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跟进工作反馈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9029700" y="5614988"/>
            <a:ext cx="228600" cy="142875"/>
          </a:xfrm>
          <a:custGeom>
            <a:avLst/>
            <a:gdLst/>
            <a:ahLst/>
            <a:cxnLst/>
            <a:rect r="r" b="b" t="t" l="l"/>
            <a:pathLst>
              <a:path h="142875" w="228600">
                <a:moveTo>
                  <a:pt x="0" y="0"/>
                </a:moveTo>
                <a:lnTo>
                  <a:pt x="228600" y="0"/>
                </a:lnTo>
                <a:lnTo>
                  <a:pt x="228600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365456" y="3850481"/>
            <a:ext cx="3786188" cy="3643312"/>
            <a:chOff x="0" y="0"/>
            <a:chExt cx="5048250" cy="48577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48250" cy="4857750"/>
            </a:xfrm>
            <a:custGeom>
              <a:avLst/>
              <a:gdLst/>
              <a:ahLst/>
              <a:cxnLst/>
              <a:rect r="r" b="b" t="t" l="l"/>
              <a:pathLst>
                <a:path h="4857750" w="5048250">
                  <a:moveTo>
                    <a:pt x="0" y="0"/>
                  </a:moveTo>
                  <a:lnTo>
                    <a:pt x="5048250" y="0"/>
                  </a:lnTo>
                  <a:lnTo>
                    <a:pt x="5048250" y="4857750"/>
                  </a:lnTo>
                  <a:lnTo>
                    <a:pt x="0" y="48577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3461" t="0" r="-73461" b="0"/>
              </a:stretch>
            </a:blip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9642348" y="4143375"/>
            <a:ext cx="370566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内容与创意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43491" y="4943475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支持创意探索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43491" y="5486400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协同素材生产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43491" y="6029325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推进内容迭代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3258800" y="5614988"/>
            <a:ext cx="228600" cy="142875"/>
          </a:xfrm>
          <a:custGeom>
            <a:avLst/>
            <a:gdLst/>
            <a:ahLst/>
            <a:cxnLst/>
            <a:rect r="r" b="b" t="t" l="l"/>
            <a:pathLst>
              <a:path h="142875" w="228600">
                <a:moveTo>
                  <a:pt x="0" y="0"/>
                </a:moveTo>
                <a:lnTo>
                  <a:pt x="228600" y="0"/>
                </a:lnTo>
                <a:lnTo>
                  <a:pt x="228600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3594556" y="3850481"/>
            <a:ext cx="3786188" cy="3643312"/>
            <a:chOff x="0" y="0"/>
            <a:chExt cx="5048250" cy="48577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048250" cy="4857750"/>
            </a:xfrm>
            <a:custGeom>
              <a:avLst/>
              <a:gdLst/>
              <a:ahLst/>
              <a:cxnLst/>
              <a:rect r="r" b="b" t="t" l="l"/>
              <a:pathLst>
                <a:path h="4857750" w="5048250">
                  <a:moveTo>
                    <a:pt x="0" y="0"/>
                  </a:moveTo>
                  <a:lnTo>
                    <a:pt x="5048250" y="0"/>
                  </a:lnTo>
                  <a:lnTo>
                    <a:pt x="5048250" y="4857750"/>
                  </a:lnTo>
                  <a:lnTo>
                    <a:pt x="0" y="48577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3461" t="0" r="-73461" b="0"/>
              </a:stretch>
            </a:blip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3871448" y="4143375"/>
            <a:ext cx="370566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反馈与改进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872591" y="4943475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整理项目反馈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872591" y="5486400"/>
            <a:ext cx="430110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更新知识与流程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872591" y="6029325"/>
            <a:ext cx="430110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支持下一轮工作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5473362" y="7486650"/>
            <a:ext cx="28575" cy="428625"/>
            <a:chOff x="0" y="0"/>
            <a:chExt cx="38100" cy="5715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8100" cy="571500"/>
            </a:xfrm>
            <a:custGeom>
              <a:avLst/>
              <a:gdLst/>
              <a:ahLst/>
              <a:cxnLst/>
              <a:rect r="r" b="b" t="t" l="l"/>
              <a:pathLst>
                <a:path h="571500" w="38100">
                  <a:moveTo>
                    <a:pt x="0" y="0"/>
                  </a:moveTo>
                  <a:lnTo>
                    <a:pt x="38100" y="0"/>
                  </a:lnTo>
                  <a:lnTo>
                    <a:pt x="381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2800350" y="7900988"/>
            <a:ext cx="12687300" cy="28575"/>
            <a:chOff x="0" y="0"/>
            <a:chExt cx="16916400" cy="381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6916400" cy="38100"/>
            </a:xfrm>
            <a:custGeom>
              <a:avLst/>
              <a:gdLst/>
              <a:ahLst/>
              <a:cxnLst/>
              <a:rect r="r" b="b" t="t" l="l"/>
              <a:pathLst>
                <a:path h="38100" w="16916400">
                  <a:moveTo>
                    <a:pt x="0" y="0"/>
                  </a:moveTo>
                  <a:lnTo>
                    <a:pt x="16916400" y="0"/>
                  </a:lnTo>
                  <a:lnTo>
                    <a:pt x="16916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1" id="41"/>
          <p:cNvSpPr/>
          <p:nvPr/>
        </p:nvSpPr>
        <p:spPr>
          <a:xfrm flipH="false" flipV="false" rot="0">
            <a:off x="2728912" y="7486650"/>
            <a:ext cx="142875" cy="428625"/>
          </a:xfrm>
          <a:custGeom>
            <a:avLst/>
            <a:gdLst/>
            <a:ahLst/>
            <a:cxnLst/>
            <a:rect r="r" b="b" t="t" l="l"/>
            <a:pathLst>
              <a:path h="428625" w="142875">
                <a:moveTo>
                  <a:pt x="0" y="0"/>
                </a:moveTo>
                <a:lnTo>
                  <a:pt x="142876" y="0"/>
                </a:lnTo>
                <a:lnTo>
                  <a:pt x="142876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914400" y="8429625"/>
            <a:ext cx="16459200" cy="657225"/>
            <a:chOff x="0" y="0"/>
            <a:chExt cx="21945600" cy="8763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945600" cy="876300"/>
            </a:xfrm>
            <a:custGeom>
              <a:avLst/>
              <a:gdLst/>
              <a:ahLst/>
              <a:cxnLst/>
              <a:rect r="r" b="b" t="t" l="l"/>
              <a:pathLst>
                <a:path h="8763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76300"/>
                  </a:lnTo>
                  <a:lnTo>
                    <a:pt x="0" y="8763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6343078" y="8515350"/>
            <a:ext cx="875678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C9381E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团队负责商业判断、方向与质量。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2"/>
              </a:stretch>
            </a:blip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4453149" y="9286875"/>
            <a:ext cx="314797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为什么选择我们 · 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6384419" y="9286875"/>
            <a:ext cx="178928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AI-native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748979" y="9686925"/>
            <a:ext cx="142472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501354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为什么选择我们 · 市场理解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9254" y="1162050"/>
            <a:ext cx="1032117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FFFFFF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理解技术，也理解市场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9541" y="2200275"/>
            <a:ext cx="1619891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把产品逻辑，转化为用户能够理解的价值与营销行动。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9254" y="3490912"/>
            <a:ext cx="4923587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C9381E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产品价值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00141" y="3543300"/>
            <a:ext cx="124735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理解产品、目标与需求，把产品力转化为具体价值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00141" y="4086225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与使用场景。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715000" y="5022056"/>
            <a:ext cx="11658600" cy="14288"/>
            <a:chOff x="0" y="0"/>
            <a:chExt cx="15544800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544800" cy="19050"/>
            </a:xfrm>
            <a:custGeom>
              <a:avLst/>
              <a:gdLst/>
              <a:ahLst/>
              <a:cxnLst/>
              <a:rect r="r" b="b" t="t" l="l"/>
              <a:pathLst>
                <a:path h="1905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62625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89254" y="5348288"/>
            <a:ext cx="4923587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C9381E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市场变化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00141" y="5400675"/>
            <a:ext cx="200570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关注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26359" y="5410200"/>
            <a:ext cx="142898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65480" y="5400675"/>
            <a:ext cx="1120822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对信息发现、内容传播和用户决策的影响，持续调整策略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700141" y="5943600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与渠道选择。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715000" y="6879431"/>
            <a:ext cx="11658600" cy="14288"/>
            <a:chOff x="0" y="0"/>
            <a:chExt cx="15544800" cy="190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544800" cy="19050"/>
            </a:xfrm>
            <a:custGeom>
              <a:avLst/>
              <a:gdLst/>
              <a:ahLst/>
              <a:cxnLst/>
              <a:rect r="r" b="b" t="t" l="l"/>
              <a:pathLst>
                <a:path h="1905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62625D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89254" y="7205662"/>
            <a:ext cx="4923587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C9381E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快速适应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700141" y="7258050"/>
            <a:ext cx="124735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衔接研究、创意与市场反馈，更灵活地组织尝试，并调整下一轮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700141" y="7800975"/>
            <a:ext cx="237781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行动。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715000" y="8736806"/>
            <a:ext cx="11658600" cy="14288"/>
            <a:chOff x="0" y="0"/>
            <a:chExt cx="15544800" cy="19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544800" cy="19050"/>
            </a:xfrm>
            <a:custGeom>
              <a:avLst/>
              <a:gdLst/>
              <a:ahLst/>
              <a:cxnLst/>
              <a:rect r="r" b="b" t="t" l="l"/>
              <a:pathLst>
                <a:path h="1905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62625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4518786" y="9286875"/>
            <a:ext cx="365491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为什么选择我们 · 市场理解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743169" y="9686925"/>
            <a:ext cx="143053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243741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项目经验 /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48916" y="495300"/>
            <a:ext cx="352702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62625D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Inner Brightness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89254" y="1047750"/>
            <a:ext cx="12120372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111111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两个月推进北美渠道冷启动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9541" y="1928813"/>
            <a:ext cx="413203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团队参与北美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11659" y="1938338"/>
            <a:ext cx="2597467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TikTok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93502" y="1928813"/>
            <a:ext cx="732151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渠道冷启动，以达人合作与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34479" y="1938338"/>
            <a:ext cx="142898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73591" y="1928813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辅助素材测试，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9541" y="2443163"/>
            <a:ext cx="1088310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快速验证内容方向、获取流量并推动销售。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5825" y="3181350"/>
            <a:ext cx="3018187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C9381E"/>
                </a:solidFill>
                <a:latin typeface="Instrument Sans Semi-Bold"/>
                <a:ea typeface="Instrument Sans Semi-Bold"/>
                <a:cs typeface="Instrument Sans Semi-Bold"/>
                <a:sym typeface="Instrument Sans Semi-Bold"/>
              </a:rPr>
              <a:t>2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71625" y="3181350"/>
            <a:ext cx="4522965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C9381E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个月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01827" y="4352925"/>
            <a:ext cx="336139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完成项目落地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400550" y="3181350"/>
            <a:ext cx="5708028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C9381E"/>
                </a:solidFill>
                <a:latin typeface="Instrument Sans Semi-Bold"/>
                <a:ea typeface="Instrument Sans Semi-Bold"/>
                <a:cs typeface="Instrument Sans Semi-Bold"/>
                <a:sym typeface="Instrument Sans Semi-Bold"/>
              </a:rPr>
              <a:t>$10K+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416552" y="4352925"/>
            <a:ext cx="349633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月销售额超过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73044" y="4362450"/>
            <a:ext cx="104493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59010" y="4352925"/>
            <a:ext cx="201199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万美元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14400" y="5029200"/>
            <a:ext cx="71438" cy="371475"/>
            <a:chOff x="0" y="0"/>
            <a:chExt cx="95250" cy="4953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250" cy="495300"/>
            </a:xfrm>
            <a:custGeom>
              <a:avLst/>
              <a:gdLst/>
              <a:ahLst/>
              <a:cxnLst/>
              <a:rect r="r" b="b" t="t" l="l"/>
              <a:pathLst>
                <a:path h="495300" w="95250">
                  <a:moveTo>
                    <a:pt x="0" y="0"/>
                  </a:moveTo>
                  <a:lnTo>
                    <a:pt x="95250" y="0"/>
                  </a:lnTo>
                  <a:lnTo>
                    <a:pt x="95250" y="495300"/>
                  </a:lnTo>
                  <a:lnTo>
                    <a:pt x="0" y="4953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184148" y="4972050"/>
            <a:ext cx="427813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选择切入方向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85291" y="5500687"/>
            <a:ext cx="875678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明确卖点、受众与达人合作重点。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14400" y="6315075"/>
            <a:ext cx="71438" cy="371475"/>
            <a:chOff x="0" y="0"/>
            <a:chExt cx="95250" cy="4953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5250" cy="495300"/>
            </a:xfrm>
            <a:custGeom>
              <a:avLst/>
              <a:gdLst/>
              <a:ahLst/>
              <a:cxnLst/>
              <a:rect r="r" b="b" t="t" l="l"/>
              <a:pathLst>
                <a:path h="495300" w="95250">
                  <a:moveTo>
                    <a:pt x="0" y="0"/>
                  </a:moveTo>
                  <a:lnTo>
                    <a:pt x="95250" y="0"/>
                  </a:lnTo>
                  <a:lnTo>
                    <a:pt x="95250" y="495300"/>
                  </a:lnTo>
                  <a:lnTo>
                    <a:pt x="0" y="4953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84148" y="6257925"/>
            <a:ext cx="485060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组织达人与素材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5291" y="6786563"/>
            <a:ext cx="519519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推进达人合作，以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240359" y="6796088"/>
            <a:ext cx="142898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679480" y="6786563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辅助测试脚本。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14400" y="7600950"/>
            <a:ext cx="71438" cy="371475"/>
            <a:chOff x="0" y="0"/>
            <a:chExt cx="95250" cy="4953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5250" cy="495300"/>
            </a:xfrm>
            <a:custGeom>
              <a:avLst/>
              <a:gdLst/>
              <a:ahLst/>
              <a:cxnLst/>
              <a:rect r="r" b="b" t="t" l="l"/>
              <a:pathLst>
                <a:path h="495300" w="95250">
                  <a:moveTo>
                    <a:pt x="0" y="0"/>
                  </a:moveTo>
                  <a:lnTo>
                    <a:pt x="95250" y="0"/>
                  </a:lnTo>
                  <a:lnTo>
                    <a:pt x="95250" y="495300"/>
                  </a:lnTo>
                  <a:lnTo>
                    <a:pt x="0" y="4953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184148" y="7543800"/>
            <a:ext cx="427813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根据反馈迭代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85291" y="8072437"/>
            <a:ext cx="875678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结合内容与投放反馈，持续迭代。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915400" y="3257550"/>
            <a:ext cx="8458200" cy="4014788"/>
            <a:chOff x="0" y="0"/>
            <a:chExt cx="11277600" cy="53530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277600" cy="5353050"/>
            </a:xfrm>
            <a:custGeom>
              <a:avLst/>
              <a:gdLst/>
              <a:ahLst/>
              <a:cxnLst/>
              <a:rect r="r" b="b" t="t" l="l"/>
              <a:pathLst>
                <a:path h="5353050" w="11277600">
                  <a:moveTo>
                    <a:pt x="0" y="0"/>
                  </a:moveTo>
                  <a:lnTo>
                    <a:pt x="11277600" y="0"/>
                  </a:lnTo>
                  <a:lnTo>
                    <a:pt x="11277600" y="5353050"/>
                  </a:lnTo>
                  <a:lnTo>
                    <a:pt x="0" y="5353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1" t="0" r="-61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8905113" y="7396162"/>
            <a:ext cx="256622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2026/03/25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304840" y="7386637"/>
            <a:ext cx="74453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—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562015" y="7396162"/>
            <a:ext cx="155417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04/03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292021" y="7386637"/>
            <a:ext cx="91014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｜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549196" y="7396162"/>
            <a:ext cx="3516821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GMV $12,595.73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8915400" y="7715250"/>
            <a:ext cx="2571750" cy="1528762"/>
            <a:chOff x="0" y="0"/>
            <a:chExt cx="3429000" cy="20383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429000" cy="2038350"/>
            </a:xfrm>
            <a:custGeom>
              <a:avLst/>
              <a:gdLst/>
              <a:ahLst/>
              <a:cxnLst/>
              <a:rect r="r" b="b" t="t" l="l"/>
              <a:pathLst>
                <a:path h="203835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2038350"/>
                  </a:lnTo>
                  <a:lnTo>
                    <a:pt x="0" y="2038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5" t="0" r="-35" b="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1819763" y="7843837"/>
            <a:ext cx="74453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@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069794" y="7853362"/>
            <a:ext cx="493993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1111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innerbrightness.official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819763" y="8315325"/>
            <a:ext cx="459031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官方账号与内容发布阵地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820906" y="8786812"/>
            <a:ext cx="538878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截图为独立期间数据，非整月统计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2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6450056" y="9286875"/>
            <a:ext cx="17236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项目经验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6669283" y="9686925"/>
            <a:ext cx="150441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057525"/>
            <a:chOff x="0" y="0"/>
            <a:chExt cx="24384000" cy="4076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076700"/>
            </a:xfrm>
            <a:custGeom>
              <a:avLst/>
              <a:gdLst/>
              <a:ahLst/>
              <a:cxnLst/>
              <a:rect r="r" b="b" t="t" l="l"/>
              <a:pathLst>
                <a:path h="4076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076700"/>
                  </a:lnTo>
                  <a:lnTo>
                    <a:pt x="0" y="40767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04113" y="485775"/>
            <a:ext cx="243741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项目经验 /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48916" y="495300"/>
            <a:ext cx="223361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ARTILUME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9254" y="1047750"/>
            <a:ext cx="5193468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FFFFFF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重新规划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46062" y="1057275"/>
            <a:ext cx="3083652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FFFFFF"/>
                </a:solidFill>
                <a:latin typeface="Instrument Sans Semi-Bold"/>
                <a:ea typeface="Instrument Sans Semi-Bold"/>
                <a:cs typeface="Instrument Sans Semi-Bold"/>
                <a:sym typeface="Instrument Sans Semi-Bold"/>
              </a:rPr>
              <a:t>GTM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77708" y="1047750"/>
            <a:ext cx="9421578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FFFFFF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，推动第二阶段增长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9541" y="1928813"/>
            <a:ext cx="1263732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面对销量增长放缓与达人渠道依赖，团队参与调整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55259" y="1938338"/>
            <a:ext cx="182216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GTM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96440" y="1928813"/>
            <a:ext cx="131465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9541" y="2443163"/>
            <a:ext cx="838467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拓展品牌表达、自有内容矩阵与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83459" y="2452688"/>
            <a:ext cx="2597467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TikTok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65301" y="2443163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之外的曝光。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01827" y="3381375"/>
            <a:ext cx="336139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原有增长方式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31477" y="3381375"/>
            <a:ext cx="259673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C9381E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调整后的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59548" y="3390900"/>
            <a:ext cx="154183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C9381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GTM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9541" y="3886200"/>
            <a:ext cx="609887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销售高度依赖达人渠道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286750" y="4057650"/>
            <a:ext cx="685800" cy="142875"/>
          </a:xfrm>
          <a:custGeom>
            <a:avLst/>
            <a:gdLst/>
            <a:ahLst/>
            <a:cxnLst/>
            <a:rect r="r" b="b" t="t" l="l"/>
            <a:pathLst>
              <a:path h="142875" w="685800">
                <a:moveTo>
                  <a:pt x="0" y="0"/>
                </a:moveTo>
                <a:lnTo>
                  <a:pt x="685800" y="0"/>
                </a:lnTo>
                <a:lnTo>
                  <a:pt x="685800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529191" y="3886200"/>
            <a:ext cx="864450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建立自有内容，丰富品牌流量来源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14400" y="4507706"/>
            <a:ext cx="16459200" cy="14288"/>
            <a:chOff x="0" y="0"/>
            <a:chExt cx="21945600" cy="190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99541" y="4700587"/>
            <a:ext cx="663045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技术参数多，理解门槛高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8286750" y="4872038"/>
            <a:ext cx="685800" cy="142875"/>
          </a:xfrm>
          <a:custGeom>
            <a:avLst/>
            <a:gdLst/>
            <a:ahLst/>
            <a:cxnLst/>
            <a:rect r="r" b="b" t="t" l="l"/>
            <a:pathLst>
              <a:path h="142875" w="685800">
                <a:moveTo>
                  <a:pt x="0" y="0"/>
                </a:moveTo>
                <a:lnTo>
                  <a:pt x="685800" y="0"/>
                </a:lnTo>
                <a:lnTo>
                  <a:pt x="685800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9529191" y="4700587"/>
            <a:ext cx="864450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围绕场景、创作价值与操作体验表达产品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14400" y="5322094"/>
            <a:ext cx="16459200" cy="14288"/>
            <a:chOff x="0" y="0"/>
            <a:chExt cx="21945600" cy="190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899541" y="5514975"/>
            <a:ext cx="503571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渠道动作相对分散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8286750" y="5686425"/>
            <a:ext cx="685800" cy="142875"/>
          </a:xfrm>
          <a:custGeom>
            <a:avLst/>
            <a:gdLst/>
            <a:ahLst/>
            <a:cxnLst/>
            <a:rect r="r" b="b" t="t" l="l"/>
            <a:pathLst>
              <a:path h="142875" w="685800">
                <a:moveTo>
                  <a:pt x="0" y="0"/>
                </a:moveTo>
                <a:lnTo>
                  <a:pt x="685800" y="0"/>
                </a:lnTo>
                <a:lnTo>
                  <a:pt x="685800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9529191" y="5514975"/>
            <a:ext cx="864450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统筹内容、达人、投放与站外曝光节奏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14400" y="6136481"/>
            <a:ext cx="16459200" cy="14288"/>
            <a:chOff x="0" y="0"/>
            <a:chExt cx="21945600" cy="19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14400" y="6415088"/>
            <a:ext cx="4000500" cy="2657475"/>
            <a:chOff x="0" y="0"/>
            <a:chExt cx="5334000" cy="35433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334000" cy="3543300"/>
            </a:xfrm>
            <a:custGeom>
              <a:avLst/>
              <a:gdLst/>
              <a:ahLst/>
              <a:cxnLst/>
              <a:rect r="r" b="b" t="t" l="l"/>
              <a:pathLst>
                <a:path h="35433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3543300"/>
                  </a:lnTo>
                  <a:lnTo>
                    <a:pt x="0" y="3543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" t="0" r="-13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257800" y="6626838"/>
            <a:ext cx="4343400" cy="1976799"/>
            <a:chOff x="0" y="0"/>
            <a:chExt cx="5791200" cy="263573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791200" cy="2635758"/>
            </a:xfrm>
            <a:custGeom>
              <a:avLst/>
              <a:gdLst/>
              <a:ahLst/>
              <a:cxnLst/>
              <a:rect r="r" b="b" t="t" l="l"/>
              <a:pathLst>
                <a:path h="2635758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2635758"/>
                  </a:lnTo>
                  <a:lnTo>
                    <a:pt x="0" y="2635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5248656" y="8915400"/>
            <a:ext cx="408028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操作教程与产品使用场景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0344150" y="6572250"/>
            <a:ext cx="57150" cy="2143125"/>
            <a:chOff x="0" y="0"/>
            <a:chExt cx="76200" cy="28575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200" cy="2857500"/>
            </a:xfrm>
            <a:custGeom>
              <a:avLst/>
              <a:gdLst/>
              <a:ahLst/>
              <a:cxnLst/>
              <a:rect r="r" b="b" t="t" l="l"/>
              <a:pathLst>
                <a:path h="28575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857500"/>
                  </a:lnTo>
                  <a:lnTo>
                    <a:pt x="0" y="28575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0668762" y="6605588"/>
            <a:ext cx="68520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从达人出单，拓展为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668762" y="7234238"/>
            <a:ext cx="68520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品牌与内容共同驱动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672191" y="8001000"/>
            <a:ext cx="503571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支持科技硬件产品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672191" y="8515350"/>
            <a:ext cx="663045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在美国市场的二次增长。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2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6450056" y="9286875"/>
            <a:ext cx="17236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项目经验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673522" y="9686925"/>
            <a:ext cx="150017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243741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项目经验 /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48916" y="495300"/>
            <a:ext cx="130038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62625D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INUK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89254" y="1047750"/>
            <a:ext cx="12120372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111111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从品牌定位到北美市场表达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9541" y="1928813"/>
            <a:ext cx="200570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参与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759" y="1938338"/>
            <a:ext cx="2046827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INUK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89498" y="1928813"/>
            <a:ext cx="1513574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的北美品牌冷启动，将品牌理念、产品特点与用户需求连接，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9541" y="2443163"/>
            <a:ext cx="1300942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形成可持续用于内容、店铺与渠道传播的营销基础。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8398" y="3443287"/>
            <a:ext cx="485060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市场与产品判断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9541" y="4071937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明确目标用户、使用场景、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9541" y="4586287"/>
            <a:ext cx="663045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主推产品与阶段优先级。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8398" y="5329237"/>
            <a:ext cx="485060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品牌与价值表达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9541" y="5957887"/>
            <a:ext cx="200570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围绕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5759" y="5967412"/>
            <a:ext cx="470021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Common Nature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81030" y="5957887"/>
            <a:ext cx="237781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，梳理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9541" y="6472237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适合北美用户的品牌叙事。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8398" y="7215187"/>
            <a:ext cx="542307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可复用的内容资产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9541" y="7843837"/>
            <a:ext cx="663045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将定位落实到产品卖点、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9541" y="8358187"/>
            <a:ext cx="609887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视觉素材与渠道文案。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429500" y="3371850"/>
            <a:ext cx="3429000" cy="4291965"/>
            <a:chOff x="0" y="0"/>
            <a:chExt cx="4572000" cy="57226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72000" cy="5722620"/>
            </a:xfrm>
            <a:custGeom>
              <a:avLst/>
              <a:gdLst/>
              <a:ahLst/>
              <a:cxnLst/>
              <a:rect r="r" b="b" t="t" l="l"/>
              <a:pathLst>
                <a:path h="572262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722620"/>
                  </a:lnTo>
                  <a:lnTo>
                    <a:pt x="0" y="5722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7416927" y="7853362"/>
            <a:ext cx="426099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品牌故事内容资产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20356" y="8372475"/>
            <a:ext cx="188853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基于既有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386105" y="8372475"/>
            <a:ext cx="299150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Common Nature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89007" y="8372475"/>
            <a:ext cx="113614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理念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887200" y="3371850"/>
            <a:ext cx="5029200" cy="5029200"/>
            <a:chOff x="0" y="0"/>
            <a:chExt cx="6705600" cy="6705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705600" cy="6705600"/>
            </a:xfrm>
            <a:custGeom>
              <a:avLst/>
              <a:gdLst/>
              <a:ahLst/>
              <a:cxnLst/>
              <a:rect r="r" b="b" t="t" l="l"/>
              <a:pathLst>
                <a:path h="670560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6705600"/>
                  </a:lnTo>
                  <a:lnTo>
                    <a:pt x="0" y="670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1419713" y="8624888"/>
            <a:ext cx="205863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CRUISER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556236" y="8615363"/>
            <a:ext cx="385428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产品卖点与视觉表达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05256" y="8915400"/>
            <a:ext cx="833292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基于品牌既有理念与素材，进行表达梳理和渠道应用。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2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6450056" y="9286875"/>
            <a:ext cx="17236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项目经验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665264" y="9686925"/>
            <a:ext cx="150843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243741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项目经验 /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48916" y="495300"/>
            <a:ext cx="130038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INUK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89254" y="1047750"/>
            <a:ext cx="1301997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FFFFFF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让内容、达人和渠道协同运行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9541" y="1928813"/>
            <a:ext cx="1566733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将统一的品牌与产品表达落实到内容、达人、广告和渠道承接，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9541" y="2443163"/>
            <a:ext cx="769361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通过持续复盘调整工作重点。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400" y="3328988"/>
            <a:ext cx="85725" cy="400050"/>
            <a:chOff x="0" y="0"/>
            <a:chExt cx="114300" cy="533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4300" cy="533400"/>
            </a:xfrm>
            <a:custGeom>
              <a:avLst/>
              <a:gdLst/>
              <a:ahLst/>
              <a:cxnLst/>
              <a:rect r="r" b="b" t="t" l="l"/>
              <a:pathLst>
                <a:path h="5334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41298" y="3286125"/>
            <a:ext cx="485060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内容与产品素材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2441" y="3829050"/>
            <a:ext cx="1035152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产品图、场景内容、品牌文章与短视频。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85825" y="4429125"/>
            <a:ext cx="142875" cy="242888"/>
          </a:xfrm>
          <a:custGeom>
            <a:avLst/>
            <a:gdLst/>
            <a:ahLst/>
            <a:cxnLst/>
            <a:rect r="r" b="b" t="t" l="l"/>
            <a:pathLst>
              <a:path h="242888" w="142875">
                <a:moveTo>
                  <a:pt x="0" y="0"/>
                </a:moveTo>
                <a:lnTo>
                  <a:pt x="142875" y="0"/>
                </a:lnTo>
                <a:lnTo>
                  <a:pt x="142875" y="242887"/>
                </a:lnTo>
                <a:lnTo>
                  <a:pt x="0" y="24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14400" y="4700588"/>
            <a:ext cx="85725" cy="400050"/>
            <a:chOff x="0" y="0"/>
            <a:chExt cx="114300" cy="533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4300" cy="533400"/>
            </a:xfrm>
            <a:custGeom>
              <a:avLst/>
              <a:gdLst/>
              <a:ahLst/>
              <a:cxnLst/>
              <a:rect r="r" b="b" t="t" l="l"/>
              <a:pathLst>
                <a:path h="5334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41298" y="4657725"/>
            <a:ext cx="485060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达人及广告触达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2441" y="5200650"/>
            <a:ext cx="928836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达人筛选、建联、寄样与发布跟进。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85825" y="5800725"/>
            <a:ext cx="142875" cy="242888"/>
          </a:xfrm>
          <a:custGeom>
            <a:avLst/>
            <a:gdLst/>
            <a:ahLst/>
            <a:cxnLst/>
            <a:rect r="r" b="b" t="t" l="l"/>
            <a:pathLst>
              <a:path h="242888" w="142875">
                <a:moveTo>
                  <a:pt x="0" y="0"/>
                </a:moveTo>
                <a:lnTo>
                  <a:pt x="142875" y="0"/>
                </a:lnTo>
                <a:lnTo>
                  <a:pt x="142875" y="242887"/>
                </a:lnTo>
                <a:lnTo>
                  <a:pt x="0" y="24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914400" y="6072188"/>
            <a:ext cx="85725" cy="400050"/>
            <a:chOff x="0" y="0"/>
            <a:chExt cx="114300" cy="533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4300" cy="533400"/>
            </a:xfrm>
            <a:custGeom>
              <a:avLst/>
              <a:gdLst/>
              <a:ahLst/>
              <a:cxnLst/>
              <a:rect r="r" b="b" t="t" l="l"/>
              <a:pathLst>
                <a:path h="5334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41298" y="6029325"/>
            <a:ext cx="485060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官网与电商承接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2441" y="6572250"/>
            <a:ext cx="200570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衔接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68659" y="6581775"/>
            <a:ext cx="243498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TikTok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176168" y="6572250"/>
            <a:ext cx="131465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547643" y="6581775"/>
            <a:ext cx="282213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Amazon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039573" y="6572250"/>
            <a:ext cx="503571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与官网购买路径。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885825" y="7172325"/>
            <a:ext cx="142875" cy="242888"/>
          </a:xfrm>
          <a:custGeom>
            <a:avLst/>
            <a:gdLst/>
            <a:ahLst/>
            <a:cxnLst/>
            <a:rect r="r" b="b" t="t" l="l"/>
            <a:pathLst>
              <a:path h="242888" w="142875">
                <a:moveTo>
                  <a:pt x="0" y="0"/>
                </a:moveTo>
                <a:lnTo>
                  <a:pt x="142875" y="0"/>
                </a:lnTo>
                <a:lnTo>
                  <a:pt x="142875" y="242887"/>
                </a:lnTo>
                <a:lnTo>
                  <a:pt x="0" y="24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914400" y="7443788"/>
            <a:ext cx="85725" cy="400050"/>
            <a:chOff x="0" y="0"/>
            <a:chExt cx="114300" cy="533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4300" cy="533400"/>
            </a:xfrm>
            <a:custGeom>
              <a:avLst/>
              <a:gdLst/>
              <a:ahLst/>
              <a:cxnLst/>
              <a:rect r="r" b="b" t="t" l="l"/>
              <a:pathLst>
                <a:path h="5334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41298" y="7400925"/>
            <a:ext cx="485060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表现复盘与调整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2441" y="7943850"/>
            <a:ext cx="1088310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测试素材，调整关键词与预算，持续复盘。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915400" y="3143250"/>
            <a:ext cx="2771775" cy="6000750"/>
            <a:chOff x="0" y="0"/>
            <a:chExt cx="3695700" cy="8001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95700" cy="8001000"/>
            </a:xfrm>
            <a:custGeom>
              <a:avLst/>
              <a:gdLst/>
              <a:ahLst/>
              <a:cxnLst/>
              <a:rect r="r" b="b" t="t" l="l"/>
              <a:pathLst>
                <a:path h="8001000" w="3695700">
                  <a:moveTo>
                    <a:pt x="0" y="0"/>
                  </a:moveTo>
                  <a:lnTo>
                    <a:pt x="3695700" y="0"/>
                  </a:lnTo>
                  <a:lnTo>
                    <a:pt x="3695700" y="8001000"/>
                  </a:lnTo>
                  <a:lnTo>
                    <a:pt x="0" y="800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9" t="0" r="-19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030075" y="3143250"/>
            <a:ext cx="5343525" cy="3086100"/>
            <a:chOff x="0" y="0"/>
            <a:chExt cx="7124700" cy="4114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24700" cy="4114800"/>
            </a:xfrm>
            <a:custGeom>
              <a:avLst/>
              <a:gdLst/>
              <a:ahLst/>
              <a:cxnLst/>
              <a:rect r="r" b="b" t="t" l="l"/>
              <a:pathLst>
                <a:path h="4114800" w="7124700">
                  <a:moveTo>
                    <a:pt x="0" y="0"/>
                  </a:moveTo>
                  <a:lnTo>
                    <a:pt x="7124700" y="0"/>
                  </a:lnTo>
                  <a:lnTo>
                    <a:pt x="7124700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3" t="0" r="-53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508916" y="6572250"/>
            <a:ext cx="4385834" cy="2571750"/>
            <a:chOff x="0" y="0"/>
            <a:chExt cx="5847778" cy="3429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847842" cy="3429000"/>
            </a:xfrm>
            <a:custGeom>
              <a:avLst/>
              <a:gdLst/>
              <a:ahLst/>
              <a:cxnLst/>
              <a:rect r="r" b="b" t="t" l="l"/>
              <a:pathLst>
                <a:path h="3429000" w="5847842">
                  <a:moveTo>
                    <a:pt x="0" y="0"/>
                  </a:moveTo>
                  <a:lnTo>
                    <a:pt x="5847842" y="0"/>
                  </a:lnTo>
                  <a:lnTo>
                    <a:pt x="5847842" y="3429000"/>
                  </a:lnTo>
                  <a:lnTo>
                    <a:pt x="0" y="342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2020931" y="6229350"/>
            <a:ext cx="473453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已上线品牌文章与广告落地页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62625D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2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6450056" y="9286875"/>
            <a:ext cx="17236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项目经验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682895" y="9686925"/>
            <a:ext cx="149080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311824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谁来为客户负责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9254" y="1162050"/>
            <a:ext cx="699266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111111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一个入口，由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03362" y="1171575"/>
            <a:ext cx="5043373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111111"/>
                </a:solidFill>
                <a:latin typeface="Instrument Sans Semi-Bold"/>
                <a:ea typeface="Instrument Sans Semi-Bold"/>
                <a:cs typeface="Instrument Sans Semi-Bold"/>
                <a:sym typeface="Instrument Sans Semi-Bold"/>
              </a:rPr>
              <a:t>Outrise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33787" y="1162050"/>
            <a:ext cx="4923587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111111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统一负责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9541" y="2200275"/>
            <a:ext cx="1727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在约定合作范围内，统筹策略、进度、质量与专业伙伴，对整体合作交付负责并背书。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00112" y="3471862"/>
            <a:ext cx="2657475" cy="1514475"/>
            <a:chOff x="0" y="0"/>
            <a:chExt cx="3543300" cy="20193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43300" cy="2019300"/>
            </a:xfrm>
            <a:custGeom>
              <a:avLst/>
              <a:gdLst/>
              <a:ahLst/>
              <a:cxnLst/>
              <a:rect r="r" b="b" t="t" l="l"/>
              <a:pathLst>
                <a:path h="2019300" w="3543300">
                  <a:moveTo>
                    <a:pt x="0" y="0"/>
                  </a:moveTo>
                  <a:lnTo>
                    <a:pt x="3543300" y="0"/>
                  </a:lnTo>
                  <a:lnTo>
                    <a:pt x="3543300" y="2019300"/>
                  </a:lnTo>
                  <a:lnTo>
                    <a:pt x="0" y="20193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119" t="0" r="-23119" b="0"/>
              </a:stretch>
            </a:blipFill>
            <a:ln w="28575" cap="sq">
              <a:solidFill>
                <a:srgbClr val="C9381E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753362" y="3933825"/>
            <a:ext cx="227228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客户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857750" y="3486150"/>
            <a:ext cx="8572500" cy="1485900"/>
            <a:chOff x="0" y="0"/>
            <a:chExt cx="11430000" cy="1981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300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1981200"/>
                  </a:lnTo>
                  <a:lnTo>
                    <a:pt x="0" y="19812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257800" y="3886200"/>
            <a:ext cx="2571750" cy="680437"/>
            <a:chOff x="0" y="0"/>
            <a:chExt cx="3429000" cy="907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557641" y="4000500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统一负责与背书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2728912" y="4157662"/>
            <a:ext cx="12830175" cy="1914525"/>
          </a:xfrm>
          <a:custGeom>
            <a:avLst/>
            <a:gdLst/>
            <a:ahLst/>
            <a:cxnLst/>
            <a:rect r="r" b="b" t="t" l="l"/>
            <a:pathLst>
              <a:path h="1914525" w="12830175">
                <a:moveTo>
                  <a:pt x="0" y="0"/>
                </a:moveTo>
                <a:lnTo>
                  <a:pt x="12830176" y="0"/>
                </a:lnTo>
                <a:lnTo>
                  <a:pt x="12830176" y="1914526"/>
                </a:lnTo>
                <a:lnTo>
                  <a:pt x="0" y="19145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98398" y="6400800"/>
            <a:ext cx="370566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策略与决策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9541" y="7086600"/>
            <a:ext cx="503571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理解业务，提出判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9541" y="7629525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断，制定方向与阶段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9541" y="8172450"/>
            <a:ext cx="237781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规划。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27498" y="6400800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项目统筹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28641" y="7086600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协调任务、进度与沟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28641" y="7629525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通，跟进交付、处理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28641" y="8172450"/>
            <a:ext cx="344097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协作问题。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56598" y="6400800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直接执行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57741" y="7086600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承担约定的内容、达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57741" y="7629525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人、广告与投放等关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57741" y="8172450"/>
            <a:ext cx="290939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键工作。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585698" y="6400800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专业协作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586841" y="7086600"/>
            <a:ext cx="45868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组织专项伙伴，明确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586841" y="7629525"/>
            <a:ext cx="45868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要求与分工，衔接整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586841" y="8172450"/>
            <a:ext cx="290939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体交付。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01827" y="8810625"/>
            <a:ext cx="619512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伙伴参与执行时，客户仍由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744269" y="8820150"/>
            <a:ext cx="252168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Outrise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877897" y="8810625"/>
            <a:ext cx="291159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统一承接。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2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5764256" y="9286875"/>
            <a:ext cx="24094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谁来为客户负责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744731" y="9686925"/>
            <a:ext cx="14289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000375"/>
            <a:chOff x="0" y="0"/>
            <a:chExt cx="24384000" cy="4000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000500"/>
            </a:xfrm>
            <a:custGeom>
              <a:avLst/>
              <a:gdLst/>
              <a:ahLst/>
              <a:cxnLst/>
              <a:rect r="r" b="b" t="t" l="l"/>
              <a:pathLst>
                <a:path h="40005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000500"/>
                  </a:lnTo>
                  <a:lnTo>
                    <a:pt x="0" y="40005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04113" y="485775"/>
            <a:ext cx="311824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如何与我们合作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9254" y="1162050"/>
            <a:ext cx="1481916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FFFFFF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按业务阶段，选择合适的合作深度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9541" y="2200275"/>
            <a:ext cx="1513574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以策略咨询为核心，结合业务目标约定工作范围与执行支持。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400" y="3514725"/>
            <a:ext cx="685800" cy="57150"/>
            <a:chOff x="0" y="0"/>
            <a:chExt cx="914400" cy="76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76200"/>
            </a:xfrm>
            <a:custGeom>
              <a:avLst/>
              <a:gdLst/>
              <a:ahLst/>
              <a:cxnLst/>
              <a:rect r="r" b="b" t="t" l="l"/>
              <a:pathLst>
                <a:path h="76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896112" y="3790950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策略咨询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1827" y="5153025"/>
            <a:ext cx="471078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需要厘清问题与方向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9541" y="5772150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围绕市场、定位或渠道等明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9541" y="6315075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确问题，形成判断、建议与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9541" y="6858000"/>
            <a:ext cx="344097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行动方向。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279356" y="3514725"/>
            <a:ext cx="14288" cy="5057775"/>
            <a:chOff x="0" y="0"/>
            <a:chExt cx="19050" cy="67437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050" cy="6743700"/>
            </a:xfrm>
            <a:custGeom>
              <a:avLst/>
              <a:gdLst/>
              <a:ahLst/>
              <a:cxnLst/>
              <a:rect r="r" b="b" t="t" l="l"/>
              <a:pathLst>
                <a:path h="6743700" w="19050">
                  <a:moveTo>
                    <a:pt x="0" y="0"/>
                  </a:moveTo>
                  <a:lnTo>
                    <a:pt x="19050" y="0"/>
                  </a:lnTo>
                  <a:lnTo>
                    <a:pt x="19050" y="6743700"/>
                  </a:lnTo>
                  <a:lnTo>
                    <a:pt x="0" y="674370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629400" y="3514725"/>
            <a:ext cx="685800" cy="57150"/>
            <a:chOff x="0" y="0"/>
            <a:chExt cx="914400" cy="76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76200"/>
            </a:xfrm>
            <a:custGeom>
              <a:avLst/>
              <a:gdLst/>
              <a:ahLst/>
              <a:cxnLst/>
              <a:rect r="r" b="b" t="t" l="l"/>
              <a:pathLst>
                <a:path h="76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611112" y="3790950"/>
            <a:ext cx="312280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阶段性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85630" y="3790950"/>
            <a:ext cx="224266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GTM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23483" y="3790950"/>
            <a:ext cx="161803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／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11112" y="4419600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品牌项目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16827" y="5153025"/>
            <a:ext cx="471078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需要推进阶段性目标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14541" y="5772150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围绕明确的阶段目标，共同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14541" y="6315075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制定方案，完成规划与选定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614541" y="6858000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的关键执行。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994356" y="3514725"/>
            <a:ext cx="14288" cy="5057775"/>
            <a:chOff x="0" y="0"/>
            <a:chExt cx="19050" cy="67437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050" cy="6743700"/>
            </a:xfrm>
            <a:custGeom>
              <a:avLst/>
              <a:gdLst/>
              <a:ahLst/>
              <a:cxnLst/>
              <a:rect r="r" b="b" t="t" l="l"/>
              <a:pathLst>
                <a:path h="6743700" w="19050">
                  <a:moveTo>
                    <a:pt x="0" y="0"/>
                  </a:moveTo>
                  <a:lnTo>
                    <a:pt x="19050" y="0"/>
                  </a:lnTo>
                  <a:lnTo>
                    <a:pt x="19050" y="6743700"/>
                  </a:lnTo>
                  <a:lnTo>
                    <a:pt x="0" y="674370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344400" y="3514725"/>
            <a:ext cx="685800" cy="57150"/>
            <a:chOff x="0" y="0"/>
            <a:chExt cx="914400" cy="76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" cy="76200"/>
            </a:xfrm>
            <a:custGeom>
              <a:avLst/>
              <a:gdLst/>
              <a:ahLst/>
              <a:cxnLst/>
              <a:rect r="r" b="b" t="t" l="l"/>
              <a:pathLst>
                <a:path h="76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2326112" y="3790950"/>
            <a:ext cx="488929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持续营销统筹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26112" y="4419600"/>
            <a:ext cx="423504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与团队支持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331827" y="5153025"/>
            <a:ext cx="471078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需要持续判断与推进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29541" y="5772150"/>
            <a:ext cx="584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持续参与重点讨论、资源协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29541" y="6315075"/>
            <a:ext cx="584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调与工作复盘。在持续合作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29541" y="6858000"/>
            <a:ext cx="584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中，我们承担类似外部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127559" y="6867525"/>
            <a:ext cx="1934489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CMO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329541" y="7400925"/>
            <a:ext cx="584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的营销统筹职责，并按约定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329541" y="7943850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推进关键工作。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01827" y="8810625"/>
            <a:ext cx="1100797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每次合作共同明确：目标、交付、分工与评估方式。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5764256" y="9286875"/>
            <a:ext cx="24094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如何与我们合作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736701" y="9686925"/>
            <a:ext cx="143699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93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1157288"/>
            <a:ext cx="9144000" cy="2419350"/>
            <a:chOff x="0" y="0"/>
            <a:chExt cx="12192000" cy="3225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0" cy="3225800"/>
            </a:xfrm>
            <a:custGeom>
              <a:avLst/>
              <a:gdLst/>
              <a:ahLst/>
              <a:cxnLst/>
              <a:rect r="r" b="b" t="t" l="l"/>
              <a:pathLst>
                <a:path h="32258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3225800"/>
                  </a:lnTo>
                  <a:lnTo>
                    <a:pt x="0" y="322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85825" y="4181475"/>
            <a:ext cx="11065497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FFFFFF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从你的北美市场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5825" y="5367338"/>
            <a:ext cx="7139978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FFFFFF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目标开始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9541" y="6757987"/>
            <a:ext cx="1513574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告诉我们你的产品、目标与当前营销难题，一起确定合适的合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9541" y="7300913"/>
            <a:ext cx="344097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作切入点。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9254" y="8229600"/>
            <a:ext cx="11220774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FFFFF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hello@outrisetech.com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794456" y="4657725"/>
            <a:ext cx="14288" cy="4343400"/>
            <a:chOff x="0" y="0"/>
            <a:chExt cx="19050" cy="5791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" cy="5791200"/>
            </a:xfrm>
            <a:custGeom>
              <a:avLst/>
              <a:gdLst/>
              <a:ahLst/>
              <a:cxnLst/>
              <a:rect r="r" b="b" t="t" l="l"/>
              <a:pathLst>
                <a:path h="5791200" w="19050">
                  <a:moveTo>
                    <a:pt x="0" y="0"/>
                  </a:moveTo>
                  <a:lnTo>
                    <a:pt x="19050" y="0"/>
                  </a:lnTo>
                  <a:lnTo>
                    <a:pt x="19050" y="5791200"/>
                  </a:lnTo>
                  <a:lnTo>
                    <a:pt x="0" y="5791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242798" y="4686300"/>
            <a:ext cx="370566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产品与业务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46227" y="5353050"/>
            <a:ext cx="492747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你为谁提供什么价值？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42798" y="6086475"/>
            <a:ext cx="427813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北美市场目标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246227" y="6753225"/>
            <a:ext cx="492747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当前最希望推进什么？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242798" y="7486650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营销难题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246227" y="8153400"/>
            <a:ext cx="492747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哪些营销工作需要支持？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5256" y="9686925"/>
            <a:ext cx="286991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专注北美市场的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56805" y="9686925"/>
            <a:ext cx="205773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AI-native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582600" y="9686925"/>
            <a:ext cx="277177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营销与增长团队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450056" y="9286875"/>
            <a:ext cx="17236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开始合作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754113" y="9686925"/>
            <a:ext cx="141958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DAHZJb1YZpA</dc:identifier>
  <dcterms:modified xsi:type="dcterms:W3CDTF">2011-08-01T06:04:30Z</dcterms:modified>
  <cp:revision>1</cp:revision>
  <dc:title>Outrise｜Intro Deck v8.2｜公司介绍</dc:title>
</cp:coreProperties>
</file>