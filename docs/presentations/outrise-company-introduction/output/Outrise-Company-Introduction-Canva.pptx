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Arimo" charset="1" panose="020B0604020202020204"/>
      <p:regular r:id="rId25"/>
    </p:embeddedFont>
    <p:embeddedFont>
      <p:font typeface="Arimo Bold" charset="1" panose="020B070402020202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35" Target="notesSlides/notesSlide10.xml" Type="http://schemas.openxmlformats.org/officeDocument/2006/relationships/notesSlide"/><Relationship Id="rId36" Target="notesSlides/notesSlide11.xml" Type="http://schemas.openxmlformats.org/officeDocument/2006/relationships/notesSlide"/><Relationship Id="rId37" Target="notesSlides/notesSlide12.xml" Type="http://schemas.openxmlformats.org/officeDocument/2006/relationships/notesSlide"/><Relationship Id="rId38" Target="notesSlides/notesSlide13.xml" Type="http://schemas.openxmlformats.org/officeDocument/2006/relationships/notesSlide"/><Relationship Id="rId39" Target="notesSlides/notesSlide14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5.xml" Type="http://schemas.openxmlformats.org/officeDocument/2006/relationships/notesSlide"/><Relationship Id="rId41" Target="notesSlides/notesSlide16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9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400">
            <a:off x="1000125" y="9356407"/>
            <a:ext cx="16287750" cy="0"/>
          </a:xfrm>
          <a:prstGeom prst="line">
            <a:avLst/>
          </a:prstGeom>
          <a:ln cap="rnd" w="9525">
            <a:solidFill>
              <a:srgbClr val="4D4F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9582150"/>
            <a:ext cx="14401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 spc="32">
                <a:solidFill>
                  <a:srgbClr val="B7B9AD"/>
                </a:solidFill>
                <a:latin typeface="Arimo"/>
                <a:ea typeface="Arimo"/>
                <a:cs typeface="Arimo"/>
                <a:sym typeface="Arimo"/>
              </a:rPr>
              <a:t>NORTH AMERICA FOCUSED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90620" y="9547860"/>
            <a:ext cx="89154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35">
                <a:solidFill>
                  <a:srgbClr val="B7B9AD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1560" y="643890"/>
            <a:ext cx="11430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79" spc="39">
                <a:solidFill>
                  <a:srgbClr val="B7B9AD"/>
                </a:solidFill>
                <a:latin typeface="Arimo"/>
                <a:ea typeface="Arimo"/>
                <a:cs typeface="Arimo"/>
                <a:sym typeface="Arimo"/>
              </a:rPr>
              <a:t>NORTH AMERICA FOCUSED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7260" y="1849755"/>
            <a:ext cx="15773400" cy="239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47"/>
              </a:lnSpc>
            </a:pPr>
            <a:r>
              <a:rPr lang="en-US" b="true" sz="14039" spc="280">
                <a:solidFill>
                  <a:srgbClr val="EEEDE5"/>
                </a:solidFill>
                <a:latin typeface="Arimo Bold"/>
                <a:ea typeface="Arimo Bold"/>
                <a:cs typeface="Arimo Bold"/>
                <a:sym typeface="Arimo Bold"/>
              </a:rPr>
              <a:t>Outrise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1560" y="4265295"/>
            <a:ext cx="15659100" cy="1575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b="true" sz="4320" spc="86">
                <a:solidFill>
                  <a:srgbClr val="EEEDE5"/>
                </a:solidFill>
                <a:latin typeface="Arimo Bold"/>
                <a:ea typeface="Arimo Bold"/>
                <a:cs typeface="Arimo Bold"/>
                <a:sym typeface="Arimo Bold"/>
              </a:rPr>
              <a:t>专注北美市场</a:t>
            </a:r>
          </a:p>
          <a:p>
            <a:pPr algn="l">
              <a:lnSpc>
                <a:spcPts val="5184"/>
              </a:lnSpc>
            </a:pPr>
            <a:r>
              <a:rPr lang="en-US" b="true" sz="4320" spc="86">
                <a:solidFill>
                  <a:srgbClr val="EEEDE5"/>
                </a:solidFill>
                <a:latin typeface="Arimo Bold"/>
                <a:ea typeface="Arimo Bold"/>
                <a:cs typeface="Arimo Bold"/>
                <a:sym typeface="Arimo Bold"/>
              </a:rPr>
              <a:t>外部营销负责人（CMO）与营销团队</a:t>
            </a:r>
          </a:p>
        </p:txBody>
      </p:sp>
      <p:sp>
        <p:nvSpPr>
          <p:cNvPr name="AutoShape 8" id="8"/>
          <p:cNvSpPr/>
          <p:nvPr/>
        </p:nvSpPr>
        <p:spPr>
          <a:xfrm rot="3660">
            <a:off x="1042978" y="5973128"/>
            <a:ext cx="16202035" cy="0"/>
          </a:xfrm>
          <a:prstGeom prst="line">
            <a:avLst/>
          </a:prstGeom>
          <a:ln cap="rnd" w="9525">
            <a:solidFill>
              <a:srgbClr val="4D4F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51560" y="6427470"/>
            <a:ext cx="708660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 spc="53">
                <a:solidFill>
                  <a:srgbClr val="EEEDE5"/>
                </a:solidFill>
                <a:latin typeface="Arimo Bold"/>
                <a:ea typeface="Arimo Bold"/>
                <a:cs typeface="Arimo Bold"/>
                <a:sym typeface="Arimo Bold"/>
              </a:rPr>
              <a:t>AI-native 营销与增长团队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15500" y="6381750"/>
            <a:ext cx="7520940" cy="187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spc="53">
                <a:solidFill>
                  <a:srgbClr val="B7B9AD"/>
                </a:solidFill>
                <a:latin typeface="Arimo"/>
                <a:ea typeface="Arimo"/>
                <a:cs typeface="Arimo"/>
                <a:sym typeface="Arimo"/>
              </a:rPr>
              <a:t>为消费品牌与科技创业公司，判断方向、</a:t>
            </a:r>
          </a:p>
          <a:p>
            <a:pPr algn="l">
              <a:lnSpc>
                <a:spcPts val="3240"/>
              </a:lnSpc>
            </a:pPr>
            <a:r>
              <a:rPr lang="en-US" sz="2700" spc="53">
                <a:solidFill>
                  <a:srgbClr val="B7B9AD"/>
                </a:solidFill>
                <a:latin typeface="Arimo"/>
                <a:ea typeface="Arimo"/>
                <a:cs typeface="Arimo"/>
                <a:sym typeface="Arimo"/>
              </a:rPr>
              <a:t>做出选择、制定规划，推进关键营销工</a:t>
            </a:r>
          </a:p>
          <a:p>
            <a:pPr algn="l">
              <a:lnSpc>
                <a:spcPts val="3240"/>
              </a:lnSpc>
            </a:pPr>
            <a:r>
              <a:rPr lang="en-US" sz="2700" spc="53">
                <a:solidFill>
                  <a:srgbClr val="B7B9AD"/>
                </a:solidFill>
                <a:latin typeface="Arimo"/>
                <a:ea typeface="Arimo"/>
                <a:cs typeface="Arimo"/>
                <a:sym typeface="Arimo"/>
              </a:rPr>
              <a:t>作。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1560" y="7821930"/>
            <a:ext cx="3429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340" spc="46">
                <a:solidFill>
                  <a:srgbClr val="EEEDE5"/>
                </a:solidFill>
                <a:latin typeface="Arimo"/>
                <a:ea typeface="Arimo"/>
                <a:cs typeface="Arimo"/>
                <a:sym typeface="Arimo"/>
              </a:rPr>
              <a:t>消费品牌出海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06340" y="7821930"/>
            <a:ext cx="48006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340" spc="46">
                <a:solidFill>
                  <a:srgbClr val="EEEDE5"/>
                </a:solidFill>
                <a:latin typeface="Arimo"/>
                <a:ea typeface="Arimo"/>
                <a:cs typeface="Arimo"/>
                <a:sym typeface="Arimo"/>
              </a:rPr>
              <a:t>科技创业公司 GTM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EED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5840" y="529590"/>
            <a:ext cx="12573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35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我们是谁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05840" y="1158240"/>
            <a:ext cx="16276320" cy="107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3"/>
              </a:lnSpc>
            </a:pPr>
            <a:r>
              <a:rPr lang="en-US" b="true" sz="5220" spc="104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一支参与判断，也推动行动的营销团队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01240"/>
            <a:ext cx="16002000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以策略咨询为核心，提供外部 CMO 与营销团队支持。</a:t>
            </a:r>
          </a:p>
        </p:txBody>
      </p:sp>
      <p:sp>
        <p:nvSpPr>
          <p:cNvPr name="AutoShape 5" id="5"/>
          <p:cNvSpPr/>
          <p:nvPr/>
        </p:nvSpPr>
        <p:spPr>
          <a:xfrm rot="2400">
            <a:off x="1000125" y="9356407"/>
            <a:ext cx="16287750" cy="0"/>
          </a:xfrm>
          <a:prstGeom prst="line">
            <a:avLst/>
          </a:prstGeom>
          <a:ln cap="rnd" w="9525">
            <a:solidFill>
              <a:srgbClr val="B9BA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9582150"/>
            <a:ext cx="14401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 spc="3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从营销判断到关键行动，获得持续的专业支持。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390620" y="9547860"/>
            <a:ext cx="89154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35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766185"/>
            <a:ext cx="6057900" cy="2040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1"/>
              </a:lnSpc>
            </a:pPr>
            <a:r>
              <a:rPr lang="en-US" b="true" sz="5759" spc="115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外部 CMO</a:t>
            </a:r>
          </a:p>
          <a:p>
            <a:pPr algn="l">
              <a:lnSpc>
                <a:spcPts val="6911"/>
              </a:lnSpc>
            </a:pPr>
            <a:r>
              <a:rPr lang="en-US" b="true" sz="5759" spc="115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与营销团队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4420" y="6438900"/>
            <a:ext cx="542925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spc="53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持续参与你的营销工作</a:t>
            </a:r>
          </a:p>
        </p:txBody>
      </p:sp>
      <p:sp>
        <p:nvSpPr>
          <p:cNvPr name="AutoShape 10" id="10"/>
          <p:cNvSpPr/>
          <p:nvPr/>
        </p:nvSpPr>
        <p:spPr>
          <a:xfrm rot="5390340">
            <a:off x="4902317" y="6104572"/>
            <a:ext cx="4871485" cy="0"/>
          </a:xfrm>
          <a:prstGeom prst="line">
            <a:avLst/>
          </a:prstGeom>
          <a:ln cap="rnd" w="9525">
            <a:solidFill>
              <a:srgbClr val="B9BA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8001000" y="3571875"/>
            <a:ext cx="1028700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4"/>
              </a:lnSpc>
            </a:pPr>
            <a:r>
              <a:rPr lang="en-US" sz="3420" spc="68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95460" y="3581400"/>
            <a:ext cx="777240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b="true" sz="3060" spc="61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判断与选择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95460" y="4278630"/>
            <a:ext cx="777240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5"/>
              </a:lnSpc>
            </a:pPr>
            <a:r>
              <a:rPr lang="en-US" sz="2429" spc="48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理解业务与市场，明确面向谁、讲什么，以及优</a:t>
            </a:r>
          </a:p>
          <a:p>
            <a:pPr algn="l">
              <a:lnSpc>
                <a:spcPts val="2915"/>
              </a:lnSpc>
            </a:pPr>
            <a:r>
              <a:rPr lang="en-US" sz="2429" spc="48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先投入的渠道。</a:t>
            </a:r>
          </a:p>
        </p:txBody>
      </p:sp>
      <p:sp>
        <p:nvSpPr>
          <p:cNvPr name="AutoShape 14" id="14"/>
          <p:cNvSpPr/>
          <p:nvPr/>
        </p:nvSpPr>
        <p:spPr>
          <a:xfrm rot="5100">
            <a:off x="7994132" y="5093018"/>
            <a:ext cx="9294886" cy="0"/>
          </a:xfrm>
          <a:prstGeom prst="line">
            <a:avLst/>
          </a:prstGeom>
          <a:ln cap="rnd" w="9525">
            <a:solidFill>
              <a:srgbClr val="B9BA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8001000" y="5263515"/>
            <a:ext cx="1028700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4"/>
              </a:lnSpc>
            </a:pPr>
            <a:r>
              <a:rPr lang="en-US" sz="3420" spc="68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95460" y="5273040"/>
            <a:ext cx="777240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b="true" sz="3060" spc="61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规划与统筹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95460" y="5970270"/>
            <a:ext cx="777240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5"/>
              </a:lnSpc>
            </a:pPr>
            <a:r>
              <a:rPr lang="en-US" sz="2429" spc="48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形成阶段计划、资源安排和清晰分工，统筹各项</a:t>
            </a:r>
          </a:p>
          <a:p>
            <a:pPr algn="l">
              <a:lnSpc>
                <a:spcPts val="2915"/>
              </a:lnSpc>
            </a:pPr>
            <a:r>
              <a:rPr lang="en-US" sz="2429" spc="48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营销工作。</a:t>
            </a:r>
          </a:p>
        </p:txBody>
      </p:sp>
      <p:sp>
        <p:nvSpPr>
          <p:cNvPr name="AutoShape 18" id="18"/>
          <p:cNvSpPr/>
          <p:nvPr/>
        </p:nvSpPr>
        <p:spPr>
          <a:xfrm rot="5100">
            <a:off x="7994132" y="6784657"/>
            <a:ext cx="9294886" cy="0"/>
          </a:xfrm>
          <a:prstGeom prst="line">
            <a:avLst/>
          </a:prstGeom>
          <a:ln cap="rnd" w="9525">
            <a:solidFill>
              <a:srgbClr val="B9BA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8001000" y="6955155"/>
            <a:ext cx="1028700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4"/>
              </a:lnSpc>
            </a:pPr>
            <a:r>
              <a:rPr lang="en-US" sz="3420" spc="68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95460" y="6964680"/>
            <a:ext cx="777240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b="true" sz="3060" spc="61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关键执行与调整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95460" y="7661910"/>
            <a:ext cx="777240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5"/>
              </a:lnSpc>
            </a:pPr>
            <a:r>
              <a:rPr lang="en-US" sz="2429" spc="48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承担约定执行，协调客户团队与伙伴，根据反馈</a:t>
            </a:r>
          </a:p>
          <a:p>
            <a:pPr algn="l">
              <a:lnSpc>
                <a:spcPts val="2915"/>
              </a:lnSpc>
            </a:pPr>
            <a:r>
              <a:rPr lang="en-US" sz="2429" spc="48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调整下一步行动。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EED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5840" y="529590"/>
            <a:ext cx="12573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35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我们服务谁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05840" y="1158240"/>
            <a:ext cx="16276320" cy="107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3"/>
              </a:lnSpc>
            </a:pPr>
            <a:r>
              <a:rPr lang="en-US" b="true" sz="5220" spc="104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两类客户，一个明确的市场聚焦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01240"/>
            <a:ext cx="16002000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专门面向北美市场，根据业务阶段确定营销目标。</a:t>
            </a:r>
          </a:p>
        </p:txBody>
      </p:sp>
      <p:sp>
        <p:nvSpPr>
          <p:cNvPr name="AutoShape 5" id="5"/>
          <p:cNvSpPr/>
          <p:nvPr/>
        </p:nvSpPr>
        <p:spPr>
          <a:xfrm rot="2400">
            <a:off x="1000125" y="9356407"/>
            <a:ext cx="16287750" cy="0"/>
          </a:xfrm>
          <a:prstGeom prst="line">
            <a:avLst/>
          </a:prstGeom>
          <a:ln cap="rnd" w="9525">
            <a:solidFill>
              <a:srgbClr val="B9BA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9582150"/>
            <a:ext cx="14401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 spc="3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从当前目标与资源出发，确定适合你的营销路径。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390620" y="9547860"/>
            <a:ext cx="89154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35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sp>
        <p:nvSpPr>
          <p:cNvPr name="AutoShape 8" id="8"/>
          <p:cNvSpPr/>
          <p:nvPr/>
        </p:nvSpPr>
        <p:spPr>
          <a:xfrm rot="5390520">
            <a:off x="6656822" y="6144578"/>
            <a:ext cx="4974355" cy="0"/>
          </a:xfrm>
          <a:prstGeom prst="line">
            <a:avLst/>
          </a:prstGeom>
          <a:ln cap="rnd" w="9525">
            <a:solidFill>
              <a:srgbClr val="B9BA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28700" y="3684270"/>
            <a:ext cx="70866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79" spc="39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01 / CONSUMER BRANDS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394835"/>
            <a:ext cx="731520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 spc="71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面向消费者的品牌出海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615940"/>
            <a:ext cx="7292340" cy="193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spc="53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面向希望进入或拓展北美市场的消费品</a:t>
            </a:r>
          </a:p>
          <a:p>
            <a:pPr algn="l">
              <a:lnSpc>
                <a:spcPts val="3240"/>
              </a:lnSpc>
            </a:pPr>
            <a:r>
              <a:rPr lang="en-US" sz="2700" spc="53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牌。既支持以销售增长为目标的电商出</a:t>
            </a:r>
          </a:p>
          <a:p>
            <a:pPr algn="l">
              <a:lnSpc>
                <a:spcPts val="3240"/>
              </a:lnSpc>
            </a:pPr>
            <a:r>
              <a:rPr lang="en-US" sz="2700" spc="53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海，也支持以品牌认知、定位与持续传播</a:t>
            </a:r>
          </a:p>
          <a:p>
            <a:pPr algn="l">
              <a:lnSpc>
                <a:spcPts val="3240"/>
              </a:lnSpc>
            </a:pPr>
            <a:r>
              <a:rPr lang="en-US" sz="2700" spc="53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为重点的品牌建设。</a:t>
            </a:r>
          </a:p>
        </p:txBody>
      </p:sp>
      <p:sp>
        <p:nvSpPr>
          <p:cNvPr name="AutoShape 12" id="12"/>
          <p:cNvSpPr/>
          <p:nvPr/>
        </p:nvSpPr>
        <p:spPr>
          <a:xfrm rot="11040">
            <a:off x="1017251" y="8014335"/>
            <a:ext cx="7109498" cy="0"/>
          </a:xfrm>
          <a:prstGeom prst="line">
            <a:avLst/>
          </a:prstGeom>
          <a:ln cap="rnd" w="19050">
            <a:solidFill>
              <a:srgbClr val="191A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028700" y="8301990"/>
            <a:ext cx="708660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2520" spc="50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品牌建设 / 电商增长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66960" y="3684270"/>
            <a:ext cx="70866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79" spc="39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02 / TECH STARTUPS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66960" y="4394835"/>
            <a:ext cx="731520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 spc="71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泛科技创业公司 GTM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66960" y="5615940"/>
            <a:ext cx="7292340" cy="193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spc="53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围绕市场进入与增长（GTM），帮助不</a:t>
            </a:r>
          </a:p>
          <a:p>
            <a:pPr algn="l">
              <a:lnSpc>
                <a:spcPts val="3240"/>
              </a:lnSpc>
            </a:pPr>
            <a:r>
              <a:rPr lang="en-US" sz="2700" spc="53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同类型的科技创业公司明确目标用户、讲</a:t>
            </a:r>
          </a:p>
          <a:p>
            <a:pPr algn="l">
              <a:lnSpc>
                <a:spcPts val="3240"/>
              </a:lnSpc>
            </a:pPr>
            <a:r>
              <a:rPr lang="en-US" sz="2700" spc="53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清产品价值、选择营销渠道，并安排各项</a:t>
            </a:r>
          </a:p>
          <a:p>
            <a:pPr algn="l">
              <a:lnSpc>
                <a:spcPts val="3240"/>
              </a:lnSpc>
            </a:pPr>
            <a:r>
              <a:rPr lang="en-US" sz="2700" spc="53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工作的先后顺序。</a:t>
            </a:r>
          </a:p>
        </p:txBody>
      </p:sp>
      <p:sp>
        <p:nvSpPr>
          <p:cNvPr name="AutoShape 17" id="17"/>
          <p:cNvSpPr/>
          <p:nvPr/>
        </p:nvSpPr>
        <p:spPr>
          <a:xfrm rot="11040">
            <a:off x="9955511" y="8014335"/>
            <a:ext cx="7109498" cy="0"/>
          </a:xfrm>
          <a:prstGeom prst="line">
            <a:avLst/>
          </a:prstGeom>
          <a:ln cap="rnd" w="19050">
            <a:solidFill>
              <a:srgbClr val="191A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9966960" y="8301990"/>
            <a:ext cx="708660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2520" spc="50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市场进入 / 增长规划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D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5840" y="529590"/>
            <a:ext cx="12573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35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我们做什么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05840" y="1158240"/>
            <a:ext cx="16276320" cy="107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3"/>
              </a:lnSpc>
            </a:pPr>
            <a:r>
              <a:rPr lang="en-US" b="true" sz="5220" spc="104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两项核心能力，连接策略与行动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01240"/>
            <a:ext cx="16002000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以营销判断和渠道规划统筹工作，按目标组合执行能力。</a:t>
            </a:r>
          </a:p>
        </p:txBody>
      </p:sp>
      <p:sp>
        <p:nvSpPr>
          <p:cNvPr name="AutoShape 5" id="5"/>
          <p:cNvSpPr/>
          <p:nvPr/>
        </p:nvSpPr>
        <p:spPr>
          <a:xfrm rot="2400">
            <a:off x="1000125" y="9356407"/>
            <a:ext cx="16287750" cy="0"/>
          </a:xfrm>
          <a:prstGeom prst="line">
            <a:avLst/>
          </a:prstGeom>
          <a:ln cap="rnd" w="9525">
            <a:solidFill>
              <a:srgbClr val="B9BA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9582150"/>
            <a:ext cx="14401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 spc="3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具体执行渠道、工作量与责任范围，在合作方案中明确。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390620" y="9547860"/>
            <a:ext cx="89154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35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364230"/>
            <a:ext cx="21717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79" spc="39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核心能力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3337560"/>
            <a:ext cx="6789420" cy="1897380"/>
            <a:chOff x="0" y="0"/>
            <a:chExt cx="9052560" cy="25298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052560" cy="2529840"/>
            </a:xfrm>
            <a:custGeom>
              <a:avLst/>
              <a:gdLst/>
              <a:ahLst/>
              <a:cxnLst/>
              <a:rect r="r" b="b" t="t" l="l"/>
              <a:pathLst>
                <a:path h="2529840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2529840"/>
                  </a:lnTo>
                  <a:lnTo>
                    <a:pt x="0" y="2529840"/>
                  </a:lnTo>
                  <a:close/>
                </a:path>
              </a:pathLst>
            </a:custGeom>
            <a:solidFill>
              <a:srgbClr val="191A1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492740" y="3337560"/>
            <a:ext cx="6789420" cy="1897380"/>
            <a:chOff x="0" y="0"/>
            <a:chExt cx="9052560" cy="25298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052560" cy="2529840"/>
            </a:xfrm>
            <a:custGeom>
              <a:avLst/>
              <a:gdLst/>
              <a:ahLst/>
              <a:cxnLst/>
              <a:rect r="r" b="b" t="t" l="l"/>
              <a:pathLst>
                <a:path h="2529840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2529840"/>
                  </a:lnTo>
                  <a:lnTo>
                    <a:pt x="0" y="2529840"/>
                  </a:lnTo>
                  <a:close/>
                </a:path>
              </a:pathLst>
            </a:custGeom>
            <a:solidFill>
              <a:srgbClr val="191A18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611880" y="3592830"/>
            <a:ext cx="612648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b="true" sz="3060" spc="61">
                <a:solidFill>
                  <a:srgbClr val="EEEDE5"/>
                </a:solidFill>
                <a:latin typeface="Arimo Bold"/>
                <a:ea typeface="Arimo Bold"/>
                <a:cs typeface="Arimo Bold"/>
                <a:sym typeface="Arimo Bold"/>
              </a:rPr>
              <a:t>营销策略与品牌基础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611880" y="4370070"/>
            <a:ext cx="6126480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spc="44">
                <a:solidFill>
                  <a:srgbClr val="EEEDE5"/>
                </a:solidFill>
                <a:latin typeface="Arimo"/>
                <a:ea typeface="Arimo"/>
                <a:cs typeface="Arimo"/>
                <a:sym typeface="Arimo"/>
              </a:rPr>
              <a:t>理解市场与用户，明确品牌定位。</a:t>
            </a:r>
          </a:p>
          <a:p>
            <a:pPr algn="l">
              <a:lnSpc>
                <a:spcPts val="2700"/>
              </a:lnSpc>
            </a:pPr>
            <a:r>
              <a:rPr lang="en-US" sz="2250" spc="44">
                <a:solidFill>
                  <a:srgbClr val="EEEDE5"/>
                </a:solidFill>
                <a:latin typeface="Arimo"/>
                <a:ea typeface="Arimo"/>
                <a:cs typeface="Arimo"/>
                <a:sym typeface="Arimo"/>
              </a:rPr>
              <a:t>规划价值表达、GTM 与营销优先级。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12780" y="3592830"/>
            <a:ext cx="612648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b="true" sz="3060" spc="61">
                <a:solidFill>
                  <a:srgbClr val="EEEDE5"/>
                </a:solidFill>
                <a:latin typeface="Arimo Bold"/>
                <a:ea typeface="Arimo Bold"/>
                <a:cs typeface="Arimo Bold"/>
                <a:sym typeface="Arimo Bold"/>
              </a:rPr>
              <a:t>渠道运营与增长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812780" y="4370070"/>
            <a:ext cx="6126480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spc="44">
                <a:solidFill>
                  <a:srgbClr val="EEEDE5"/>
                </a:solidFill>
                <a:latin typeface="Arimo"/>
                <a:ea typeface="Arimo"/>
                <a:cs typeface="Arimo"/>
                <a:sym typeface="Arimo"/>
              </a:rPr>
              <a:t>规划渠道组合、运营路径和资源投入。</a:t>
            </a:r>
          </a:p>
          <a:p>
            <a:pPr algn="l">
              <a:lnSpc>
                <a:spcPts val="2700"/>
              </a:lnSpc>
            </a:pPr>
            <a:r>
              <a:rPr lang="en-US" sz="2250" spc="44">
                <a:solidFill>
                  <a:srgbClr val="EEEDE5"/>
                </a:solidFill>
                <a:latin typeface="Arimo"/>
                <a:ea typeface="Arimo"/>
                <a:cs typeface="Arimo"/>
                <a:sym typeface="Arimo"/>
              </a:rPr>
              <a:t>建立复盘机制，推进关键增长工作。</a:t>
            </a:r>
          </a:p>
        </p:txBody>
      </p:sp>
      <p:sp>
        <p:nvSpPr>
          <p:cNvPr name="AutoShape 17" id="17"/>
          <p:cNvSpPr/>
          <p:nvPr/>
        </p:nvSpPr>
        <p:spPr>
          <a:xfrm rot="5275800">
            <a:off x="6496688" y="5413058"/>
            <a:ext cx="379724" cy="0"/>
          </a:xfrm>
          <a:prstGeom prst="line">
            <a:avLst/>
          </a:prstGeom>
          <a:ln cap="rnd" w="9525">
            <a:solidFill>
              <a:srgbClr val="191A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5275800">
            <a:off x="13697588" y="5413058"/>
            <a:ext cx="379724" cy="0"/>
          </a:xfrm>
          <a:prstGeom prst="line">
            <a:avLst/>
          </a:prstGeom>
          <a:ln cap="rnd" w="9525">
            <a:solidFill>
              <a:srgbClr val="191A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rot="4920">
            <a:off x="5479532" y="5595938"/>
            <a:ext cx="9614926" cy="0"/>
          </a:xfrm>
          <a:prstGeom prst="line">
            <a:avLst/>
          </a:prstGeom>
          <a:ln cap="rnd" w="9525">
            <a:solidFill>
              <a:srgbClr val="191A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1028700" y="6107430"/>
            <a:ext cx="21717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79" spc="39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直接执行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3283267" y="6026468"/>
            <a:ext cx="4406265" cy="1057275"/>
            <a:chOff x="0" y="0"/>
            <a:chExt cx="5875020" cy="14097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875020" cy="1409700"/>
            </a:xfrm>
            <a:custGeom>
              <a:avLst/>
              <a:gdLst/>
              <a:ahLst/>
              <a:cxnLst/>
              <a:rect r="r" b="b" t="t" l="l"/>
              <a:pathLst>
                <a:path h="1409700" w="5875020">
                  <a:moveTo>
                    <a:pt x="0" y="0"/>
                  </a:moveTo>
                  <a:lnTo>
                    <a:pt x="5875020" y="0"/>
                  </a:lnTo>
                  <a:lnTo>
                    <a:pt x="5875020" y="1409700"/>
                  </a:lnTo>
                  <a:lnTo>
                    <a:pt x="0" y="1409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05" r="0" b="-31205"/>
              </a:stretch>
            </a:blipFill>
            <a:ln w="17146" cap="sq">
              <a:solidFill>
                <a:srgbClr val="191A18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3520440" y="6299835"/>
            <a:ext cx="3931920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5"/>
              </a:lnSpc>
            </a:pPr>
            <a:r>
              <a:rPr lang="en-US" b="true" sz="2879" spc="57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内容营销</a:t>
            </a:r>
          </a:p>
        </p:txBody>
      </p:sp>
      <p:sp>
        <p:nvSpPr>
          <p:cNvPr name="AutoShape 24" id="24"/>
          <p:cNvSpPr/>
          <p:nvPr/>
        </p:nvSpPr>
        <p:spPr>
          <a:xfrm rot="5294820">
            <a:off x="5262267" y="5813108"/>
            <a:ext cx="448266" cy="0"/>
          </a:xfrm>
          <a:prstGeom prst="line">
            <a:avLst/>
          </a:prstGeom>
          <a:ln cap="rnd" w="9525">
            <a:solidFill>
              <a:srgbClr val="191A1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8083868" y="6026468"/>
            <a:ext cx="4406265" cy="1057275"/>
            <a:chOff x="0" y="0"/>
            <a:chExt cx="5875020" cy="14097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875020" cy="1409700"/>
            </a:xfrm>
            <a:custGeom>
              <a:avLst/>
              <a:gdLst/>
              <a:ahLst/>
              <a:cxnLst/>
              <a:rect r="r" b="b" t="t" l="l"/>
              <a:pathLst>
                <a:path h="1409700" w="5875020">
                  <a:moveTo>
                    <a:pt x="0" y="0"/>
                  </a:moveTo>
                  <a:lnTo>
                    <a:pt x="5875020" y="0"/>
                  </a:lnTo>
                  <a:lnTo>
                    <a:pt x="5875020" y="1409700"/>
                  </a:lnTo>
                  <a:lnTo>
                    <a:pt x="0" y="1409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05" r="0" b="-31205"/>
              </a:stretch>
            </a:blipFill>
            <a:ln w="17146" cap="sq">
              <a:solidFill>
                <a:srgbClr val="191A18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8321040" y="6299835"/>
            <a:ext cx="3931920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5"/>
              </a:lnSpc>
            </a:pPr>
            <a:r>
              <a:rPr lang="en-US" b="true" sz="2879" spc="57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达人营销</a:t>
            </a:r>
          </a:p>
        </p:txBody>
      </p:sp>
      <p:sp>
        <p:nvSpPr>
          <p:cNvPr name="AutoShape 28" id="28"/>
          <p:cNvSpPr/>
          <p:nvPr/>
        </p:nvSpPr>
        <p:spPr>
          <a:xfrm rot="5294820">
            <a:off x="10062867" y="5813108"/>
            <a:ext cx="448266" cy="0"/>
          </a:xfrm>
          <a:prstGeom prst="line">
            <a:avLst/>
          </a:prstGeom>
          <a:ln cap="rnd" w="9525">
            <a:solidFill>
              <a:srgbClr val="191A1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12884468" y="6026468"/>
            <a:ext cx="4406265" cy="1057275"/>
            <a:chOff x="0" y="0"/>
            <a:chExt cx="5875020" cy="14097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875020" cy="1409700"/>
            </a:xfrm>
            <a:custGeom>
              <a:avLst/>
              <a:gdLst/>
              <a:ahLst/>
              <a:cxnLst/>
              <a:rect r="r" b="b" t="t" l="l"/>
              <a:pathLst>
                <a:path h="1409700" w="5875020">
                  <a:moveTo>
                    <a:pt x="0" y="0"/>
                  </a:moveTo>
                  <a:lnTo>
                    <a:pt x="5875020" y="0"/>
                  </a:lnTo>
                  <a:lnTo>
                    <a:pt x="5875020" y="1409700"/>
                  </a:lnTo>
                  <a:lnTo>
                    <a:pt x="0" y="1409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05" r="0" b="-31205"/>
              </a:stretch>
            </a:blipFill>
            <a:ln w="17146" cap="sq">
              <a:solidFill>
                <a:srgbClr val="191A18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3121640" y="6299835"/>
            <a:ext cx="3931920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5"/>
              </a:lnSpc>
            </a:pPr>
            <a:r>
              <a:rPr lang="en-US" b="true" sz="2879" spc="57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广告与投放</a:t>
            </a:r>
          </a:p>
        </p:txBody>
      </p:sp>
      <p:sp>
        <p:nvSpPr>
          <p:cNvPr name="AutoShape 32" id="32"/>
          <p:cNvSpPr/>
          <p:nvPr/>
        </p:nvSpPr>
        <p:spPr>
          <a:xfrm rot="5294820">
            <a:off x="14863467" y="5813108"/>
            <a:ext cx="448266" cy="0"/>
          </a:xfrm>
          <a:prstGeom prst="line">
            <a:avLst/>
          </a:prstGeom>
          <a:ln cap="rnd" w="9525">
            <a:solidFill>
              <a:srgbClr val="191A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3" id="33"/>
          <p:cNvSpPr txBox="true"/>
          <p:nvPr/>
        </p:nvSpPr>
        <p:spPr>
          <a:xfrm rot="0">
            <a:off x="1028700" y="7867650"/>
            <a:ext cx="21717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79" spc="39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专业伙伴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3291840" y="7612380"/>
            <a:ext cx="13990320" cy="1188720"/>
            <a:chOff x="0" y="0"/>
            <a:chExt cx="18653760" cy="15849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8653761" cy="1584960"/>
            </a:xfrm>
            <a:custGeom>
              <a:avLst/>
              <a:gdLst/>
              <a:ahLst/>
              <a:cxnLst/>
              <a:rect r="r" b="b" t="t" l="l"/>
              <a:pathLst>
                <a:path h="1584960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D8D9CE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3611880" y="7753350"/>
            <a:ext cx="13350240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 spc="53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本地渠道拓展 / 落地执行 / 公共关系（PR）等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611880" y="8279130"/>
            <a:ext cx="13350240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spc="44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按需触达、筛选和协调专业资源，由 Outrise 统一推进。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EED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5840" y="529590"/>
            <a:ext cx="12573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35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我们做什么 · 核心能力 01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05840" y="1158240"/>
            <a:ext cx="16276320" cy="107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3"/>
              </a:lnSpc>
            </a:pPr>
            <a:r>
              <a:rPr lang="en-US" b="true" sz="5220" spc="104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营销策略与品牌基础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01240"/>
            <a:ext cx="16002000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先形成清晰判断，再确定值得投入的方向。</a:t>
            </a:r>
          </a:p>
        </p:txBody>
      </p:sp>
      <p:sp>
        <p:nvSpPr>
          <p:cNvPr name="AutoShape 5" id="5"/>
          <p:cNvSpPr/>
          <p:nvPr/>
        </p:nvSpPr>
        <p:spPr>
          <a:xfrm rot="2400">
            <a:off x="1000125" y="9356407"/>
            <a:ext cx="16287750" cy="0"/>
          </a:xfrm>
          <a:prstGeom prst="line">
            <a:avLst/>
          </a:prstGeom>
          <a:ln cap="rnd" w="9525">
            <a:solidFill>
              <a:srgbClr val="B9BA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9582150"/>
            <a:ext cx="14401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 spc="3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典型成果：策略判断、品牌与产品表达、阶段营销路线图。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390620" y="9547860"/>
            <a:ext cx="89154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35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05</a:t>
            </a:r>
          </a:p>
        </p:txBody>
      </p:sp>
      <p:sp>
        <p:nvSpPr>
          <p:cNvPr name="AutoShape 8" id="8"/>
          <p:cNvSpPr/>
          <p:nvPr/>
        </p:nvSpPr>
        <p:spPr>
          <a:xfrm rot="3720">
            <a:off x="1305868" y="4064317"/>
            <a:ext cx="15847705" cy="0"/>
          </a:xfrm>
          <a:prstGeom prst="line">
            <a:avLst/>
          </a:prstGeom>
          <a:ln cap="rnd" w="9525">
            <a:solidFill>
              <a:srgbClr val="B9BAB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028700" y="3783330"/>
            <a:ext cx="731520" cy="571500"/>
            <a:chOff x="0" y="0"/>
            <a:chExt cx="975360" cy="762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75360" cy="762000"/>
            </a:xfrm>
            <a:custGeom>
              <a:avLst/>
              <a:gdLst/>
              <a:ahLst/>
              <a:cxnLst/>
              <a:rect r="r" b="b" t="t" l="l"/>
              <a:pathLst>
                <a:path h="76200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EEEDE5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3651885"/>
            <a:ext cx="137160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sz="4680" spc="93">
                <a:solidFill>
                  <a:srgbClr val="191A18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827270"/>
            <a:ext cx="480060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b="true" sz="3060" spc="61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理解市场与用户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5787390"/>
            <a:ext cx="4800600" cy="193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梳理业务目标、产品特点与</a:t>
            </a:r>
          </a:p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目标人群，判断客户的需</a:t>
            </a:r>
          </a:p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求、使用场景和购买考虑。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743700" y="3783330"/>
            <a:ext cx="731520" cy="571500"/>
            <a:chOff x="0" y="0"/>
            <a:chExt cx="975360" cy="762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5360" cy="762000"/>
            </a:xfrm>
            <a:custGeom>
              <a:avLst/>
              <a:gdLst/>
              <a:ahLst/>
              <a:cxnLst/>
              <a:rect r="r" b="b" t="t" l="l"/>
              <a:pathLst>
                <a:path h="76200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EEEDE5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743700" y="3651885"/>
            <a:ext cx="137160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sz="4680" spc="93">
                <a:solidFill>
                  <a:srgbClr val="191A18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743700" y="4827270"/>
            <a:ext cx="480060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b="true" sz="3060" spc="61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建立定位与价值表达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743700" y="5787390"/>
            <a:ext cx="4800600" cy="193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明确品牌或产品为谁创造什</a:t>
            </a:r>
          </a:p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么价值，形成适合北美市场</a:t>
            </a:r>
          </a:p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的定位、叙事和沟通重点。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458700" y="3783330"/>
            <a:ext cx="731520" cy="571500"/>
            <a:chOff x="0" y="0"/>
            <a:chExt cx="975360" cy="762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75360" cy="762000"/>
            </a:xfrm>
            <a:custGeom>
              <a:avLst/>
              <a:gdLst/>
              <a:ahLst/>
              <a:cxnLst/>
              <a:rect r="r" b="b" t="t" l="l"/>
              <a:pathLst>
                <a:path h="76200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EEEDE5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458700" y="3651885"/>
            <a:ext cx="137160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sz="4680" spc="93">
                <a:solidFill>
                  <a:srgbClr val="191A18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58700" y="4827270"/>
            <a:ext cx="480060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b="true" sz="3060" spc="61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制定 GTM 与营销路线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58700" y="5787390"/>
            <a:ext cx="4800600" cy="193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确定阶段重点、渠道优先级</a:t>
            </a:r>
          </a:p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与资源安排，把策略落实为</a:t>
            </a:r>
          </a:p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团队可以推进的行动计划。</a:t>
            </a:r>
          </a:p>
        </p:txBody>
      </p:sp>
      <p:sp>
        <p:nvSpPr>
          <p:cNvPr name="AutoShape 24" id="24"/>
          <p:cNvSpPr/>
          <p:nvPr/>
        </p:nvSpPr>
        <p:spPr>
          <a:xfrm rot="2880">
            <a:off x="1021842" y="8201978"/>
            <a:ext cx="16267186" cy="0"/>
          </a:xfrm>
          <a:prstGeom prst="line">
            <a:avLst/>
          </a:prstGeom>
          <a:ln cap="rnd" w="9525">
            <a:solidFill>
              <a:srgbClr val="B9BA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1028700" y="8496300"/>
            <a:ext cx="2286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79" spc="39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帮助客户回答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000500" y="8427720"/>
            <a:ext cx="262890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 spc="53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面向谁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686800" y="8427720"/>
            <a:ext cx="365760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 spc="53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表达什么价值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944600" y="8427720"/>
            <a:ext cx="333756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 spc="53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优先做什么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EED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5840" y="529590"/>
            <a:ext cx="12573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35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我们做什么 · 核心能力 02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05840" y="1158240"/>
            <a:ext cx="16276320" cy="107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3"/>
              </a:lnSpc>
            </a:pPr>
            <a:r>
              <a:rPr lang="en-US" b="true" sz="5220" spc="104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渠道运营与增长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01240"/>
            <a:ext cx="16002000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让渠道选择、资源投入和日常行动服务于同一目标。</a:t>
            </a:r>
          </a:p>
        </p:txBody>
      </p:sp>
      <p:sp>
        <p:nvSpPr>
          <p:cNvPr name="AutoShape 5" id="5"/>
          <p:cNvSpPr/>
          <p:nvPr/>
        </p:nvSpPr>
        <p:spPr>
          <a:xfrm rot="2400">
            <a:off x="1000125" y="9356407"/>
            <a:ext cx="16287750" cy="0"/>
          </a:xfrm>
          <a:prstGeom prst="line">
            <a:avLst/>
          </a:prstGeom>
          <a:ln cap="rnd" w="9525">
            <a:solidFill>
              <a:srgbClr val="B9BA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9582150"/>
            <a:ext cx="14401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 spc="3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典型成果：渠道布局、运营行动计划、资源安排与复盘建议。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390620" y="9547860"/>
            <a:ext cx="89154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35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06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537585"/>
            <a:ext cx="1028700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1"/>
              </a:lnSpc>
            </a:pPr>
            <a:r>
              <a:rPr lang="en-US" sz="3959" spc="79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66010" y="3558540"/>
            <a:ext cx="445770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 spc="62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确定渠道组合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43750" y="3547110"/>
            <a:ext cx="10138410" cy="1059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结合客户路径与业务阶段，判断社交媒体、电商平台、品牌</a:t>
            </a:r>
          </a:p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官网及其他渠道各自承担的作用。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66010" y="4288155"/>
            <a:ext cx="1965960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2160" spc="43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渠道角色</a:t>
            </a:r>
          </a:p>
        </p:txBody>
      </p:sp>
      <p:sp>
        <p:nvSpPr>
          <p:cNvPr name="AutoShape 12" id="12"/>
          <p:cNvSpPr/>
          <p:nvPr/>
        </p:nvSpPr>
        <p:spPr>
          <a:xfrm rot="74700">
            <a:off x="4450766" y="4510088"/>
            <a:ext cx="631088" cy="0"/>
          </a:xfrm>
          <a:prstGeom prst="line">
            <a:avLst/>
          </a:prstGeom>
          <a:ln cap="rnd" w="9525">
            <a:solidFill>
              <a:srgbClr val="66676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3" id="13"/>
          <p:cNvSpPr txBox="true"/>
          <p:nvPr/>
        </p:nvSpPr>
        <p:spPr>
          <a:xfrm rot="0">
            <a:off x="5292090" y="4288155"/>
            <a:ext cx="1828800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2160" spc="43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渠道组合</a:t>
            </a:r>
          </a:p>
        </p:txBody>
      </p:sp>
      <p:sp>
        <p:nvSpPr>
          <p:cNvPr name="AutoShape 14" id="14"/>
          <p:cNvSpPr/>
          <p:nvPr/>
        </p:nvSpPr>
        <p:spPr>
          <a:xfrm rot="2880">
            <a:off x="1021842" y="5013008"/>
            <a:ext cx="16267186" cy="0"/>
          </a:xfrm>
          <a:prstGeom prst="line">
            <a:avLst/>
          </a:prstGeom>
          <a:ln cap="rnd" w="9525">
            <a:solidFill>
              <a:srgbClr val="B9BA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028700" y="5263515"/>
            <a:ext cx="1028700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1"/>
              </a:lnSpc>
            </a:pPr>
            <a:r>
              <a:rPr lang="en-US" sz="3959" spc="79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10" y="5284470"/>
            <a:ext cx="445770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 spc="62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规划投入与运营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43750" y="5273040"/>
            <a:ext cx="10138410" cy="1059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安排先后顺序、预算重点、内容需求与团队分工，明确哪些</a:t>
            </a:r>
          </a:p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工作由谁推进、如何衔接。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66010" y="6014085"/>
            <a:ext cx="1965960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2160" spc="43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资源安排</a:t>
            </a:r>
          </a:p>
        </p:txBody>
      </p:sp>
      <p:sp>
        <p:nvSpPr>
          <p:cNvPr name="AutoShape 19" id="19"/>
          <p:cNvSpPr/>
          <p:nvPr/>
        </p:nvSpPr>
        <p:spPr>
          <a:xfrm rot="74700">
            <a:off x="4450766" y="6236018"/>
            <a:ext cx="631088" cy="0"/>
          </a:xfrm>
          <a:prstGeom prst="line">
            <a:avLst/>
          </a:prstGeom>
          <a:ln cap="rnd" w="9525">
            <a:solidFill>
              <a:srgbClr val="66676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0" id="20"/>
          <p:cNvSpPr txBox="true"/>
          <p:nvPr/>
        </p:nvSpPr>
        <p:spPr>
          <a:xfrm rot="0">
            <a:off x="5292090" y="6014085"/>
            <a:ext cx="1828800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2160" spc="43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执行分工</a:t>
            </a:r>
          </a:p>
        </p:txBody>
      </p:sp>
      <p:sp>
        <p:nvSpPr>
          <p:cNvPr name="AutoShape 21" id="21"/>
          <p:cNvSpPr/>
          <p:nvPr/>
        </p:nvSpPr>
        <p:spPr>
          <a:xfrm rot="2880">
            <a:off x="1021842" y="6738938"/>
            <a:ext cx="16267186" cy="0"/>
          </a:xfrm>
          <a:prstGeom prst="line">
            <a:avLst/>
          </a:prstGeom>
          <a:ln cap="rnd" w="9525">
            <a:solidFill>
              <a:srgbClr val="B9BA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1028700" y="6989445"/>
            <a:ext cx="1028700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1"/>
              </a:lnSpc>
            </a:pPr>
            <a:r>
              <a:rPr lang="en-US" sz="3959" spc="79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366010" y="7010400"/>
            <a:ext cx="445770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 spc="62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复盘并调整方向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43750" y="6998970"/>
            <a:ext cx="10138410" cy="1059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结合渠道表现和用户反馈，识别值得继续投入的方向，调整</a:t>
            </a:r>
          </a:p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后续计划与执行重点。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366010" y="7740015"/>
            <a:ext cx="1965960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2160" spc="43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市场反馈</a:t>
            </a:r>
          </a:p>
        </p:txBody>
      </p:sp>
      <p:sp>
        <p:nvSpPr>
          <p:cNvPr name="AutoShape 26" id="26"/>
          <p:cNvSpPr/>
          <p:nvPr/>
        </p:nvSpPr>
        <p:spPr>
          <a:xfrm rot="74700">
            <a:off x="4450766" y="7961947"/>
            <a:ext cx="631088" cy="0"/>
          </a:xfrm>
          <a:prstGeom prst="line">
            <a:avLst/>
          </a:prstGeom>
          <a:ln cap="rnd" w="9525">
            <a:solidFill>
              <a:srgbClr val="66676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7" id="27"/>
          <p:cNvSpPr txBox="true"/>
          <p:nvPr/>
        </p:nvSpPr>
        <p:spPr>
          <a:xfrm rot="0">
            <a:off x="5292090" y="7740015"/>
            <a:ext cx="1828800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2160" spc="43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计划调整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EED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5840" y="529590"/>
            <a:ext cx="12573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35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我们做什么 · 直接执行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05840" y="1158240"/>
            <a:ext cx="16276320" cy="107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3"/>
              </a:lnSpc>
            </a:pPr>
            <a:r>
              <a:rPr lang="en-US" b="true" sz="5220" spc="104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三类执行能力，承接关键营销任务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01240"/>
            <a:ext cx="16002000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根据策略选择模块，由 Outrise 直接推进约定工作。</a:t>
            </a:r>
          </a:p>
        </p:txBody>
      </p:sp>
      <p:sp>
        <p:nvSpPr>
          <p:cNvPr name="AutoShape 5" id="5"/>
          <p:cNvSpPr/>
          <p:nvPr/>
        </p:nvSpPr>
        <p:spPr>
          <a:xfrm rot="2400">
            <a:off x="1000125" y="9356407"/>
            <a:ext cx="16287750" cy="0"/>
          </a:xfrm>
          <a:prstGeom prst="line">
            <a:avLst/>
          </a:prstGeom>
          <a:ln cap="rnd" w="9525">
            <a:solidFill>
              <a:srgbClr val="B9BA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9582150"/>
            <a:ext cx="14401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 spc="3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执行渠道、素材数量与工作节奏，根据项目目标和范围确定。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390620" y="9547860"/>
            <a:ext cx="89154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35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07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571875"/>
            <a:ext cx="160020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1"/>
              </a:lnSpc>
            </a:pPr>
            <a:r>
              <a:rPr lang="en-US" sz="5759" spc="115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886325"/>
            <a:ext cx="4777740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 spc="71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内容营销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993130"/>
            <a:ext cx="4777740" cy="211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围绕品牌与产品价值，制定</a:t>
            </a:r>
          </a:p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内容方向、创意方案和传播</a:t>
            </a:r>
          </a:p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计划，制作约定的图文、视</a:t>
            </a:r>
          </a:p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频及社媒素材。</a:t>
            </a:r>
          </a:p>
        </p:txBody>
      </p:sp>
      <p:sp>
        <p:nvSpPr>
          <p:cNvPr name="AutoShape 11" id="11"/>
          <p:cNvSpPr/>
          <p:nvPr/>
        </p:nvSpPr>
        <p:spPr>
          <a:xfrm rot="16500">
            <a:off x="1017241" y="8300085"/>
            <a:ext cx="4754937" cy="0"/>
          </a:xfrm>
          <a:prstGeom prst="line">
            <a:avLst/>
          </a:prstGeom>
          <a:ln cap="rnd" w="19050">
            <a:solidFill>
              <a:srgbClr val="191A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028700" y="8562975"/>
            <a:ext cx="477774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b="true" sz="2160" spc="43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方向 · 创意 · 内容</a:t>
            </a:r>
          </a:p>
        </p:txBody>
      </p:sp>
      <p:sp>
        <p:nvSpPr>
          <p:cNvPr name="AutoShape 13" id="13"/>
          <p:cNvSpPr/>
          <p:nvPr/>
        </p:nvSpPr>
        <p:spPr>
          <a:xfrm rot="5390640">
            <a:off x="3742172" y="6167438"/>
            <a:ext cx="5042935" cy="0"/>
          </a:xfrm>
          <a:prstGeom prst="line">
            <a:avLst/>
          </a:prstGeom>
          <a:ln cap="rnd" w="9525">
            <a:solidFill>
              <a:srgbClr val="B9BA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6743700" y="3571875"/>
            <a:ext cx="160020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1"/>
              </a:lnSpc>
            </a:pPr>
            <a:r>
              <a:rPr lang="en-US" sz="5759" spc="115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43700" y="4886325"/>
            <a:ext cx="4777740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 spc="71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达人营销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43700" y="5993130"/>
            <a:ext cx="4777740" cy="211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筛选与触达适配的达人，策</a:t>
            </a:r>
          </a:p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划合作方式，沟通内容要</a:t>
            </a:r>
          </a:p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求，推进发布并复盘合作表</a:t>
            </a:r>
          </a:p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现。</a:t>
            </a:r>
          </a:p>
        </p:txBody>
      </p:sp>
      <p:sp>
        <p:nvSpPr>
          <p:cNvPr name="AutoShape 17" id="17"/>
          <p:cNvSpPr/>
          <p:nvPr/>
        </p:nvSpPr>
        <p:spPr>
          <a:xfrm rot="16500">
            <a:off x="6732241" y="8300085"/>
            <a:ext cx="4754937" cy="0"/>
          </a:xfrm>
          <a:prstGeom prst="line">
            <a:avLst/>
          </a:prstGeom>
          <a:ln cap="rnd" w="19050">
            <a:solidFill>
              <a:srgbClr val="191A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6743700" y="8562975"/>
            <a:ext cx="477774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b="true" sz="2160" spc="43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筛选 · 合作 · 推进</a:t>
            </a:r>
          </a:p>
        </p:txBody>
      </p:sp>
      <p:sp>
        <p:nvSpPr>
          <p:cNvPr name="AutoShape 19" id="19"/>
          <p:cNvSpPr/>
          <p:nvPr/>
        </p:nvSpPr>
        <p:spPr>
          <a:xfrm rot="5390640">
            <a:off x="9457172" y="6167438"/>
            <a:ext cx="5042935" cy="0"/>
          </a:xfrm>
          <a:prstGeom prst="line">
            <a:avLst/>
          </a:prstGeom>
          <a:ln cap="rnd" w="9525">
            <a:solidFill>
              <a:srgbClr val="B9BA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12458700" y="3571875"/>
            <a:ext cx="160020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1"/>
              </a:lnSpc>
            </a:pPr>
            <a:r>
              <a:rPr lang="en-US" sz="5759" spc="115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58700" y="4886325"/>
            <a:ext cx="4777740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 spc="71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广告与投放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58700" y="5993130"/>
            <a:ext cx="4777740" cy="211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制定投放计划，协同广告素</a:t>
            </a:r>
          </a:p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材，执行约定渠道的广告工</a:t>
            </a:r>
          </a:p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作，并根据反馈持续优化。</a:t>
            </a:r>
          </a:p>
        </p:txBody>
      </p:sp>
      <p:sp>
        <p:nvSpPr>
          <p:cNvPr name="AutoShape 23" id="23"/>
          <p:cNvSpPr/>
          <p:nvPr/>
        </p:nvSpPr>
        <p:spPr>
          <a:xfrm rot="16500">
            <a:off x="12447241" y="8300085"/>
            <a:ext cx="4754937" cy="0"/>
          </a:xfrm>
          <a:prstGeom prst="line">
            <a:avLst/>
          </a:prstGeom>
          <a:ln cap="rnd" w="19050">
            <a:solidFill>
              <a:srgbClr val="191A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2458700" y="8562975"/>
            <a:ext cx="477774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b="true" sz="2160" spc="43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计划 · 投放 · 优化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EEED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5840" y="529590"/>
            <a:ext cx="12573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35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我们做什么 · 专业协作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05840" y="1158240"/>
            <a:ext cx="16276320" cy="107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3"/>
              </a:lnSpc>
            </a:pPr>
            <a:r>
              <a:rPr lang="en-US" b="true" sz="5220" spc="104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按需组织专业资源，拓展项目能力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01240"/>
            <a:ext cx="16002000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当项目需要更多本地或专项能力，Outrise 帮助触达、筛选与协调。</a:t>
            </a:r>
          </a:p>
        </p:txBody>
      </p:sp>
      <p:sp>
        <p:nvSpPr>
          <p:cNvPr name="AutoShape 5" id="5"/>
          <p:cNvSpPr/>
          <p:nvPr/>
        </p:nvSpPr>
        <p:spPr>
          <a:xfrm rot="2400">
            <a:off x="1000125" y="9356407"/>
            <a:ext cx="16287750" cy="0"/>
          </a:xfrm>
          <a:prstGeom prst="line">
            <a:avLst/>
          </a:prstGeom>
          <a:ln cap="rnd" w="9525">
            <a:solidFill>
              <a:srgbClr val="B9BA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9582150"/>
            <a:ext cx="14401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 spc="3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客户统一对接 Outrise；伙伴参与方式与工作范围在方案中明确。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390620" y="9547860"/>
            <a:ext cx="89154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35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08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457950" y="3451860"/>
            <a:ext cx="5372100" cy="1097280"/>
            <a:chOff x="0" y="0"/>
            <a:chExt cx="7162800" cy="1463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628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162800">
                  <a:moveTo>
                    <a:pt x="0" y="0"/>
                  </a:moveTo>
                  <a:lnTo>
                    <a:pt x="7162800" y="0"/>
                  </a:lnTo>
                  <a:lnTo>
                    <a:pt x="716280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191A18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743700" y="3684270"/>
            <a:ext cx="480060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b="true" sz="3240" spc="64">
                <a:solidFill>
                  <a:srgbClr val="EEEDE5"/>
                </a:solidFill>
                <a:latin typeface="Arimo Bold"/>
                <a:ea typeface="Arimo Bold"/>
                <a:cs typeface="Arimo Bold"/>
                <a:sym typeface="Arimo Bold"/>
              </a:rPr>
              <a:t>Outrise 统一组织</a:t>
            </a:r>
          </a:p>
        </p:txBody>
      </p:sp>
      <p:sp>
        <p:nvSpPr>
          <p:cNvPr name="AutoShape 11" id="11"/>
          <p:cNvSpPr/>
          <p:nvPr/>
        </p:nvSpPr>
        <p:spPr>
          <a:xfrm rot="5312640">
            <a:off x="8874166" y="4807268"/>
            <a:ext cx="539667" cy="0"/>
          </a:xfrm>
          <a:prstGeom prst="line">
            <a:avLst/>
          </a:prstGeom>
          <a:ln cap="rnd" w="9525">
            <a:solidFill>
              <a:srgbClr val="191A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4140">
            <a:off x="3422142" y="5070158"/>
            <a:ext cx="11443726" cy="0"/>
          </a:xfrm>
          <a:prstGeom prst="line">
            <a:avLst/>
          </a:prstGeom>
          <a:ln cap="rnd" w="9525">
            <a:solidFill>
              <a:srgbClr val="191A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5289120">
            <a:off x="3216288" y="5275897"/>
            <a:ext cx="425415" cy="0"/>
          </a:xfrm>
          <a:prstGeom prst="line">
            <a:avLst/>
          </a:prstGeom>
          <a:ln cap="rnd" w="9525">
            <a:solidFill>
              <a:srgbClr val="191A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028700" y="5684520"/>
            <a:ext cx="480060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b="true" sz="3060" spc="61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本地渠道拓展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6621780"/>
            <a:ext cx="4800600" cy="2030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围绕市场目标，识别适合接</a:t>
            </a:r>
          </a:p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触的渠道与资源，推进沟</a:t>
            </a:r>
          </a:p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通，并协调后续合作机会。</a:t>
            </a:r>
          </a:p>
        </p:txBody>
      </p:sp>
      <p:sp>
        <p:nvSpPr>
          <p:cNvPr name="AutoShape 16" id="16"/>
          <p:cNvSpPr/>
          <p:nvPr/>
        </p:nvSpPr>
        <p:spPr>
          <a:xfrm rot="5289120">
            <a:off x="8931288" y="5275897"/>
            <a:ext cx="425415" cy="0"/>
          </a:xfrm>
          <a:prstGeom prst="line">
            <a:avLst/>
          </a:prstGeom>
          <a:ln cap="rnd" w="9525">
            <a:solidFill>
              <a:srgbClr val="191A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6743700" y="5684520"/>
            <a:ext cx="480060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b="true" sz="3060" spc="61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落地执行支持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743700" y="6621780"/>
            <a:ext cx="4800600" cy="2030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根据项目安排，对接相应的</a:t>
            </a:r>
          </a:p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本地专业团队，协调任务要</a:t>
            </a:r>
          </a:p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求、执行节奏与交付衔接。</a:t>
            </a:r>
          </a:p>
        </p:txBody>
      </p:sp>
      <p:sp>
        <p:nvSpPr>
          <p:cNvPr name="AutoShape 19" id="19"/>
          <p:cNvSpPr/>
          <p:nvPr/>
        </p:nvSpPr>
        <p:spPr>
          <a:xfrm rot="5289120">
            <a:off x="14646288" y="5275897"/>
            <a:ext cx="425415" cy="0"/>
          </a:xfrm>
          <a:prstGeom prst="line">
            <a:avLst/>
          </a:prstGeom>
          <a:ln cap="rnd" w="9525">
            <a:solidFill>
              <a:srgbClr val="191A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12458700" y="5684520"/>
            <a:ext cx="480060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b="true" sz="3060" spc="61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公共关系（PR）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58700" y="6621780"/>
            <a:ext cx="4800600" cy="2030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根据传播或业务需求，引入</a:t>
            </a:r>
          </a:p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匹配的专业伙伴，共同明确</a:t>
            </a:r>
          </a:p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工作内容、责任与推进方</a:t>
            </a:r>
          </a:p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式。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EEED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0736760">
            <a:off x="5820651" y="6818947"/>
            <a:ext cx="931707" cy="0"/>
          </a:xfrm>
          <a:prstGeom prst="line">
            <a:avLst/>
          </a:prstGeom>
          <a:ln cap="rnd" w="9525">
            <a:solidFill>
              <a:srgbClr val="191A1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" id="3"/>
          <p:cNvSpPr/>
          <p:nvPr/>
        </p:nvSpPr>
        <p:spPr>
          <a:xfrm rot="10736760">
            <a:off x="11535651" y="6818947"/>
            <a:ext cx="931707" cy="0"/>
          </a:xfrm>
          <a:prstGeom prst="line">
            <a:avLst/>
          </a:prstGeom>
          <a:ln cap="rnd" w="9525">
            <a:solidFill>
              <a:srgbClr val="191A1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" id="4"/>
          <p:cNvSpPr/>
          <p:nvPr/>
        </p:nvSpPr>
        <p:spPr>
          <a:xfrm rot="63240">
            <a:off x="11535651" y="3938588"/>
            <a:ext cx="931707" cy="0"/>
          </a:xfrm>
          <a:prstGeom prst="line">
            <a:avLst/>
          </a:prstGeom>
          <a:ln cap="rnd" w="9525">
            <a:solidFill>
              <a:srgbClr val="191A1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" id="5"/>
          <p:cNvSpPr/>
          <p:nvPr/>
        </p:nvSpPr>
        <p:spPr>
          <a:xfrm rot="63240">
            <a:off x="5820651" y="3938588"/>
            <a:ext cx="931707" cy="0"/>
          </a:xfrm>
          <a:prstGeom prst="line">
            <a:avLst/>
          </a:prstGeom>
          <a:ln cap="rnd" w="9525">
            <a:solidFill>
              <a:srgbClr val="191A1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6" id="6"/>
          <p:cNvSpPr txBox="true"/>
          <p:nvPr/>
        </p:nvSpPr>
        <p:spPr>
          <a:xfrm rot="0">
            <a:off x="1005840" y="529590"/>
            <a:ext cx="12573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35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怎样推进项目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5840" y="1158240"/>
            <a:ext cx="16276320" cy="107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3"/>
              </a:lnSpc>
            </a:pPr>
            <a:r>
              <a:rPr lang="en-US" b="true" sz="5220" spc="104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从业务目标出发，持续推进与调整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301240"/>
            <a:ext cx="16002000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六个工作环节，让判断、计划与执行相互衔接。</a:t>
            </a:r>
          </a:p>
        </p:txBody>
      </p:sp>
      <p:sp>
        <p:nvSpPr>
          <p:cNvPr name="AutoShape 9" id="9"/>
          <p:cNvSpPr/>
          <p:nvPr/>
        </p:nvSpPr>
        <p:spPr>
          <a:xfrm rot="2400">
            <a:off x="1000125" y="9356407"/>
            <a:ext cx="16287750" cy="0"/>
          </a:xfrm>
          <a:prstGeom prst="line">
            <a:avLst/>
          </a:prstGeom>
          <a:ln cap="rnd" w="9525">
            <a:solidFill>
              <a:srgbClr val="B9BA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9582150"/>
            <a:ext cx="14401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 spc="3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按项目阶段开展工作；复盘结果持续影响后续判断与计划。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390620" y="9547860"/>
            <a:ext cx="89154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35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09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592830"/>
            <a:ext cx="105156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4"/>
              </a:lnSpc>
            </a:pPr>
            <a:r>
              <a:rPr lang="en-US" sz="3870" spc="77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74570" y="3638550"/>
            <a:ext cx="356616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b="true" sz="3060" spc="61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理解业务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4507230"/>
            <a:ext cx="4800600" cy="95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明确产品、目标、现有基础</a:t>
            </a:r>
          </a:p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与资源约束。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5524500"/>
            <a:ext cx="48006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b="true" sz="1979" spc="39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客户参与：提供背景与目标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43700" y="3592830"/>
            <a:ext cx="105156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4"/>
              </a:lnSpc>
            </a:pPr>
            <a:r>
              <a:rPr lang="en-US" sz="3870" spc="77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989570" y="3638550"/>
            <a:ext cx="356616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b="true" sz="3060" spc="61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建立判断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743700" y="4507230"/>
            <a:ext cx="4800600" cy="95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研究市场与用户，识别核心</a:t>
            </a:r>
          </a:p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营销问题。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58700" y="3592830"/>
            <a:ext cx="105156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4"/>
              </a:lnSpc>
            </a:pPr>
            <a:r>
              <a:rPr lang="en-US" sz="3870" spc="77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704570" y="3638550"/>
            <a:ext cx="356616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b="true" sz="3060" spc="61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确定选择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58700" y="4507230"/>
            <a:ext cx="4800600" cy="95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提出方向与优先级，共同确</a:t>
            </a:r>
          </a:p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认重点。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58700" y="5524500"/>
            <a:ext cx="48006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b="true" sz="1979" spc="39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客户参与：确认关键选择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58700" y="6473190"/>
            <a:ext cx="105156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4"/>
              </a:lnSpc>
            </a:pPr>
            <a:r>
              <a:rPr lang="en-US" sz="3870" spc="77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704570" y="6518910"/>
            <a:ext cx="356616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b="true" sz="3060" spc="61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制定规划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458700" y="7387590"/>
            <a:ext cx="4800600" cy="95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形成阶段计划、任务分工和</a:t>
            </a:r>
          </a:p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资源安排。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743700" y="6473190"/>
            <a:ext cx="105156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4"/>
              </a:lnSpc>
            </a:pPr>
            <a:r>
              <a:rPr lang="en-US" sz="3870" spc="77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05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989570" y="6518910"/>
            <a:ext cx="356616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b="true" sz="3060" spc="61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推进执行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743700" y="7387590"/>
            <a:ext cx="4800600" cy="95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承担关键任务，协调团队与</a:t>
            </a:r>
          </a:p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专业伙伴。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6473190"/>
            <a:ext cx="105156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4"/>
              </a:lnSpc>
            </a:pPr>
            <a:r>
              <a:rPr lang="en-US" sz="3870" spc="77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06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274570" y="6518910"/>
            <a:ext cx="356616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b="true" sz="3060" spc="61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复盘调整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7387590"/>
            <a:ext cx="4800600" cy="95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结合市场反馈，确定下一步</a:t>
            </a:r>
          </a:p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行动。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8700" y="8404860"/>
            <a:ext cx="48006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b="true" sz="1979" spc="39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客户参与：共同复盘与调整</a:t>
            </a:r>
          </a:p>
        </p:txBody>
      </p:sp>
      <p:sp>
        <p:nvSpPr>
          <p:cNvPr name="AutoShape 33" id="33"/>
          <p:cNvSpPr/>
          <p:nvPr/>
        </p:nvSpPr>
        <p:spPr>
          <a:xfrm rot="163560">
            <a:off x="17250527" y="3938588"/>
            <a:ext cx="360455" cy="0"/>
          </a:xfrm>
          <a:prstGeom prst="line">
            <a:avLst/>
          </a:prstGeom>
          <a:ln cap="rnd" w="9525">
            <a:solidFill>
              <a:srgbClr val="191A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rot="5379660">
            <a:off x="16153419" y="5378768"/>
            <a:ext cx="2897553" cy="0"/>
          </a:xfrm>
          <a:prstGeom prst="line">
            <a:avLst/>
          </a:prstGeom>
          <a:ln cap="rnd" w="9525">
            <a:solidFill>
              <a:srgbClr val="191A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 rot="163560">
            <a:off x="17250527" y="6818947"/>
            <a:ext cx="360455" cy="0"/>
          </a:xfrm>
          <a:prstGeom prst="line">
            <a:avLst/>
          </a:prstGeom>
          <a:ln cap="rnd" w="9525">
            <a:solidFill>
              <a:srgbClr val="191A18"/>
            </a:solidFill>
            <a:prstDash val="solid"/>
            <a:headEnd type="triangle" len="med" w="lg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EEED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5840" y="529590"/>
            <a:ext cx="12573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35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怎样推进项目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05840" y="1158240"/>
            <a:ext cx="16276320" cy="107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3"/>
              </a:lnSpc>
            </a:pPr>
            <a:r>
              <a:rPr lang="en-US" b="true" sz="5220" spc="104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客户获得清晰方向，也获得推进依据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01240"/>
            <a:ext cx="16002000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交付涵盖策略、规划与约定的执行成果，并用于支持持续决策。</a:t>
            </a:r>
          </a:p>
        </p:txBody>
      </p:sp>
      <p:sp>
        <p:nvSpPr>
          <p:cNvPr name="AutoShape 5" id="5"/>
          <p:cNvSpPr/>
          <p:nvPr/>
        </p:nvSpPr>
        <p:spPr>
          <a:xfrm rot="2400">
            <a:off x="1000125" y="9356407"/>
            <a:ext cx="16287750" cy="0"/>
          </a:xfrm>
          <a:prstGeom prst="line">
            <a:avLst/>
          </a:prstGeom>
          <a:ln cap="rnd" w="9525">
            <a:solidFill>
              <a:srgbClr val="B9BA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9582150"/>
            <a:ext cx="14401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 spc="3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交付内容与评估方式在合作前明确，并随已确认的项目安排推进。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390620" y="9547860"/>
            <a:ext cx="89154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35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10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537585"/>
            <a:ext cx="1085850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4"/>
              </a:lnSpc>
            </a:pPr>
            <a:r>
              <a:rPr lang="en-US" sz="3420" spc="68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00300" y="3581400"/>
            <a:ext cx="53721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b="true" sz="2970" spc="59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策略判断与表达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58200" y="3547110"/>
            <a:ext cx="8823960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说明目标用户、品牌或产品价值、营销重点，以及重</a:t>
            </a:r>
          </a:p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要选择背后的判断依据。</a:t>
            </a:r>
          </a:p>
        </p:txBody>
      </p:sp>
      <p:sp>
        <p:nvSpPr>
          <p:cNvPr name="AutoShape 11" id="11"/>
          <p:cNvSpPr/>
          <p:nvPr/>
        </p:nvSpPr>
        <p:spPr>
          <a:xfrm rot="2880">
            <a:off x="1021842" y="4681538"/>
            <a:ext cx="16267186" cy="0"/>
          </a:xfrm>
          <a:prstGeom prst="line">
            <a:avLst/>
          </a:prstGeom>
          <a:ln cap="rnd" w="9525">
            <a:solidFill>
              <a:srgbClr val="B9BA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028700" y="4874895"/>
            <a:ext cx="1085850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4"/>
              </a:lnSpc>
            </a:pPr>
            <a:r>
              <a:rPr lang="en-US" sz="3420" spc="68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00300" y="4918710"/>
            <a:ext cx="53721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b="true" sz="2970" spc="59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阶段路线与资源安排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458200" y="4884420"/>
            <a:ext cx="8823960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明确渠道优先级、阶段行动、预算重点与责任分工，</a:t>
            </a:r>
          </a:p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让各方知道下一步做什么。</a:t>
            </a:r>
          </a:p>
        </p:txBody>
      </p:sp>
      <p:sp>
        <p:nvSpPr>
          <p:cNvPr name="AutoShape 15" id="15"/>
          <p:cNvSpPr/>
          <p:nvPr/>
        </p:nvSpPr>
        <p:spPr>
          <a:xfrm rot="2880">
            <a:off x="1021842" y="6018847"/>
            <a:ext cx="16267186" cy="0"/>
          </a:xfrm>
          <a:prstGeom prst="line">
            <a:avLst/>
          </a:prstGeom>
          <a:ln cap="rnd" w="9525">
            <a:solidFill>
              <a:srgbClr val="B9BA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028700" y="6212205"/>
            <a:ext cx="1085850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4"/>
              </a:lnSpc>
            </a:pPr>
            <a:r>
              <a:rPr lang="en-US" sz="3420" spc="68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00300" y="6256020"/>
            <a:ext cx="53721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b="true" sz="2970" spc="59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关键执行成果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58200" y="6221730"/>
            <a:ext cx="8823960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按合作范围交付内容素材、达人合作、广告工作或其</a:t>
            </a:r>
          </a:p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他已约定的执行成果。</a:t>
            </a:r>
          </a:p>
        </p:txBody>
      </p:sp>
      <p:sp>
        <p:nvSpPr>
          <p:cNvPr name="AutoShape 19" id="19"/>
          <p:cNvSpPr/>
          <p:nvPr/>
        </p:nvSpPr>
        <p:spPr>
          <a:xfrm rot="2880">
            <a:off x="1021842" y="7356157"/>
            <a:ext cx="16267186" cy="0"/>
          </a:xfrm>
          <a:prstGeom prst="line">
            <a:avLst/>
          </a:prstGeom>
          <a:ln cap="rnd" w="9525">
            <a:solidFill>
              <a:srgbClr val="B9BA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1028700" y="7549515"/>
            <a:ext cx="1085850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4"/>
              </a:lnSpc>
            </a:pPr>
            <a:r>
              <a:rPr lang="en-US" sz="3420" spc="68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00300" y="7593330"/>
            <a:ext cx="53721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b="true" sz="2970" spc="59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复盘与后续建议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458200" y="7559040"/>
            <a:ext cx="8823960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整理执行反馈与阶段表现，提出继续、调整或新增工</a:t>
            </a:r>
          </a:p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作的建议。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EEED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5840" y="529590"/>
            <a:ext cx="12573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35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为什么选择我们 · AI-native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05840" y="1158240"/>
            <a:ext cx="16276320" cy="107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3"/>
              </a:lnSpc>
            </a:pPr>
            <a:r>
              <a:rPr lang="en-US" b="true" sz="5220" spc="104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AI 已经融入我们的内部执行体系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01240"/>
            <a:ext cx="16002000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Outrise 已建立高度自动化、智能化、以 AI 为驱动的执行体系。</a:t>
            </a:r>
          </a:p>
        </p:txBody>
      </p:sp>
      <p:sp>
        <p:nvSpPr>
          <p:cNvPr name="AutoShape 5" id="5"/>
          <p:cNvSpPr/>
          <p:nvPr/>
        </p:nvSpPr>
        <p:spPr>
          <a:xfrm rot="2400">
            <a:off x="1000125" y="9356407"/>
            <a:ext cx="16287750" cy="0"/>
          </a:xfrm>
          <a:prstGeom prst="line">
            <a:avLst/>
          </a:prstGeom>
          <a:ln cap="rnd" w="9525">
            <a:solidFill>
              <a:srgbClr val="B9BA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9582150"/>
            <a:ext cx="14401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 spc="3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AI 支持工作衔接与迭代，团队承担商业判断和交付责任。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390620" y="9547860"/>
            <a:ext cx="89154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35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11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101340"/>
            <a:ext cx="14859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35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AI 支持营销工作的环节示意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606165"/>
            <a:ext cx="1005840" cy="70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spc="71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sp>
        <p:nvSpPr>
          <p:cNvPr name="AutoShape 10" id="10"/>
          <p:cNvSpPr/>
          <p:nvPr/>
        </p:nvSpPr>
        <p:spPr>
          <a:xfrm rot="21780">
            <a:off x="2220249" y="3938588"/>
            <a:ext cx="2703252" cy="0"/>
          </a:xfrm>
          <a:prstGeom prst="line">
            <a:avLst/>
          </a:prstGeom>
          <a:ln cap="rnd" w="9525">
            <a:solidFill>
              <a:srgbClr val="191A1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1" id="11"/>
          <p:cNvSpPr txBox="true"/>
          <p:nvPr/>
        </p:nvSpPr>
        <p:spPr>
          <a:xfrm rot="0">
            <a:off x="1028700" y="4667250"/>
            <a:ext cx="3406140" cy="112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b="true" sz="2790" spc="55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研究与知识积累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673090"/>
            <a:ext cx="3406140" cy="1996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5"/>
              </a:lnSpc>
            </a:pPr>
            <a:r>
              <a:rPr lang="en-US" sz="2429" spc="48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将研究资料、业务信</a:t>
            </a:r>
          </a:p>
          <a:p>
            <a:pPr algn="l">
              <a:lnSpc>
                <a:spcPts val="2915"/>
              </a:lnSpc>
            </a:pPr>
            <a:r>
              <a:rPr lang="en-US" sz="2429" spc="48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息与项目经验组织为</a:t>
            </a:r>
          </a:p>
          <a:p>
            <a:pPr algn="l">
              <a:lnSpc>
                <a:spcPts val="2915"/>
              </a:lnSpc>
            </a:pPr>
            <a:r>
              <a:rPr lang="en-US" sz="2429" spc="48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可持续使用的知识基</a:t>
            </a:r>
          </a:p>
          <a:p>
            <a:pPr algn="l">
              <a:lnSpc>
                <a:spcPts val="2915"/>
              </a:lnSpc>
            </a:pPr>
            <a:r>
              <a:rPr lang="en-US" sz="2429" spc="48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础，支持后续判断。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14950" y="3606165"/>
            <a:ext cx="1005840" cy="70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spc="71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sp>
        <p:nvSpPr>
          <p:cNvPr name="AutoShape 14" id="14"/>
          <p:cNvSpPr/>
          <p:nvPr/>
        </p:nvSpPr>
        <p:spPr>
          <a:xfrm rot="21780">
            <a:off x="6506499" y="3938588"/>
            <a:ext cx="2703252" cy="0"/>
          </a:xfrm>
          <a:prstGeom prst="line">
            <a:avLst/>
          </a:prstGeom>
          <a:ln cap="rnd" w="9525">
            <a:solidFill>
              <a:srgbClr val="191A1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5" id="15"/>
          <p:cNvSpPr txBox="true"/>
          <p:nvPr/>
        </p:nvSpPr>
        <p:spPr>
          <a:xfrm rot="0">
            <a:off x="5314950" y="4667250"/>
            <a:ext cx="3406140" cy="112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b="true" sz="2790" spc="55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规划与任务推进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14950" y="5673090"/>
            <a:ext cx="3406140" cy="1996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5"/>
              </a:lnSpc>
            </a:pPr>
            <a:r>
              <a:rPr lang="en-US" sz="2429" spc="48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让信息、计划和任务</a:t>
            </a:r>
          </a:p>
          <a:p>
            <a:pPr algn="l">
              <a:lnSpc>
                <a:spcPts val="2915"/>
              </a:lnSpc>
            </a:pPr>
            <a:r>
              <a:rPr lang="en-US" sz="2429" spc="48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衔接，支持团队协调</a:t>
            </a:r>
          </a:p>
          <a:p>
            <a:pPr algn="l">
              <a:lnSpc>
                <a:spcPts val="2915"/>
              </a:lnSpc>
            </a:pPr>
            <a:r>
              <a:rPr lang="en-US" sz="2429" spc="48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工作、跟进进度和处</a:t>
            </a:r>
          </a:p>
          <a:p>
            <a:pPr algn="l">
              <a:lnSpc>
                <a:spcPts val="2915"/>
              </a:lnSpc>
            </a:pPr>
            <a:r>
              <a:rPr lang="en-US" sz="2429" spc="48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理反馈。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01200" y="3606165"/>
            <a:ext cx="1005840" cy="70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spc="71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sp>
        <p:nvSpPr>
          <p:cNvPr name="AutoShape 18" id="18"/>
          <p:cNvSpPr/>
          <p:nvPr/>
        </p:nvSpPr>
        <p:spPr>
          <a:xfrm rot="21780">
            <a:off x="10792749" y="3938588"/>
            <a:ext cx="2703252" cy="0"/>
          </a:xfrm>
          <a:prstGeom prst="line">
            <a:avLst/>
          </a:prstGeom>
          <a:ln cap="rnd" w="9525">
            <a:solidFill>
              <a:srgbClr val="191A1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9" id="19"/>
          <p:cNvSpPr txBox="true"/>
          <p:nvPr/>
        </p:nvSpPr>
        <p:spPr>
          <a:xfrm rot="0">
            <a:off x="9601200" y="4667250"/>
            <a:ext cx="3406140" cy="112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b="true" sz="2790" spc="55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内容与创意生产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01200" y="5673090"/>
            <a:ext cx="3406140" cy="1996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5"/>
              </a:lnSpc>
            </a:pPr>
            <a:r>
              <a:rPr lang="en-US" sz="2429" spc="48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运用 AI 支持创意探</a:t>
            </a:r>
          </a:p>
          <a:p>
            <a:pPr algn="l">
              <a:lnSpc>
                <a:spcPts val="2915"/>
              </a:lnSpc>
            </a:pPr>
            <a:r>
              <a:rPr lang="en-US" sz="2429" spc="48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索、素材生产与迭</a:t>
            </a:r>
          </a:p>
          <a:p>
            <a:pPr algn="l">
              <a:lnSpc>
                <a:spcPts val="2915"/>
              </a:lnSpc>
            </a:pPr>
            <a:r>
              <a:rPr lang="en-US" sz="2429" spc="48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代，由团队负责方</a:t>
            </a:r>
          </a:p>
          <a:p>
            <a:pPr algn="l">
              <a:lnSpc>
                <a:spcPts val="2915"/>
              </a:lnSpc>
            </a:pPr>
            <a:r>
              <a:rPr lang="en-US" sz="2429" spc="48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向、质量与最终判</a:t>
            </a:r>
          </a:p>
          <a:p>
            <a:pPr algn="l">
              <a:lnSpc>
                <a:spcPts val="2915"/>
              </a:lnSpc>
            </a:pPr>
            <a:r>
              <a:rPr lang="en-US" sz="2429" spc="48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断。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887450" y="3606165"/>
            <a:ext cx="1005840" cy="70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spc="71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887450" y="4667250"/>
            <a:ext cx="3406140" cy="112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b="true" sz="2790" spc="55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反馈与持续改进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887450" y="5673090"/>
            <a:ext cx="3406140" cy="1996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5"/>
              </a:lnSpc>
            </a:pPr>
            <a:r>
              <a:rPr lang="en-US" sz="2429" spc="48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把执行反馈带回知识</a:t>
            </a:r>
          </a:p>
          <a:p>
            <a:pPr algn="l">
              <a:lnSpc>
                <a:spcPts val="2915"/>
              </a:lnSpc>
            </a:pPr>
            <a:r>
              <a:rPr lang="en-US" sz="2429" spc="48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与工作流程，让项目</a:t>
            </a:r>
          </a:p>
          <a:p>
            <a:pPr algn="l">
              <a:lnSpc>
                <a:spcPts val="2915"/>
              </a:lnSpc>
            </a:pPr>
            <a:r>
              <a:rPr lang="en-US" sz="2429" spc="48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经验持续服务于下一</a:t>
            </a:r>
          </a:p>
          <a:p>
            <a:pPr algn="l">
              <a:lnSpc>
                <a:spcPts val="2915"/>
              </a:lnSpc>
            </a:pPr>
            <a:r>
              <a:rPr lang="en-US" sz="2429" spc="48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轮行动。</a:t>
            </a:r>
          </a:p>
        </p:txBody>
      </p:sp>
      <p:sp>
        <p:nvSpPr>
          <p:cNvPr name="AutoShape 24" id="24"/>
          <p:cNvSpPr/>
          <p:nvPr/>
        </p:nvSpPr>
        <p:spPr>
          <a:xfrm rot="5265480">
            <a:off x="15429805" y="7864793"/>
            <a:ext cx="321431" cy="0"/>
          </a:xfrm>
          <a:prstGeom prst="line">
            <a:avLst/>
          </a:prstGeom>
          <a:ln cap="rnd" w="9525">
            <a:solidFill>
              <a:srgbClr val="6667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rot="3360">
            <a:off x="2725484" y="8019097"/>
            <a:ext cx="12871333" cy="0"/>
          </a:xfrm>
          <a:prstGeom prst="line">
            <a:avLst/>
          </a:prstGeom>
          <a:ln cap="rnd" w="9525">
            <a:solidFill>
              <a:srgbClr val="6667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rot="5265480">
            <a:off x="2571055" y="7864793"/>
            <a:ext cx="321431" cy="0"/>
          </a:xfrm>
          <a:prstGeom prst="line">
            <a:avLst/>
          </a:prstGeom>
          <a:ln cap="rnd" w="9525">
            <a:solidFill>
              <a:srgbClr val="666760"/>
            </a:solidFill>
            <a:prstDash val="solid"/>
            <a:headEnd type="triangle" len="med" w="lg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1028700" y="8263890"/>
            <a:ext cx="16253460" cy="765810"/>
            <a:chOff x="0" y="0"/>
            <a:chExt cx="21671280" cy="10210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671280" cy="1021080"/>
            </a:xfrm>
            <a:custGeom>
              <a:avLst/>
              <a:gdLst/>
              <a:ahLst/>
              <a:cxnLst/>
              <a:rect r="r" b="b" t="t" l="l"/>
              <a:pathLst>
                <a:path h="1021080" w="21671280">
                  <a:moveTo>
                    <a:pt x="0" y="0"/>
                  </a:moveTo>
                  <a:lnTo>
                    <a:pt x="21671280" y="0"/>
                  </a:lnTo>
                  <a:lnTo>
                    <a:pt x="21671280" y="1021080"/>
                  </a:lnTo>
                  <a:lnTo>
                    <a:pt x="0" y="1021080"/>
                  </a:lnTo>
                  <a:close/>
                </a:path>
              </a:pathLst>
            </a:custGeom>
            <a:solidFill>
              <a:srgbClr val="191A18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303020" y="8416290"/>
            <a:ext cx="1570482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1"/>
              </a:lnSpc>
            </a:pPr>
            <a:r>
              <a:rPr lang="en-US" b="true" sz="2610" spc="52">
                <a:solidFill>
                  <a:srgbClr val="EEEDE5"/>
                </a:solidFill>
                <a:latin typeface="Arimo Bold"/>
                <a:ea typeface="Arimo Bold"/>
                <a:cs typeface="Arimo Bold"/>
                <a:sym typeface="Arimo Bold"/>
              </a:rPr>
              <a:t>团队负责商业判断、方向与质量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19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5840" y="529590"/>
            <a:ext cx="12573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35">
                <a:solidFill>
                  <a:srgbClr val="B7B9AD"/>
                </a:solidFill>
                <a:latin typeface="Arimo"/>
                <a:ea typeface="Arimo"/>
                <a:cs typeface="Arimo"/>
                <a:sym typeface="Arimo"/>
              </a:rPr>
              <a:t>为什么选择我们 · 市场理解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05840" y="1158240"/>
            <a:ext cx="16276320" cy="107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3"/>
              </a:lnSpc>
            </a:pPr>
            <a:r>
              <a:rPr lang="en-US" b="true" sz="5220" spc="104">
                <a:solidFill>
                  <a:srgbClr val="EEEDE5"/>
                </a:solidFill>
                <a:latin typeface="Arimo Bold"/>
                <a:ea typeface="Arimo Bold"/>
                <a:cs typeface="Arimo Bold"/>
                <a:sym typeface="Arimo Bold"/>
              </a:rPr>
              <a:t>理解 AI 技术，也理解它带来的市场变化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01240"/>
            <a:ext cx="16002000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B7B9AD"/>
                </a:solidFill>
                <a:latin typeface="Arimo"/>
                <a:ea typeface="Arimo"/>
                <a:cs typeface="Arimo"/>
                <a:sym typeface="Arimo"/>
              </a:rPr>
              <a:t>把对技术与市场的理解，转化为更灵活的营销判断与行动。</a:t>
            </a:r>
          </a:p>
        </p:txBody>
      </p:sp>
      <p:sp>
        <p:nvSpPr>
          <p:cNvPr name="AutoShape 5" id="5"/>
          <p:cNvSpPr/>
          <p:nvPr/>
        </p:nvSpPr>
        <p:spPr>
          <a:xfrm rot="2400">
            <a:off x="1000125" y="9356407"/>
            <a:ext cx="16287750" cy="0"/>
          </a:xfrm>
          <a:prstGeom prst="line">
            <a:avLst/>
          </a:prstGeom>
          <a:ln cap="rnd" w="9525">
            <a:solidFill>
              <a:srgbClr val="4D4F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9582150"/>
            <a:ext cx="14401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 spc="32">
                <a:solidFill>
                  <a:srgbClr val="B7B9AD"/>
                </a:solidFill>
                <a:latin typeface="Arimo"/>
                <a:ea typeface="Arimo"/>
                <a:cs typeface="Arimo"/>
                <a:sym typeface="Arimo"/>
              </a:rPr>
              <a:t>专注北美市场，让技术理解与当地营销实践共同服务业务目标。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390620" y="9547860"/>
            <a:ext cx="89154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35">
                <a:solidFill>
                  <a:srgbClr val="B7B9AD"/>
                </a:solidFill>
                <a:latin typeface="Arimo"/>
                <a:ea typeface="Arimo"/>
                <a:cs typeface="Arimo"/>
                <a:sym typeface="Arimo"/>
              </a:rPr>
              <a:t>12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775710"/>
            <a:ext cx="6286500" cy="384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52"/>
              </a:lnSpc>
            </a:pPr>
            <a:r>
              <a:rPr lang="en-US" b="true" sz="6209" spc="123">
                <a:solidFill>
                  <a:srgbClr val="EEEDE5"/>
                </a:solidFill>
                <a:latin typeface="Arimo Bold"/>
                <a:ea typeface="Arimo Bold"/>
                <a:cs typeface="Arimo Bold"/>
                <a:sym typeface="Arimo Bold"/>
              </a:rPr>
              <a:t>技术理解</a:t>
            </a:r>
          </a:p>
          <a:p>
            <a:pPr algn="l">
              <a:lnSpc>
                <a:spcPts val="7452"/>
              </a:lnSpc>
            </a:pPr>
            <a:r>
              <a:rPr lang="en-US" b="true" sz="6209" spc="123">
                <a:solidFill>
                  <a:srgbClr val="EEEDE5"/>
                </a:solidFill>
                <a:latin typeface="Arimo Bold"/>
                <a:ea typeface="Arimo Bold"/>
                <a:cs typeface="Arimo Bold"/>
                <a:sym typeface="Arimo Bold"/>
              </a:rPr>
              <a:t>市场判断</a:t>
            </a:r>
          </a:p>
          <a:p>
            <a:pPr algn="l">
              <a:lnSpc>
                <a:spcPts val="7452"/>
              </a:lnSpc>
            </a:pPr>
            <a:r>
              <a:rPr lang="en-US" b="true" sz="6209" spc="123">
                <a:solidFill>
                  <a:srgbClr val="EEEDE5"/>
                </a:solidFill>
                <a:latin typeface="Arimo Bold"/>
                <a:ea typeface="Arimo Bold"/>
                <a:cs typeface="Arimo Bold"/>
                <a:sym typeface="Arimo Bold"/>
              </a:rPr>
              <a:t>快速适应</a:t>
            </a:r>
          </a:p>
        </p:txBody>
      </p:sp>
      <p:sp>
        <p:nvSpPr>
          <p:cNvPr name="AutoShape 9" id="9"/>
          <p:cNvSpPr/>
          <p:nvPr/>
        </p:nvSpPr>
        <p:spPr>
          <a:xfrm rot="5390280">
            <a:off x="5085197" y="6173153"/>
            <a:ext cx="4848625" cy="0"/>
          </a:xfrm>
          <a:prstGeom prst="line">
            <a:avLst/>
          </a:prstGeom>
          <a:ln cap="rnd" w="9525">
            <a:solidFill>
              <a:srgbClr val="4D4F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8229600" y="3684270"/>
            <a:ext cx="905256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b="true" sz="3060" spc="61">
                <a:solidFill>
                  <a:srgbClr val="EEEDE5"/>
                </a:solidFill>
                <a:latin typeface="Arimo Bold"/>
                <a:ea typeface="Arimo Bold"/>
                <a:cs typeface="Arimo Bold"/>
                <a:sym typeface="Arimo Bold"/>
              </a:rPr>
              <a:t>读懂科技产品的价值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29600" y="4392930"/>
            <a:ext cx="9052560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B7B9AD"/>
                </a:solidFill>
                <a:latin typeface="Arimo"/>
                <a:ea typeface="Arimo"/>
                <a:cs typeface="Arimo"/>
                <a:sym typeface="Arimo"/>
              </a:rPr>
              <a:t>理解科技公司的产品逻辑、目标与需求，把技术能力转</a:t>
            </a:r>
          </a:p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B7B9AD"/>
                </a:solidFill>
                <a:latin typeface="Arimo"/>
                <a:ea typeface="Arimo"/>
                <a:cs typeface="Arimo"/>
                <a:sym typeface="Arimo"/>
              </a:rPr>
              <a:t>化为用户能够理解的价值和场景。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29600" y="5398770"/>
            <a:ext cx="905256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b="true" sz="3060" spc="61">
                <a:solidFill>
                  <a:srgbClr val="EEEDE5"/>
                </a:solidFill>
                <a:latin typeface="Arimo Bold"/>
                <a:ea typeface="Arimo Bold"/>
                <a:cs typeface="Arimo Bold"/>
                <a:sym typeface="Arimo Bold"/>
              </a:rPr>
              <a:t>跟随市场与渠道变化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29600" y="6107430"/>
            <a:ext cx="9052560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B7B9AD"/>
                </a:solidFill>
                <a:latin typeface="Arimo"/>
                <a:ea typeface="Arimo"/>
                <a:cs typeface="Arimo"/>
                <a:sym typeface="Arimo"/>
              </a:rPr>
              <a:t>关注 AI 对信息发现、内容传播和用户决策的影响，持</a:t>
            </a:r>
          </a:p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B7B9AD"/>
                </a:solidFill>
                <a:latin typeface="Arimo"/>
                <a:ea typeface="Arimo"/>
                <a:cs typeface="Arimo"/>
                <a:sym typeface="Arimo"/>
              </a:rPr>
              <a:t>续调整策略与渠道选择。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29600" y="7113270"/>
            <a:ext cx="905256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b="true" sz="3060" spc="61">
                <a:solidFill>
                  <a:srgbClr val="EEEDE5"/>
                </a:solidFill>
                <a:latin typeface="Arimo Bold"/>
                <a:ea typeface="Arimo Bold"/>
                <a:cs typeface="Arimo Bold"/>
                <a:sym typeface="Arimo Bold"/>
              </a:rPr>
              <a:t>更灵活地推进探索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29600" y="7821930"/>
            <a:ext cx="9052560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B7B9AD"/>
                </a:solidFill>
                <a:latin typeface="Arimo"/>
                <a:ea typeface="Arimo"/>
                <a:cs typeface="Arimo"/>
                <a:sym typeface="Arimo"/>
              </a:rPr>
              <a:t>依托内部 AI 执行体系衔接研究、创意与反馈，更快组</a:t>
            </a:r>
          </a:p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B7B9AD"/>
                </a:solidFill>
                <a:latin typeface="Arimo"/>
                <a:ea typeface="Arimo"/>
                <a:cs typeface="Arimo"/>
                <a:sym typeface="Arimo"/>
              </a:rPr>
              <a:t>织尝试，并据此调整下一轮行动。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D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520">
            <a:off x="11158480" y="5035868"/>
            <a:ext cx="1240279" cy="9525"/>
          </a:xfrm>
          <a:prstGeom prst="line">
            <a:avLst/>
          </a:prstGeom>
          <a:ln cap="rnd" w="9525">
            <a:solidFill>
              <a:srgbClr val="191A1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" id="3"/>
          <p:cNvSpPr/>
          <p:nvPr/>
        </p:nvSpPr>
        <p:spPr>
          <a:xfrm rot="47520">
            <a:off x="5134870" y="5035868"/>
            <a:ext cx="1240279" cy="9525"/>
          </a:xfrm>
          <a:prstGeom prst="line">
            <a:avLst/>
          </a:prstGeom>
          <a:ln cap="rnd" w="9525">
            <a:solidFill>
              <a:srgbClr val="191A1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4" id="4"/>
          <p:cNvSpPr txBox="true"/>
          <p:nvPr/>
        </p:nvSpPr>
        <p:spPr>
          <a:xfrm rot="0">
            <a:off x="1005840" y="529590"/>
            <a:ext cx="12573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35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项目经验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5840" y="1158240"/>
            <a:ext cx="16276320" cy="107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3"/>
              </a:lnSpc>
            </a:pPr>
            <a:r>
              <a:rPr lang="en-US" b="true" sz="5220" spc="104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箱包品牌的北美多渠道实践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301240"/>
            <a:ext cx="16002000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围绕品牌、内容与渠道，连接营销规划和执行工作。</a:t>
            </a:r>
          </a:p>
        </p:txBody>
      </p:sp>
      <p:sp>
        <p:nvSpPr>
          <p:cNvPr name="AutoShape 7" id="7"/>
          <p:cNvSpPr/>
          <p:nvPr/>
        </p:nvSpPr>
        <p:spPr>
          <a:xfrm rot="2400">
            <a:off x="1000125" y="9356407"/>
            <a:ext cx="16287750" cy="0"/>
          </a:xfrm>
          <a:prstGeom prst="line">
            <a:avLst/>
          </a:prstGeom>
          <a:ln cap="rnd" w="9525">
            <a:solidFill>
              <a:srgbClr val="B9BA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9582150"/>
            <a:ext cx="14401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 spc="3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匿名项目经验｜展示项目工作范围与协同方式。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390620" y="9547860"/>
            <a:ext cx="89154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35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13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318510"/>
            <a:ext cx="16253460" cy="79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服务面向北美市场的消费箱包品牌，相关工作涉及品牌表达、内容、达人及多个线上渠道。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0127" y="4517708"/>
            <a:ext cx="4131945" cy="1045845"/>
            <a:chOff x="0" y="0"/>
            <a:chExt cx="5509260" cy="13944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09260" cy="1394460"/>
            </a:xfrm>
            <a:custGeom>
              <a:avLst/>
              <a:gdLst/>
              <a:ahLst/>
              <a:cxnLst/>
              <a:rect r="r" b="b" t="t" l="l"/>
              <a:pathLst>
                <a:path h="1394460" w="5509260">
                  <a:moveTo>
                    <a:pt x="0" y="0"/>
                  </a:moveTo>
                  <a:lnTo>
                    <a:pt x="5509260" y="0"/>
                  </a:lnTo>
                  <a:lnTo>
                    <a:pt x="5509260" y="1394460"/>
                  </a:lnTo>
                  <a:lnTo>
                    <a:pt x="0" y="13944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81" r="0" b="-26981"/>
              </a:stretch>
            </a:blipFill>
            <a:ln w="17146" cap="sq">
              <a:solidFill>
                <a:srgbClr val="191A18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366510" y="4526280"/>
            <a:ext cx="4800600" cy="1028700"/>
            <a:chOff x="0" y="0"/>
            <a:chExt cx="6400800" cy="1371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00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191A18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381548" y="4517708"/>
            <a:ext cx="4909185" cy="1045845"/>
            <a:chOff x="0" y="0"/>
            <a:chExt cx="6545580" cy="13944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545580" cy="1394460"/>
            </a:xfrm>
            <a:custGeom>
              <a:avLst/>
              <a:gdLst/>
              <a:ahLst/>
              <a:cxnLst/>
              <a:rect r="r" b="b" t="t" l="l"/>
              <a:pathLst>
                <a:path h="1394460" w="6545580">
                  <a:moveTo>
                    <a:pt x="0" y="0"/>
                  </a:moveTo>
                  <a:lnTo>
                    <a:pt x="6545580" y="0"/>
                  </a:lnTo>
                  <a:lnTo>
                    <a:pt x="6545580" y="1394460"/>
                  </a:lnTo>
                  <a:lnTo>
                    <a:pt x="0" y="13944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462" r="0" b="-41462"/>
              </a:stretch>
            </a:blipFill>
            <a:ln w="17146" cap="sq">
              <a:solidFill>
                <a:srgbClr val="191A18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245870" y="4768215"/>
            <a:ext cx="3680460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5"/>
              </a:lnSpc>
            </a:pPr>
            <a:r>
              <a:rPr lang="en-US" b="true" sz="2879" spc="57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品牌与产品表达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606540" y="4768215"/>
            <a:ext cx="4320540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5"/>
              </a:lnSpc>
            </a:pPr>
            <a:r>
              <a:rPr lang="en-US" b="true" sz="2879" spc="57">
                <a:solidFill>
                  <a:srgbClr val="EEEDE5"/>
                </a:solidFill>
                <a:latin typeface="Arimo Bold"/>
                <a:ea typeface="Arimo Bold"/>
                <a:cs typeface="Arimo Bold"/>
                <a:sym typeface="Arimo Bold"/>
              </a:rPr>
              <a:t>内容与达人合作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07290" y="4815840"/>
            <a:ext cx="44577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5"/>
              </a:lnSpc>
            </a:pPr>
            <a:r>
              <a:rPr lang="en-US" b="true" sz="2429" spc="48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Amazon / TikTok / 官网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6038850"/>
            <a:ext cx="480060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b="true" sz="2970" spc="59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规划与协同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6804660"/>
            <a:ext cx="4800600" cy="2122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围绕品牌与产品信息组织营</a:t>
            </a:r>
          </a:p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销工作，协调内容、达人与</a:t>
            </a:r>
          </a:p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渠道任务之间的衔接。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743700" y="6038850"/>
            <a:ext cx="480060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b="true" sz="2970" spc="59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关键工作范围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743700" y="6804660"/>
            <a:ext cx="4800600" cy="2122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产品与店铺优化、达人筛选</a:t>
            </a:r>
          </a:p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与建联、Amazon 广告调</a:t>
            </a:r>
          </a:p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整，以及 TikTok、Amazon</a:t>
            </a:r>
          </a:p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和品牌官网的渠道规划。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58700" y="6038850"/>
            <a:ext cx="480060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b="true" sz="2970" spc="59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持续复盘视角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458700" y="6804660"/>
            <a:ext cx="4800600" cy="2122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把渠道表现、内容反馈和协</a:t>
            </a:r>
          </a:p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作情况放在一起看，为后续</a:t>
            </a:r>
          </a:p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营销选择提供依据。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D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5620">
            <a:off x="4163349" y="4161472"/>
            <a:ext cx="2303212" cy="9525"/>
          </a:xfrm>
          <a:prstGeom prst="line">
            <a:avLst/>
          </a:prstGeom>
          <a:ln cap="rnd" w="9525">
            <a:solidFill>
              <a:srgbClr val="191A1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" id="3"/>
          <p:cNvSpPr txBox="true"/>
          <p:nvPr/>
        </p:nvSpPr>
        <p:spPr>
          <a:xfrm rot="0">
            <a:off x="1005840" y="529590"/>
            <a:ext cx="12573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35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谁来为客户负责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5840" y="1158240"/>
            <a:ext cx="16276320" cy="107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3"/>
              </a:lnSpc>
            </a:pPr>
            <a:r>
              <a:rPr lang="en-US" b="true" sz="5220" spc="104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一个合作入口，由 Outrise 统一负责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301240"/>
            <a:ext cx="16002000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在约定合作范围内，我们统筹策略、进度、质量与专业伙伴，对整体合作交付负责并背书。</a:t>
            </a:r>
          </a:p>
        </p:txBody>
      </p:sp>
      <p:sp>
        <p:nvSpPr>
          <p:cNvPr name="AutoShape 6" id="6"/>
          <p:cNvSpPr/>
          <p:nvPr/>
        </p:nvSpPr>
        <p:spPr>
          <a:xfrm rot="2400">
            <a:off x="1000125" y="9356407"/>
            <a:ext cx="16287750" cy="0"/>
          </a:xfrm>
          <a:prstGeom prst="line">
            <a:avLst/>
          </a:prstGeom>
          <a:ln cap="rnd" w="9525">
            <a:solidFill>
              <a:srgbClr val="B9BA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9582150"/>
            <a:ext cx="14401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 spc="3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无论哪些角色参与，客户始终由 Outrise 统一承接。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390620" y="9547860"/>
            <a:ext cx="89154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35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14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0127" y="3591878"/>
            <a:ext cx="3160395" cy="1148715"/>
            <a:chOff x="0" y="0"/>
            <a:chExt cx="4213860" cy="15316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13860" cy="1531620"/>
            </a:xfrm>
            <a:custGeom>
              <a:avLst/>
              <a:gdLst/>
              <a:ahLst/>
              <a:cxnLst/>
              <a:rect r="r" b="b" t="t" l="l"/>
              <a:pathLst>
                <a:path h="1531620" w="4213860">
                  <a:moveTo>
                    <a:pt x="0" y="0"/>
                  </a:moveTo>
                  <a:lnTo>
                    <a:pt x="4213860" y="0"/>
                  </a:lnTo>
                  <a:lnTo>
                    <a:pt x="4213860" y="1531620"/>
                  </a:lnTo>
                  <a:lnTo>
                    <a:pt x="0" y="1531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8" r="0" b="-3608"/>
              </a:stretch>
            </a:blipFill>
            <a:ln w="17146" cap="sq">
              <a:solidFill>
                <a:srgbClr val="191A18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457950" y="3600450"/>
            <a:ext cx="8515350" cy="1131570"/>
            <a:chOff x="0" y="0"/>
            <a:chExt cx="11353800" cy="15087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53800" cy="1508760"/>
            </a:xfrm>
            <a:custGeom>
              <a:avLst/>
              <a:gdLst/>
              <a:ahLst/>
              <a:cxnLst/>
              <a:rect r="r" b="b" t="t" l="l"/>
              <a:pathLst>
                <a:path h="1508760" w="11353800">
                  <a:moveTo>
                    <a:pt x="0" y="0"/>
                  </a:moveTo>
                  <a:lnTo>
                    <a:pt x="11353800" y="0"/>
                  </a:lnTo>
                  <a:lnTo>
                    <a:pt x="11353800" y="1508760"/>
                  </a:lnTo>
                  <a:lnTo>
                    <a:pt x="0" y="1508760"/>
                  </a:lnTo>
                  <a:close/>
                </a:path>
              </a:pathLst>
            </a:custGeom>
            <a:solidFill>
              <a:srgbClr val="191A18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80160" y="3855720"/>
            <a:ext cx="264033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b="true" sz="3240" spc="64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客户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43700" y="3855720"/>
            <a:ext cx="794385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b="true" sz="3240" spc="64">
                <a:solidFill>
                  <a:srgbClr val="EEEDE5"/>
                </a:solidFill>
                <a:latin typeface="Arimo Bold"/>
                <a:ea typeface="Arimo Bold"/>
                <a:cs typeface="Arimo Bold"/>
                <a:sym typeface="Arimo Bold"/>
              </a:rPr>
              <a:t>Outrise 统一负责与背书</a:t>
            </a:r>
          </a:p>
        </p:txBody>
      </p:sp>
      <p:sp>
        <p:nvSpPr>
          <p:cNvPr name="AutoShape 15" id="15"/>
          <p:cNvSpPr/>
          <p:nvPr/>
        </p:nvSpPr>
        <p:spPr>
          <a:xfrm rot="5336760">
            <a:off x="10337225" y="5093018"/>
            <a:ext cx="745360" cy="0"/>
          </a:xfrm>
          <a:prstGeom prst="line">
            <a:avLst/>
          </a:prstGeom>
          <a:ln cap="rnd" w="9525">
            <a:solidFill>
              <a:srgbClr val="191A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3780">
            <a:off x="2964942" y="5458778"/>
            <a:ext cx="12529576" cy="0"/>
          </a:xfrm>
          <a:prstGeom prst="line">
            <a:avLst/>
          </a:prstGeom>
          <a:ln cap="rnd" w="9525">
            <a:solidFill>
              <a:srgbClr val="191A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5316180">
            <a:off x="2690536" y="5733097"/>
            <a:ext cx="562527" cy="0"/>
          </a:xfrm>
          <a:prstGeom prst="line">
            <a:avLst/>
          </a:prstGeom>
          <a:ln cap="rnd" w="9525">
            <a:solidFill>
              <a:srgbClr val="191A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1028700" y="6244590"/>
            <a:ext cx="373761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b="true" sz="3060" spc="61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策略与决策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7067550"/>
            <a:ext cx="3737610" cy="175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理解业务，提出判</a:t>
            </a:r>
          </a:p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断，制定方向与阶段</a:t>
            </a:r>
          </a:p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规划。</a:t>
            </a:r>
          </a:p>
        </p:txBody>
      </p:sp>
      <p:sp>
        <p:nvSpPr>
          <p:cNvPr name="AutoShape 20" id="20"/>
          <p:cNvSpPr/>
          <p:nvPr/>
        </p:nvSpPr>
        <p:spPr>
          <a:xfrm rot="5316180">
            <a:off x="6862486" y="5733097"/>
            <a:ext cx="562527" cy="0"/>
          </a:xfrm>
          <a:prstGeom prst="line">
            <a:avLst/>
          </a:prstGeom>
          <a:ln cap="rnd" w="9525">
            <a:solidFill>
              <a:srgbClr val="191A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5200650" y="6244590"/>
            <a:ext cx="373761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b="true" sz="3060" spc="61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项目统筹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200650" y="7067550"/>
            <a:ext cx="3737610" cy="175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协调任务、进度与沟</a:t>
            </a:r>
          </a:p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通，跟进交付并处理</a:t>
            </a:r>
          </a:p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协作问题。</a:t>
            </a:r>
          </a:p>
        </p:txBody>
      </p:sp>
      <p:sp>
        <p:nvSpPr>
          <p:cNvPr name="AutoShape 23" id="23"/>
          <p:cNvSpPr/>
          <p:nvPr/>
        </p:nvSpPr>
        <p:spPr>
          <a:xfrm rot="5316180">
            <a:off x="11034436" y="5733097"/>
            <a:ext cx="562527" cy="0"/>
          </a:xfrm>
          <a:prstGeom prst="line">
            <a:avLst/>
          </a:prstGeom>
          <a:ln cap="rnd" w="9525">
            <a:solidFill>
              <a:srgbClr val="191A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9372600" y="6244590"/>
            <a:ext cx="373761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b="true" sz="3060" spc="61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直接执行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72600" y="7067550"/>
            <a:ext cx="3737610" cy="175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承担约定的内容、达</a:t>
            </a:r>
          </a:p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人、广告与投放等关</a:t>
            </a:r>
          </a:p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键工作。</a:t>
            </a:r>
          </a:p>
        </p:txBody>
      </p:sp>
      <p:sp>
        <p:nvSpPr>
          <p:cNvPr name="AutoShape 26" id="26"/>
          <p:cNvSpPr/>
          <p:nvPr/>
        </p:nvSpPr>
        <p:spPr>
          <a:xfrm rot="5316180">
            <a:off x="15206386" y="5733097"/>
            <a:ext cx="562527" cy="0"/>
          </a:xfrm>
          <a:prstGeom prst="line">
            <a:avLst/>
          </a:prstGeom>
          <a:ln cap="rnd" w="9525">
            <a:solidFill>
              <a:srgbClr val="191A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13544550" y="6244590"/>
            <a:ext cx="373761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b="true" sz="3060" spc="61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专业协作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544550" y="7067550"/>
            <a:ext cx="3737610" cy="175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组织专项伙伴，明确</a:t>
            </a:r>
          </a:p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要求与分工，衔接整</a:t>
            </a:r>
          </a:p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体交付。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EEED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5840" y="529590"/>
            <a:ext cx="12573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35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如何与我们合作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05840" y="1158240"/>
            <a:ext cx="16276320" cy="107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3"/>
              </a:lnSpc>
            </a:pPr>
            <a:r>
              <a:rPr lang="en-US" b="true" sz="5220" spc="104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按业务阶段，选择合适的合作深度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01240"/>
            <a:ext cx="16002000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520" spc="50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以策略咨询为核心，结合目标约定工作范围与执行支持。</a:t>
            </a:r>
          </a:p>
        </p:txBody>
      </p:sp>
      <p:sp>
        <p:nvSpPr>
          <p:cNvPr name="AutoShape 5" id="5"/>
          <p:cNvSpPr/>
          <p:nvPr/>
        </p:nvSpPr>
        <p:spPr>
          <a:xfrm rot="2400">
            <a:off x="1000125" y="9356407"/>
            <a:ext cx="16287750" cy="0"/>
          </a:xfrm>
          <a:prstGeom prst="line">
            <a:avLst/>
          </a:prstGeom>
          <a:ln cap="rnd" w="9525">
            <a:solidFill>
              <a:srgbClr val="B9BA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9582150"/>
            <a:ext cx="14401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 spc="32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每次合作共同明确：目标、交付、分工与评估方式。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390620" y="9547860"/>
            <a:ext cx="89154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35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15</a:t>
            </a:r>
          </a:p>
        </p:txBody>
      </p:sp>
      <p:sp>
        <p:nvSpPr>
          <p:cNvPr name="AutoShape 8" id="8"/>
          <p:cNvSpPr/>
          <p:nvPr/>
        </p:nvSpPr>
        <p:spPr>
          <a:xfrm rot="16320">
            <a:off x="1017241" y="3659505"/>
            <a:ext cx="4823517" cy="0"/>
          </a:xfrm>
          <a:prstGeom prst="line">
            <a:avLst/>
          </a:prstGeom>
          <a:ln cap="rnd" w="19050">
            <a:solidFill>
              <a:srgbClr val="191A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28700" y="4036695"/>
            <a:ext cx="4800600" cy="139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</a:pPr>
            <a:r>
              <a:rPr lang="en-US" b="true" sz="3329" spc="66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策略咨询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673090"/>
            <a:ext cx="4800600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spc="44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厘清问题，确定方向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781800"/>
            <a:ext cx="4800600" cy="206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191A18"/>
                </a:solidFill>
                <a:latin typeface="Arimo"/>
                <a:ea typeface="Arimo"/>
                <a:cs typeface="Arimo"/>
                <a:sym typeface="Arimo"/>
              </a:rPr>
              <a:t>适合需要理清市场、定位或</a:t>
            </a:r>
          </a:p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191A18"/>
                </a:solidFill>
                <a:latin typeface="Arimo"/>
                <a:ea typeface="Arimo"/>
                <a:cs typeface="Arimo"/>
                <a:sym typeface="Arimo"/>
              </a:rPr>
              <a:t>渠道选择的团队。围绕明确</a:t>
            </a:r>
          </a:p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191A18"/>
                </a:solidFill>
                <a:latin typeface="Arimo"/>
                <a:ea typeface="Arimo"/>
                <a:cs typeface="Arimo"/>
                <a:sym typeface="Arimo"/>
              </a:rPr>
              <a:t>问题形成判断、建议与行动</a:t>
            </a:r>
          </a:p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191A18"/>
                </a:solidFill>
                <a:latin typeface="Arimo"/>
                <a:ea typeface="Arimo"/>
                <a:cs typeface="Arimo"/>
                <a:sym typeface="Arimo"/>
              </a:rPr>
              <a:t>方向。</a:t>
            </a:r>
          </a:p>
        </p:txBody>
      </p:sp>
      <p:sp>
        <p:nvSpPr>
          <p:cNvPr name="AutoShape 12" id="12"/>
          <p:cNvSpPr/>
          <p:nvPr/>
        </p:nvSpPr>
        <p:spPr>
          <a:xfrm rot="16320">
            <a:off x="6732241" y="3659505"/>
            <a:ext cx="4823517" cy="0"/>
          </a:xfrm>
          <a:prstGeom prst="line">
            <a:avLst/>
          </a:prstGeom>
          <a:ln cap="rnd" w="19050">
            <a:solidFill>
              <a:srgbClr val="191A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6743700" y="4036695"/>
            <a:ext cx="4800600" cy="139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</a:pPr>
            <a:r>
              <a:rPr lang="en-US" b="true" sz="3329" spc="66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阶段性 GTM / 品牌</a:t>
            </a:r>
          </a:p>
          <a:p>
            <a:pPr algn="l">
              <a:lnSpc>
                <a:spcPts val="3995"/>
              </a:lnSpc>
            </a:pPr>
            <a:r>
              <a:rPr lang="en-US" b="true" sz="3329" spc="66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项目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43700" y="5673090"/>
            <a:ext cx="4800600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spc="44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围绕目标，推进一段工作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43700" y="6781800"/>
            <a:ext cx="4800600" cy="206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191A18"/>
                </a:solidFill>
                <a:latin typeface="Arimo"/>
                <a:ea typeface="Arimo"/>
                <a:cs typeface="Arimo"/>
                <a:sym typeface="Arimo"/>
              </a:rPr>
              <a:t>适合有明确阶段目标的品牌</a:t>
            </a:r>
          </a:p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191A18"/>
                </a:solidFill>
                <a:latin typeface="Arimo"/>
                <a:ea typeface="Arimo"/>
                <a:cs typeface="Arimo"/>
                <a:sym typeface="Arimo"/>
              </a:rPr>
              <a:t>与产品。共同制定方案，完</a:t>
            </a:r>
          </a:p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191A18"/>
                </a:solidFill>
                <a:latin typeface="Arimo"/>
                <a:ea typeface="Arimo"/>
                <a:cs typeface="Arimo"/>
                <a:sym typeface="Arimo"/>
              </a:rPr>
              <a:t>成规划与选定的关键执行。</a:t>
            </a:r>
          </a:p>
        </p:txBody>
      </p:sp>
      <p:sp>
        <p:nvSpPr>
          <p:cNvPr name="AutoShape 16" id="16"/>
          <p:cNvSpPr/>
          <p:nvPr/>
        </p:nvSpPr>
        <p:spPr>
          <a:xfrm rot="16320">
            <a:off x="12447241" y="3659505"/>
            <a:ext cx="4823517" cy="0"/>
          </a:xfrm>
          <a:prstGeom prst="line">
            <a:avLst/>
          </a:prstGeom>
          <a:ln cap="rnd" w="19050">
            <a:solidFill>
              <a:srgbClr val="191A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2458700" y="4036695"/>
            <a:ext cx="4800600" cy="139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</a:pPr>
            <a:r>
              <a:rPr lang="en-US" b="true" sz="3329" spc="66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持续外部 CMO</a:t>
            </a:r>
          </a:p>
          <a:p>
            <a:pPr algn="l">
              <a:lnSpc>
                <a:spcPts val="3995"/>
              </a:lnSpc>
            </a:pPr>
            <a:r>
              <a:rPr lang="en-US" b="true" sz="3329" spc="66">
                <a:solidFill>
                  <a:srgbClr val="191A18"/>
                </a:solidFill>
                <a:latin typeface="Arimo Bold"/>
                <a:ea typeface="Arimo Bold"/>
                <a:cs typeface="Arimo Bold"/>
                <a:sym typeface="Arimo Bold"/>
              </a:rPr>
              <a:t>与营销团队支持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58700" y="5673090"/>
            <a:ext cx="4800600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spc="44">
                <a:solidFill>
                  <a:srgbClr val="666760"/>
                </a:solidFill>
                <a:latin typeface="Arimo"/>
                <a:ea typeface="Arimo"/>
                <a:cs typeface="Arimo"/>
                <a:sym typeface="Arimo"/>
              </a:rPr>
              <a:t>持续参与，动态调整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58700" y="6781800"/>
            <a:ext cx="4800600" cy="206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191A18"/>
                </a:solidFill>
                <a:latin typeface="Arimo"/>
                <a:ea typeface="Arimo"/>
                <a:cs typeface="Arimo"/>
                <a:sym typeface="Arimo"/>
              </a:rPr>
              <a:t>适合需要持续营销判断与推</a:t>
            </a:r>
          </a:p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191A18"/>
                </a:solidFill>
                <a:latin typeface="Arimo"/>
                <a:ea typeface="Arimo"/>
                <a:cs typeface="Arimo"/>
                <a:sym typeface="Arimo"/>
              </a:rPr>
              <a:t>进的团队。参与决策、规划</a:t>
            </a:r>
          </a:p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191A18"/>
                </a:solidFill>
                <a:latin typeface="Arimo"/>
                <a:ea typeface="Arimo"/>
                <a:cs typeface="Arimo"/>
                <a:sym typeface="Arimo"/>
              </a:rPr>
              <a:t>和复盘，协调工作并承担约</a:t>
            </a:r>
          </a:p>
          <a:p>
            <a:pPr algn="l">
              <a:lnSpc>
                <a:spcPts val="3131"/>
              </a:lnSpc>
            </a:pPr>
            <a:r>
              <a:rPr lang="en-US" sz="2610" spc="52">
                <a:solidFill>
                  <a:srgbClr val="191A18"/>
                </a:solidFill>
                <a:latin typeface="Arimo"/>
                <a:ea typeface="Arimo"/>
                <a:cs typeface="Arimo"/>
                <a:sym typeface="Arimo"/>
              </a:rPr>
              <a:t>定执行。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19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400">
            <a:off x="1000125" y="9356407"/>
            <a:ext cx="16287750" cy="0"/>
          </a:xfrm>
          <a:prstGeom prst="line">
            <a:avLst/>
          </a:prstGeom>
          <a:ln cap="rnd" w="9525">
            <a:solidFill>
              <a:srgbClr val="4D4F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9582150"/>
            <a:ext cx="14401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 spc="32">
                <a:solidFill>
                  <a:srgbClr val="B7B9AD"/>
                </a:solidFill>
                <a:latin typeface="Arimo"/>
                <a:ea typeface="Arimo"/>
                <a:cs typeface="Arimo"/>
                <a:sym typeface="Arimo"/>
              </a:rPr>
              <a:t>专注北美市场的外部 CMO 与营销团队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90620" y="9547860"/>
            <a:ext cx="89154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35">
                <a:solidFill>
                  <a:srgbClr val="B7B9AD"/>
                </a:solidFill>
                <a:latin typeface="Arimo"/>
                <a:ea typeface="Arimo"/>
                <a:cs typeface="Arimo"/>
                <a:sym typeface="Arimo"/>
              </a:rPr>
              <a:t>16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1560" y="678180"/>
            <a:ext cx="93726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79" spc="39">
                <a:solidFill>
                  <a:srgbClr val="B7B9AD"/>
                </a:solidFill>
                <a:latin typeface="Arimo"/>
                <a:ea typeface="Arimo"/>
                <a:cs typeface="Arimo"/>
                <a:sym typeface="Arimo"/>
              </a:rPr>
              <a:t>OUTRISE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962150"/>
            <a:ext cx="10058400" cy="2461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56"/>
              </a:lnSpc>
            </a:pPr>
            <a:r>
              <a:rPr lang="en-US" b="true" sz="7380" spc="147">
                <a:solidFill>
                  <a:srgbClr val="EEEDE5"/>
                </a:solidFill>
                <a:latin typeface="Arimo Bold"/>
                <a:ea typeface="Arimo Bold"/>
                <a:cs typeface="Arimo Bold"/>
                <a:sym typeface="Arimo Bold"/>
              </a:rPr>
              <a:t>从你的北美</a:t>
            </a:r>
          </a:p>
          <a:p>
            <a:pPr algn="l">
              <a:lnSpc>
                <a:spcPts val="8856"/>
              </a:lnSpc>
            </a:pPr>
            <a:r>
              <a:rPr lang="en-US" b="true" sz="7380" spc="147">
                <a:solidFill>
                  <a:srgbClr val="EEEDE5"/>
                </a:solidFill>
                <a:latin typeface="Arimo Bold"/>
                <a:ea typeface="Arimo Bold"/>
                <a:cs typeface="Arimo Bold"/>
                <a:sym typeface="Arimo Bold"/>
              </a:rPr>
              <a:t>市场目标开始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4420" y="5238750"/>
            <a:ext cx="8652510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sz="2790" spc="55">
                <a:solidFill>
                  <a:srgbClr val="B7B9AD"/>
                </a:solidFill>
                <a:latin typeface="Arimo"/>
                <a:ea typeface="Arimo"/>
                <a:cs typeface="Arimo"/>
                <a:sym typeface="Arimo"/>
              </a:rPr>
              <a:t>告诉我们你的产品、目标与当前营销难题，一</a:t>
            </a:r>
          </a:p>
          <a:p>
            <a:pPr algn="l">
              <a:lnSpc>
                <a:spcPts val="3348"/>
              </a:lnSpc>
            </a:pPr>
            <a:r>
              <a:rPr lang="en-US" sz="2790" spc="55">
                <a:solidFill>
                  <a:srgbClr val="B7B9AD"/>
                </a:solidFill>
                <a:latin typeface="Arimo"/>
                <a:ea typeface="Arimo"/>
                <a:cs typeface="Arimo"/>
                <a:sym typeface="Arimo"/>
              </a:rPr>
              <a:t>起确定合适的合作切入点。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4420" y="7844790"/>
            <a:ext cx="10287000" cy="84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6"/>
              </a:lnSpc>
            </a:pPr>
            <a:r>
              <a:rPr lang="en-US" b="true" sz="4230" spc="84">
                <a:solidFill>
                  <a:srgbClr val="EEEDE5"/>
                </a:solidFill>
                <a:latin typeface="Arimo Bold"/>
                <a:ea typeface="Arimo Bold"/>
                <a:cs typeface="Arimo Bold"/>
                <a:sym typeface="Arimo Bold"/>
              </a:rPr>
              <a:t>hello@outrisetech.com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32920" y="2255520"/>
            <a:ext cx="80010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spc="53">
                <a:solidFill>
                  <a:srgbClr val="B7B9AD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30200" y="2255520"/>
            <a:ext cx="425196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b="true" sz="2610" spc="52">
                <a:solidFill>
                  <a:srgbClr val="EEEDE5"/>
                </a:solidFill>
                <a:latin typeface="Arimo Bold"/>
                <a:ea typeface="Arimo Bold"/>
                <a:cs typeface="Arimo Bold"/>
                <a:sym typeface="Arimo Bold"/>
              </a:rPr>
              <a:t>你的产品与业务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30200" y="3044190"/>
            <a:ext cx="4251960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5"/>
              </a:lnSpc>
            </a:pPr>
            <a:r>
              <a:rPr lang="en-US" sz="2429" spc="48">
                <a:solidFill>
                  <a:srgbClr val="B7B9AD"/>
                </a:solidFill>
                <a:latin typeface="Arimo"/>
                <a:ea typeface="Arimo"/>
                <a:cs typeface="Arimo"/>
                <a:sym typeface="Arimo"/>
              </a:rPr>
              <a:t>你为谁提供什么价值？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32920" y="4255770"/>
            <a:ext cx="80010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spc="53">
                <a:solidFill>
                  <a:srgbClr val="B7B9AD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30200" y="4255770"/>
            <a:ext cx="425196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b="true" sz="2610" spc="52">
                <a:solidFill>
                  <a:srgbClr val="EEEDE5"/>
                </a:solidFill>
                <a:latin typeface="Arimo Bold"/>
                <a:ea typeface="Arimo Bold"/>
                <a:cs typeface="Arimo Bold"/>
                <a:sym typeface="Arimo Bold"/>
              </a:rPr>
              <a:t>你的北美市场目标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30200" y="5044440"/>
            <a:ext cx="4251960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5"/>
              </a:lnSpc>
            </a:pPr>
            <a:r>
              <a:rPr lang="en-US" sz="2429" spc="48">
                <a:solidFill>
                  <a:srgbClr val="B7B9AD"/>
                </a:solidFill>
                <a:latin typeface="Arimo"/>
                <a:ea typeface="Arimo"/>
                <a:cs typeface="Arimo"/>
                <a:sym typeface="Arimo"/>
              </a:rPr>
              <a:t>当前最希望推进什么？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32920" y="6256020"/>
            <a:ext cx="80010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spc="53">
                <a:solidFill>
                  <a:srgbClr val="B7B9AD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030200" y="6256020"/>
            <a:ext cx="425196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b="true" sz="2610" spc="52">
                <a:solidFill>
                  <a:srgbClr val="EEEDE5"/>
                </a:solidFill>
                <a:latin typeface="Arimo Bold"/>
                <a:ea typeface="Arimo Bold"/>
                <a:cs typeface="Arimo Bold"/>
                <a:sym typeface="Arimo Bold"/>
              </a:rPr>
              <a:t>你的营销难题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30200" y="7044690"/>
            <a:ext cx="4251960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5"/>
              </a:lnSpc>
            </a:pPr>
            <a:r>
              <a:rPr lang="en-US" sz="2429" spc="48">
                <a:solidFill>
                  <a:srgbClr val="B7B9AD"/>
                </a:solidFill>
                <a:latin typeface="Arimo"/>
                <a:ea typeface="Arimo"/>
                <a:cs typeface="Arimo"/>
                <a:sym typeface="Arimo"/>
              </a:rPr>
              <a:t>哪些判断或行动需要支</a:t>
            </a:r>
          </a:p>
          <a:p>
            <a:pPr algn="l">
              <a:lnSpc>
                <a:spcPts val="2915"/>
              </a:lnSpc>
            </a:pPr>
            <a:r>
              <a:rPr lang="en-US" sz="2429" spc="48">
                <a:solidFill>
                  <a:srgbClr val="B7B9AD"/>
                </a:solidFill>
                <a:latin typeface="Arimo"/>
                <a:ea typeface="Arimo"/>
                <a:cs typeface="Arimo"/>
                <a:sym typeface="Arimo"/>
              </a:rPr>
              <a:t>持？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DAHJ3RS5Apo</dc:identifier>
  <dcterms:modified xsi:type="dcterms:W3CDTF">2011-08-01T06:04:30Z</dcterms:modified>
  <cp:revision>1</cp:revision>
  <dc:title>Outrise｜公司介绍｜北美市场营销与 GTM</dc:title>
</cp:coreProperties>
</file>