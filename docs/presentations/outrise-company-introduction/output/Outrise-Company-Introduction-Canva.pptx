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Default Extension="fntdata" ContentType="application/x-fontdata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648" r:id="rId1"/>
  </p:sldMasterIdLst>
  <p:notesMasterIdLst>
    <p:notesMasterId r:id="rId23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Instrument Sans" charset="1"/>
      <p:regular r:id="rIdOutriseFont1"/>
    </p:embeddedFont>
    <p:embeddedFont>
      <p:font typeface="Instrument Sans Medium" charset="1"/>
      <p:regular r:id="rIdOutriseFont2"/>
    </p:embeddedFont>
    <p:embeddedFont>
      <p:font typeface="Instrument Sans SemiBold" charset="1"/>
      <p:regular r:id="rIdOutriseFont3"/>
    </p:embeddedFont>
    <p:embeddedFont>
      <p:font typeface="Noto Sans SC" charset="1"/>
      <p:regular r:id="rIdOutriseFont4"/>
    </p:embeddedFont>
    <p:embeddedFont>
      <p:font typeface="Noto Sans SC Medium" charset="1"/>
      <p:regular r:id="rIdOutriseFont5"/>
    </p:embeddedFont>
    <p:embeddedFont>
      <p:font typeface="Noto Sans SC SemiBold" charset="1"/>
      <p:regular r:id="rIdOutriseFont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notesMasters/notesMaster1.xml" Type="http://schemas.openxmlformats.org/officeDocument/2006/relationships/notesMaster"/><Relationship Id="rId24" Target="theme/theme2.xml" Type="http://schemas.openxmlformats.org/officeDocument/2006/relationships/theme"/><Relationship Id="rId25" Target="notesSlides/notesSlide1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2.xml" Type="http://schemas.openxmlformats.org/officeDocument/2006/relationships/notesSlide"/><Relationship Id="rId33" Target="notesSlides/notesSlide3.xml" Type="http://schemas.openxmlformats.org/officeDocument/2006/relationships/notesSlide"/><Relationship Id="rId34" Target="notesSlides/notesSlide4.xml" Type="http://schemas.openxmlformats.org/officeDocument/2006/relationships/notesSlide"/><Relationship Id="rId35" Target="notesSlides/notesSlide5.xml" Type="http://schemas.openxmlformats.org/officeDocument/2006/relationships/notesSlide"/><Relationship Id="rId36" Target="notesSlides/notesSlide6.xml" Type="http://schemas.openxmlformats.org/officeDocument/2006/relationships/notesSlide"/><Relationship Id="rId37" Target="notesSlides/notesSlide7.xml" Type="http://schemas.openxmlformats.org/officeDocument/2006/relationships/notesSlide"/><Relationship Id="rId38" Target="notesSlides/notesSlide8.xml" Type="http://schemas.openxmlformats.org/officeDocument/2006/relationships/notesSlide"/><Relationship Id="rId39" Target="notesSlides/notesSlide9.xml" Type="http://schemas.openxmlformats.org/officeDocument/2006/relationships/notesSlide"/><Relationship Id="rId4" Target="theme/theme1.xml" Type="http://schemas.openxmlformats.org/officeDocument/2006/relationships/theme"/><Relationship Id="rId40" Target="notesSlides/notesSlide10.xml" Type="http://schemas.openxmlformats.org/officeDocument/2006/relationships/notesSlide"/><Relationship Id="rId41" Target="notesSlides/notesSlide11.xml" Type="http://schemas.openxmlformats.org/officeDocument/2006/relationships/notesSlide"/><Relationship Id="rId42" Target="notesSlides/notesSlide12.xml" Type="http://schemas.openxmlformats.org/officeDocument/2006/relationships/notesSlide"/><Relationship Id="rId43" Target="notesSlides/notesSlide13.xml" Type="http://schemas.openxmlformats.org/officeDocument/2006/relationships/notesSlide"/><Relationship Id="rId44" Target="notesSlides/notesSlide14.xml" Type="http://schemas.openxmlformats.org/officeDocument/2006/relationships/notesSlide"/><Relationship Id="rId45" Target="notesSlides/notesSlide15.xml" Type="http://schemas.openxmlformats.org/officeDocument/2006/relationships/notesSlide"/><Relationship Id="rId46" Target="notesSlides/notesSlide16.xml" Type="http://schemas.openxmlformats.org/officeDocument/2006/relationships/notesSlide"/><Relationship Id="rId47" Target="notesSlides/notesSlide17.xml" Type="http://schemas.openxmlformats.org/officeDocument/2006/relationships/notesSlid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Relationship Id="rIdOutriseFont1" Type="http://schemas.openxmlformats.org/officeDocument/2006/relationships/font" Target="fonts/outrise-1.fntdata"/><Relationship Id="rIdOutriseFont2" Type="http://schemas.openxmlformats.org/officeDocument/2006/relationships/font" Target="fonts/outrise-2.fntdata"/><Relationship Id="rIdOutriseFont3" Type="http://schemas.openxmlformats.org/officeDocument/2006/relationships/font" Target="fonts/outrise-3.fntdata"/><Relationship Id="rIdOutriseFont4" Type="http://schemas.openxmlformats.org/officeDocument/2006/relationships/font" Target="fonts/outrise-4.fntdata"/><Relationship Id="rIdOutriseFont5" Type="http://schemas.openxmlformats.org/officeDocument/2006/relationships/font" Target="fonts/outrise-5.fntdata"/><Relationship Id="rIdOutriseFont6" Type="http://schemas.openxmlformats.org/officeDocument/2006/relationships/font" Target="fonts/outrise-6.fntdata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2.png" Type="http://schemas.openxmlformats.org/officeDocument/2006/relationships/image"/><Relationship Id="rId4" Target="../media/image3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2.png" Type="http://schemas.openxmlformats.org/officeDocument/2006/relationships/image"/><Relationship Id="rId4" Target="../media/image3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62625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7019156" y="9542145"/>
            <a:ext cx="345548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D6D4CB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4401800" y="2205990"/>
            <a:ext cx="3886200" cy="6858000"/>
            <a:chOff x="0" y="0"/>
            <a:chExt cx="5181600" cy="9144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1816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5181600">
                  <a:moveTo>
                    <a:pt x="0" y="2306955"/>
                  </a:moveTo>
                  <a:lnTo>
                    <a:pt x="5181600" y="0"/>
                  </a:lnTo>
                  <a:lnTo>
                    <a:pt x="5181600" y="9144000"/>
                  </a:lnTo>
                  <a:lnTo>
                    <a:pt x="0" y="9144000"/>
                  </a:lnTo>
                  <a:close/>
                </a:path>
              </a:pathLst>
            </a:custGeom>
            <a:solidFill>
              <a:srgbClr val="F4F1E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859000" y="4594860"/>
            <a:ext cx="822960" cy="57150"/>
            <a:chOff x="0" y="0"/>
            <a:chExt cx="1097280" cy="76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" cy="76200"/>
            </a:xfrm>
            <a:custGeom>
              <a:avLst/>
              <a:gdLst/>
              <a:ahLst/>
              <a:cxnLst/>
              <a:rect r="r" b="b" t="t" l="l"/>
              <a:pathLst>
                <a:path h="7620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97280" y="659130"/>
            <a:ext cx="4036476" cy="346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070" b="0">
                <a:solidFill>
                  <a:srgbClr val="D6D4CB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NORTH AMERICA FOCUSED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97280" y="2011680"/>
            <a:ext cx="11430000" cy="3024188"/>
            <a:chOff x="0" y="0"/>
            <a:chExt cx="15240000" cy="40322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240000" cy="4032250"/>
            </a:xfrm>
            <a:custGeom>
              <a:avLst/>
              <a:gdLst/>
              <a:ahLst/>
              <a:cxnLst/>
              <a:rect r="r" b="b" t="t" l="l"/>
              <a:pathLst>
                <a:path h="4032250" w="15240000">
                  <a:moveTo>
                    <a:pt x="0" y="0"/>
                  </a:moveTo>
                  <a:lnTo>
                    <a:pt x="15240000" y="0"/>
                  </a:lnTo>
                  <a:lnTo>
                    <a:pt x="15240000" y="4032250"/>
                  </a:lnTo>
                  <a:lnTo>
                    <a:pt x="0" y="4032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120140" y="5886450"/>
            <a:ext cx="2194560" cy="57150"/>
            <a:chOff x="0" y="0"/>
            <a:chExt cx="2926080" cy="762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926080" cy="76200"/>
            </a:xfrm>
            <a:custGeom>
              <a:avLst/>
              <a:gdLst/>
              <a:ahLst/>
              <a:cxnLst/>
              <a:rect r="r" b="b" t="t" l="l"/>
              <a:pathLst>
                <a:path h="76200" w="2926080">
                  <a:moveTo>
                    <a:pt x="0" y="0"/>
                  </a:moveTo>
                  <a:lnTo>
                    <a:pt x="2926080" y="0"/>
                  </a:lnTo>
                  <a:lnTo>
                    <a:pt x="292608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097280" y="6229350"/>
            <a:ext cx="4987138" cy="851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98"/>
              </a:lnSpc>
            </a:pPr>
            <a:r>
              <a:rPr lang="en-US" sz="4859" b="0">
                <a:solidFill>
                  <a:srgbClr val="F4F1E9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专注北美市场的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536921" y="6248400"/>
            <a:ext cx="3128896" cy="832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98"/>
              </a:lnSpc>
            </a:pPr>
            <a:r>
              <a:rPr lang="en-US" sz="4859" b="0">
                <a:solidFill>
                  <a:srgbClr val="F4F1E9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AI-native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346529" y="6229350"/>
            <a:ext cx="4987138" cy="851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98"/>
              </a:lnSpc>
            </a:pPr>
            <a:r>
              <a:rPr lang="en-US" sz="4859" b="0">
                <a:solidFill>
                  <a:srgbClr val="F4F1E9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营销与增长团队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20140" y="8092440"/>
            <a:ext cx="1661465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策略判断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608326" y="8092440"/>
            <a:ext cx="449656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·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033522" y="8092440"/>
            <a:ext cx="1661465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营销规划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521708" y="8092440"/>
            <a:ext cx="449656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·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946904" y="8092440"/>
            <a:ext cx="1661465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关键执行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979151" y="9542145"/>
            <a:ext cx="391154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668780" y="441960"/>
            <a:ext cx="1088136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我们是谁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05840" y="1123950"/>
            <a:ext cx="3579876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专注北美的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211041" y="1143000"/>
            <a:ext cx="3128896" cy="796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AI-native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020649" y="1123950"/>
            <a:ext cx="4987138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营销与增长团队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5840" y="2451735"/>
            <a:ext cx="1288409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Outrise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159927" y="2451735"/>
            <a:ext cx="16098926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为消费品牌与科技创业公司提供北美市场的营销支持。我们从产品、业务目标和用户需求出发，帮助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05840" y="2950997"/>
            <a:ext cx="12085625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团队明确市场方向、建立品牌表达、规划渠道投入，并推进关键营销工作。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005840" y="4640580"/>
            <a:ext cx="617220" cy="57150"/>
            <a:chOff x="0" y="0"/>
            <a:chExt cx="822960" cy="762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22960" cy="76200"/>
            </a:xfrm>
            <a:custGeom>
              <a:avLst/>
              <a:gdLst/>
              <a:ahLst/>
              <a:cxnLst/>
              <a:rect r="r" b="b" t="t" l="l"/>
              <a:pathLst>
                <a:path h="7620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5509260" y="4421505"/>
            <a:ext cx="413690" cy="411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2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05840" y="5017770"/>
            <a:ext cx="3381451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专门聚焦北美市场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05840" y="6360795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围绕北美用户、市场环境与渠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05840" y="6860057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道特点开展工作，让营销选择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05840" y="7359320"/>
            <a:ext cx="2599639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贴合目标市场。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560820" y="4640580"/>
            <a:ext cx="617220" cy="57150"/>
            <a:chOff x="0" y="0"/>
            <a:chExt cx="822960" cy="762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22960" cy="76200"/>
            </a:xfrm>
            <a:custGeom>
              <a:avLst/>
              <a:gdLst/>
              <a:ahLst/>
              <a:cxnLst/>
              <a:rect r="r" b="b" t="t" l="l"/>
              <a:pathLst>
                <a:path h="7620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11064240" y="4421505"/>
            <a:ext cx="469592" cy="411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2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560820" y="5017770"/>
            <a:ext cx="3381451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以策略判断为核心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560820" y="6360795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帮助客户明确面向谁、传递什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60820" y="6860057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么价值、优先投入哪里，把业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560820" y="7359320"/>
            <a:ext cx="4059022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务目标转化为营销方向。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2115800" y="4640580"/>
            <a:ext cx="617220" cy="57150"/>
            <a:chOff x="0" y="0"/>
            <a:chExt cx="822960" cy="762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22960" cy="76200"/>
            </a:xfrm>
            <a:custGeom>
              <a:avLst/>
              <a:gdLst/>
              <a:ahLst/>
              <a:cxnLst/>
              <a:rect r="r" b="b" t="t" l="l"/>
              <a:pathLst>
                <a:path h="7620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6619220" y="4421505"/>
            <a:ext cx="478841" cy="411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2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03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115800" y="5017770"/>
            <a:ext cx="462686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以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553569" y="5017770"/>
            <a:ext cx="1848707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AI-native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4207261" y="5017770"/>
            <a:ext cx="2547518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方式组织工作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115800" y="6360795"/>
            <a:ext cx="410566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将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499848" y="6360795"/>
            <a:ext cx="404050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878181" y="6360795"/>
            <a:ext cx="4059022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融入研究、知识积累、任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115800" y="6860057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务协同与内容生产，由团队承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115800" y="7359320"/>
            <a:ext cx="4059022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担商业判断和质量责任。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088136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我们是谁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5840" y="1123950"/>
            <a:ext cx="9208922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参与营销决策，统筹关键工作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05840" y="2266950"/>
            <a:ext cx="15173782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我们深入理解你的业务，与团队一起确定营销重点、安排资源，并持续推进双方确认的关键工作。</a:t>
            </a:r>
          </a:p>
        </p:txBody>
      </p:sp>
      <p:sp>
        <p:nvSpPr>
          <p:cNvPr name="AutoShape 7" id="7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3520440" y="9584055"/>
            <a:ext cx="6912635" cy="260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1"/>
              </a:lnSpc>
            </a:pPr>
            <a:r>
              <a:rPr lang="en-US" sz="153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从关键选择到后续推进，让你的团队获得持续的营销判断与协作支持。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6972636" y="9542145"/>
            <a:ext cx="398574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5840" y="3638550"/>
            <a:ext cx="522761" cy="551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315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</a:p>
        </p:txBody>
      </p:sp>
      <p:sp>
        <p:nvSpPr>
          <p:cNvPr name="AutoShape 13" id="13"/>
          <p:cNvSpPr/>
          <p:nvPr/>
        </p:nvSpPr>
        <p:spPr>
          <a:xfrm rot="18180">
            <a:off x="1863061" y="3990975"/>
            <a:ext cx="4320597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4" id="14"/>
          <p:cNvSpPr txBox="true"/>
          <p:nvPr/>
        </p:nvSpPr>
        <p:spPr>
          <a:xfrm rot="0">
            <a:off x="1005840" y="4594860"/>
            <a:ext cx="3798418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一起判断，确定重点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05840" y="5755005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将产品与业务信息放进市场和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05840" y="6254267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用户视角中讨论，帮助团队判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05840" y="6753530"/>
            <a:ext cx="3694176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断方向、比较选择、明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05840" y="7252792"/>
            <a:ext cx="186994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确优先级。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560820" y="3638550"/>
            <a:ext cx="595208" cy="551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315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</a:p>
        </p:txBody>
      </p:sp>
      <p:sp>
        <p:nvSpPr>
          <p:cNvPr name="AutoShape 20" id="20"/>
          <p:cNvSpPr/>
          <p:nvPr/>
        </p:nvSpPr>
        <p:spPr>
          <a:xfrm rot="18180">
            <a:off x="7418041" y="3990975"/>
            <a:ext cx="4320597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1" id="21"/>
          <p:cNvSpPr txBox="true"/>
          <p:nvPr/>
        </p:nvSpPr>
        <p:spPr>
          <a:xfrm rot="0">
            <a:off x="6560820" y="4594860"/>
            <a:ext cx="3798418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统筹规划，协调资源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560820" y="5755005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把营销目标转化为阶段计划，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560820" y="6254267"/>
            <a:ext cx="2599639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协调客户团队、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801100" y="6254267"/>
            <a:ext cx="1288409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Outrise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955187" y="6254267"/>
            <a:ext cx="114025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与专业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560820" y="6753530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伙伴的分工，让渠道、内容和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60820" y="7252792"/>
            <a:ext cx="3329330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资源安排相互衔接。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115800" y="3638550"/>
            <a:ext cx="607057" cy="551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315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115800" y="4594860"/>
            <a:ext cx="3798418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推进工作，持续调整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115800" y="5755005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承担约定的关键执行，跟进工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115800" y="6254267"/>
            <a:ext cx="442386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作进展，把市场反馈带回讨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115800" y="6753530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论，推动下一轮决策与调整。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348740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我们服务谁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5840" y="1123950"/>
            <a:ext cx="9208922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服务消费品牌与科技创业公司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05840" y="2266950"/>
            <a:ext cx="6026582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同样聚焦北美，回应不同的业务需求。</a:t>
            </a:r>
          </a:p>
        </p:txBody>
      </p:sp>
      <p:sp>
        <p:nvSpPr>
          <p:cNvPr name="AutoShape 7" id="7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6966120" y="9542145"/>
            <a:ext cx="406003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04</a:t>
            </a:r>
          </a:p>
        </p:txBody>
      </p:sp>
      <p:sp>
        <p:nvSpPr>
          <p:cNvPr name="AutoShape 11" id="11"/>
          <p:cNvSpPr/>
          <p:nvPr/>
        </p:nvSpPr>
        <p:spPr>
          <a:xfrm rot="20160">
            <a:off x="982913" y="3677603"/>
            <a:ext cx="7795393" cy="0"/>
          </a:xfrm>
          <a:prstGeom prst="line">
            <a:avLst/>
          </a:prstGeom>
          <a:ln cap="rnd" w="28575">
            <a:solidFill>
              <a:srgbClr val="2454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1005840" y="3930015"/>
            <a:ext cx="2930995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CONSUMER BRANDS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05840" y="4583430"/>
            <a:ext cx="2782062" cy="532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60"/>
              </a:lnSpc>
            </a:pPr>
            <a:r>
              <a:rPr lang="en-US" sz="315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消费品牌出海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05840" y="5995035"/>
            <a:ext cx="515355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面向希望进入或拓展北美市场的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550408" y="5995035"/>
            <a:ext cx="799910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 C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275984" y="5995035"/>
            <a:ext cx="1505102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品牌，兼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05840" y="6494297"/>
            <a:ext cx="6612941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顾电商销售增长，以及品牌认知、定位与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05840" y="6993560"/>
            <a:ext cx="186994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持续传播。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05840" y="8341995"/>
            <a:ext cx="3094787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品牌建设／电商增长</a:t>
            </a:r>
          </a:p>
        </p:txBody>
      </p:sp>
      <p:sp>
        <p:nvSpPr>
          <p:cNvPr name="AutoShape 20" id="20"/>
          <p:cNvSpPr/>
          <p:nvPr/>
        </p:nvSpPr>
        <p:spPr>
          <a:xfrm rot="20160">
            <a:off x="9509693" y="3677603"/>
            <a:ext cx="7795393" cy="0"/>
          </a:xfrm>
          <a:prstGeom prst="line">
            <a:avLst/>
          </a:prstGeom>
          <a:ln cap="rnd" w="28575">
            <a:solidFill>
              <a:srgbClr val="2454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1" id="21"/>
          <p:cNvSpPr txBox="true"/>
          <p:nvPr/>
        </p:nvSpPr>
        <p:spPr>
          <a:xfrm rot="0">
            <a:off x="9532620" y="3930015"/>
            <a:ext cx="2325224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 STARTUPS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532620" y="4583430"/>
            <a:ext cx="6430518" cy="532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60"/>
              </a:lnSpc>
            </a:pPr>
            <a:r>
              <a:rPr lang="en-US" sz="315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科技创业公司的市场进入与增长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532620" y="5995035"/>
            <a:ext cx="7342632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面向不同类型的科技创业公司，围绕市场进入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532620" y="6494297"/>
            <a:ext cx="1505102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与增长（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812780" y="6494297"/>
            <a:ext cx="871699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GTM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537328" y="6494297"/>
            <a:ext cx="515355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），帮助团队讲清产品价值、明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532620" y="6993560"/>
            <a:ext cx="6977786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确目标用户，并确定当前阶段的营销重点。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532620" y="8341995"/>
            <a:ext cx="3094787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市场进入／增长规划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348740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我们做什么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5840" y="1123950"/>
            <a:ext cx="9912553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两项核心能力，连接策略与行动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05840" y="2266950"/>
            <a:ext cx="8841105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以营销判断和渠道规划统筹工作，按目标组合执行能力。</a:t>
            </a:r>
          </a:p>
        </p:txBody>
      </p:sp>
      <p:sp>
        <p:nvSpPr>
          <p:cNvPr name="AutoShape 7" id="7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6970350" y="9542145"/>
            <a:ext cx="401183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05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5840" y="3646170"/>
            <a:ext cx="1244498" cy="365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07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核心能力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3214688" y="3477578"/>
            <a:ext cx="6852285" cy="2188845"/>
            <a:chOff x="0" y="0"/>
            <a:chExt cx="9136380" cy="291846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136380" cy="2918460"/>
            </a:xfrm>
            <a:custGeom>
              <a:avLst/>
              <a:gdLst/>
              <a:ahLst/>
              <a:cxnLst/>
              <a:rect r="r" b="b" t="t" l="l"/>
              <a:pathLst>
                <a:path h="2918460" w="9136380">
                  <a:moveTo>
                    <a:pt x="0" y="0"/>
                  </a:moveTo>
                  <a:lnTo>
                    <a:pt x="9136380" y="0"/>
                  </a:lnTo>
                  <a:lnTo>
                    <a:pt x="9136380" y="2918460"/>
                  </a:lnTo>
                  <a:lnTo>
                    <a:pt x="0" y="2918460"/>
                  </a:lnTo>
                  <a:close/>
                </a:path>
              </a:pathLst>
            </a:custGeom>
            <a:solidFill>
              <a:srgbClr val="F4F1E9"/>
            </a:solidFill>
            <a:ln w="17146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3223260" y="3486150"/>
            <a:ext cx="6835140" cy="57150"/>
            <a:chOff x="0" y="0"/>
            <a:chExt cx="9113520" cy="762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113520" cy="76200"/>
            </a:xfrm>
            <a:custGeom>
              <a:avLst/>
              <a:gdLst/>
              <a:ahLst/>
              <a:cxnLst/>
              <a:rect r="r" b="b" t="t" l="l"/>
              <a:pathLst>
                <a:path h="76200" w="9113520">
                  <a:moveTo>
                    <a:pt x="0" y="0"/>
                  </a:moveTo>
                  <a:lnTo>
                    <a:pt x="9113520" y="0"/>
                  </a:lnTo>
                  <a:lnTo>
                    <a:pt x="91135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543300" y="3693795"/>
            <a:ext cx="3915689" cy="519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76"/>
              </a:lnSpc>
            </a:pPr>
            <a:r>
              <a:rPr lang="en-US" sz="297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营销策略与品牌基础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543300" y="4516755"/>
            <a:ext cx="6482639" cy="41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理解市场与用户，明确品牌定位。规划价值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543300" y="4962525"/>
            <a:ext cx="1062076" cy="41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表达、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434840" y="4953000"/>
            <a:ext cx="812673" cy="425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340" b="0">
                <a:solidFill>
                  <a:srgbClr val="11111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GTM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167046" y="4962525"/>
            <a:ext cx="2417216" cy="41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与营销优先级。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438448" y="3477578"/>
            <a:ext cx="6852285" cy="2188845"/>
            <a:chOff x="0" y="0"/>
            <a:chExt cx="9136380" cy="29184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136380" cy="2918460"/>
            </a:xfrm>
            <a:custGeom>
              <a:avLst/>
              <a:gdLst/>
              <a:ahLst/>
              <a:cxnLst/>
              <a:rect r="r" b="b" t="t" l="l"/>
              <a:pathLst>
                <a:path h="2918460" w="9136380">
                  <a:moveTo>
                    <a:pt x="0" y="0"/>
                  </a:moveTo>
                  <a:lnTo>
                    <a:pt x="9136380" y="0"/>
                  </a:lnTo>
                  <a:lnTo>
                    <a:pt x="9136380" y="2918460"/>
                  </a:lnTo>
                  <a:lnTo>
                    <a:pt x="0" y="2918460"/>
                  </a:lnTo>
                  <a:close/>
                </a:path>
              </a:pathLst>
            </a:custGeom>
            <a:solidFill>
              <a:srgbClr val="F4F1E9"/>
            </a:solidFill>
            <a:ln w="17146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10447020" y="3486150"/>
            <a:ext cx="6835140" cy="57150"/>
            <a:chOff x="0" y="0"/>
            <a:chExt cx="9113520" cy="762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113520" cy="76200"/>
            </a:xfrm>
            <a:custGeom>
              <a:avLst/>
              <a:gdLst/>
              <a:ahLst/>
              <a:cxnLst/>
              <a:rect r="r" b="b" t="t" l="l"/>
              <a:pathLst>
                <a:path h="76200" w="9113520">
                  <a:moveTo>
                    <a:pt x="0" y="0"/>
                  </a:moveTo>
                  <a:lnTo>
                    <a:pt x="9113520" y="0"/>
                  </a:lnTo>
                  <a:lnTo>
                    <a:pt x="91135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0767060" y="3693795"/>
            <a:ext cx="3055696" cy="519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76"/>
              </a:lnSpc>
            </a:pPr>
            <a:r>
              <a:rPr lang="en-US" sz="297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渠道运营与增长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767060" y="4516755"/>
            <a:ext cx="6482639" cy="41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规划渠道组合、运营路径和资源投入。建立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767060" y="4962525"/>
            <a:ext cx="4788713" cy="41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9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复盘机制，推进关键增长工作。</a:t>
            </a:r>
          </a:p>
        </p:txBody>
      </p:sp>
      <p:sp>
        <p:nvSpPr>
          <p:cNvPr name="AutoShape 28" id="28"/>
          <p:cNvSpPr/>
          <p:nvPr/>
        </p:nvSpPr>
        <p:spPr>
          <a:xfrm rot="5265840">
            <a:off x="6450378" y="5835968"/>
            <a:ext cx="380914" cy="0"/>
          </a:xfrm>
          <a:prstGeom prst="line">
            <a:avLst/>
          </a:prstGeom>
          <a:ln cap="rnd" w="9525">
            <a:solidFill>
              <a:srgbClr val="62625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 rot="5265840">
            <a:off x="13674138" y="5835968"/>
            <a:ext cx="380914" cy="0"/>
          </a:xfrm>
          <a:prstGeom prst="line">
            <a:avLst/>
          </a:prstGeom>
          <a:ln cap="rnd" w="9525">
            <a:solidFill>
              <a:srgbClr val="62625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 rot="5280">
            <a:off x="5421811" y="6018847"/>
            <a:ext cx="9661789" cy="0"/>
          </a:xfrm>
          <a:prstGeom prst="line">
            <a:avLst/>
          </a:prstGeom>
          <a:ln cap="rnd" w="9525">
            <a:solidFill>
              <a:srgbClr val="62625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1" id="31"/>
          <p:cNvSpPr txBox="true"/>
          <p:nvPr/>
        </p:nvSpPr>
        <p:spPr>
          <a:xfrm rot="0">
            <a:off x="1005840" y="6503670"/>
            <a:ext cx="1244498" cy="365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07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直接执行</a:t>
            </a:r>
          </a:p>
        </p:txBody>
      </p:sp>
      <p:sp>
        <p:nvSpPr>
          <p:cNvPr name="AutoShape 32" id="32"/>
          <p:cNvSpPr/>
          <p:nvPr/>
        </p:nvSpPr>
        <p:spPr>
          <a:xfrm rot="5265840">
            <a:off x="5238798" y="6201728"/>
            <a:ext cx="380914" cy="0"/>
          </a:xfrm>
          <a:prstGeom prst="line">
            <a:avLst/>
          </a:prstGeom>
          <a:ln cap="rnd" w="9525">
            <a:solidFill>
              <a:srgbClr val="62625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3" id="33"/>
          <p:cNvGrpSpPr/>
          <p:nvPr/>
        </p:nvGrpSpPr>
        <p:grpSpPr>
          <a:xfrm rot="0">
            <a:off x="3217545" y="6383655"/>
            <a:ext cx="4423410" cy="994410"/>
            <a:chOff x="0" y="0"/>
            <a:chExt cx="5897880" cy="13258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897880" cy="1325880"/>
            </a:xfrm>
            <a:custGeom>
              <a:avLst/>
              <a:gdLst/>
              <a:ahLst/>
              <a:cxnLst/>
              <a:rect r="r" b="b" t="t" l="l"/>
              <a:pathLst>
                <a:path h="1325880" w="5897880">
                  <a:moveTo>
                    <a:pt x="0" y="0"/>
                  </a:moveTo>
                  <a:lnTo>
                    <a:pt x="5897880" y="0"/>
                  </a:lnTo>
                  <a:lnTo>
                    <a:pt x="5897880" y="1325880"/>
                  </a:lnTo>
                  <a:lnTo>
                    <a:pt x="0" y="13258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6674" r="0" b="-36674"/>
              </a:stretch>
            </a:blipFill>
            <a:ln w="11430" cap="sq">
              <a:solidFill>
                <a:srgbClr val="62625D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4743450" y="6583680"/>
            <a:ext cx="1609344" cy="460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7"/>
              </a:lnSpc>
            </a:pPr>
            <a:r>
              <a:rPr lang="en-US" sz="270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内容营销</a:t>
            </a:r>
          </a:p>
        </p:txBody>
      </p:sp>
      <p:sp>
        <p:nvSpPr>
          <p:cNvPr name="AutoShape 36" id="36"/>
          <p:cNvSpPr/>
          <p:nvPr/>
        </p:nvSpPr>
        <p:spPr>
          <a:xfrm rot="5265840">
            <a:off x="10062258" y="6201728"/>
            <a:ext cx="380914" cy="0"/>
          </a:xfrm>
          <a:prstGeom prst="line">
            <a:avLst/>
          </a:prstGeom>
          <a:ln cap="rnd" w="9525">
            <a:solidFill>
              <a:srgbClr val="62625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7" id="37"/>
          <p:cNvGrpSpPr/>
          <p:nvPr/>
        </p:nvGrpSpPr>
        <p:grpSpPr>
          <a:xfrm rot="0">
            <a:off x="8041005" y="6383655"/>
            <a:ext cx="4423410" cy="994410"/>
            <a:chOff x="0" y="0"/>
            <a:chExt cx="5897880" cy="132588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897880" cy="1325880"/>
            </a:xfrm>
            <a:custGeom>
              <a:avLst/>
              <a:gdLst/>
              <a:ahLst/>
              <a:cxnLst/>
              <a:rect r="r" b="b" t="t" l="l"/>
              <a:pathLst>
                <a:path h="1325880" w="5897880">
                  <a:moveTo>
                    <a:pt x="0" y="0"/>
                  </a:moveTo>
                  <a:lnTo>
                    <a:pt x="5897880" y="0"/>
                  </a:lnTo>
                  <a:lnTo>
                    <a:pt x="5897880" y="1325880"/>
                  </a:lnTo>
                  <a:lnTo>
                    <a:pt x="0" y="13258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6674" r="0" b="-36674"/>
              </a:stretch>
            </a:blipFill>
            <a:ln w="11430" cap="sq">
              <a:solidFill>
                <a:srgbClr val="62625D"/>
              </a:solidFill>
              <a:prstDash val="solid"/>
              <a:miter/>
            </a:ln>
          </p:spPr>
        </p:sp>
      </p:grpSp>
      <p:sp>
        <p:nvSpPr>
          <p:cNvPr name="TextBox 39" id="39"/>
          <p:cNvSpPr txBox="true"/>
          <p:nvPr/>
        </p:nvSpPr>
        <p:spPr>
          <a:xfrm rot="0">
            <a:off x="9566910" y="6583680"/>
            <a:ext cx="1609344" cy="460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7"/>
              </a:lnSpc>
            </a:pPr>
            <a:r>
              <a:rPr lang="en-US" sz="270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达人营销</a:t>
            </a:r>
          </a:p>
        </p:txBody>
      </p:sp>
      <p:sp>
        <p:nvSpPr>
          <p:cNvPr name="AutoShape 40" id="40"/>
          <p:cNvSpPr/>
          <p:nvPr/>
        </p:nvSpPr>
        <p:spPr>
          <a:xfrm rot="5265840">
            <a:off x="14885718" y="6201728"/>
            <a:ext cx="380914" cy="0"/>
          </a:xfrm>
          <a:prstGeom prst="line">
            <a:avLst/>
          </a:prstGeom>
          <a:ln cap="rnd" w="9525">
            <a:solidFill>
              <a:srgbClr val="62625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1" id="41"/>
          <p:cNvGrpSpPr/>
          <p:nvPr/>
        </p:nvGrpSpPr>
        <p:grpSpPr>
          <a:xfrm rot="0">
            <a:off x="12864465" y="6383655"/>
            <a:ext cx="4423410" cy="994410"/>
            <a:chOff x="0" y="0"/>
            <a:chExt cx="5897880" cy="13258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897880" cy="1325880"/>
            </a:xfrm>
            <a:custGeom>
              <a:avLst/>
              <a:gdLst/>
              <a:ahLst/>
              <a:cxnLst/>
              <a:rect r="r" b="b" t="t" l="l"/>
              <a:pathLst>
                <a:path h="1325880" w="5897880">
                  <a:moveTo>
                    <a:pt x="0" y="0"/>
                  </a:moveTo>
                  <a:lnTo>
                    <a:pt x="5897880" y="0"/>
                  </a:lnTo>
                  <a:lnTo>
                    <a:pt x="5897880" y="1325880"/>
                  </a:lnTo>
                  <a:lnTo>
                    <a:pt x="0" y="13258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6674" r="0" b="-36674"/>
              </a:stretch>
            </a:blipFill>
            <a:ln w="11430" cap="sq">
              <a:solidFill>
                <a:srgbClr val="62625D"/>
              </a:solidFill>
              <a:prstDash val="solid"/>
              <a:miter/>
            </a:ln>
          </p:spPr>
        </p:sp>
      </p:grpSp>
      <p:sp>
        <p:nvSpPr>
          <p:cNvPr name="TextBox 43" id="43"/>
          <p:cNvSpPr txBox="true"/>
          <p:nvPr/>
        </p:nvSpPr>
        <p:spPr>
          <a:xfrm rot="0">
            <a:off x="14218920" y="6583680"/>
            <a:ext cx="2000250" cy="460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7"/>
              </a:lnSpc>
            </a:pPr>
            <a:r>
              <a:rPr lang="en-US" sz="270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广告与投放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005840" y="8012430"/>
            <a:ext cx="1244498" cy="365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07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专业伙伴</a:t>
            </a:r>
          </a:p>
        </p:txBody>
      </p:sp>
      <p:sp>
        <p:nvSpPr>
          <p:cNvPr name="AutoShape 45" id="45"/>
          <p:cNvSpPr/>
          <p:nvPr/>
        </p:nvSpPr>
        <p:spPr>
          <a:xfrm rot="3600">
            <a:off x="3215830" y="7824788"/>
            <a:ext cx="14073769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6" id="46"/>
          <p:cNvSpPr txBox="true"/>
          <p:nvPr/>
        </p:nvSpPr>
        <p:spPr>
          <a:xfrm rot="0">
            <a:off x="3223260" y="7989570"/>
            <a:ext cx="1505102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渠道拓展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4566514" y="7989570"/>
            <a:ext cx="207683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111111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/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4771568" y="7989570"/>
            <a:ext cx="2234794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线下落地执行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6754901" y="7989570"/>
            <a:ext cx="207683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111111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/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6959956" y="7989570"/>
            <a:ext cx="1869948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公共关系（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8560156" y="7989570"/>
            <a:ext cx="525104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111111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8980665" y="7989570"/>
            <a:ext cx="775411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）等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3223260" y="8536305"/>
            <a:ext cx="5049317" cy="372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16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按需触达、筛选和协调专业资源，由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667244" y="8526780"/>
            <a:ext cx="1110806" cy="381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160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Outrise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8656396" y="8536305"/>
            <a:ext cx="1609344" cy="372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16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统一推进。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348740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我们做什么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857500" y="441960"/>
            <a:ext cx="306324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·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31820" y="441960"/>
            <a:ext cx="1088136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核心能力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091940" y="441960"/>
            <a:ext cx="318316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05840" y="1123950"/>
            <a:ext cx="6394399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营销策略与品牌基础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05840" y="2266950"/>
            <a:ext cx="6730213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先形成清晰判断，再确定值得投入的方向。</a:t>
            </a:r>
          </a:p>
        </p:txBody>
      </p:sp>
      <p:sp>
        <p:nvSpPr>
          <p:cNvPr name="AutoShape 10" id="10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6960063" y="9542145"/>
            <a:ext cx="412909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06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05840" y="3623310"/>
            <a:ext cx="427377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</a:p>
        </p:txBody>
      </p:sp>
      <p:sp>
        <p:nvSpPr>
          <p:cNvPr name="AutoShape 15" id="15"/>
          <p:cNvSpPr/>
          <p:nvPr/>
        </p:nvSpPr>
        <p:spPr>
          <a:xfrm rot="11520">
            <a:off x="1752781" y="3938588"/>
            <a:ext cx="4426868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6" id="16"/>
          <p:cNvSpPr txBox="true"/>
          <p:nvPr/>
        </p:nvSpPr>
        <p:spPr>
          <a:xfrm rot="0">
            <a:off x="1005840" y="4389120"/>
            <a:ext cx="2964485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理解市场与用户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05840" y="5594985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梳理业务目标、产品特点与目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05840" y="6094247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标人群，判断客户的需求、使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05840" y="6593510"/>
            <a:ext cx="3329330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用场景和购买考虑。</a:t>
            </a:r>
          </a:p>
        </p:txBody>
      </p:sp>
      <p:sp>
        <p:nvSpPr>
          <p:cNvPr name="AutoShape 20" id="20"/>
          <p:cNvSpPr/>
          <p:nvPr/>
        </p:nvSpPr>
        <p:spPr>
          <a:xfrm rot="9840">
            <a:off x="998401" y="7996238"/>
            <a:ext cx="5181238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1" id="21"/>
          <p:cNvSpPr txBox="true"/>
          <p:nvPr/>
        </p:nvSpPr>
        <p:spPr>
          <a:xfrm rot="0">
            <a:off x="1005840" y="8263890"/>
            <a:ext cx="1257529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面向谁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560820" y="3623310"/>
            <a:ext cx="485356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</a:p>
        </p:txBody>
      </p:sp>
      <p:sp>
        <p:nvSpPr>
          <p:cNvPr name="AutoShape 23" id="23"/>
          <p:cNvSpPr/>
          <p:nvPr/>
        </p:nvSpPr>
        <p:spPr>
          <a:xfrm rot="11520">
            <a:off x="7307761" y="3938588"/>
            <a:ext cx="4426868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4" id="24"/>
          <p:cNvSpPr txBox="true"/>
          <p:nvPr/>
        </p:nvSpPr>
        <p:spPr>
          <a:xfrm rot="0">
            <a:off x="6560820" y="4389120"/>
            <a:ext cx="3798418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建立定位与价值表达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560820" y="5594985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明确品牌或产品为谁创造什么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560820" y="6094247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价值，形成适合北美市场的定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60820" y="6593510"/>
            <a:ext cx="3694176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位、叙事和沟通重点。</a:t>
            </a:r>
          </a:p>
        </p:txBody>
      </p:sp>
      <p:sp>
        <p:nvSpPr>
          <p:cNvPr name="AutoShape 28" id="28"/>
          <p:cNvSpPr/>
          <p:nvPr/>
        </p:nvSpPr>
        <p:spPr>
          <a:xfrm rot="9840">
            <a:off x="6553381" y="7996238"/>
            <a:ext cx="5181238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9" id="29"/>
          <p:cNvSpPr txBox="true"/>
          <p:nvPr/>
        </p:nvSpPr>
        <p:spPr>
          <a:xfrm rot="0">
            <a:off x="6560820" y="8263890"/>
            <a:ext cx="2469337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表达什么价值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115800" y="3623310"/>
            <a:ext cx="494871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03</a:t>
            </a:r>
          </a:p>
        </p:txBody>
      </p:sp>
      <p:sp>
        <p:nvSpPr>
          <p:cNvPr name="AutoShape 31" id="31"/>
          <p:cNvSpPr/>
          <p:nvPr/>
        </p:nvSpPr>
        <p:spPr>
          <a:xfrm rot="11520">
            <a:off x="12862741" y="3938588"/>
            <a:ext cx="4426868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2" id="32"/>
          <p:cNvSpPr txBox="true"/>
          <p:nvPr/>
        </p:nvSpPr>
        <p:spPr>
          <a:xfrm rot="0">
            <a:off x="12115800" y="4389120"/>
            <a:ext cx="879653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制定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919329" y="4389120"/>
            <a:ext cx="992229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GTM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821727" y="4389120"/>
            <a:ext cx="2130552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与营销路线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115800" y="5594985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确定阶段重点、渠道优先级与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115800" y="6094247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资源安排，把策略落实为团队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115800" y="6593510"/>
            <a:ext cx="3694176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可以推进的行动计划。</a:t>
            </a:r>
          </a:p>
        </p:txBody>
      </p:sp>
      <p:sp>
        <p:nvSpPr>
          <p:cNvPr name="AutoShape 38" id="38"/>
          <p:cNvSpPr/>
          <p:nvPr/>
        </p:nvSpPr>
        <p:spPr>
          <a:xfrm rot="9840">
            <a:off x="12108361" y="7996238"/>
            <a:ext cx="5181238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9" id="39"/>
          <p:cNvSpPr txBox="true"/>
          <p:nvPr/>
        </p:nvSpPr>
        <p:spPr>
          <a:xfrm rot="0">
            <a:off x="12115800" y="8263890"/>
            <a:ext cx="2065401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优先做什么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05840" y="3059430"/>
            <a:ext cx="1609344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帮助客户回答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348740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我们做什么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857500" y="441960"/>
            <a:ext cx="306324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·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31820" y="441960"/>
            <a:ext cx="1088136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核心能力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091940" y="441960"/>
            <a:ext cx="359750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05840" y="1123950"/>
            <a:ext cx="4987138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渠道运营与增长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05840" y="2266950"/>
            <a:ext cx="8137474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让渠道选择、资源投入和日常行动服务于同一目标。</a:t>
            </a:r>
          </a:p>
        </p:txBody>
      </p:sp>
      <p:sp>
        <p:nvSpPr>
          <p:cNvPr name="AutoShape 10" id="10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6990238" y="9542145"/>
            <a:ext cx="378514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07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05840" y="3566160"/>
            <a:ext cx="454609" cy="460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7"/>
              </a:lnSpc>
            </a:pPr>
            <a:r>
              <a:rPr lang="en-US" sz="270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057400" y="3533775"/>
            <a:ext cx="2625700" cy="519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76"/>
              </a:lnSpc>
            </a:pPr>
            <a:r>
              <a:rPr lang="en-US" sz="297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确定渠道组合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452360" y="3537585"/>
            <a:ext cx="1026139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结合客户路径与业务阶段，判断社交媒体、电商平台、品牌官网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452360" y="4036847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及其他渠道各自承担的作用。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057400" y="4341495"/>
            <a:ext cx="1192378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渠道角色</a:t>
            </a:r>
          </a:p>
        </p:txBody>
      </p:sp>
      <p:sp>
        <p:nvSpPr>
          <p:cNvPr name="AutoShape 19" id="19"/>
          <p:cNvSpPr/>
          <p:nvPr/>
        </p:nvSpPr>
        <p:spPr>
          <a:xfrm rot="129420">
            <a:off x="4138612" y="4601528"/>
            <a:ext cx="546745" cy="0"/>
          </a:xfrm>
          <a:prstGeom prst="line">
            <a:avLst/>
          </a:prstGeom>
          <a:ln cap="rnd" w="9525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0" id="20"/>
          <p:cNvSpPr txBox="true"/>
          <p:nvPr/>
        </p:nvSpPr>
        <p:spPr>
          <a:xfrm rot="0">
            <a:off x="4914900" y="4341495"/>
            <a:ext cx="1192378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渠道组合</a:t>
            </a:r>
          </a:p>
        </p:txBody>
      </p:sp>
      <p:sp>
        <p:nvSpPr>
          <p:cNvPr name="AutoShape 21" id="21"/>
          <p:cNvSpPr/>
          <p:nvPr/>
        </p:nvSpPr>
        <p:spPr>
          <a:xfrm rot="3120">
            <a:off x="998410" y="5127308"/>
            <a:ext cx="16291189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2" id="22"/>
          <p:cNvSpPr txBox="true"/>
          <p:nvPr/>
        </p:nvSpPr>
        <p:spPr>
          <a:xfrm rot="0">
            <a:off x="1005840" y="5292090"/>
            <a:ext cx="516760" cy="460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7"/>
              </a:lnSpc>
            </a:pPr>
            <a:r>
              <a:rPr lang="en-US" sz="270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057400" y="5259705"/>
            <a:ext cx="3055696" cy="519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76"/>
              </a:lnSpc>
            </a:pPr>
            <a:r>
              <a:rPr lang="en-US" sz="297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规划投入与运营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452360" y="5263515"/>
            <a:ext cx="1026139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安排先后顺序、预算重点、内容需求与团队分工，明确哪些工作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452360" y="5762777"/>
            <a:ext cx="3694176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由谁推进、如何衔接。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057400" y="6067425"/>
            <a:ext cx="1192378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资源安排</a:t>
            </a:r>
          </a:p>
        </p:txBody>
      </p:sp>
      <p:sp>
        <p:nvSpPr>
          <p:cNvPr name="AutoShape 27" id="27"/>
          <p:cNvSpPr/>
          <p:nvPr/>
        </p:nvSpPr>
        <p:spPr>
          <a:xfrm rot="129420">
            <a:off x="4138612" y="6327458"/>
            <a:ext cx="546745" cy="0"/>
          </a:xfrm>
          <a:prstGeom prst="line">
            <a:avLst/>
          </a:prstGeom>
          <a:ln cap="rnd" w="9525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8" id="28"/>
          <p:cNvSpPr txBox="true"/>
          <p:nvPr/>
        </p:nvSpPr>
        <p:spPr>
          <a:xfrm rot="0">
            <a:off x="4914900" y="6067425"/>
            <a:ext cx="1192378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执行分工</a:t>
            </a:r>
          </a:p>
        </p:txBody>
      </p:sp>
      <p:sp>
        <p:nvSpPr>
          <p:cNvPr name="AutoShape 29" id="29"/>
          <p:cNvSpPr/>
          <p:nvPr/>
        </p:nvSpPr>
        <p:spPr>
          <a:xfrm rot="3120">
            <a:off x="998410" y="6853238"/>
            <a:ext cx="16291189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0" id="30"/>
          <p:cNvSpPr txBox="true"/>
          <p:nvPr/>
        </p:nvSpPr>
        <p:spPr>
          <a:xfrm rot="0">
            <a:off x="1005840" y="7018020"/>
            <a:ext cx="526923" cy="460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7"/>
              </a:lnSpc>
            </a:pPr>
            <a:r>
              <a:rPr lang="en-US" sz="270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03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057400" y="6985635"/>
            <a:ext cx="3055696" cy="519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76"/>
              </a:lnSpc>
            </a:pPr>
            <a:r>
              <a:rPr lang="en-US" sz="297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复盘并调整方向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452360" y="6989445"/>
            <a:ext cx="1026139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结合渠道表现和用户反馈，识别值得继续投入的方向，调整后续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452360" y="7488707"/>
            <a:ext cx="2964485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计划与执行重点。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057400" y="7793355"/>
            <a:ext cx="1192378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市场反馈</a:t>
            </a:r>
          </a:p>
        </p:txBody>
      </p:sp>
      <p:sp>
        <p:nvSpPr>
          <p:cNvPr name="AutoShape 35" id="35"/>
          <p:cNvSpPr/>
          <p:nvPr/>
        </p:nvSpPr>
        <p:spPr>
          <a:xfrm rot="129420">
            <a:off x="4138612" y="8053388"/>
            <a:ext cx="546745" cy="0"/>
          </a:xfrm>
          <a:prstGeom prst="line">
            <a:avLst/>
          </a:prstGeom>
          <a:ln cap="rnd" w="9525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36" id="36"/>
          <p:cNvSpPr txBox="true"/>
          <p:nvPr/>
        </p:nvSpPr>
        <p:spPr>
          <a:xfrm rot="0">
            <a:off x="4914900" y="7793355"/>
            <a:ext cx="1192378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计划调整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348740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我们做什么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857500" y="441960"/>
            <a:ext cx="306324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·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31820" y="441960"/>
            <a:ext cx="1088136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直接执行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05840" y="1123950"/>
            <a:ext cx="10616184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三类执行能力，承接关键营销任务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05840" y="2266950"/>
            <a:ext cx="3563874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根据策略选择模块，由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153662" y="2276475"/>
            <a:ext cx="1243975" cy="431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Outrise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266487" y="2266950"/>
            <a:ext cx="3212059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直接推进约定工作。</a:t>
            </a:r>
          </a:p>
        </p:txBody>
      </p:sp>
      <p:sp>
        <p:nvSpPr>
          <p:cNvPr name="AutoShape 11" id="11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6964292" y="9542145"/>
            <a:ext cx="408089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08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05840" y="3611880"/>
            <a:ext cx="427377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05840" y="4303395"/>
            <a:ext cx="2026310" cy="600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24"/>
              </a:lnSpc>
            </a:pPr>
            <a:r>
              <a:rPr lang="en-US" sz="342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内容营销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05840" y="5503545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围绕品牌与产品价值，制定内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05840" y="6002807"/>
            <a:ext cx="442386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容方向、创意方案和传播计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05840" y="6502070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划，制作约定的图文、视频及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05840" y="7001332"/>
            <a:ext cx="186994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社媒素材。</a:t>
            </a:r>
          </a:p>
        </p:txBody>
      </p:sp>
      <p:sp>
        <p:nvSpPr>
          <p:cNvPr name="AutoShape 21" id="21"/>
          <p:cNvSpPr/>
          <p:nvPr/>
        </p:nvSpPr>
        <p:spPr>
          <a:xfrm rot="9840">
            <a:off x="998401" y="8213407"/>
            <a:ext cx="5181238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2" id="22"/>
          <p:cNvSpPr txBox="true"/>
          <p:nvPr/>
        </p:nvSpPr>
        <p:spPr>
          <a:xfrm rot="0">
            <a:off x="1005840" y="8444865"/>
            <a:ext cx="723290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方向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658722" y="8444865"/>
            <a:ext cx="384505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·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014423" y="8444865"/>
            <a:ext cx="723290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创意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667305" y="8444865"/>
            <a:ext cx="384505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·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023006" y="8444865"/>
            <a:ext cx="723290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内容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60820" y="3611880"/>
            <a:ext cx="485356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560820" y="4303395"/>
            <a:ext cx="2026310" cy="600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24"/>
              </a:lnSpc>
            </a:pPr>
            <a:r>
              <a:rPr lang="en-US" sz="342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达人营销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560820" y="5503545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筛选与触达适配的达人，策划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560820" y="6002807"/>
            <a:ext cx="4788713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合作方式，沟通内容要求，推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560820" y="6502070"/>
            <a:ext cx="4059022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进发布并复盘合作表现。</a:t>
            </a:r>
          </a:p>
        </p:txBody>
      </p:sp>
      <p:sp>
        <p:nvSpPr>
          <p:cNvPr name="AutoShape 32" id="32"/>
          <p:cNvSpPr/>
          <p:nvPr/>
        </p:nvSpPr>
        <p:spPr>
          <a:xfrm rot="9840">
            <a:off x="6553381" y="8213407"/>
            <a:ext cx="5181238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3" id="33"/>
          <p:cNvSpPr txBox="true"/>
          <p:nvPr/>
        </p:nvSpPr>
        <p:spPr>
          <a:xfrm rot="0">
            <a:off x="6560820" y="8444865"/>
            <a:ext cx="723290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筛选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213702" y="8444865"/>
            <a:ext cx="384505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·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569403" y="8444865"/>
            <a:ext cx="723290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合作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222285" y="8444865"/>
            <a:ext cx="384505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·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8577986" y="8444865"/>
            <a:ext cx="723290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推进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115800" y="3611880"/>
            <a:ext cx="494871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03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115800" y="4303395"/>
            <a:ext cx="2521458" cy="600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24"/>
              </a:lnSpc>
            </a:pPr>
            <a:r>
              <a:rPr lang="en-US" sz="342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广告与投放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115800" y="5503545"/>
            <a:ext cx="442386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制定投放计划，协同广告素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115800" y="6002807"/>
            <a:ext cx="442386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材，执行约定渠道的广告工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115800" y="6502070"/>
            <a:ext cx="442386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作，并根据反馈持续优化。</a:t>
            </a:r>
          </a:p>
        </p:txBody>
      </p:sp>
      <p:sp>
        <p:nvSpPr>
          <p:cNvPr name="AutoShape 43" id="43"/>
          <p:cNvSpPr/>
          <p:nvPr/>
        </p:nvSpPr>
        <p:spPr>
          <a:xfrm rot="9840">
            <a:off x="12108361" y="8213407"/>
            <a:ext cx="5181238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4" id="44"/>
          <p:cNvSpPr txBox="true"/>
          <p:nvPr/>
        </p:nvSpPr>
        <p:spPr>
          <a:xfrm rot="0">
            <a:off x="12115800" y="8444865"/>
            <a:ext cx="723290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计划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2768682" y="8444865"/>
            <a:ext cx="384505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·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3124383" y="8444865"/>
            <a:ext cx="723290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投放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3777265" y="8444865"/>
            <a:ext cx="384505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·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132966" y="8444865"/>
            <a:ext cx="723290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优化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348740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我们做什么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857500" y="441960"/>
            <a:ext cx="306324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·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31820" y="441960"/>
            <a:ext cx="1088136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专业协作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05840" y="1123950"/>
            <a:ext cx="10616184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按需组织专业资源，拓展项目能力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05840" y="2266950"/>
            <a:ext cx="5322951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当项目需要更多本地或专项能力，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634990" y="2276475"/>
            <a:ext cx="1243975" cy="431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Outrise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747815" y="2266950"/>
            <a:ext cx="3915689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帮助触达、筛选与协调。</a:t>
            </a:r>
          </a:p>
        </p:txBody>
      </p:sp>
      <p:sp>
        <p:nvSpPr>
          <p:cNvPr name="AutoShape 11" id="11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3520440" y="9584055"/>
            <a:ext cx="1374800" cy="260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1"/>
              </a:lnSpc>
            </a:pPr>
            <a:r>
              <a:rPr lang="en-US" sz="153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客户统一对接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725162" y="9574530"/>
            <a:ext cx="800167" cy="2698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1"/>
              </a:lnSpc>
            </a:pPr>
            <a:r>
              <a:rPr lang="en-US" sz="1530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Outrise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386959" y="9584055"/>
            <a:ext cx="4254475" cy="260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1"/>
              </a:lnSpc>
            </a:pPr>
            <a:r>
              <a:rPr lang="en-US" sz="153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；伙伴参与方式与工作范围在方案中明确。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957319" y="9542145"/>
            <a:ext cx="416042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09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005840" y="4000500"/>
            <a:ext cx="4114800" cy="3714750"/>
            <a:chOff x="0" y="0"/>
            <a:chExt cx="5486400" cy="4953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486400" cy="4953000"/>
            </a:xfrm>
            <a:custGeom>
              <a:avLst/>
              <a:gdLst/>
              <a:ahLst/>
              <a:cxnLst/>
              <a:rect r="r" b="b" t="t" l="l"/>
              <a:pathLst>
                <a:path h="49530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4953000"/>
                  </a:lnTo>
                  <a:lnTo>
                    <a:pt x="0" y="4953000"/>
                  </a:lnTo>
                  <a:close/>
                </a:path>
              </a:pathLst>
            </a:custGeom>
            <a:solidFill>
              <a:srgbClr val="111111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348740" y="4366260"/>
            <a:ext cx="617220" cy="57150"/>
            <a:chOff x="0" y="0"/>
            <a:chExt cx="822960" cy="762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22960" cy="76200"/>
            </a:xfrm>
            <a:custGeom>
              <a:avLst/>
              <a:gdLst/>
              <a:ahLst/>
              <a:cxnLst/>
              <a:rect r="r" b="b" t="t" l="l"/>
              <a:pathLst>
                <a:path h="7620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348740" y="4838700"/>
            <a:ext cx="1623679" cy="551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3150" b="0">
                <a:solidFill>
                  <a:srgbClr val="F4F1E9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Outrise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811666" y="4848225"/>
            <a:ext cx="1869948" cy="5421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3150" b="0">
                <a:solidFill>
                  <a:srgbClr val="F4F1E9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统一组织</a:t>
            </a:r>
          </a:p>
        </p:txBody>
      </p:sp>
      <p:sp>
        <p:nvSpPr>
          <p:cNvPr name="AutoShape 24" id="24"/>
          <p:cNvSpPr/>
          <p:nvPr/>
        </p:nvSpPr>
        <p:spPr>
          <a:xfrm rot="104160">
            <a:off x="5109039" y="5831205"/>
            <a:ext cx="754723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 rot="5378700">
            <a:off x="4006177" y="5928360"/>
            <a:ext cx="3691957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 rot="143160">
            <a:off x="5840492" y="4093845"/>
            <a:ext cx="549116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7" id="27"/>
          <p:cNvSpPr txBox="true"/>
          <p:nvPr/>
        </p:nvSpPr>
        <p:spPr>
          <a:xfrm rot="0">
            <a:off x="6720840" y="3579495"/>
            <a:ext cx="2547518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本地渠道拓展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720840" y="4223385"/>
            <a:ext cx="11355934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围绕市场目标，识别适合接触的渠道与资源，推进沟通，并协调后续合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720840" y="4722647"/>
            <a:ext cx="1505102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作机会。</a:t>
            </a:r>
          </a:p>
        </p:txBody>
      </p:sp>
      <p:sp>
        <p:nvSpPr>
          <p:cNvPr name="AutoShape 30" id="30"/>
          <p:cNvSpPr/>
          <p:nvPr/>
        </p:nvSpPr>
        <p:spPr>
          <a:xfrm rot="143160">
            <a:off x="5840492" y="5808345"/>
            <a:ext cx="549116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31" id="31"/>
          <p:cNvSpPr txBox="true"/>
          <p:nvPr/>
        </p:nvSpPr>
        <p:spPr>
          <a:xfrm rot="0">
            <a:off x="6720840" y="5293995"/>
            <a:ext cx="2547518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落地执行支持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720840" y="5937885"/>
            <a:ext cx="11355934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根据项目安排，对接相应的本地专业团队，协调任务要求、执行节奏与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720840" y="6437147"/>
            <a:ext cx="186994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交付衔接。</a:t>
            </a:r>
          </a:p>
        </p:txBody>
      </p:sp>
      <p:sp>
        <p:nvSpPr>
          <p:cNvPr name="AutoShape 34" id="34"/>
          <p:cNvSpPr/>
          <p:nvPr/>
        </p:nvSpPr>
        <p:spPr>
          <a:xfrm rot="143160">
            <a:off x="5840492" y="7522845"/>
            <a:ext cx="549116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35" id="35"/>
          <p:cNvSpPr txBox="true"/>
          <p:nvPr/>
        </p:nvSpPr>
        <p:spPr>
          <a:xfrm rot="0">
            <a:off x="6720840" y="7008495"/>
            <a:ext cx="2130552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公共关系（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549640" y="7008495"/>
            <a:ext cx="593636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111111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030272" y="7008495"/>
            <a:ext cx="462686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）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720840" y="7652385"/>
            <a:ext cx="11355934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根据传播或业务需求，引入匹配的专业伙伴，共同明确工作内容、责任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720840" y="8151647"/>
            <a:ext cx="2234794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与推进方式。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609344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怎样推进项目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5840" y="1123950"/>
            <a:ext cx="10616184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从业务目标出发，持续推进与调整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05840" y="2266950"/>
            <a:ext cx="7433843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六个工作环节，让判断、计划与执行相互衔接。</a:t>
            </a:r>
          </a:p>
        </p:txBody>
      </p:sp>
      <p:sp>
        <p:nvSpPr>
          <p:cNvPr name="AutoShape 7" id="7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7016412" y="9542145"/>
            <a:ext cx="348672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5840" y="3442335"/>
            <a:ext cx="481841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74520" y="3409950"/>
            <a:ext cx="1817827" cy="53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06"/>
              </a:lnSpc>
            </a:pPr>
            <a:r>
              <a:rPr lang="en-US" sz="306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理解业务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05840" y="4314825"/>
            <a:ext cx="515355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明确产品、目标、现有基础与资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05840" y="4814087"/>
            <a:ext cx="1505102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源约束。</a:t>
            </a:r>
          </a:p>
        </p:txBody>
      </p:sp>
      <p:sp>
        <p:nvSpPr>
          <p:cNvPr name="AutoShape 15" id="15"/>
          <p:cNvSpPr/>
          <p:nvPr/>
        </p:nvSpPr>
        <p:spPr>
          <a:xfrm rot="91680">
            <a:off x="5600548" y="3819525"/>
            <a:ext cx="857555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6" id="16"/>
          <p:cNvSpPr txBox="true"/>
          <p:nvPr/>
        </p:nvSpPr>
        <p:spPr>
          <a:xfrm rot="0">
            <a:off x="6560820" y="3442335"/>
            <a:ext cx="548164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429500" y="3409950"/>
            <a:ext cx="1817827" cy="53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06"/>
              </a:lnSpc>
            </a:pPr>
            <a:r>
              <a:rPr lang="en-US" sz="306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建立判断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560820" y="4314825"/>
            <a:ext cx="442386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研究市场与用户，识别核心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560820" y="4814087"/>
            <a:ext cx="186994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营销问题。</a:t>
            </a:r>
          </a:p>
        </p:txBody>
      </p:sp>
      <p:sp>
        <p:nvSpPr>
          <p:cNvPr name="AutoShape 20" id="20"/>
          <p:cNvSpPr/>
          <p:nvPr/>
        </p:nvSpPr>
        <p:spPr>
          <a:xfrm rot="91680">
            <a:off x="11155528" y="3819525"/>
            <a:ext cx="857555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1" id="21"/>
          <p:cNvSpPr txBox="true"/>
          <p:nvPr/>
        </p:nvSpPr>
        <p:spPr>
          <a:xfrm rot="0">
            <a:off x="12115800" y="3442335"/>
            <a:ext cx="558975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03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984480" y="3409950"/>
            <a:ext cx="1817827" cy="53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06"/>
              </a:lnSpc>
            </a:pPr>
            <a:r>
              <a:rPr lang="en-US" sz="306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确定选择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115800" y="4314825"/>
            <a:ext cx="4059022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提出方向与优先级，共同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115800" y="4814087"/>
            <a:ext cx="186994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确认重点。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115800" y="5520690"/>
            <a:ext cx="3342361" cy="365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070" b="0">
                <a:solidFill>
                  <a:srgbClr val="2454FF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客户参与：确认关键选择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05840" y="6494145"/>
            <a:ext cx="569795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74520" y="6461760"/>
            <a:ext cx="1817827" cy="53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06"/>
              </a:lnSpc>
            </a:pPr>
            <a:r>
              <a:rPr lang="en-US" sz="306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制定规划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05840" y="7366635"/>
            <a:ext cx="442386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形成阶段计划、任务分工和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05840" y="7865897"/>
            <a:ext cx="186994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资源安排。</a:t>
            </a:r>
          </a:p>
        </p:txBody>
      </p:sp>
      <p:sp>
        <p:nvSpPr>
          <p:cNvPr name="AutoShape 30" id="30"/>
          <p:cNvSpPr/>
          <p:nvPr/>
        </p:nvSpPr>
        <p:spPr>
          <a:xfrm rot="91680">
            <a:off x="5600548" y="6871335"/>
            <a:ext cx="857555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31" id="31"/>
          <p:cNvSpPr txBox="true"/>
          <p:nvPr/>
        </p:nvSpPr>
        <p:spPr>
          <a:xfrm rot="0">
            <a:off x="6560820" y="6494145"/>
            <a:ext cx="562756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05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429500" y="6461760"/>
            <a:ext cx="1817827" cy="53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06"/>
              </a:lnSpc>
            </a:pPr>
            <a:r>
              <a:rPr lang="en-US" sz="306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推进执行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560820" y="7366635"/>
            <a:ext cx="4423867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承担关键任务，协调团队与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560820" y="7865897"/>
            <a:ext cx="186994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专业伙伴。</a:t>
            </a:r>
          </a:p>
        </p:txBody>
      </p:sp>
      <p:sp>
        <p:nvSpPr>
          <p:cNvPr name="AutoShape 35" id="35"/>
          <p:cNvSpPr/>
          <p:nvPr/>
        </p:nvSpPr>
        <p:spPr>
          <a:xfrm rot="91680">
            <a:off x="11155528" y="6871335"/>
            <a:ext cx="857555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36" id="36"/>
          <p:cNvSpPr txBox="true"/>
          <p:nvPr/>
        </p:nvSpPr>
        <p:spPr>
          <a:xfrm rot="0">
            <a:off x="12115800" y="6494145"/>
            <a:ext cx="579825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06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984480" y="6461760"/>
            <a:ext cx="1817827" cy="535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06"/>
              </a:lnSpc>
            </a:pPr>
            <a:r>
              <a:rPr lang="en-US" sz="306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复盘调整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115800" y="7366635"/>
            <a:ext cx="3694176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结合市场反馈，确定下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115800" y="7865897"/>
            <a:ext cx="186994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一步行动。</a:t>
            </a:r>
          </a:p>
        </p:txBody>
      </p:sp>
      <p:sp>
        <p:nvSpPr>
          <p:cNvPr name="AutoShape 40" id="40"/>
          <p:cNvSpPr/>
          <p:nvPr/>
        </p:nvSpPr>
        <p:spPr>
          <a:xfrm rot="185640">
            <a:off x="17272768" y="3824288"/>
            <a:ext cx="338823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1" id="41"/>
          <p:cNvSpPr/>
          <p:nvPr/>
        </p:nvSpPr>
        <p:spPr>
          <a:xfrm rot="5374380">
            <a:off x="16375723" y="5041582"/>
            <a:ext cx="2452945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2" id="42"/>
          <p:cNvSpPr/>
          <p:nvPr/>
        </p:nvSpPr>
        <p:spPr>
          <a:xfrm rot="3720">
            <a:off x="676646" y="6258878"/>
            <a:ext cx="16934698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3" id="43"/>
          <p:cNvSpPr/>
          <p:nvPr/>
        </p:nvSpPr>
        <p:spPr>
          <a:xfrm rot="5302860">
            <a:off x="362198" y="6573203"/>
            <a:ext cx="647195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4" id="44"/>
          <p:cNvSpPr/>
          <p:nvPr/>
        </p:nvSpPr>
        <p:spPr>
          <a:xfrm rot="326400">
            <a:off x="673827" y="6882765"/>
            <a:ext cx="241116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609344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怎样推进项目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5840" y="1123950"/>
            <a:ext cx="11319815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客户获得清晰方向，也获得推进依据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05840" y="2266950"/>
            <a:ext cx="9896551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交付涵盖策略、规划与约定的执行成果，并用于支持持续决策。</a:t>
            </a:r>
          </a:p>
        </p:txBody>
      </p:sp>
      <p:sp>
        <p:nvSpPr>
          <p:cNvPr name="AutoShape 7" id="7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7088536" y="9542145"/>
            <a:ext cx="266452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5840" y="3564255"/>
            <a:ext cx="413690" cy="411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29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943100" y="3522345"/>
            <a:ext cx="2964485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策略判断与表达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795260" y="3522345"/>
            <a:ext cx="9896551" cy="4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说明目标用户、品牌或产品价值、营销重点，以及重要选择背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795260" y="4002405"/>
            <a:ext cx="2599639" cy="4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后的判断依据。</a:t>
            </a:r>
          </a:p>
        </p:txBody>
      </p:sp>
      <p:sp>
        <p:nvSpPr>
          <p:cNvPr name="AutoShape 15" id="15"/>
          <p:cNvSpPr/>
          <p:nvPr/>
        </p:nvSpPr>
        <p:spPr>
          <a:xfrm rot="3120">
            <a:off x="998410" y="4727258"/>
            <a:ext cx="16291189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6" id="16"/>
          <p:cNvSpPr txBox="true"/>
          <p:nvPr/>
        </p:nvSpPr>
        <p:spPr>
          <a:xfrm rot="0">
            <a:off x="1005840" y="4912995"/>
            <a:ext cx="469592" cy="411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29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943100" y="4871085"/>
            <a:ext cx="3798418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阶段路线与资源安排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795260" y="4871085"/>
            <a:ext cx="9896551" cy="4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明确渠道优先级、阶段行动、预算重点与责任分工，让各方知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795260" y="5351145"/>
            <a:ext cx="2964485" cy="4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道下一步做什么。</a:t>
            </a:r>
          </a:p>
        </p:txBody>
      </p:sp>
      <p:sp>
        <p:nvSpPr>
          <p:cNvPr name="AutoShape 20" id="20"/>
          <p:cNvSpPr/>
          <p:nvPr/>
        </p:nvSpPr>
        <p:spPr>
          <a:xfrm rot="3120">
            <a:off x="998410" y="6075997"/>
            <a:ext cx="16291189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1" id="21"/>
          <p:cNvSpPr txBox="true"/>
          <p:nvPr/>
        </p:nvSpPr>
        <p:spPr>
          <a:xfrm rot="0">
            <a:off x="1005840" y="6261735"/>
            <a:ext cx="478841" cy="411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29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03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943100" y="6219825"/>
            <a:ext cx="2547518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关键执行成果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795260" y="6219825"/>
            <a:ext cx="9896551" cy="4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按合作范围交付内容素材、达人合作、广告工作或其他已约定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795260" y="6699885"/>
            <a:ext cx="2234794" cy="4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的执行成果。</a:t>
            </a:r>
          </a:p>
        </p:txBody>
      </p:sp>
      <p:sp>
        <p:nvSpPr>
          <p:cNvPr name="AutoShape 25" id="25"/>
          <p:cNvSpPr/>
          <p:nvPr/>
        </p:nvSpPr>
        <p:spPr>
          <a:xfrm rot="3120">
            <a:off x="998410" y="7424738"/>
            <a:ext cx="16291189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6" id="26"/>
          <p:cNvSpPr txBox="true"/>
          <p:nvPr/>
        </p:nvSpPr>
        <p:spPr>
          <a:xfrm rot="0">
            <a:off x="1005840" y="7610475"/>
            <a:ext cx="487966" cy="411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29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943100" y="7568565"/>
            <a:ext cx="2964485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复盘与后续建议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795260" y="7568565"/>
            <a:ext cx="8437169" cy="4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整理执行反馈与阶段表现，提出继续、调整或新增工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795260" y="8048625"/>
            <a:ext cx="1869948" cy="4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52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作的建议。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869948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为什么选择我们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314700" y="441960"/>
            <a:ext cx="306324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·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589020" y="441960"/>
            <a:ext cx="1162926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AI-native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05840" y="1143000"/>
            <a:ext cx="756228" cy="796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34160" y="1123950"/>
            <a:ext cx="9208922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已经融入我们的内部执行体系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05840" y="2276475"/>
            <a:ext cx="1243975" cy="431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Outrise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118665" y="2266950"/>
            <a:ext cx="4971136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已建立高度自动化、智能化、以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500927" y="2276475"/>
            <a:ext cx="391154" cy="431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65658" y="2266950"/>
            <a:ext cx="3212059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为驱动的执行体系。</a:t>
            </a:r>
          </a:p>
        </p:txBody>
      </p:sp>
      <p:sp>
        <p:nvSpPr>
          <p:cNvPr name="AutoShape 13" id="13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7046816" y="9542145"/>
            <a:ext cx="314011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05840" y="3070860"/>
            <a:ext cx="301638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6045" y="3070860"/>
            <a:ext cx="2912364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支持营销工作的环节示意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05840" y="3682365"/>
            <a:ext cx="468287" cy="486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</a:p>
        </p:txBody>
      </p:sp>
      <p:sp>
        <p:nvSpPr>
          <p:cNvPr name="AutoShape 20" id="20"/>
          <p:cNvSpPr/>
          <p:nvPr/>
        </p:nvSpPr>
        <p:spPr>
          <a:xfrm rot="25260">
            <a:off x="1771612" y="4025265"/>
            <a:ext cx="3109046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1" id="21"/>
          <p:cNvSpPr txBox="true"/>
          <p:nvPr/>
        </p:nvSpPr>
        <p:spPr>
          <a:xfrm rot="0">
            <a:off x="1005840" y="4572000"/>
            <a:ext cx="2690851" cy="453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8"/>
              </a:lnSpc>
            </a:pPr>
            <a:r>
              <a:rPr lang="en-US" sz="261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研究与知识积累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05840" y="5627370"/>
            <a:ext cx="3772357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将研究资料、业务信息与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05840" y="6090971"/>
            <a:ext cx="3772357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项目经验组织为可持续使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05840" y="6554572"/>
            <a:ext cx="3094787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用的知识基础，支持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05840" y="7018172"/>
            <a:ext cx="1739646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后续判断。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189220" y="3682365"/>
            <a:ext cx="532400" cy="486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</a:p>
        </p:txBody>
      </p:sp>
      <p:sp>
        <p:nvSpPr>
          <p:cNvPr name="AutoShape 27" id="27"/>
          <p:cNvSpPr/>
          <p:nvPr/>
        </p:nvSpPr>
        <p:spPr>
          <a:xfrm rot="25260">
            <a:off x="5954992" y="4025265"/>
            <a:ext cx="3109046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8" id="28"/>
          <p:cNvSpPr txBox="true"/>
          <p:nvPr/>
        </p:nvSpPr>
        <p:spPr>
          <a:xfrm rot="0">
            <a:off x="5189220" y="4572000"/>
            <a:ext cx="2690851" cy="453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8"/>
              </a:lnSpc>
            </a:pPr>
            <a:r>
              <a:rPr lang="en-US" sz="261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规划与任务推进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189220" y="5627370"/>
            <a:ext cx="3433572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让信息、计划和任务衔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189220" y="6090971"/>
            <a:ext cx="3772357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接，支持团队协调工作、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189220" y="6554572"/>
            <a:ext cx="3433572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跟进进度和处理反馈。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372600" y="3682365"/>
            <a:ext cx="542954" cy="486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03</a:t>
            </a:r>
          </a:p>
        </p:txBody>
      </p:sp>
      <p:sp>
        <p:nvSpPr>
          <p:cNvPr name="AutoShape 33" id="33"/>
          <p:cNvSpPr/>
          <p:nvPr/>
        </p:nvSpPr>
        <p:spPr>
          <a:xfrm rot="25260">
            <a:off x="10138372" y="4025265"/>
            <a:ext cx="3109046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34" id="34"/>
          <p:cNvSpPr txBox="true"/>
          <p:nvPr/>
        </p:nvSpPr>
        <p:spPr>
          <a:xfrm rot="0">
            <a:off x="9372600" y="4572000"/>
            <a:ext cx="2690851" cy="453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8"/>
              </a:lnSpc>
            </a:pPr>
            <a:r>
              <a:rPr lang="en-US" sz="261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内容与创意生产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372600" y="5627370"/>
            <a:ext cx="723290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运用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026396" y="5617845"/>
            <a:ext cx="378381" cy="435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0377640" y="5627370"/>
            <a:ext cx="2417216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支持创意探索、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9372600" y="6090971"/>
            <a:ext cx="3772357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素材生产与迭代，由团队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372600" y="6554572"/>
            <a:ext cx="2756002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负责方向、质量与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372600" y="7018172"/>
            <a:ext cx="1739646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最终判断。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3555980" y="3682365"/>
            <a:ext cx="553507" cy="486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2454F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04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3555980" y="4572000"/>
            <a:ext cx="2690851" cy="453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8"/>
              </a:lnSpc>
            </a:pPr>
            <a:r>
              <a:rPr lang="en-US" sz="261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反馈与持续改进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3555980" y="5627370"/>
            <a:ext cx="3772357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把执行反馈带回知识与工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3555980" y="6090971"/>
            <a:ext cx="3772357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作流程，让项目经验持续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3555980" y="6554572"/>
            <a:ext cx="3094787" cy="42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0"/>
              </a:lnSpc>
            </a:pPr>
            <a:r>
              <a:rPr lang="en-US" sz="2340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服务于下一轮行动。</a:t>
            </a:r>
          </a:p>
        </p:txBody>
      </p:sp>
      <p:sp>
        <p:nvSpPr>
          <p:cNvPr name="AutoShape 46" id="46"/>
          <p:cNvSpPr/>
          <p:nvPr/>
        </p:nvSpPr>
        <p:spPr>
          <a:xfrm rot="5205600">
            <a:off x="15267384" y="7967662"/>
            <a:ext cx="303381" cy="0"/>
          </a:xfrm>
          <a:prstGeom prst="line">
            <a:avLst/>
          </a:prstGeom>
          <a:ln cap="rnd" w="9525">
            <a:solidFill>
              <a:srgbClr val="2454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7" id="47"/>
          <p:cNvSpPr/>
          <p:nvPr/>
        </p:nvSpPr>
        <p:spPr>
          <a:xfrm rot="4680">
            <a:off x="2860348" y="8110538"/>
            <a:ext cx="12567295" cy="0"/>
          </a:xfrm>
          <a:prstGeom prst="line">
            <a:avLst/>
          </a:prstGeom>
          <a:ln cap="rnd" w="9525">
            <a:solidFill>
              <a:srgbClr val="2454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8" id="48"/>
          <p:cNvSpPr/>
          <p:nvPr/>
        </p:nvSpPr>
        <p:spPr>
          <a:xfrm rot="5205600">
            <a:off x="2717244" y="7967662"/>
            <a:ext cx="303381" cy="0"/>
          </a:xfrm>
          <a:prstGeom prst="line">
            <a:avLst/>
          </a:prstGeom>
          <a:ln cap="rnd" w="9525">
            <a:solidFill>
              <a:srgbClr val="2454FF"/>
            </a:solidFill>
            <a:prstDash val="solid"/>
            <a:headEnd type="triangle" len="med" w="lg"/>
            <a:tailEnd type="none" len="sm" w="sm"/>
          </a:ln>
        </p:spPr>
      </p:sp>
      <p:grpSp>
        <p:nvGrpSpPr>
          <p:cNvPr name="Group 49" id="49"/>
          <p:cNvGrpSpPr/>
          <p:nvPr/>
        </p:nvGrpSpPr>
        <p:grpSpPr>
          <a:xfrm rot="0">
            <a:off x="1005840" y="8435340"/>
            <a:ext cx="16276320" cy="617220"/>
            <a:chOff x="0" y="0"/>
            <a:chExt cx="21701760" cy="82296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1701761" cy="822960"/>
            </a:xfrm>
            <a:custGeom>
              <a:avLst/>
              <a:gdLst/>
              <a:ahLst/>
              <a:cxnLst/>
              <a:rect r="r" b="b" t="t" l="l"/>
              <a:pathLst>
                <a:path h="822960" w="21701761">
                  <a:moveTo>
                    <a:pt x="0" y="0"/>
                  </a:moveTo>
                  <a:lnTo>
                    <a:pt x="21701761" y="0"/>
                  </a:lnTo>
                  <a:lnTo>
                    <a:pt x="21701761" y="822960"/>
                  </a:lnTo>
                  <a:lnTo>
                    <a:pt x="0" y="822960"/>
                  </a:lnTo>
                  <a:close/>
                </a:path>
              </a:pathLst>
            </a:custGeom>
            <a:solidFill>
              <a:srgbClr val="111111"/>
            </a:solidFill>
          </p:spPr>
        </p:sp>
      </p:grpSp>
      <p:sp>
        <p:nvSpPr>
          <p:cNvPr name="TextBox 51" id="51"/>
          <p:cNvSpPr txBox="true"/>
          <p:nvPr/>
        </p:nvSpPr>
        <p:spPr>
          <a:xfrm rot="0">
            <a:off x="7063740" y="8479155"/>
            <a:ext cx="4788713" cy="39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9"/>
              </a:lnSpc>
            </a:pPr>
            <a:r>
              <a:rPr lang="en-US" sz="2340" b="0">
                <a:solidFill>
                  <a:srgbClr val="F4F1E9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团队负责商业判断、方向与质量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869948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为什么选择我们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314700" y="441960"/>
            <a:ext cx="306324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·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589020" y="441960"/>
            <a:ext cx="1088136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市场理解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05840" y="1123950"/>
            <a:ext cx="1468984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F4F1E9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理解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59381" y="1143000"/>
            <a:ext cx="756228" cy="796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F4F1E9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087700" y="1123950"/>
            <a:ext cx="9912553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F4F1E9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技术，也理解它带来的市场变化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05840" y="2266950"/>
            <a:ext cx="9192920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把对技术与市场的理解，转化为更灵活的营销判断与行动。</a:t>
            </a:r>
          </a:p>
        </p:txBody>
      </p:sp>
      <p:sp>
        <p:nvSpPr>
          <p:cNvPr name="AutoShape 11" id="11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62625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7040530" y="9542145"/>
            <a:ext cx="321183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D6D4CB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05840" y="3526155"/>
            <a:ext cx="2290343" cy="672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72"/>
              </a:lnSpc>
            </a:pPr>
            <a:r>
              <a:rPr lang="en-US" sz="3870" b="0">
                <a:solidFill>
                  <a:srgbClr val="F4F1E9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技术理解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05840" y="4674870"/>
            <a:ext cx="617220" cy="57150"/>
            <a:chOff x="0" y="0"/>
            <a:chExt cx="822960" cy="762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22960" cy="76200"/>
            </a:xfrm>
            <a:custGeom>
              <a:avLst/>
              <a:gdLst/>
              <a:ahLst/>
              <a:cxnLst/>
              <a:rect r="r" b="b" t="t" l="l"/>
              <a:pathLst>
                <a:path h="7620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480810" y="3533775"/>
            <a:ext cx="3798418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F4F1E9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读懂科技产品的价值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480810" y="4223385"/>
            <a:ext cx="11355934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理解科技公司的产品逻辑、目标与需求，把技术能力转化为用户能够理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80810" y="4722647"/>
            <a:ext cx="2964485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解的价值和场景。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05840" y="5320665"/>
            <a:ext cx="2290343" cy="672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72"/>
              </a:lnSpc>
            </a:pPr>
            <a:r>
              <a:rPr lang="en-US" sz="3870" b="0">
                <a:solidFill>
                  <a:srgbClr val="F4F1E9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市场判断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05840" y="6469380"/>
            <a:ext cx="617220" cy="57150"/>
            <a:chOff x="0" y="0"/>
            <a:chExt cx="822960" cy="762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22960" cy="76200"/>
            </a:xfrm>
            <a:custGeom>
              <a:avLst/>
              <a:gdLst/>
              <a:ahLst/>
              <a:cxnLst/>
              <a:rect r="r" b="b" t="t" l="l"/>
              <a:pathLst>
                <a:path h="7620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6480810" y="5328285"/>
            <a:ext cx="3798418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F4F1E9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跟随市场与渠道变化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480810" y="6017895"/>
            <a:ext cx="775411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关注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184898" y="6017895"/>
            <a:ext cx="404050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D6D4CB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563231" y="6017895"/>
            <a:ext cx="9531706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对信息发现、内容传播和用户决策的影响，持续调整策略与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480810" y="6517157"/>
            <a:ext cx="1869948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渠道选择。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05840" y="7115175"/>
            <a:ext cx="2290343" cy="672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72"/>
              </a:lnSpc>
            </a:pPr>
            <a:r>
              <a:rPr lang="en-US" sz="3870" b="0">
                <a:solidFill>
                  <a:srgbClr val="F4F1E9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快速适应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005840" y="8263890"/>
            <a:ext cx="617220" cy="57150"/>
            <a:chOff x="0" y="0"/>
            <a:chExt cx="822960" cy="76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22960" cy="76200"/>
            </a:xfrm>
            <a:custGeom>
              <a:avLst/>
              <a:gdLst/>
              <a:ahLst/>
              <a:cxnLst/>
              <a:rect r="r" b="b" t="t" l="l"/>
              <a:pathLst>
                <a:path h="76200" w="822960">
                  <a:moveTo>
                    <a:pt x="0" y="0"/>
                  </a:moveTo>
                  <a:lnTo>
                    <a:pt x="822960" y="0"/>
                  </a:lnTo>
                  <a:lnTo>
                    <a:pt x="82296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6480810" y="7122795"/>
            <a:ext cx="3381451" cy="502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7"/>
              </a:lnSpc>
            </a:pPr>
            <a:r>
              <a:rPr lang="en-US" sz="2879" b="0">
                <a:solidFill>
                  <a:srgbClr val="F4F1E9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更灵活地推进探索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480810" y="7812405"/>
            <a:ext cx="1505102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依托内部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824978" y="7812405"/>
            <a:ext cx="404050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D6D4CB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8203311" y="7812405"/>
            <a:ext cx="9531706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执行体系衔接研究、创意与反馈，更快组织尝试，并据此调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480810" y="8311667"/>
            <a:ext cx="2599639" cy="46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252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整下一轮行动。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869948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谁来为客户负责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5840" y="1123950"/>
            <a:ext cx="5690768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一个合作入口，由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62701" y="1143000"/>
            <a:ext cx="2534336" cy="796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Outrise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50758" y="1123950"/>
            <a:ext cx="2876245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统一负责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05840" y="2266950"/>
            <a:ext cx="14118336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在约定合作范围内，我们统筹策略、进度、质量与专业伙伴，对整体合作交付负责并背书。</a:t>
            </a:r>
          </a:p>
        </p:txBody>
      </p:sp>
      <p:sp>
        <p:nvSpPr>
          <p:cNvPr name="AutoShape 9" id="9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7037444" y="9542145"/>
            <a:ext cx="324698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801100" y="3406140"/>
            <a:ext cx="827532" cy="460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7"/>
              </a:lnSpc>
            </a:pPr>
            <a:r>
              <a:rPr lang="en-US" sz="270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客户</a:t>
            </a:r>
          </a:p>
        </p:txBody>
      </p:sp>
      <p:sp>
        <p:nvSpPr>
          <p:cNvPr name="AutoShape 14" id="14"/>
          <p:cNvSpPr/>
          <p:nvPr/>
        </p:nvSpPr>
        <p:spPr>
          <a:xfrm rot="5191920">
            <a:off x="8955062" y="4213860"/>
            <a:ext cx="377885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5" id="15"/>
          <p:cNvGrpSpPr/>
          <p:nvPr/>
        </p:nvGrpSpPr>
        <p:grpSpPr>
          <a:xfrm rot="0">
            <a:off x="4914900" y="4491990"/>
            <a:ext cx="8458200" cy="891540"/>
            <a:chOff x="0" y="0"/>
            <a:chExt cx="11277600" cy="11887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277600" cy="1188720"/>
            </a:xfrm>
            <a:custGeom>
              <a:avLst/>
              <a:gdLst/>
              <a:ahLst/>
              <a:cxnLst/>
              <a:rect r="r" b="b" t="t" l="l"/>
              <a:pathLst>
                <a:path h="1188720" w="11277600">
                  <a:moveTo>
                    <a:pt x="0" y="0"/>
                  </a:moveTo>
                  <a:lnTo>
                    <a:pt x="11277600" y="0"/>
                  </a:lnTo>
                  <a:lnTo>
                    <a:pt x="11277600" y="1188720"/>
                  </a:lnTo>
                  <a:lnTo>
                    <a:pt x="0" y="1188720"/>
                  </a:lnTo>
                  <a:close/>
                </a:path>
              </a:pathLst>
            </a:custGeom>
            <a:solidFill>
              <a:srgbClr val="111111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7134149" y="4608195"/>
            <a:ext cx="1533506" cy="519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76"/>
              </a:lnSpc>
            </a:pPr>
            <a:r>
              <a:rPr lang="en-US" sz="2970" b="0">
                <a:solidFill>
                  <a:srgbClr val="F4F1E9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Outrise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513521" y="4608195"/>
            <a:ext cx="3055696" cy="519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76"/>
              </a:lnSpc>
            </a:pPr>
            <a:r>
              <a:rPr lang="en-US" sz="2970" b="0">
                <a:solidFill>
                  <a:srgbClr val="F4F1E9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统一负责与背书</a:t>
            </a:r>
          </a:p>
        </p:txBody>
      </p:sp>
      <p:sp>
        <p:nvSpPr>
          <p:cNvPr name="AutoShape 19" id="19"/>
          <p:cNvSpPr/>
          <p:nvPr/>
        </p:nvSpPr>
        <p:spPr>
          <a:xfrm rot="5243820">
            <a:off x="8892283" y="5614035"/>
            <a:ext cx="503444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 rot="4680">
            <a:off x="2860348" y="5858828"/>
            <a:ext cx="12567295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 rot="5272740">
            <a:off x="2637311" y="6081712"/>
            <a:ext cx="463229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2" id="22"/>
          <p:cNvSpPr txBox="true"/>
          <p:nvPr/>
        </p:nvSpPr>
        <p:spPr>
          <a:xfrm rot="0">
            <a:off x="1005840" y="6457950"/>
            <a:ext cx="2065401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策略与决策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05840" y="7240905"/>
            <a:ext cx="3563874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理解业务，提出判断，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05840" y="7722337"/>
            <a:ext cx="3563874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制定方向与阶段规划。</a:t>
            </a:r>
          </a:p>
        </p:txBody>
      </p:sp>
      <p:sp>
        <p:nvSpPr>
          <p:cNvPr name="AutoShape 25" id="25"/>
          <p:cNvSpPr/>
          <p:nvPr/>
        </p:nvSpPr>
        <p:spPr>
          <a:xfrm rot="5272740">
            <a:off x="6820691" y="6081712"/>
            <a:ext cx="463229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6" id="26"/>
          <p:cNvSpPr txBox="true"/>
          <p:nvPr/>
        </p:nvSpPr>
        <p:spPr>
          <a:xfrm rot="0">
            <a:off x="5189220" y="6457950"/>
            <a:ext cx="1661465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项目统筹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189220" y="7240905"/>
            <a:ext cx="3212059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协调任务、进度与沟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189220" y="7722337"/>
            <a:ext cx="3563874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通，跟进交付并处理协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189220" y="8203768"/>
            <a:ext cx="1452982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作问题。</a:t>
            </a:r>
          </a:p>
        </p:txBody>
      </p:sp>
      <p:sp>
        <p:nvSpPr>
          <p:cNvPr name="AutoShape 30" id="30"/>
          <p:cNvSpPr/>
          <p:nvPr/>
        </p:nvSpPr>
        <p:spPr>
          <a:xfrm rot="5272740">
            <a:off x="11004071" y="6081712"/>
            <a:ext cx="463229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1" id="31"/>
          <p:cNvSpPr txBox="true"/>
          <p:nvPr/>
        </p:nvSpPr>
        <p:spPr>
          <a:xfrm rot="0">
            <a:off x="9372600" y="6457950"/>
            <a:ext cx="1661465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直接执行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372600" y="7240905"/>
            <a:ext cx="3212059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承担约定的内容、达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372600" y="7722337"/>
            <a:ext cx="2860243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人、广告与投放等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372600" y="8203768"/>
            <a:ext cx="1804797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关键工作。</a:t>
            </a:r>
          </a:p>
        </p:txBody>
      </p:sp>
      <p:sp>
        <p:nvSpPr>
          <p:cNvPr name="AutoShape 35" id="35"/>
          <p:cNvSpPr/>
          <p:nvPr/>
        </p:nvSpPr>
        <p:spPr>
          <a:xfrm rot="5272740">
            <a:off x="15187451" y="6081712"/>
            <a:ext cx="463229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6" id="36"/>
          <p:cNvSpPr txBox="true"/>
          <p:nvPr/>
        </p:nvSpPr>
        <p:spPr>
          <a:xfrm rot="0">
            <a:off x="13555980" y="6457950"/>
            <a:ext cx="1661465" cy="47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7"/>
              </a:lnSpc>
            </a:pPr>
            <a:r>
              <a:rPr lang="en-US" sz="279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专业协作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555980" y="7240905"/>
            <a:ext cx="3563874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组织专项伙伴，明确要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3555980" y="7722337"/>
            <a:ext cx="2508428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求与分工，衔接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3555980" y="8203768"/>
            <a:ext cx="1804797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整体交付。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869948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如何与我们合作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5840" y="1123950"/>
            <a:ext cx="10616184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按业务阶段，选择合适的合作深度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05840" y="2266950"/>
            <a:ext cx="8841105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以策略咨询为核心，结合目标约定工作范围与执行支持。</a:t>
            </a:r>
          </a:p>
        </p:txBody>
      </p:sp>
      <p:sp>
        <p:nvSpPr>
          <p:cNvPr name="AutoShape 7" id="7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3520440" y="9584055"/>
            <a:ext cx="5140528" cy="260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1"/>
              </a:lnSpc>
            </a:pPr>
            <a:r>
              <a:rPr lang="en-US" sz="153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每次合作共同明确：目标、交付、分工与评估方式。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042244" y="9542145"/>
            <a:ext cx="319221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15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05840" y="3703320"/>
            <a:ext cx="5166360" cy="57150"/>
            <a:chOff x="0" y="0"/>
            <a:chExt cx="688848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88480" cy="76200"/>
            </a:xfrm>
            <a:custGeom>
              <a:avLst/>
              <a:gdLst/>
              <a:ahLst/>
              <a:cxnLst/>
              <a:rect r="r" b="b" t="t" l="l"/>
              <a:pathLst>
                <a:path h="76200" w="6888480">
                  <a:moveTo>
                    <a:pt x="0" y="0"/>
                  </a:moveTo>
                  <a:lnTo>
                    <a:pt x="6888480" y="0"/>
                  </a:lnTo>
                  <a:lnTo>
                    <a:pt x="688848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005840" y="4048125"/>
            <a:ext cx="1869948" cy="5421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315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策略咨询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05840" y="5724525"/>
            <a:ext cx="2977515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25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厘清问题，确定方向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05840" y="6646545"/>
            <a:ext cx="5322951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适合需要理清市场、定位或渠道选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05840" y="7127977"/>
            <a:ext cx="4971136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择的团队。围绕明确问题形成判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05840" y="7609408"/>
            <a:ext cx="3563874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断、建议与行动方向。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560820" y="3703320"/>
            <a:ext cx="5166360" cy="57150"/>
            <a:chOff x="0" y="0"/>
            <a:chExt cx="6888480" cy="762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88480" cy="76200"/>
            </a:xfrm>
            <a:custGeom>
              <a:avLst/>
              <a:gdLst/>
              <a:ahLst/>
              <a:cxnLst/>
              <a:rect r="r" b="b" t="t" l="l"/>
              <a:pathLst>
                <a:path h="76200" w="6888480">
                  <a:moveTo>
                    <a:pt x="0" y="0"/>
                  </a:moveTo>
                  <a:lnTo>
                    <a:pt x="6888480" y="0"/>
                  </a:lnTo>
                  <a:lnTo>
                    <a:pt x="688848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6560820" y="4048125"/>
            <a:ext cx="1413891" cy="5421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315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阶段性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839837" y="4038600"/>
            <a:ext cx="1373372" cy="551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3150" b="0">
                <a:solidFill>
                  <a:srgbClr val="111111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GTM /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083192" y="4048125"/>
            <a:ext cx="1869948" cy="5421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315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品牌项目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560820" y="5724525"/>
            <a:ext cx="3629025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25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围绕目标，推进一段工作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560820" y="6646545"/>
            <a:ext cx="4971136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适合有明确阶段目标的品牌与产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560820" y="7127977"/>
            <a:ext cx="5322951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品。共同制定方案，完成规划与选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60820" y="7609408"/>
            <a:ext cx="2508428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定的关键执行。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115800" y="3703320"/>
            <a:ext cx="5166360" cy="57150"/>
            <a:chOff x="0" y="0"/>
            <a:chExt cx="6888480" cy="762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88480" cy="76200"/>
            </a:xfrm>
            <a:custGeom>
              <a:avLst/>
              <a:gdLst/>
              <a:ahLst/>
              <a:cxnLst/>
              <a:rect r="r" b="b" t="t" l="l"/>
              <a:pathLst>
                <a:path h="76200" w="6888480">
                  <a:moveTo>
                    <a:pt x="0" y="0"/>
                  </a:moveTo>
                  <a:lnTo>
                    <a:pt x="6888480" y="0"/>
                  </a:lnTo>
                  <a:lnTo>
                    <a:pt x="688848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2115800" y="4048125"/>
            <a:ext cx="5062347" cy="5421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315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持续营销统筹与团队支持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115800" y="5724525"/>
            <a:ext cx="2977515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25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持续参与，动态调整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115800" y="6646545"/>
            <a:ext cx="5322951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适合需要持续营销判断与推进的团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115800" y="7127977"/>
            <a:ext cx="5322951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队。在持续合作中，我们承担类似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115800" y="7609408"/>
            <a:ext cx="749351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外部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794742" y="7618933"/>
            <a:ext cx="901675" cy="4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CMO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3607301" y="7609408"/>
            <a:ext cx="3563874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的营销统筹职责，并按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115800" y="8090840"/>
            <a:ext cx="3212059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约定推进关键工作。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5840" y="640080"/>
            <a:ext cx="434340" cy="57150"/>
            <a:chOff x="0" y="0"/>
            <a:chExt cx="57912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79120" cy="76200"/>
            </a:xfrm>
            <a:custGeom>
              <a:avLst/>
              <a:gdLst/>
              <a:ahLst/>
              <a:cxnLst/>
              <a:rect r="r" b="b" t="t" l="l"/>
              <a:pathLst>
                <a:path h="76200" w="579120">
                  <a:moveTo>
                    <a:pt x="0" y="0"/>
                  </a:moveTo>
                  <a:lnTo>
                    <a:pt x="579120" y="0"/>
                  </a:lnTo>
                  <a:lnTo>
                    <a:pt x="57912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68780" y="441960"/>
            <a:ext cx="1088136" cy="307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180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项目经验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5840" y="1123950"/>
            <a:ext cx="8505292" cy="81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1"/>
              </a:lnSpc>
            </a:pPr>
            <a:r>
              <a:rPr lang="en-US" sz="4859" b="0">
                <a:solidFill>
                  <a:srgbClr val="111111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箱包品牌的北美多渠道实践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05840" y="2266950"/>
            <a:ext cx="8137474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围绕品牌、内容与渠道，连接营销规划和执行工作。</a:t>
            </a:r>
          </a:p>
        </p:txBody>
      </p:sp>
      <p:sp>
        <p:nvSpPr>
          <p:cNvPr name="AutoShape 7" id="7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D6D4C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1005840" y="9578340"/>
            <a:ext cx="2057400" cy="544354"/>
            <a:chOff x="0" y="0"/>
            <a:chExt cx="2743200" cy="72580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743200" cy="725805"/>
            </a:xfrm>
            <a:custGeom>
              <a:avLst/>
              <a:gdLst/>
              <a:ahLst/>
              <a:cxnLst/>
              <a:rect r="r" b="b" t="t" l="l"/>
              <a:pathLst>
                <a:path h="725805" w="2743200">
                  <a:moveTo>
                    <a:pt x="0" y="0"/>
                  </a:moveTo>
                  <a:lnTo>
                    <a:pt x="2743200" y="0"/>
                  </a:lnTo>
                  <a:lnTo>
                    <a:pt x="2743200" y="725805"/>
                  </a:lnTo>
                  <a:lnTo>
                    <a:pt x="0" y="725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3520440" y="9584055"/>
            <a:ext cx="4697501" cy="260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1"/>
              </a:lnSpc>
            </a:pPr>
            <a:r>
              <a:rPr lang="en-US" sz="1530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匿名项目经验｜展示项目工作范围与协同方式。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033215" y="9542145"/>
            <a:ext cx="329517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62625D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5840" y="3147060"/>
            <a:ext cx="14118336" cy="440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4"/>
              </a:lnSpc>
            </a:pPr>
            <a:r>
              <a:rPr lang="en-US" sz="2429" b="0">
                <a:solidFill>
                  <a:srgbClr val="62625D"/>
                </a:solidFill>
                <a:latin typeface="Noto Sans SC"/>
                <a:ea typeface="Noto Sans SC"/>
                <a:cs typeface="Noto Sans SC"/>
                <a:sym typeface="Noto Sans SC"/>
              </a:rPr>
              <a:t>服务面向北美市场的消费箱包品牌，相关工作涉及品牌表达、内容、达人及多个线上渠道。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97268" y="4529138"/>
            <a:ext cx="5183505" cy="1011555"/>
            <a:chOff x="0" y="0"/>
            <a:chExt cx="6911340" cy="13487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911340" cy="1348740"/>
            </a:xfrm>
            <a:custGeom>
              <a:avLst/>
              <a:gdLst/>
              <a:ahLst/>
              <a:cxnLst/>
              <a:rect r="r" b="b" t="t" l="l"/>
              <a:pathLst>
                <a:path h="1348740" w="6911340">
                  <a:moveTo>
                    <a:pt x="0" y="0"/>
                  </a:moveTo>
                  <a:lnTo>
                    <a:pt x="6911340" y="0"/>
                  </a:lnTo>
                  <a:lnTo>
                    <a:pt x="6911340" y="1348740"/>
                  </a:lnTo>
                  <a:lnTo>
                    <a:pt x="0" y="1348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9847" r="0" b="-49847"/>
              </a:stretch>
            </a:blipFill>
            <a:ln w="17146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005840" y="4537710"/>
            <a:ext cx="5166360" cy="57150"/>
            <a:chOff x="0" y="0"/>
            <a:chExt cx="6888480" cy="762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888480" cy="76200"/>
            </a:xfrm>
            <a:custGeom>
              <a:avLst/>
              <a:gdLst/>
              <a:ahLst/>
              <a:cxnLst/>
              <a:rect r="r" b="b" t="t" l="l"/>
              <a:pathLst>
                <a:path h="76200" w="6888480">
                  <a:moveTo>
                    <a:pt x="0" y="0"/>
                  </a:moveTo>
                  <a:lnTo>
                    <a:pt x="6888480" y="0"/>
                  </a:lnTo>
                  <a:lnTo>
                    <a:pt x="688848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2388870" y="4743450"/>
            <a:ext cx="2782062" cy="460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7"/>
              </a:lnSpc>
            </a:pPr>
            <a:r>
              <a:rPr lang="en-US" sz="270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品牌与产品表达</a:t>
            </a:r>
          </a:p>
        </p:txBody>
      </p:sp>
      <p:sp>
        <p:nvSpPr>
          <p:cNvPr name="AutoShape 18" id="18"/>
          <p:cNvSpPr/>
          <p:nvPr/>
        </p:nvSpPr>
        <p:spPr>
          <a:xfrm rot="221460">
            <a:off x="6160399" y="5031105"/>
            <a:ext cx="355063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9" id="19"/>
          <p:cNvGrpSpPr/>
          <p:nvPr/>
        </p:nvGrpSpPr>
        <p:grpSpPr>
          <a:xfrm rot="0">
            <a:off x="6552247" y="4529138"/>
            <a:ext cx="5183505" cy="1011555"/>
            <a:chOff x="0" y="0"/>
            <a:chExt cx="6911340" cy="13487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911340" cy="1348740"/>
            </a:xfrm>
            <a:custGeom>
              <a:avLst/>
              <a:gdLst/>
              <a:ahLst/>
              <a:cxnLst/>
              <a:rect r="r" b="b" t="t" l="l"/>
              <a:pathLst>
                <a:path h="1348740" w="6911340">
                  <a:moveTo>
                    <a:pt x="0" y="0"/>
                  </a:moveTo>
                  <a:lnTo>
                    <a:pt x="6911340" y="0"/>
                  </a:lnTo>
                  <a:lnTo>
                    <a:pt x="6911340" y="1348740"/>
                  </a:lnTo>
                  <a:lnTo>
                    <a:pt x="0" y="1348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9847" r="0" b="-49847"/>
              </a:stretch>
            </a:blipFill>
            <a:ln w="17146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560820" y="4537710"/>
            <a:ext cx="5166360" cy="57150"/>
            <a:chOff x="0" y="0"/>
            <a:chExt cx="6888480" cy="762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888480" cy="76200"/>
            </a:xfrm>
            <a:custGeom>
              <a:avLst/>
              <a:gdLst/>
              <a:ahLst/>
              <a:cxnLst/>
              <a:rect r="r" b="b" t="t" l="l"/>
              <a:pathLst>
                <a:path h="76200" w="6888480">
                  <a:moveTo>
                    <a:pt x="0" y="0"/>
                  </a:moveTo>
                  <a:lnTo>
                    <a:pt x="6888480" y="0"/>
                  </a:lnTo>
                  <a:lnTo>
                    <a:pt x="688848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7943850" y="4743450"/>
            <a:ext cx="2782062" cy="460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7"/>
              </a:lnSpc>
            </a:pPr>
            <a:r>
              <a:rPr lang="en-US" sz="2700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内容与达人合作</a:t>
            </a:r>
          </a:p>
        </p:txBody>
      </p:sp>
      <p:sp>
        <p:nvSpPr>
          <p:cNvPr name="AutoShape 24" id="24"/>
          <p:cNvSpPr/>
          <p:nvPr/>
        </p:nvSpPr>
        <p:spPr>
          <a:xfrm rot="221460">
            <a:off x="11715379" y="5031105"/>
            <a:ext cx="355063" cy="0"/>
          </a:xfrm>
          <a:prstGeom prst="line">
            <a:avLst/>
          </a:prstGeom>
          <a:ln cap="rnd" w="19050">
            <a:solidFill>
              <a:srgbClr val="2454FF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5" id="25"/>
          <p:cNvGrpSpPr/>
          <p:nvPr/>
        </p:nvGrpSpPr>
        <p:grpSpPr>
          <a:xfrm rot="0">
            <a:off x="12107228" y="4529138"/>
            <a:ext cx="5183505" cy="1011555"/>
            <a:chOff x="0" y="0"/>
            <a:chExt cx="6911340" cy="13487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911340" cy="1348740"/>
            </a:xfrm>
            <a:custGeom>
              <a:avLst/>
              <a:gdLst/>
              <a:ahLst/>
              <a:cxnLst/>
              <a:rect r="r" b="b" t="t" l="l"/>
              <a:pathLst>
                <a:path h="1348740" w="6911340">
                  <a:moveTo>
                    <a:pt x="0" y="0"/>
                  </a:moveTo>
                  <a:lnTo>
                    <a:pt x="6911340" y="0"/>
                  </a:lnTo>
                  <a:lnTo>
                    <a:pt x="6911340" y="1348740"/>
                  </a:lnTo>
                  <a:lnTo>
                    <a:pt x="0" y="1348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9847" r="0" b="-49847"/>
              </a:stretch>
            </a:blipFill>
            <a:ln w="17146" cap="sq">
              <a:solidFill>
                <a:srgbClr val="111111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2115800" y="4537710"/>
            <a:ext cx="5166360" cy="57150"/>
            <a:chOff x="0" y="0"/>
            <a:chExt cx="6888480" cy="762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88480" cy="76200"/>
            </a:xfrm>
            <a:custGeom>
              <a:avLst/>
              <a:gdLst/>
              <a:ahLst/>
              <a:cxnLst/>
              <a:rect r="r" b="b" t="t" l="l"/>
              <a:pathLst>
                <a:path h="76200" w="6888480">
                  <a:moveTo>
                    <a:pt x="0" y="0"/>
                  </a:moveTo>
                  <a:lnTo>
                    <a:pt x="6888480" y="0"/>
                  </a:lnTo>
                  <a:lnTo>
                    <a:pt x="688848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3068262" y="4752975"/>
            <a:ext cx="2990802" cy="411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29" b="0">
                <a:solidFill>
                  <a:srgbClr val="111111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Amazon / TikTok /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5712478" y="4743450"/>
            <a:ext cx="749351" cy="4212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2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官网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05840" y="6080760"/>
            <a:ext cx="2130552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规划与协同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05840" y="6943725"/>
            <a:ext cx="4971136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围绕品牌与产品信息组织营销工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05840" y="7425157"/>
            <a:ext cx="4971136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作，协调内容、达人与渠道任务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05840" y="7906588"/>
            <a:ext cx="2156612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之间的衔接。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560820" y="6080760"/>
            <a:ext cx="2547518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关键工作范围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560820" y="6943725"/>
            <a:ext cx="4971136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产品与店铺优化、达人筛选与建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560820" y="7425157"/>
            <a:ext cx="749351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联、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178040" y="7434682"/>
            <a:ext cx="1388221" cy="4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Amazon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8417395" y="7425157"/>
            <a:ext cx="2508428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广告调整，以及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6560820" y="7916113"/>
            <a:ext cx="1094518" cy="4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TikTok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480821" y="7906588"/>
            <a:ext cx="397535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、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789431" y="7916113"/>
            <a:ext cx="1388221" cy="4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Amazon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028786" y="7906588"/>
            <a:ext cx="2156612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和品牌官网的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6560820" y="8388020"/>
            <a:ext cx="1804797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渠道规划。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2115800" y="6080760"/>
            <a:ext cx="2547518" cy="4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8"/>
              </a:lnSpc>
            </a:pPr>
            <a:r>
              <a:rPr lang="en-US" sz="2879" b="0">
                <a:solidFill>
                  <a:srgbClr val="111111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持续复盘视角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2115800" y="6943725"/>
            <a:ext cx="4971136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把渠道表现、内容反馈和协作情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2115800" y="7425157"/>
            <a:ext cx="4971136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况放在一起看，为后续营销选择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2115800" y="7906588"/>
            <a:ext cx="1804797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111111"/>
                </a:solidFill>
                <a:latin typeface="Noto Sans SC"/>
                <a:ea typeface="Noto Sans SC"/>
                <a:cs typeface="Noto Sans SC"/>
                <a:sym typeface="Noto Sans SC"/>
              </a:rPr>
              <a:t>提供依据。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2400">
            <a:off x="1000125" y="9310688"/>
            <a:ext cx="16287750" cy="0"/>
          </a:xfrm>
          <a:prstGeom prst="line">
            <a:avLst/>
          </a:prstGeom>
          <a:ln cap="rnd" w="9525">
            <a:solidFill>
              <a:srgbClr val="62625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05840" y="9584055"/>
            <a:ext cx="1596314" cy="260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1"/>
              </a:lnSpc>
            </a:pPr>
            <a:r>
              <a:rPr lang="en-US" sz="153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专注北美市场的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04872" y="9574530"/>
            <a:ext cx="995362" cy="2698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1"/>
              </a:lnSpc>
            </a:pPr>
            <a:r>
              <a:rPr lang="en-US" sz="1530" b="0">
                <a:solidFill>
                  <a:srgbClr val="D6D4CB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AI-native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276752" y="9584055"/>
            <a:ext cx="1596314" cy="260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1"/>
              </a:lnSpc>
            </a:pPr>
            <a:r>
              <a:rPr lang="en-US" sz="153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营销与增长团队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052531" y="9542145"/>
            <a:ext cx="307496" cy="34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1979" b="0">
                <a:solidFill>
                  <a:srgbClr val="D6D4CB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05840" y="651510"/>
            <a:ext cx="2514600" cy="665321"/>
            <a:chOff x="0" y="0"/>
            <a:chExt cx="3352800" cy="88709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352800" cy="887095"/>
            </a:xfrm>
            <a:custGeom>
              <a:avLst/>
              <a:gdLst/>
              <a:ahLst/>
              <a:cxnLst/>
              <a:rect r="r" b="b" t="t" l="l"/>
              <a:pathLst>
                <a:path h="887095" w="3352800">
                  <a:moveTo>
                    <a:pt x="0" y="0"/>
                  </a:moveTo>
                  <a:lnTo>
                    <a:pt x="3352800" y="0"/>
                  </a:lnTo>
                  <a:lnTo>
                    <a:pt x="3352800" y="887095"/>
                  </a:lnTo>
                  <a:lnTo>
                    <a:pt x="0" y="8870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05840" y="2057400"/>
            <a:ext cx="3845052" cy="907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16"/>
              </a:lnSpc>
            </a:pPr>
            <a:r>
              <a:rPr lang="en-US" sz="5220" b="0">
                <a:solidFill>
                  <a:srgbClr val="F4F1E9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从你的北美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05840" y="3012034"/>
            <a:ext cx="4600804" cy="907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16"/>
              </a:lnSpc>
            </a:pPr>
            <a:r>
              <a:rPr lang="en-US" sz="5220" b="0">
                <a:solidFill>
                  <a:srgbClr val="F4F1E9"/>
                </a:solidFill>
                <a:latin typeface="Noto Sans SC SemiBold"/>
                <a:ea typeface="Noto Sans SC SemiBold"/>
                <a:cs typeface="Noto Sans SC SemiBold"/>
                <a:sym typeface="Noto Sans SC SemiBold"/>
              </a:rPr>
              <a:t>市场目标开始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5840" y="4280535"/>
            <a:ext cx="9492615" cy="480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1"/>
              </a:lnSpc>
            </a:pPr>
            <a:r>
              <a:rPr lang="en-US" sz="261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告诉我们你的产品、目标与当前营销难题，一起确定合适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5840" y="4797628"/>
            <a:ext cx="2690851" cy="480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1"/>
              </a:lnSpc>
            </a:pPr>
            <a:r>
              <a:rPr lang="en-US" sz="2610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的合作切入点。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05840" y="6429375"/>
            <a:ext cx="6155884" cy="672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72"/>
              </a:lnSpc>
            </a:pPr>
            <a:r>
              <a:rPr lang="en-US" sz="3870" b="0">
                <a:solidFill>
                  <a:srgbClr val="F4F1E9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hello@outrisetech.com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005840" y="7498080"/>
            <a:ext cx="7086600" cy="57150"/>
            <a:chOff x="0" y="0"/>
            <a:chExt cx="9448800" cy="762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448800" cy="76200"/>
            </a:xfrm>
            <a:custGeom>
              <a:avLst/>
              <a:gdLst/>
              <a:ahLst/>
              <a:cxnLst/>
              <a:rect r="r" b="b" t="t" l="l"/>
              <a:pathLst>
                <a:path h="76200" w="9448800">
                  <a:moveTo>
                    <a:pt x="0" y="0"/>
                  </a:moveTo>
                  <a:lnTo>
                    <a:pt x="9448800" y="0"/>
                  </a:lnTo>
                  <a:lnTo>
                    <a:pt x="94488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2454FF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1910060" y="2251710"/>
            <a:ext cx="427377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D6D4CB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01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801600" y="2251710"/>
            <a:ext cx="2690851" cy="453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8"/>
              </a:lnSpc>
            </a:pPr>
            <a:r>
              <a:rPr lang="en-US" sz="2610" b="0">
                <a:solidFill>
                  <a:srgbClr val="F4F1E9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你的产品与业务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801600" y="3114675"/>
            <a:ext cx="3563874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你为谁提供什么价值？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910060" y="4354830"/>
            <a:ext cx="485356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D6D4CB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02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801600" y="4354830"/>
            <a:ext cx="3068726" cy="453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8"/>
              </a:lnSpc>
            </a:pPr>
            <a:r>
              <a:rPr lang="en-US" sz="2610" b="0">
                <a:solidFill>
                  <a:srgbClr val="F4F1E9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你的北美市场目标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801600" y="5217795"/>
            <a:ext cx="3563874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当前最希望推进什么？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910060" y="6457950"/>
            <a:ext cx="494871" cy="43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8"/>
              </a:lnSpc>
            </a:pPr>
            <a:r>
              <a:rPr lang="en-US" sz="2520" b="0">
                <a:solidFill>
                  <a:srgbClr val="D6D4CB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03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801600" y="6457950"/>
            <a:ext cx="2312975" cy="453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8"/>
              </a:lnSpc>
            </a:pPr>
            <a:r>
              <a:rPr lang="en-US" sz="2610" b="0">
                <a:solidFill>
                  <a:srgbClr val="F4F1E9"/>
                </a:solidFill>
                <a:latin typeface="Noto Sans SC Medium"/>
                <a:ea typeface="Noto Sans SC Medium"/>
                <a:cs typeface="Noto Sans SC Medium"/>
                <a:sym typeface="Noto Sans SC Medium"/>
              </a:rPr>
              <a:t>你的营销难题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801600" y="7320915"/>
            <a:ext cx="4267505" cy="45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429" b="0">
                <a:solidFill>
                  <a:srgbClr val="D6D4CB"/>
                </a:solidFill>
                <a:latin typeface="Noto Sans SC"/>
                <a:ea typeface="Noto Sans SC"/>
                <a:cs typeface="Noto Sans SC"/>
                <a:sym typeface="Noto Sans SC"/>
              </a:rPr>
              <a:t>哪些判断或行动需要支持？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DAHZEPqf5B0</dc:identifier>
  <dcterms:modified xsi:type="dcterms:W3CDTF">2011-08-01T06:04:30Z</dcterms:modified>
  <cp:revision>1</cp:revision>
  <dc:title>Outrise｜品牌系统 v7｜最终校验预览</dc:title>
</cp:coreProperties>
</file>