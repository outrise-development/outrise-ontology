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79ed82e68a494f" /><Relationship Type="http://schemas.openxmlformats.org/officeDocument/2006/relationships/extended-properties" Target="/docProps/app.xml" Id="R5762f289aeb14bd3" /><Relationship Type="http://schemas.openxmlformats.org/officeDocument/2006/relationships/officeDocument" Target="/ppt/presentation.xml" Id="Rf48b8125b84447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715f36074a47dd"/>
  </p:sldMasterIdLst>
  <p:notesMasterIdLst>
    <p:notesMasterId xmlns:r="http://schemas.openxmlformats.org/officeDocument/2006/relationships" r:id="Ra287bb0716d24b1e"/>
  </p:notesMasterIdLst>
  <p:sldIdLst>
    <p:sldId xmlns:r="http://schemas.openxmlformats.org/officeDocument/2006/relationships" id="256" r:id="R45fde0c260954845"/>
    <p:sldId xmlns:r="http://schemas.openxmlformats.org/officeDocument/2006/relationships" id="257" r:id="R8fe3cef604464cea"/>
    <p:sldId xmlns:r="http://schemas.openxmlformats.org/officeDocument/2006/relationships" id="258" r:id="R5f93795fc4114298"/>
    <p:sldId xmlns:r="http://schemas.openxmlformats.org/officeDocument/2006/relationships" id="259" r:id="Rd23cce9aee7448e8"/>
    <p:sldId xmlns:r="http://schemas.openxmlformats.org/officeDocument/2006/relationships" id="260" r:id="Rfb736b7153d34f52"/>
    <p:sldId xmlns:r="http://schemas.openxmlformats.org/officeDocument/2006/relationships" id="261" r:id="R8f85a18fd4754f63"/>
    <p:sldId xmlns:r="http://schemas.openxmlformats.org/officeDocument/2006/relationships" id="262" r:id="R227695ee64e24d6f"/>
    <p:sldId xmlns:r="http://schemas.openxmlformats.org/officeDocument/2006/relationships" id="263" r:id="R7f3c35e35fb34dfa"/>
    <p:sldId xmlns:r="http://schemas.openxmlformats.org/officeDocument/2006/relationships" id="264" r:id="R7fcc669141b149f4"/>
    <p:sldId xmlns:r="http://schemas.openxmlformats.org/officeDocument/2006/relationships" id="265" r:id="Ra48e4d3f3c934b83"/>
    <p:sldId xmlns:r="http://schemas.openxmlformats.org/officeDocument/2006/relationships" id="266" r:id="Rae77257be2fe4336"/>
    <p:sldId xmlns:r="http://schemas.openxmlformats.org/officeDocument/2006/relationships" id="267" r:id="R99f359ea37c84949"/>
    <p:sldId xmlns:r="http://schemas.openxmlformats.org/officeDocument/2006/relationships" id="268" r:id="R9afaa57c3fec4c77"/>
    <p:sldId xmlns:r="http://schemas.openxmlformats.org/officeDocument/2006/relationships" id="269" r:id="R4b110010513145a4"/>
    <p:sldId xmlns:r="http://schemas.openxmlformats.org/officeDocument/2006/relationships" id="270" r:id="R0fe5c28a7eaf40c4"/>
    <p:sldId xmlns:r="http://schemas.openxmlformats.org/officeDocument/2006/relationships" id="271" r:id="R2a3586e20baf4bf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7973797574ebb" /><Relationship Type="http://schemas.openxmlformats.org/officeDocument/2006/relationships/slideMaster" Target="/ppt/slideMasters/slideMaster1.xml" Id="R95715f36074a47dd" /><Relationship Type="http://schemas.openxmlformats.org/officeDocument/2006/relationships/notesMaster" Target="/ppt/notesMasters/notesMaster1.xml" Id="Ra287bb0716d24b1e" /><Relationship Type="http://schemas.openxmlformats.org/officeDocument/2006/relationships/presProps" Target="/ppt/presProps.xml" Id="R7785ef4f8fca4c82" /><Relationship Type="http://schemas.openxmlformats.org/officeDocument/2006/relationships/tableStyles" Target="/ppt/tableStyles.xml" Id="R37817d0d8e33499c" /><Relationship Type="http://schemas.openxmlformats.org/officeDocument/2006/relationships/slide" Target="/ppt/slides/slide1.xml" Id="R45fde0c260954845" /><Relationship Type="http://schemas.openxmlformats.org/officeDocument/2006/relationships/slide" Target="/ppt/slides/slide2.xml" Id="R8fe3cef604464cea" /><Relationship Type="http://schemas.openxmlformats.org/officeDocument/2006/relationships/slide" Target="/ppt/slides/slide3.xml" Id="R5f93795fc4114298" /><Relationship Type="http://schemas.openxmlformats.org/officeDocument/2006/relationships/slide" Target="/ppt/slides/slide4.xml" Id="Rd23cce9aee7448e8" /><Relationship Type="http://schemas.openxmlformats.org/officeDocument/2006/relationships/slide" Target="/ppt/slides/slide5.xml" Id="Rfb736b7153d34f52" /><Relationship Type="http://schemas.openxmlformats.org/officeDocument/2006/relationships/slide" Target="/ppt/slides/slide6.xml" Id="R8f85a18fd4754f63" /><Relationship Type="http://schemas.openxmlformats.org/officeDocument/2006/relationships/slide" Target="/ppt/slides/slide7.xml" Id="R227695ee64e24d6f" /><Relationship Type="http://schemas.openxmlformats.org/officeDocument/2006/relationships/slide" Target="/ppt/slides/slide8.xml" Id="R7f3c35e35fb34dfa" /><Relationship Type="http://schemas.openxmlformats.org/officeDocument/2006/relationships/slide" Target="/ppt/slides/slide9.xml" Id="R7fcc669141b149f4" /><Relationship Type="http://schemas.openxmlformats.org/officeDocument/2006/relationships/slide" Target="/ppt/slides/slide10.xml" Id="Ra48e4d3f3c934b83" /><Relationship Type="http://schemas.openxmlformats.org/officeDocument/2006/relationships/slide" Target="/ppt/slides/slide11.xml" Id="Rae77257be2fe4336" /><Relationship Type="http://schemas.openxmlformats.org/officeDocument/2006/relationships/slide" Target="/ppt/slides/slide12.xml" Id="R99f359ea37c84949" /><Relationship Type="http://schemas.openxmlformats.org/officeDocument/2006/relationships/slide" Target="/ppt/slides/slide13.xml" Id="R9afaa57c3fec4c77" /><Relationship Type="http://schemas.openxmlformats.org/officeDocument/2006/relationships/slide" Target="/ppt/slides/slide14.xml" Id="R4b110010513145a4" /><Relationship Type="http://schemas.openxmlformats.org/officeDocument/2006/relationships/slide" Target="/ppt/slides/slide15.xml" Id="R0fe5c28a7eaf40c4" /><Relationship Type="http://schemas.openxmlformats.org/officeDocument/2006/relationships/slide" Target="/ppt/slides/slide16.xml" Id="R2a3586e20baf4b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7173f6fa3145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ce749e9444bee" /><Relationship Type="http://schemas.openxmlformats.org/officeDocument/2006/relationships/notesMaster" Target="/ppt/notesMasters/notesMaster1.xml" Id="R20fd7345d051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2e46906c7e47e3" /><Relationship Type="http://schemas.openxmlformats.org/officeDocument/2006/relationships/notesMaster" Target="/ppt/notesMasters/notesMaster1.xml" Id="R6648143bf99c49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edddd9dfba40f9" /><Relationship Type="http://schemas.openxmlformats.org/officeDocument/2006/relationships/notesMaster" Target="/ppt/notesMasters/notesMaster1.xml" Id="R3f4c654685a941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1b4a7e7a2a4aef" /><Relationship Type="http://schemas.openxmlformats.org/officeDocument/2006/relationships/notesMaster" Target="/ppt/notesMasters/notesMaster1.xml" Id="R9428f56c2fff49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3efea185984bec" /><Relationship Type="http://schemas.openxmlformats.org/officeDocument/2006/relationships/notesMaster" Target="/ppt/notesMasters/notesMaster1.xml" Id="Rda1d554dd2ca48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404a72eb544574" /><Relationship Type="http://schemas.openxmlformats.org/officeDocument/2006/relationships/notesMaster" Target="/ppt/notesMasters/notesMaster1.xml" Id="R6ff3639e8c5349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768333c02247bb" /><Relationship Type="http://schemas.openxmlformats.org/officeDocument/2006/relationships/notesMaster" Target="/ppt/notesMasters/notesMaster1.xml" Id="R7c3a5721c778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a66d1d9f4440ce" /><Relationship Type="http://schemas.openxmlformats.org/officeDocument/2006/relationships/notesMaster" Target="/ppt/notesMasters/notesMaster1.xml" Id="Rdf0dbf624a2046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793859112d487b" /><Relationship Type="http://schemas.openxmlformats.org/officeDocument/2006/relationships/notesMaster" Target="/ppt/notesMasters/notesMaster1.xml" Id="R6880abf8026343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c19344a68e46d7" /><Relationship Type="http://schemas.openxmlformats.org/officeDocument/2006/relationships/notesMaster" Target="/ppt/notesMasters/notesMaster1.xml" Id="R336592d087c342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66519bb74a4193" /><Relationship Type="http://schemas.openxmlformats.org/officeDocument/2006/relationships/notesMaster" Target="/ppt/notesMasters/notesMaster1.xml" Id="R5bfab5d2e92f4b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b3e5ff1a4f4440" /><Relationship Type="http://schemas.openxmlformats.org/officeDocument/2006/relationships/notesMaster" Target="/ppt/notesMasters/notesMaster1.xml" Id="Re5874da27b1748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5a14e27d484d57" /><Relationship Type="http://schemas.openxmlformats.org/officeDocument/2006/relationships/notesMaster" Target="/ppt/notesMasters/notesMaster1.xml" Id="R5568ed252b574a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ced7f58fc84f93" /><Relationship Type="http://schemas.openxmlformats.org/officeDocument/2006/relationships/notesMaster" Target="/ppt/notesMasters/notesMaster1.xml" Id="R37eda0cd265f49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4d8e601484405d" /><Relationship Type="http://schemas.openxmlformats.org/officeDocument/2006/relationships/notesMaster" Target="/ppt/notesMasters/notesMaster1.xml" Id="R3532d8b38c1447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18f39962264375" /><Relationship Type="http://schemas.openxmlformats.org/officeDocument/2006/relationships/notesMaster" Target="/ppt/notesMasters/notesMaster1.xml" Id="R03bb931fe0cb4b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d251bfefd46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76e68df224e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fe5a346a141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5553b306640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a0690d2434c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79d7ed10248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9F6848-66CC-4938-9377-3D8919829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909C85-2413-492E-BAAA-9A6CA2731C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906BC3-8D0A-44B8-8FCD-0C9FBC1CE3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112F47-D33D-4F8A-BEAE-CD6341EF0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1A3BB0-E06F-47EA-90BD-6BD056E503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2D4DEF-8883-4D81-B92B-8F25199A7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DC3622-53B5-47F9-A687-129FB53DE5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3C34FD-66B5-4759-87E8-6F374313B6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8BDF63-5AA9-4EFF-9245-49DF6249B5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06328A-8AEA-4916-9231-B609A25289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a0993ca3304fbf" /><Relationship Type="http://schemas.openxmlformats.org/officeDocument/2006/relationships/slideLayout" Target="/ppt/slideLayouts/slideLayout1.xml" Id="R58b483b37b704309" /><Relationship Type="http://schemas.openxmlformats.org/officeDocument/2006/relationships/slideLayout" Target="/ppt/slideLayouts/slideLayout2.xml" Id="R1d8d07c9b8ba49df" /><Relationship Type="http://schemas.openxmlformats.org/officeDocument/2006/relationships/slideLayout" Target="/ppt/slideLayouts/slideLayout3.xml" Id="R806f86a73e4b4cdb" /><Relationship Type="http://schemas.openxmlformats.org/officeDocument/2006/relationships/slideLayout" Target="/ppt/slideLayouts/slideLayout4.xml" Id="Rd18eff508c5d45e8" /><Relationship Type="http://schemas.openxmlformats.org/officeDocument/2006/relationships/slideLayout" Target="/ppt/slideLayouts/slideLayout5.xml" Id="Rfc829d71c75b48a2" /><Relationship Type="http://schemas.openxmlformats.org/officeDocument/2006/relationships/slideLayout" Target="/ppt/slideLayouts/slideLayout6.xml" Id="R1f31adb4956047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b483b37b704309"/>
    <p:sldLayoutId xmlns:r="http://schemas.openxmlformats.org/officeDocument/2006/relationships" id="2147483650" r:id="R1d8d07c9b8ba49df"/>
    <p:sldLayoutId xmlns:r="http://schemas.openxmlformats.org/officeDocument/2006/relationships" id="2147483651" r:id="R806f86a73e4b4cdb"/>
    <p:sldLayoutId xmlns:r="http://schemas.openxmlformats.org/officeDocument/2006/relationships" id="2147483652" r:id="Rd18eff508c5d45e8"/>
    <p:sldLayoutId xmlns:r="http://schemas.openxmlformats.org/officeDocument/2006/relationships" id="2147483653" r:id="Rfc829d71c75b48a2"/>
    <p:sldLayoutId xmlns:r="http://schemas.openxmlformats.org/officeDocument/2006/relationships" id="2147483654" r:id="R1f31adb4956047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76642150a84db4" /><Relationship Type="http://schemas.openxmlformats.org/officeDocument/2006/relationships/notesSlide" Target="/ppt/notesSlides/notesSlide1.xml" Id="Rf744df09de8848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f42f3711340ce" /><Relationship Type="http://schemas.openxmlformats.org/officeDocument/2006/relationships/notesSlide" Target="/ppt/notesSlides/notesSlide2.xml" Id="R630ccd6598a8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449126ec94550" /><Relationship Type="http://schemas.openxmlformats.org/officeDocument/2006/relationships/notesSlide" Target="/ppt/notesSlides/notesSlide3.xml" Id="R2c50a3602ff04e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79d4c1f844668" /><Relationship Type="http://schemas.openxmlformats.org/officeDocument/2006/relationships/notesSlide" Target="/ppt/notesSlides/notesSlide4.xml" Id="R0f31927df0b143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da2f8478d048cd" /><Relationship Type="http://schemas.openxmlformats.org/officeDocument/2006/relationships/notesSlide" Target="/ppt/notesSlides/notesSlide5.xml" Id="Rcb788a3e7fcc47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5261db4474260" /><Relationship Type="http://schemas.openxmlformats.org/officeDocument/2006/relationships/notesSlide" Target="/ppt/notesSlides/notesSlide6.xml" Id="R7e916ec864c540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0107921bf4208" /><Relationship Type="http://schemas.openxmlformats.org/officeDocument/2006/relationships/notesSlide" Target="/ppt/notesSlides/notesSlide7.xml" Id="R1b60bce78d2f4f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a7474a676420d" /><Relationship Type="http://schemas.openxmlformats.org/officeDocument/2006/relationships/notesSlide" Target="/ppt/notesSlides/notesSlide8.xml" Id="R2b933d697d594d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f40bdac7a4f90" /><Relationship Type="http://schemas.openxmlformats.org/officeDocument/2006/relationships/notesSlide" Target="/ppt/notesSlides/notesSlide9.xml" Id="R123bb9fe79b742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748f071a694909" /><Relationship Type="http://schemas.openxmlformats.org/officeDocument/2006/relationships/notesSlide" Target="/ppt/notesSlides/notesSlide10.xml" Id="Rf50917d72f3849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56f26274a4543" /><Relationship Type="http://schemas.openxmlformats.org/officeDocument/2006/relationships/notesSlide" Target="/ppt/notesSlides/notesSlide11.xml" Id="Rfa275a84498341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7a0a15bff444d" /><Relationship Type="http://schemas.openxmlformats.org/officeDocument/2006/relationships/notesSlide" Target="/ppt/notesSlides/notesSlide12.xml" Id="R88235b3c641548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4b19eb00c4e72" /><Relationship Type="http://schemas.openxmlformats.org/officeDocument/2006/relationships/notesSlide" Target="/ppt/notesSlides/notesSlide13.xml" Id="R0d27f30f3d0f46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549b01956436f" /><Relationship Type="http://schemas.openxmlformats.org/officeDocument/2006/relationships/notesSlide" Target="/ppt/notesSlides/notesSlide14.xml" Id="R757f09d432a146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ec96bfcde4cc7" /><Relationship Type="http://schemas.openxmlformats.org/officeDocument/2006/relationships/notesSlide" Target="/ppt/notesSlides/notesSlide15.xml" Id="Rab1c1805140244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6d9de06994a20" /><Relationship Type="http://schemas.openxmlformats.org/officeDocument/2006/relationships/notesSlide" Target="/ppt/notesSlides/notesSlide16.xml" Id="Rbf46904d602749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line-1">
            <a:extLst xmlns:a="http://schemas.openxmlformats.org/drawingml/2006/main">
              <a:ext uri="{FF2B5EF4-FFF2-40B4-BE49-F238E27FC236}">
                <a16:creationId xmlns:a16="http://schemas.microsoft.com/office/drawing/2014/main" id="{826739DB-50CB-4B8D-9E0C-F2303CEA11FF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4F47"/>
            </a:solidFill>
            <a:prstDash val="solid"/>
          </a:ln>
        </p:spPr>
      </p:cxnSp>
      <p:sp>
        <p:nvSpPr>
          <p:cNvPr id="2" name="copy-2">
            <a:extLst xmlns:a="http://schemas.openxmlformats.org/drawingml/2006/main">
              <a:ext uri="{FF2B5EF4-FFF2-40B4-BE49-F238E27FC236}">
                <a16:creationId xmlns:a16="http://schemas.microsoft.com/office/drawing/2014/main" id="{2615D33B-DB97-4C5C-98F0-F8C3F5D8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NORTH AMERICA FOCUSED</a:t>
            </a:r>
          </a:p>
        </p:txBody>
      </p:sp>
      <p:sp>
        <p:nvSpPr>
          <p:cNvPr id="3" name="copy-3">
            <a:extLst xmlns:a="http://schemas.openxmlformats.org/drawingml/2006/main">
              <a:ext uri="{FF2B5EF4-FFF2-40B4-BE49-F238E27FC236}">
                <a16:creationId xmlns:a16="http://schemas.microsoft.com/office/drawing/2014/main" id="{8C8293B7-DA50-448C-80BC-8874EE81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copy-4">
            <a:extLst xmlns:a="http://schemas.openxmlformats.org/drawingml/2006/main">
              <a:ext uri="{FF2B5EF4-FFF2-40B4-BE49-F238E27FC236}">
                <a16:creationId xmlns:a16="http://schemas.microsoft.com/office/drawing/2014/main" id="{121C46BA-B8C4-442A-8B8C-EF7A88E3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NORTH AMERICA FOCUSED</a:t>
            </a:r>
          </a:p>
        </p:txBody>
      </p:sp>
      <p:sp>
        <p:nvSpPr>
          <p:cNvPr id="5" name="copy-5">
            <a:extLst xmlns:a="http://schemas.openxmlformats.org/drawingml/2006/main">
              <a:ext uri="{FF2B5EF4-FFF2-40B4-BE49-F238E27FC236}">
                <a16:creationId xmlns:a16="http://schemas.microsoft.com/office/drawing/2014/main" id="{265FBA81-39AC-48B6-95FC-B6F5B590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3144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Outrise</a:t>
            </a:r>
          </a:p>
        </p:txBody>
      </p:sp>
      <p:sp>
        <p:nvSpPr>
          <p:cNvPr id="6" name="copy-6">
            <a:extLst xmlns:a="http://schemas.openxmlformats.org/drawingml/2006/main">
              <a:ext uri="{FF2B5EF4-FFF2-40B4-BE49-F238E27FC236}">
                <a16:creationId xmlns:a16="http://schemas.microsoft.com/office/drawing/2014/main" id="{5AD840E8-4F1E-4A4E-8187-EDB1DEFD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3049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专注北美市场</a:t>
            </a:r>
          </a:p>
          <a:p xmlns:a="http://schemas.openxmlformats.org/drawingml/2006/main">
            <a: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外部营销负责人（CMO）与营销团队</a:t>
            </a:r>
          </a:p>
        </p:txBody>
      </p:sp>
      <p:cxnSp>
        <p:nvCxnSpPr>
          <p:cNvPr id="7" name="line-7">
            <a:extLst xmlns:a="http://schemas.openxmlformats.org/drawingml/2006/main">
              <a:ext uri="{FF2B5EF4-FFF2-40B4-BE49-F238E27FC236}">
                <a16:creationId xmlns:a16="http://schemas.microsoft.com/office/drawing/2014/main" id="{FFD8D6F5-9675-495E-A200-0DEAA0004836}"/>
              </a:ext>
            </a:extLst>
          </p:cNvPr>
          <p:cNvCxnSpPr/>
          <p:nvPr/>
        </p:nvCxnSpPr>
        <p:spPr>
          <a:xfrm xmlns:a="http://schemas.openxmlformats.org/drawingml/2006/main">
            <a:off x="876300" y="4981575"/>
            <a:ext cx="13487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D4F47"/>
            </a:solidFill>
            <a:prstDash val="solid"/>
          </a:ln>
        </p:spPr>
      </p:cxnSp>
      <p:sp>
        <p:nvSpPr>
          <p:cNvPr id="8" name="copy-8">
            <a:extLst xmlns:a="http://schemas.openxmlformats.org/drawingml/2006/main">
              <a:ext uri="{FF2B5EF4-FFF2-40B4-BE49-F238E27FC236}">
                <a16:creationId xmlns:a16="http://schemas.microsoft.com/office/drawing/2014/main" id="{F300B76D-AA30-4AB5-BE2B-25F25E0D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AI-native 营销与增长团队</a:t>
            </a:r>
          </a:p>
        </p:txBody>
      </p:sp>
      <p:sp>
        <p:nvSpPr>
          <p:cNvPr id="9" name="copy-9">
            <a:extLst xmlns:a="http://schemas.openxmlformats.org/drawingml/2006/main">
              <a:ext uri="{FF2B5EF4-FFF2-40B4-BE49-F238E27FC236}">
                <a16:creationId xmlns:a16="http://schemas.microsoft.com/office/drawing/2014/main" id="{93602A90-CA7C-4115-96EE-8ED09C49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62674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为消费品牌与科技创业公司，判断方向、</a:t>
            </a:r>
          </a:p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做出选择、制定规划，推进关键营销工</a:t>
            </a:r>
          </a:p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作。</a:t>
            </a:r>
          </a:p>
        </p:txBody>
      </p:sp>
      <p:sp>
        <p:nvSpPr>
          <p:cNvPr id="10" name="copy-10">
            <a:extLst xmlns:a="http://schemas.openxmlformats.org/drawingml/2006/main">
              <a:ext uri="{FF2B5EF4-FFF2-40B4-BE49-F238E27FC236}">
                <a16:creationId xmlns:a16="http://schemas.microsoft.com/office/drawing/2014/main" id="{B02F4D16-E11B-492C-A332-80AC9463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消费品牌出海</a:t>
            </a:r>
          </a:p>
        </p:txBody>
      </p:sp>
      <p:sp>
        <p:nvSpPr>
          <p:cNvPr id="11" name="copy-11">
            <a:extLst xmlns:a="http://schemas.openxmlformats.org/drawingml/2006/main">
              <a:ext uri="{FF2B5EF4-FFF2-40B4-BE49-F238E27FC236}">
                <a16:creationId xmlns:a16="http://schemas.microsoft.com/office/drawing/2014/main" id="{9C570903-E20D-404C-9637-1387C13D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534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科技创业公司 GTM</a:t>
            </a:r>
          </a:p>
        </p:txBody>
      </p:sp>
    </p:spTree>
    <p:extLst>
      <p:ext uri="{BB962C8B-B14F-4D97-AF65-F5344CB8AC3E}">
        <p14:creationId xmlns:p14="http://schemas.microsoft.com/office/powerpoint/2010/main" val="1799873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opy-12">
            <a:extLst xmlns:a="http://schemas.openxmlformats.org/drawingml/2006/main">
              <a:ext uri="{FF2B5EF4-FFF2-40B4-BE49-F238E27FC236}">
                <a16:creationId xmlns:a16="http://schemas.microsoft.com/office/drawing/2014/main" id="{E4F02CA7-B742-47AC-ABDF-8F1F2270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我们是谁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824B7F60-C537-43BB-A37B-D8BC5120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一支参与判断，也推动行动的营销团队</a:t>
            </a:r>
          </a:p>
        </p:txBody>
      </p:sp>
      <p:sp>
        <p:nvSpPr>
          <p:cNvPr id="3" name="copy-14">
            <a:extLst xmlns:a="http://schemas.openxmlformats.org/drawingml/2006/main">
              <a:ext uri="{FF2B5EF4-FFF2-40B4-BE49-F238E27FC236}">
                <a16:creationId xmlns:a16="http://schemas.microsoft.com/office/drawing/2014/main" id="{C964F2ED-C1CF-4BF2-B2BF-AFB8BF38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以策略咨询为核心，提供外部 CMO 与营销团队支持。</a:t>
            </a:r>
          </a:p>
        </p:txBody>
      </p:sp>
      <p:cxnSp>
        <p:nvCxnSpPr>
          <p:cNvPr id="4" name="line-15">
            <a:extLst xmlns:a="http://schemas.openxmlformats.org/drawingml/2006/main">
              <a:ext uri="{FF2B5EF4-FFF2-40B4-BE49-F238E27FC236}">
                <a16:creationId xmlns:a16="http://schemas.microsoft.com/office/drawing/2014/main" id="{97284643-F1D8-465B-A126-93CB014FDAFC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16">
            <a:extLst xmlns:a="http://schemas.openxmlformats.org/drawingml/2006/main">
              <a:ext uri="{FF2B5EF4-FFF2-40B4-BE49-F238E27FC236}">
                <a16:creationId xmlns:a16="http://schemas.microsoft.com/office/drawing/2014/main" id="{C6F96A3D-067F-4DB8-A897-4C1893AF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从营销判断到关键行动，获得持续的专业支持。</a:t>
            </a:r>
          </a:p>
        </p:txBody>
      </p:sp>
      <p:sp>
        <p:nvSpPr>
          <p:cNvPr id="6" name="copy-17">
            <a:extLst xmlns:a="http://schemas.openxmlformats.org/drawingml/2006/main">
              <a:ext uri="{FF2B5EF4-FFF2-40B4-BE49-F238E27FC236}">
                <a16:creationId xmlns:a16="http://schemas.microsoft.com/office/drawing/2014/main" id="{43CF1D16-1F81-48A1-A900-7AE887D1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copy-18">
            <a:extLst xmlns:a="http://schemas.openxmlformats.org/drawingml/2006/main">
              <a:ext uri="{FF2B5EF4-FFF2-40B4-BE49-F238E27FC236}">
                <a16:creationId xmlns:a16="http://schemas.microsoft.com/office/drawing/2014/main" id="{1883DBD3-4B04-4C41-9BBE-F4E91020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5048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外部 CMO</a:t>
            </a:r>
          </a:p>
          <a:p xmlns:a="http://schemas.openxmlformats.org/drawingml/2006/main">
            <a:pPr algn="l">
              <a:def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与营销团队</a:t>
            </a:r>
          </a:p>
        </p:txBody>
      </p:sp>
      <p:sp>
        <p:nvSpPr>
          <p:cNvPr id="8" name="copy-19">
            <a:extLst xmlns:a="http://schemas.openxmlformats.org/drawingml/2006/main">
              <a:ext uri="{FF2B5EF4-FFF2-40B4-BE49-F238E27FC236}">
                <a16:creationId xmlns:a16="http://schemas.microsoft.com/office/drawing/2014/main" id="{60BB01E6-9A42-4EC3-8FBD-8846DF31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持续参与你的营销工作</a:t>
            </a:r>
          </a:p>
        </p:txBody>
      </p:sp>
      <p:cxnSp>
        <p:nvCxnSpPr>
          <p:cNvPr id="9" name="line-20">
            <a:extLst xmlns:a="http://schemas.openxmlformats.org/drawingml/2006/main">
              <a:ext uri="{FF2B5EF4-FFF2-40B4-BE49-F238E27FC236}">
                <a16:creationId xmlns:a16="http://schemas.microsoft.com/office/drawing/2014/main" id="{EC0985D5-D156-4D2B-812D-E5F6DE23A571}"/>
              </a:ext>
            </a:extLst>
          </p:cNvPr>
          <p:cNvCxnSpPr/>
          <p:nvPr/>
        </p:nvCxnSpPr>
        <p:spPr>
          <a:xfrm xmlns:a="http://schemas.openxmlformats.org/drawingml/2006/main">
            <a:off x="6115050" y="3067050"/>
            <a:ext cx="0" cy="4048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0" name="copy-21">
            <a:extLst xmlns:a="http://schemas.openxmlformats.org/drawingml/2006/main">
              <a:ext uri="{FF2B5EF4-FFF2-40B4-BE49-F238E27FC236}">
                <a16:creationId xmlns:a16="http://schemas.microsoft.com/office/drawing/2014/main" id="{0960F1C4-B0A2-40E7-B43B-38009FBD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85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copy-22">
            <a:extLst xmlns:a="http://schemas.openxmlformats.org/drawingml/2006/main">
              <a:ext uri="{FF2B5EF4-FFF2-40B4-BE49-F238E27FC236}">
                <a16:creationId xmlns:a16="http://schemas.microsoft.com/office/drawing/2014/main" id="{A88D5338-B968-4C49-BDE0-56E57E8A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03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判断与选择</a:t>
            </a:r>
          </a:p>
        </p:txBody>
      </p:sp>
      <p:sp>
        <p:nvSpPr>
          <p:cNvPr id="12" name="copy-23">
            <a:extLst xmlns:a="http://schemas.openxmlformats.org/drawingml/2006/main">
              <a:ext uri="{FF2B5EF4-FFF2-40B4-BE49-F238E27FC236}">
                <a16:creationId xmlns:a16="http://schemas.microsoft.com/office/drawing/2014/main" id="{15FDC0F6-F860-4F78-A8FB-B2885CE8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81400"/>
            <a:ext cx="6477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理解业务与市场，明确面向谁、讲什么，以及优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先投入的渠道。</a:t>
            </a:r>
          </a:p>
        </p:txBody>
      </p:sp>
      <p:cxnSp>
        <p:nvCxnSpPr>
          <p:cNvPr id="13" name="line-24">
            <a:extLst xmlns:a="http://schemas.openxmlformats.org/drawingml/2006/main">
              <a:ext uri="{FF2B5EF4-FFF2-40B4-BE49-F238E27FC236}">
                <a16:creationId xmlns:a16="http://schemas.microsoft.com/office/drawing/2014/main" id="{D93967EC-58C8-4EB5-8DB0-437E8F259EF0}"/>
              </a:ext>
            </a:extLst>
          </p:cNvPr>
          <p:cNvCxnSpPr/>
          <p:nvPr/>
        </p:nvCxnSpPr>
        <p:spPr>
          <a:xfrm xmlns:a="http://schemas.openxmlformats.org/drawingml/2006/main">
            <a:off x="6667500" y="4248150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4" name="copy-25">
            <a:extLst xmlns:a="http://schemas.openxmlformats.org/drawingml/2006/main">
              <a:ext uri="{FF2B5EF4-FFF2-40B4-BE49-F238E27FC236}">
                <a16:creationId xmlns:a16="http://schemas.microsoft.com/office/drawing/2014/main" id="{E015F60A-1E4A-4CCF-8481-BEBE8122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85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copy-26">
            <a:extLst xmlns:a="http://schemas.openxmlformats.org/drawingml/2006/main">
              <a:ext uri="{FF2B5EF4-FFF2-40B4-BE49-F238E27FC236}">
                <a16:creationId xmlns:a16="http://schemas.microsoft.com/office/drawing/2014/main" id="{5031AF5A-EB06-43A6-AC69-AEA159FF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100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规划与统筹</a:t>
            </a:r>
          </a:p>
        </p:txBody>
      </p:sp>
      <p:sp>
        <p:nvSpPr>
          <p:cNvPr id="16" name="copy-27">
            <a:extLst xmlns:a="http://schemas.openxmlformats.org/drawingml/2006/main">
              <a:ext uri="{FF2B5EF4-FFF2-40B4-BE49-F238E27FC236}">
                <a16:creationId xmlns:a16="http://schemas.microsoft.com/office/drawing/2014/main" id="{B5D986B0-042F-4643-8547-D1526E7B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91100"/>
            <a:ext cx="6477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形成阶段计划、资源安排和清晰分工，统筹各项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营销工作。</a:t>
            </a:r>
          </a:p>
        </p:txBody>
      </p:sp>
      <p:cxnSp>
        <p:nvCxnSpPr>
          <p:cNvPr id="17" name="line-28">
            <a:extLst xmlns:a="http://schemas.openxmlformats.org/drawingml/2006/main">
              <a:ext uri="{FF2B5EF4-FFF2-40B4-BE49-F238E27FC236}">
                <a16:creationId xmlns:a16="http://schemas.microsoft.com/office/drawing/2014/main" id="{7380B9A4-1D88-4431-B7C2-03EFD2013720}"/>
              </a:ext>
            </a:extLst>
          </p:cNvPr>
          <p:cNvCxnSpPr/>
          <p:nvPr/>
        </p:nvCxnSpPr>
        <p:spPr>
          <a:xfrm xmlns:a="http://schemas.openxmlformats.org/drawingml/2006/main">
            <a:off x="6667500" y="5657850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8" name="copy-29">
            <a:extLst xmlns:a="http://schemas.openxmlformats.org/drawingml/2006/main">
              <a:ext uri="{FF2B5EF4-FFF2-40B4-BE49-F238E27FC236}">
                <a16:creationId xmlns:a16="http://schemas.microsoft.com/office/drawing/2014/main" id="{288131CE-EEB9-4405-9D86-17231F8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9775"/>
            <a:ext cx="85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copy-30">
            <a:extLst xmlns:a="http://schemas.openxmlformats.org/drawingml/2006/main">
              <a:ext uri="{FF2B5EF4-FFF2-40B4-BE49-F238E27FC236}">
                <a16:creationId xmlns:a16="http://schemas.microsoft.com/office/drawing/2014/main" id="{79B980FE-814A-448D-B698-F786B9CC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197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关键执行与调整</a:t>
            </a:r>
          </a:p>
        </p:txBody>
      </p:sp>
      <p:sp>
        <p:nvSpPr>
          <p:cNvPr id="20" name="copy-31">
            <a:extLst xmlns:a="http://schemas.openxmlformats.org/drawingml/2006/main">
              <a:ext uri="{FF2B5EF4-FFF2-40B4-BE49-F238E27FC236}">
                <a16:creationId xmlns:a16="http://schemas.microsoft.com/office/drawing/2014/main" id="{2C92F6D1-44DA-41D5-AF61-A5951934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00800"/>
            <a:ext cx="6477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承担约定执行，协调客户团队与伙伴，根据反馈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调整下一步行动。</a:t>
            </a:r>
          </a:p>
        </p:txBody>
      </p:sp>
    </p:spTree>
    <p:extLst>
      <p:ext uri="{BB962C8B-B14F-4D97-AF65-F5344CB8AC3E}">
        <p14:creationId xmlns:p14="http://schemas.microsoft.com/office/powerpoint/2010/main" val="710286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-32">
            <a:extLst xmlns:a="http://schemas.openxmlformats.org/drawingml/2006/main">
              <a:ext uri="{FF2B5EF4-FFF2-40B4-BE49-F238E27FC236}">
                <a16:creationId xmlns:a16="http://schemas.microsoft.com/office/drawing/2014/main" id="{33C78611-7621-41E1-A7B1-7A593A0F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我们服务谁</a:t>
            </a:r>
          </a:p>
        </p:txBody>
      </p:sp>
      <p:sp>
        <p:nvSpPr>
          <p:cNvPr id="2" name="title-33">
            <a:extLst xmlns:a="http://schemas.openxmlformats.org/drawingml/2006/main">
              <a:ext uri="{FF2B5EF4-FFF2-40B4-BE49-F238E27FC236}">
                <a16:creationId xmlns:a16="http://schemas.microsoft.com/office/drawing/2014/main" id="{B0F2D655-D242-4837-B069-98693281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两类客户，一个明确的市场聚焦</a:t>
            </a:r>
          </a:p>
        </p:txBody>
      </p:sp>
      <p:sp>
        <p:nvSpPr>
          <p:cNvPr id="3" name="copy-34">
            <a:extLst xmlns:a="http://schemas.openxmlformats.org/drawingml/2006/main">
              <a:ext uri="{FF2B5EF4-FFF2-40B4-BE49-F238E27FC236}">
                <a16:creationId xmlns:a16="http://schemas.microsoft.com/office/drawing/2014/main" id="{C844FDAA-17CC-4E5F-9B04-B86DA9C5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专门面向北美市场，根据业务阶段确定营销目标。</a:t>
            </a:r>
          </a:p>
        </p:txBody>
      </p:sp>
      <p:cxnSp>
        <p:nvCxnSpPr>
          <p:cNvPr id="4" name="line-35">
            <a:extLst xmlns:a="http://schemas.openxmlformats.org/drawingml/2006/main">
              <a:ext uri="{FF2B5EF4-FFF2-40B4-BE49-F238E27FC236}">
                <a16:creationId xmlns:a16="http://schemas.microsoft.com/office/drawing/2014/main" id="{AD2BF366-CA9E-4B0B-A601-A79DE71498D4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36">
            <a:extLst xmlns:a="http://schemas.openxmlformats.org/drawingml/2006/main">
              <a:ext uri="{FF2B5EF4-FFF2-40B4-BE49-F238E27FC236}">
                <a16:creationId xmlns:a16="http://schemas.microsoft.com/office/drawing/2014/main" id="{87B63B97-7534-445B-9AC5-EB093D36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从当前目标与资源出发，确定适合你的营销路径。</a:t>
            </a:r>
          </a:p>
        </p:txBody>
      </p:sp>
      <p:sp>
        <p:nvSpPr>
          <p:cNvPr id="6" name="copy-37">
            <a:extLst xmlns:a="http://schemas.openxmlformats.org/drawingml/2006/main">
              <a:ext uri="{FF2B5EF4-FFF2-40B4-BE49-F238E27FC236}">
                <a16:creationId xmlns:a16="http://schemas.microsoft.com/office/drawing/2014/main" id="{B26EF2F9-D2EF-4E5C-9F0D-133E4BC6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7" name="line-38">
            <a:extLst xmlns:a="http://schemas.openxmlformats.org/drawingml/2006/main">
              <a:ext uri="{FF2B5EF4-FFF2-40B4-BE49-F238E27FC236}">
                <a16:creationId xmlns:a16="http://schemas.microsoft.com/office/drawing/2014/main" id="{8D30673A-1271-4C45-A9BE-7CB14181ECE8}"/>
              </a:ext>
            </a:extLst>
          </p:cNvPr>
          <p:cNvCxnSpPr/>
          <p:nvPr/>
        </p:nvCxnSpPr>
        <p:spPr>
          <a:xfrm xmlns:a="http://schemas.openxmlformats.org/drawingml/2006/main">
            <a:off x="7620000" y="3057525"/>
            <a:ext cx="0" cy="41338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8" name="copy-39">
            <a:extLst xmlns:a="http://schemas.openxmlformats.org/drawingml/2006/main">
              <a:ext uri="{FF2B5EF4-FFF2-40B4-BE49-F238E27FC236}">
                <a16:creationId xmlns:a16="http://schemas.microsoft.com/office/drawing/2014/main" id="{A5E2ABD0-D28E-4739-AA91-43C8861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 / CONSUMER BRANDS</a:t>
            </a:r>
          </a:p>
        </p:txBody>
      </p:sp>
      <p:sp>
        <p:nvSpPr>
          <p:cNvPr id="9" name="copy-40">
            <a:extLst xmlns:a="http://schemas.openxmlformats.org/drawingml/2006/main">
              <a:ext uri="{FF2B5EF4-FFF2-40B4-BE49-F238E27FC236}">
                <a16:creationId xmlns:a16="http://schemas.microsoft.com/office/drawing/2014/main" id="{D23BC32B-626B-4094-B499-89C9BE5F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609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面向消费者的品牌出海</a:t>
            </a:r>
          </a:p>
        </p:txBody>
      </p:sp>
      <p:sp>
        <p:nvSpPr>
          <p:cNvPr id="10" name="copy-41">
            <a:extLst xmlns:a="http://schemas.openxmlformats.org/drawingml/2006/main">
              <a:ext uri="{FF2B5EF4-FFF2-40B4-BE49-F238E27FC236}">
                <a16:creationId xmlns:a16="http://schemas.microsoft.com/office/drawing/2014/main" id="{F63CEF35-11E5-45D4-8E75-41A060AC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60769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面向希望进入或拓展北美市场的消费品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牌。既支持以销售增长为目标的电商出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海，也支持以品牌认知、定位与持续传播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为重点的品牌建设。</a:t>
            </a:r>
          </a:p>
        </p:txBody>
      </p:sp>
      <p:cxnSp>
        <p:nvCxnSpPr>
          <p:cNvPr id="11" name="line-42">
            <a:extLst xmlns:a="http://schemas.openxmlformats.org/drawingml/2006/main">
              <a:ext uri="{FF2B5EF4-FFF2-40B4-BE49-F238E27FC236}">
                <a16:creationId xmlns:a16="http://schemas.microsoft.com/office/drawing/2014/main" id="{ABBA2071-A38E-4C01-BC94-1765D12F4F98}"/>
              </a:ext>
            </a:extLst>
          </p:cNvPr>
          <p:cNvCxnSpPr/>
          <p:nvPr/>
        </p:nvCxnSpPr>
        <p:spPr>
          <a:xfrm xmlns:a="http://schemas.openxmlformats.org/drawingml/2006/main">
            <a:off x="857250" y="6686550"/>
            <a:ext cx="590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2" name="copy-43">
            <a:extLst xmlns:a="http://schemas.openxmlformats.org/drawingml/2006/main">
              <a:ext uri="{FF2B5EF4-FFF2-40B4-BE49-F238E27FC236}">
                <a16:creationId xmlns:a16="http://schemas.microsoft.com/office/drawing/2014/main" id="{578574D2-358B-4DF4-BB53-4CED9F39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9342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品牌建设 / 电商增长</a:t>
            </a:r>
          </a:p>
        </p:txBody>
      </p:sp>
      <p:sp>
        <p:nvSpPr>
          <p:cNvPr id="13" name="copy-44">
            <a:extLst xmlns:a="http://schemas.openxmlformats.org/drawingml/2006/main">
              <a:ext uri="{FF2B5EF4-FFF2-40B4-BE49-F238E27FC236}">
                <a16:creationId xmlns:a16="http://schemas.microsoft.com/office/drawing/2014/main" id="{3A4DFB82-F184-41BC-B0C6-0720671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 / TECH STARTUPS</a:t>
            </a:r>
          </a:p>
        </p:txBody>
      </p:sp>
      <p:sp>
        <p:nvSpPr>
          <p:cNvPr id="14" name="copy-45">
            <a:extLst xmlns:a="http://schemas.openxmlformats.org/drawingml/2006/main">
              <a:ext uri="{FF2B5EF4-FFF2-40B4-BE49-F238E27FC236}">
                <a16:creationId xmlns:a16="http://schemas.microsoft.com/office/drawing/2014/main" id="{995F35F5-E655-4B43-A966-1A0880F1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609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泛科技创业公司 GTM</a:t>
            </a:r>
          </a:p>
        </p:txBody>
      </p:sp>
      <p:sp>
        <p:nvSpPr>
          <p:cNvPr id="15" name="copy-46">
            <a:extLst xmlns:a="http://schemas.openxmlformats.org/drawingml/2006/main">
              <a:ext uri="{FF2B5EF4-FFF2-40B4-BE49-F238E27FC236}">
                <a16:creationId xmlns:a16="http://schemas.microsoft.com/office/drawing/2014/main" id="{9D3809F0-A150-497C-858A-75490E4B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95825"/>
            <a:ext cx="60769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围绕市场进入与增长（GTM），帮助不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同类型的科技创业公司明确目标用户、讲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清产品价值、选择营销渠道，并安排各项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工作的先后顺序。</a:t>
            </a:r>
          </a:p>
        </p:txBody>
      </p:sp>
      <p:cxnSp>
        <p:nvCxnSpPr>
          <p:cNvPr id="16" name="line-47">
            <a:extLst xmlns:a="http://schemas.openxmlformats.org/drawingml/2006/main">
              <a:ext uri="{FF2B5EF4-FFF2-40B4-BE49-F238E27FC236}">
                <a16:creationId xmlns:a16="http://schemas.microsoft.com/office/drawing/2014/main" id="{024EC252-E8C7-4C15-AEB2-F8DCE1B0C8B7}"/>
              </a:ext>
            </a:extLst>
          </p:cNvPr>
          <p:cNvCxnSpPr/>
          <p:nvPr/>
        </p:nvCxnSpPr>
        <p:spPr>
          <a:xfrm xmlns:a="http://schemas.openxmlformats.org/drawingml/2006/main">
            <a:off x="8305800" y="6686550"/>
            <a:ext cx="590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7" name="copy-48">
            <a:extLst xmlns:a="http://schemas.openxmlformats.org/drawingml/2006/main">
              <a:ext uri="{FF2B5EF4-FFF2-40B4-BE49-F238E27FC236}">
                <a16:creationId xmlns:a16="http://schemas.microsoft.com/office/drawing/2014/main" id="{BF1E8CC1-534E-4F06-9EDA-AE9D63B2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9342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市场进入 / 增长规划</a:t>
            </a:r>
          </a:p>
        </p:txBody>
      </p:sp>
    </p:spTree>
    <p:extLst>
      <p:ext uri="{BB962C8B-B14F-4D97-AF65-F5344CB8AC3E}">
        <p14:creationId xmlns:p14="http://schemas.microsoft.com/office/powerpoint/2010/main" val="447178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opy-49">
            <a:extLst xmlns:a="http://schemas.openxmlformats.org/drawingml/2006/main">
              <a:ext uri="{FF2B5EF4-FFF2-40B4-BE49-F238E27FC236}">
                <a16:creationId xmlns:a16="http://schemas.microsoft.com/office/drawing/2014/main" id="{B0FF7456-487B-4D6C-8520-0CFCDCDB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</a:t>
            </a:r>
          </a:p>
        </p:txBody>
      </p:sp>
      <p:sp>
        <p:nvSpPr>
          <p:cNvPr id="2" name="title-50">
            <a:extLst xmlns:a="http://schemas.openxmlformats.org/drawingml/2006/main">
              <a:ext uri="{FF2B5EF4-FFF2-40B4-BE49-F238E27FC236}">
                <a16:creationId xmlns:a16="http://schemas.microsoft.com/office/drawing/2014/main" id="{F4E8CF45-9A4B-4B9B-B623-1B5CE0D3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两项核心能力，连接策略与行动</a:t>
            </a:r>
          </a:p>
        </p:txBody>
      </p:sp>
      <p:sp>
        <p:nvSpPr>
          <p:cNvPr id="3" name="copy-51">
            <a:extLst xmlns:a="http://schemas.openxmlformats.org/drawingml/2006/main">
              <a:ext uri="{FF2B5EF4-FFF2-40B4-BE49-F238E27FC236}">
                <a16:creationId xmlns:a16="http://schemas.microsoft.com/office/drawing/2014/main" id="{5524D5ED-5405-47AB-8355-18164E60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以营销判断和渠道规划统筹工作，按目标组合执行能力。</a:t>
            </a:r>
          </a:p>
        </p:txBody>
      </p:sp>
      <p:cxnSp>
        <p:nvCxnSpPr>
          <p:cNvPr id="4" name="line-52">
            <a:extLst xmlns:a="http://schemas.openxmlformats.org/drawingml/2006/main">
              <a:ext uri="{FF2B5EF4-FFF2-40B4-BE49-F238E27FC236}">
                <a16:creationId xmlns:a16="http://schemas.microsoft.com/office/drawing/2014/main" id="{BEF41EA5-D55B-4295-934F-61BA1D77415D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53">
            <a:extLst xmlns:a="http://schemas.openxmlformats.org/drawingml/2006/main">
              <a:ext uri="{FF2B5EF4-FFF2-40B4-BE49-F238E27FC236}">
                <a16:creationId xmlns:a16="http://schemas.microsoft.com/office/drawing/2014/main" id="{72D4E1B3-1398-4368-B297-9F4A8C7F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具体执行渠道、工作量与责任范围，在合作方案中明确。</a:t>
            </a:r>
          </a:p>
        </p:txBody>
      </p:sp>
      <p:sp>
        <p:nvSpPr>
          <p:cNvPr id="6" name="copy-54">
            <a:extLst xmlns:a="http://schemas.openxmlformats.org/drawingml/2006/main">
              <a:ext uri="{FF2B5EF4-FFF2-40B4-BE49-F238E27FC236}">
                <a16:creationId xmlns:a16="http://schemas.microsoft.com/office/drawing/2014/main" id="{A193F3F9-E1F8-409E-9192-377EEE66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copy-55">
            <a:extLst xmlns:a="http://schemas.openxmlformats.org/drawingml/2006/main">
              <a:ext uri="{FF2B5EF4-FFF2-40B4-BE49-F238E27FC236}">
                <a16:creationId xmlns:a16="http://schemas.microsoft.com/office/drawing/2014/main" id="{25EFFE5E-8EBF-4167-B60F-D206E4B8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8" name="rect-56">
            <a:extLst xmlns:a="http://schemas.openxmlformats.org/drawingml/2006/main">
              <a:ext uri="{FF2B5EF4-FFF2-40B4-BE49-F238E27FC236}">
                <a16:creationId xmlns:a16="http://schemas.microsoft.com/office/drawing/2014/main" id="{5EEA20B6-CCFE-4795-994A-B9FFF640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1300"/>
            <a:ext cx="5657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-57">
            <a:extLst xmlns:a="http://schemas.openxmlformats.org/drawingml/2006/main">
              <a:ext uri="{FF2B5EF4-FFF2-40B4-BE49-F238E27FC236}">
                <a16:creationId xmlns:a16="http://schemas.microsoft.com/office/drawing/2014/main" id="{E0907682-A1BF-4678-B21D-C9F8DBB6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5657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py-58">
            <a:extLst xmlns:a="http://schemas.openxmlformats.org/drawingml/2006/main">
              <a:ext uri="{FF2B5EF4-FFF2-40B4-BE49-F238E27FC236}">
                <a16:creationId xmlns:a16="http://schemas.microsoft.com/office/drawing/2014/main" id="{AD89BD05-ADBB-4ED1-83F9-56118C46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营销策略与品牌基础</a:t>
            </a:r>
          </a:p>
        </p:txBody>
      </p:sp>
      <p:sp>
        <p:nvSpPr>
          <p:cNvPr id="11" name="copy-59">
            <a:extLst xmlns:a="http://schemas.openxmlformats.org/drawingml/2006/main">
              <a:ext uri="{FF2B5EF4-FFF2-40B4-BE49-F238E27FC236}">
                <a16:creationId xmlns:a16="http://schemas.microsoft.com/office/drawing/2014/main" id="{EAD9DCC8-51AB-4959-83DF-D1C6FC48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57600"/>
            <a:ext cx="510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理解市场与用户，明确品牌定位。</a:t>
            </a:r>
          </a:p>
          <a:p xmlns:a="http://schemas.openxmlformats.org/drawingml/2006/main">
            <a: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规划价值表达、GTM 与营销优先级。</a:t>
            </a:r>
          </a:p>
        </p:txBody>
      </p:sp>
      <p:sp>
        <p:nvSpPr>
          <p:cNvPr id="12" name="copy-60">
            <a:extLst xmlns:a="http://schemas.openxmlformats.org/drawingml/2006/main">
              <a:ext uri="{FF2B5EF4-FFF2-40B4-BE49-F238E27FC236}">
                <a16:creationId xmlns:a16="http://schemas.microsoft.com/office/drawing/2014/main" id="{B81A7BCF-D9DC-40AA-A86A-3E115A26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渠道运营与增长</a:t>
            </a:r>
          </a:p>
        </p:txBody>
      </p:sp>
      <p:sp>
        <p:nvSpPr>
          <p:cNvPr id="13" name="copy-61">
            <a:extLst xmlns:a="http://schemas.openxmlformats.org/drawingml/2006/main">
              <a:ext uri="{FF2B5EF4-FFF2-40B4-BE49-F238E27FC236}">
                <a16:creationId xmlns:a16="http://schemas.microsoft.com/office/drawing/2014/main" id="{5AA2F29B-A02D-4E00-9147-C988C775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57600"/>
            <a:ext cx="510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规划渠道组合、运营路径和资源投入。</a:t>
            </a:r>
          </a:p>
          <a:p xmlns:a="http://schemas.openxmlformats.org/drawingml/2006/main">
            <a: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建立复盘机制，推进关键增长工作。</a:t>
            </a:r>
          </a:p>
        </p:txBody>
      </p:sp>
      <p:cxnSp>
        <p:nvCxnSpPr>
          <p:cNvPr id="14" name="line-62">
            <a:extLst xmlns:a="http://schemas.openxmlformats.org/drawingml/2006/main">
              <a:ext uri="{FF2B5EF4-FFF2-40B4-BE49-F238E27FC236}">
                <a16:creationId xmlns:a16="http://schemas.microsoft.com/office/drawing/2014/main" id="{E9F2BABF-89DC-4BC5-BEC5-75A60F0DEE3A}"/>
              </a:ext>
            </a:extLst>
          </p:cNvPr>
          <p:cNvCxnSpPr/>
          <p:nvPr/>
        </p:nvCxnSpPr>
        <p:spPr>
          <a:xfrm xmlns:a="http://schemas.openxmlformats.org/drawingml/2006/main">
            <a:off x="5572125" y="4362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5" name="line-63">
            <a:extLst xmlns:a="http://schemas.openxmlformats.org/drawingml/2006/main">
              <a:ext uri="{FF2B5EF4-FFF2-40B4-BE49-F238E27FC236}">
                <a16:creationId xmlns:a16="http://schemas.microsoft.com/office/drawing/2014/main" id="{8A998321-5701-4226-839B-537706D6E206}"/>
              </a:ext>
            </a:extLst>
          </p:cNvPr>
          <p:cNvCxnSpPr/>
          <p:nvPr/>
        </p:nvCxnSpPr>
        <p:spPr>
          <a:xfrm xmlns:a="http://schemas.openxmlformats.org/drawingml/2006/main">
            <a:off x="11572875" y="4362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6" name="line-64">
            <a:extLst xmlns:a="http://schemas.openxmlformats.org/drawingml/2006/main">
              <a:ext uri="{FF2B5EF4-FFF2-40B4-BE49-F238E27FC236}">
                <a16:creationId xmlns:a16="http://schemas.microsoft.com/office/drawing/2014/main" id="{BE293F17-123F-4851-BE43-D7C6213215A2}"/>
              </a:ext>
            </a:extLst>
          </p:cNvPr>
          <p:cNvCxnSpPr/>
          <p:nvPr/>
        </p:nvCxnSpPr>
        <p:spPr>
          <a:xfrm xmlns:a="http://schemas.openxmlformats.org/drawingml/2006/main">
            <a:off x="4572000" y="4667250"/>
            <a:ext cx="80010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7" name="copy-65">
            <a:extLst xmlns:a="http://schemas.openxmlformats.org/drawingml/2006/main">
              <a:ext uri="{FF2B5EF4-FFF2-40B4-BE49-F238E27FC236}">
                <a16:creationId xmlns:a16="http://schemas.microsoft.com/office/drawing/2014/main" id="{3BFEAF37-C3A8-4584-A7A8-D950730F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直接执行</a:t>
            </a:r>
          </a:p>
        </p:txBody>
      </p:sp>
      <p:sp>
        <p:nvSpPr>
          <p:cNvPr id="18" name="rect-66">
            <a:extLst xmlns:a="http://schemas.openxmlformats.org/drawingml/2006/main">
              <a:ext uri="{FF2B5EF4-FFF2-40B4-BE49-F238E27FC236}">
                <a16:creationId xmlns:a16="http://schemas.microsoft.com/office/drawing/2014/main" id="{EC28F0F3-511A-4095-BB8B-1A0FF9D8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3657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19" name="copy-67">
            <a:extLst xmlns:a="http://schemas.openxmlformats.org/drawingml/2006/main">
              <a:ext uri="{FF2B5EF4-FFF2-40B4-BE49-F238E27FC236}">
                <a16:creationId xmlns:a16="http://schemas.microsoft.com/office/drawing/2014/main" id="{4517EDB0-AE43-403E-9202-5ECE97AD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578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内容营销</a:t>
            </a:r>
          </a:p>
        </p:txBody>
      </p:sp>
      <p:cxnSp>
        <p:nvCxnSpPr>
          <p:cNvPr id="20" name="line-68">
            <a:extLst xmlns:a="http://schemas.openxmlformats.org/drawingml/2006/main">
              <a:ext uri="{FF2B5EF4-FFF2-40B4-BE49-F238E27FC236}">
                <a16:creationId xmlns:a16="http://schemas.microsoft.com/office/drawing/2014/main" id="{4798820B-5E36-43DA-B45F-6CF7B10467F8}"/>
              </a:ext>
            </a:extLst>
          </p:cNvPr>
          <p:cNvCxnSpPr/>
          <p:nvPr/>
        </p:nvCxnSpPr>
        <p:spPr>
          <a:xfrm xmlns:a="http://schemas.openxmlformats.org/drawingml/2006/main">
            <a:off x="457200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1" name="rect-69">
            <a:extLst xmlns:a="http://schemas.openxmlformats.org/drawingml/2006/main">
              <a:ext uri="{FF2B5EF4-FFF2-40B4-BE49-F238E27FC236}">
                <a16:creationId xmlns:a16="http://schemas.microsoft.com/office/drawing/2014/main" id="{9529B07E-3D71-4935-8472-050FC536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3657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22" name="copy-70">
            <a:extLst xmlns:a="http://schemas.openxmlformats.org/drawingml/2006/main">
              <a:ext uri="{FF2B5EF4-FFF2-40B4-BE49-F238E27FC236}">
                <a16:creationId xmlns:a16="http://schemas.microsoft.com/office/drawing/2014/main" id="{D48D1270-0CA6-4148-82BE-7B284E82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578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达人营销</a:t>
            </a:r>
          </a:p>
        </p:txBody>
      </p:sp>
      <p:cxnSp>
        <p:nvCxnSpPr>
          <p:cNvPr id="23" name="line-71">
            <a:extLst xmlns:a="http://schemas.openxmlformats.org/drawingml/2006/main">
              <a:ext uri="{FF2B5EF4-FFF2-40B4-BE49-F238E27FC236}">
                <a16:creationId xmlns:a16="http://schemas.microsoft.com/office/drawing/2014/main" id="{72C2FFD1-A3DC-462B-84A8-6DC5EDB84263}"/>
              </a:ext>
            </a:extLst>
          </p:cNvPr>
          <p:cNvCxnSpPr/>
          <p:nvPr/>
        </p:nvCxnSpPr>
        <p:spPr>
          <a:xfrm xmlns:a="http://schemas.openxmlformats.org/drawingml/2006/main">
            <a:off x="857250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4" name="rect-72">
            <a:extLst xmlns:a="http://schemas.openxmlformats.org/drawingml/2006/main">
              <a:ext uri="{FF2B5EF4-FFF2-40B4-BE49-F238E27FC236}">
                <a16:creationId xmlns:a16="http://schemas.microsoft.com/office/drawing/2014/main" id="{E44BD368-DFD6-4149-9337-78DE053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3657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25" name="copy-73">
            <a:extLst xmlns:a="http://schemas.openxmlformats.org/drawingml/2006/main">
              <a:ext uri="{FF2B5EF4-FFF2-40B4-BE49-F238E27FC236}">
                <a16:creationId xmlns:a16="http://schemas.microsoft.com/office/drawing/2014/main" id="{DBD262CC-56C1-42B2-AD9C-7A39A506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2578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广告与投放</a:t>
            </a:r>
          </a:p>
        </p:txBody>
      </p:sp>
      <p:cxnSp>
        <p:nvCxnSpPr>
          <p:cNvPr id="26" name="line-74">
            <a:extLst xmlns:a="http://schemas.openxmlformats.org/drawingml/2006/main">
              <a:ext uri="{FF2B5EF4-FFF2-40B4-BE49-F238E27FC236}">
                <a16:creationId xmlns:a16="http://schemas.microsoft.com/office/drawing/2014/main" id="{F0C0E2D8-6E2C-469A-87FB-996155BF993C}"/>
              </a:ext>
            </a:extLst>
          </p:cNvPr>
          <p:cNvCxnSpPr/>
          <p:nvPr/>
        </p:nvCxnSpPr>
        <p:spPr>
          <a:xfrm xmlns:a="http://schemas.openxmlformats.org/drawingml/2006/main">
            <a:off x="1257300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7" name="copy-75">
            <a:extLst xmlns:a="http://schemas.openxmlformats.org/drawingml/2006/main">
              <a:ext uri="{FF2B5EF4-FFF2-40B4-BE49-F238E27FC236}">
                <a16:creationId xmlns:a16="http://schemas.microsoft.com/office/drawing/2014/main" id="{F406196E-C0B0-4269-9ABC-AA7ED5B4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72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专业伙伴</a:t>
            </a:r>
          </a:p>
        </p:txBody>
      </p:sp>
      <p:sp>
        <p:nvSpPr>
          <p:cNvPr id="28" name="rect-76">
            <a:extLst xmlns:a="http://schemas.openxmlformats.org/drawingml/2006/main">
              <a:ext uri="{FF2B5EF4-FFF2-40B4-BE49-F238E27FC236}">
                <a16:creationId xmlns:a16="http://schemas.microsoft.com/office/drawing/2014/main" id="{81DEFDBE-65ED-4F30-986F-8210CAE2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343650"/>
            <a:ext cx="11658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py-77">
            <a:extLst xmlns:a="http://schemas.openxmlformats.org/drawingml/2006/main">
              <a:ext uri="{FF2B5EF4-FFF2-40B4-BE49-F238E27FC236}">
                <a16:creationId xmlns:a16="http://schemas.microsoft.com/office/drawing/2014/main" id="{D920B86B-4258-43EF-AB1A-27C586B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4770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本地渠道拓展 / 落地执行 / 公共关系（PR）等</a:t>
            </a:r>
          </a:p>
        </p:txBody>
      </p:sp>
      <p:sp>
        <p:nvSpPr>
          <p:cNvPr id="30" name="copy-78">
            <a:extLst xmlns:a="http://schemas.openxmlformats.org/drawingml/2006/main">
              <a:ext uri="{FF2B5EF4-FFF2-40B4-BE49-F238E27FC236}">
                <a16:creationId xmlns:a16="http://schemas.microsoft.com/office/drawing/2014/main" id="{7BE8A1D6-1AF9-40C0-8E68-0F51CCBF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915150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按需触达、筛选和协调专业资源，由 Outrise 统一推进。</a:t>
            </a:r>
          </a:p>
        </p:txBody>
      </p:sp>
    </p:spTree>
    <p:extLst>
      <p:ext uri="{BB962C8B-B14F-4D97-AF65-F5344CB8AC3E}">
        <p14:creationId xmlns:p14="http://schemas.microsoft.com/office/powerpoint/2010/main" val="1692889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opy-79">
            <a:extLst xmlns:a="http://schemas.openxmlformats.org/drawingml/2006/main">
              <a:ext uri="{FF2B5EF4-FFF2-40B4-BE49-F238E27FC236}">
                <a16:creationId xmlns:a16="http://schemas.microsoft.com/office/drawing/2014/main" id="{B9C51A23-8FB0-4189-B01F-58C52F6D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 · 核心能力 01</a:t>
            </a:r>
          </a:p>
        </p:txBody>
      </p:sp>
      <p:sp>
        <p:nvSpPr>
          <p:cNvPr id="2" name="title-80">
            <a:extLst xmlns:a="http://schemas.openxmlformats.org/drawingml/2006/main">
              <a:ext uri="{FF2B5EF4-FFF2-40B4-BE49-F238E27FC236}">
                <a16:creationId xmlns:a16="http://schemas.microsoft.com/office/drawing/2014/main" id="{F6371CB6-4B46-4276-AE87-DFB1E825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营销策略与品牌基础</a:t>
            </a:r>
          </a:p>
        </p:txBody>
      </p:sp>
      <p:sp>
        <p:nvSpPr>
          <p:cNvPr id="3" name="copy-81">
            <a:extLst xmlns:a="http://schemas.openxmlformats.org/drawingml/2006/main">
              <a:ext uri="{FF2B5EF4-FFF2-40B4-BE49-F238E27FC236}">
                <a16:creationId xmlns:a16="http://schemas.microsoft.com/office/drawing/2014/main" id="{B70ED521-3EDC-44DF-9444-B42D019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先形成清晰判断，再确定值得投入的方向。</a:t>
            </a:r>
          </a:p>
        </p:txBody>
      </p:sp>
      <p:cxnSp>
        <p:nvCxnSpPr>
          <p:cNvPr id="4" name="line-82">
            <a:extLst xmlns:a="http://schemas.openxmlformats.org/drawingml/2006/main">
              <a:ext uri="{FF2B5EF4-FFF2-40B4-BE49-F238E27FC236}">
                <a16:creationId xmlns:a16="http://schemas.microsoft.com/office/drawing/2014/main" id="{DB9712D0-E00A-419A-B37A-BB3F3ADF5827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83">
            <a:extLst xmlns:a="http://schemas.openxmlformats.org/drawingml/2006/main">
              <a:ext uri="{FF2B5EF4-FFF2-40B4-BE49-F238E27FC236}">
                <a16:creationId xmlns:a16="http://schemas.microsoft.com/office/drawing/2014/main" id="{D7E569FE-6801-4837-9565-D859EBC8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典型成果：策略判断、品牌与产品表达、阶段营销路线图。</a:t>
            </a:r>
          </a:p>
        </p:txBody>
      </p:sp>
      <p:sp>
        <p:nvSpPr>
          <p:cNvPr id="6" name="copy-84">
            <a:extLst xmlns:a="http://schemas.openxmlformats.org/drawingml/2006/main">
              <a:ext uri="{FF2B5EF4-FFF2-40B4-BE49-F238E27FC236}">
                <a16:creationId xmlns:a16="http://schemas.microsoft.com/office/drawing/2014/main" id="{37686E68-3B53-4D75-9F0B-86A60D8F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7" name="line-85">
            <a:extLst xmlns:a="http://schemas.openxmlformats.org/drawingml/2006/main">
              <a:ext uri="{FF2B5EF4-FFF2-40B4-BE49-F238E27FC236}">
                <a16:creationId xmlns:a16="http://schemas.microsoft.com/office/drawing/2014/main" id="{B237BA57-C22B-45F9-96B1-5D7E0B36FE7F}"/>
              </a:ext>
            </a:extLst>
          </p:cNvPr>
          <p:cNvCxnSpPr/>
          <p:nvPr/>
        </p:nvCxnSpPr>
        <p:spPr>
          <a:xfrm xmlns:a="http://schemas.openxmlformats.org/drawingml/2006/main">
            <a:off x="1095375" y="3390900"/>
            <a:ext cx="13192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BAB1"/>
            </a:solidFill>
            <a:prstDash val="solid"/>
          </a:ln>
        </p:spPr>
      </p:cxnSp>
      <p:sp>
        <p:nvSpPr>
          <p:cNvPr id="8" name="rect-86">
            <a:extLst xmlns:a="http://schemas.openxmlformats.org/drawingml/2006/main">
              <a:ext uri="{FF2B5EF4-FFF2-40B4-BE49-F238E27FC236}">
                <a16:creationId xmlns:a16="http://schemas.microsoft.com/office/drawing/2014/main" id="{1D720EDE-13D7-4108-BDD1-AB575C12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py-87">
            <a:extLst xmlns:a="http://schemas.openxmlformats.org/drawingml/2006/main">
              <a:ext uri="{FF2B5EF4-FFF2-40B4-BE49-F238E27FC236}">
                <a16:creationId xmlns:a16="http://schemas.microsoft.com/office/drawing/2014/main" id="{82B429BC-DE48-4D0E-B2D2-35B1872D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copy-88">
            <a:extLst xmlns:a="http://schemas.openxmlformats.org/drawingml/2006/main">
              <a:ext uri="{FF2B5EF4-FFF2-40B4-BE49-F238E27FC236}">
                <a16:creationId xmlns:a16="http://schemas.microsoft.com/office/drawing/2014/main" id="{B86880BD-ABA2-43BF-B115-01BEAC4B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理解市场与用户</a:t>
            </a:r>
          </a:p>
        </p:txBody>
      </p:sp>
      <p:sp>
        <p:nvSpPr>
          <p:cNvPr id="11" name="copy-89">
            <a:extLst xmlns:a="http://schemas.openxmlformats.org/drawingml/2006/main">
              <a:ext uri="{FF2B5EF4-FFF2-40B4-BE49-F238E27FC236}">
                <a16:creationId xmlns:a16="http://schemas.microsoft.com/office/drawing/2014/main" id="{D8357C45-A06B-4C80-A772-3580BAC1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梳理业务目标、产品特点与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目标人群，判断客户的需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求、使用场景和购买考虑。</a:t>
            </a:r>
          </a:p>
        </p:txBody>
      </p:sp>
      <p:sp>
        <p:nvSpPr>
          <p:cNvPr id="12" name="rect-90">
            <a:extLst xmlns:a="http://schemas.openxmlformats.org/drawingml/2006/main">
              <a:ext uri="{FF2B5EF4-FFF2-40B4-BE49-F238E27FC236}">
                <a16:creationId xmlns:a16="http://schemas.microsoft.com/office/drawing/2014/main" id="{18237713-130F-47CB-B1C5-9EC6CD27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527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py-91">
            <a:extLst xmlns:a="http://schemas.openxmlformats.org/drawingml/2006/main">
              <a:ext uri="{FF2B5EF4-FFF2-40B4-BE49-F238E27FC236}">
                <a16:creationId xmlns:a16="http://schemas.microsoft.com/office/drawing/2014/main" id="{DCF12C8E-B088-47AD-BFB6-122077AC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copy-92">
            <a:extLst xmlns:a="http://schemas.openxmlformats.org/drawingml/2006/main">
              <a:ext uri="{FF2B5EF4-FFF2-40B4-BE49-F238E27FC236}">
                <a16:creationId xmlns:a16="http://schemas.microsoft.com/office/drawing/2014/main" id="{193CED72-54E3-4E61-86B1-16D9E462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建立定位与价值表达</a:t>
            </a:r>
          </a:p>
        </p:txBody>
      </p:sp>
      <p:sp>
        <p:nvSpPr>
          <p:cNvPr id="15" name="copy-93">
            <a:extLst xmlns:a="http://schemas.openxmlformats.org/drawingml/2006/main">
              <a:ext uri="{FF2B5EF4-FFF2-40B4-BE49-F238E27FC236}">
                <a16:creationId xmlns:a16="http://schemas.microsoft.com/office/drawing/2014/main" id="{97D019EF-144B-4137-A80D-C4D1A4FE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3870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明确品牌或产品为谁创造什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么价值，形成适合北美市场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的定位、叙事和沟通重点。</a:t>
            </a:r>
          </a:p>
        </p:txBody>
      </p:sp>
      <p:sp>
        <p:nvSpPr>
          <p:cNvPr id="16" name="rect-94">
            <a:extLst xmlns:a="http://schemas.openxmlformats.org/drawingml/2006/main">
              <a:ext uri="{FF2B5EF4-FFF2-40B4-BE49-F238E27FC236}">
                <a16:creationId xmlns:a16="http://schemas.microsoft.com/office/drawing/2014/main" id="{0F78BE87-41FB-44CE-8B24-AA1AEB5F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527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-95">
            <a:extLst xmlns:a="http://schemas.openxmlformats.org/drawingml/2006/main">
              <a:ext uri="{FF2B5EF4-FFF2-40B4-BE49-F238E27FC236}">
                <a16:creationId xmlns:a16="http://schemas.microsoft.com/office/drawing/2014/main" id="{131FCDF4-853F-4854-A936-C6759A05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670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copy-96">
            <a:extLst xmlns:a="http://schemas.openxmlformats.org/drawingml/2006/main">
              <a:ext uri="{FF2B5EF4-FFF2-40B4-BE49-F238E27FC236}">
                <a16:creationId xmlns:a16="http://schemas.microsoft.com/office/drawing/2014/main" id="{44B91616-7356-43EB-8C7A-2DDA122F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38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制定 GTM 与营销路线</a:t>
            </a:r>
          </a:p>
        </p:txBody>
      </p:sp>
      <p:sp>
        <p:nvSpPr>
          <p:cNvPr id="19" name="copy-97">
            <a:extLst xmlns:a="http://schemas.openxmlformats.org/drawingml/2006/main">
              <a:ext uri="{FF2B5EF4-FFF2-40B4-BE49-F238E27FC236}">
                <a16:creationId xmlns:a16="http://schemas.microsoft.com/office/drawing/2014/main" id="{FD2F146C-064B-4F12-A782-8134BEF1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3870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确定阶段重点、渠道优先级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与资源安排，把策略落实为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团队可以推进的行动计划。</a:t>
            </a:r>
          </a:p>
        </p:txBody>
      </p:sp>
      <p:cxnSp>
        <p:nvCxnSpPr>
          <p:cNvPr id="20" name="line-98">
            <a:extLst xmlns:a="http://schemas.openxmlformats.org/drawingml/2006/main">
              <a:ext uri="{FF2B5EF4-FFF2-40B4-BE49-F238E27FC236}">
                <a16:creationId xmlns:a16="http://schemas.microsoft.com/office/drawing/2014/main" id="{A4148BE5-6204-48D8-861F-8AF739FE5F7A}"/>
              </a:ext>
            </a:extLst>
          </p:cNvPr>
          <p:cNvCxnSpPr/>
          <p:nvPr/>
        </p:nvCxnSpPr>
        <p:spPr>
          <a:xfrm xmlns:a="http://schemas.openxmlformats.org/drawingml/2006/main">
            <a:off x="857250" y="6838950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21" name="copy-99">
            <a:extLst xmlns:a="http://schemas.openxmlformats.org/drawingml/2006/main">
              <a:ext uri="{FF2B5EF4-FFF2-40B4-BE49-F238E27FC236}">
                <a16:creationId xmlns:a16="http://schemas.microsoft.com/office/drawing/2014/main" id="{FEDCD62D-9E21-4E06-8E18-0A2D686D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帮助客户回答</a:t>
            </a:r>
          </a:p>
        </p:txBody>
      </p:sp>
      <p:sp>
        <p:nvSpPr>
          <p:cNvPr id="22" name="copy-100">
            <a:extLst xmlns:a="http://schemas.openxmlformats.org/drawingml/2006/main">
              <a:ext uri="{FF2B5EF4-FFF2-40B4-BE49-F238E27FC236}">
                <a16:creationId xmlns:a16="http://schemas.microsoft.com/office/drawing/2014/main" id="{520842F5-6921-4DED-AD93-44E84869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0389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面向谁</a:t>
            </a:r>
          </a:p>
        </p:txBody>
      </p:sp>
      <p:sp>
        <p:nvSpPr>
          <p:cNvPr id="23" name="copy-101">
            <a:extLst xmlns:a="http://schemas.openxmlformats.org/drawingml/2006/main">
              <a:ext uri="{FF2B5EF4-FFF2-40B4-BE49-F238E27FC236}">
                <a16:creationId xmlns:a16="http://schemas.microsoft.com/office/drawing/2014/main" id="{630E7EE0-85CE-40A8-BBD4-CE6C8773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389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表达什么价值</a:t>
            </a:r>
          </a:p>
        </p:txBody>
      </p:sp>
      <p:sp>
        <p:nvSpPr>
          <p:cNvPr id="24" name="copy-102">
            <a:extLst xmlns:a="http://schemas.openxmlformats.org/drawingml/2006/main">
              <a:ext uri="{FF2B5EF4-FFF2-40B4-BE49-F238E27FC236}">
                <a16:creationId xmlns:a16="http://schemas.microsoft.com/office/drawing/2014/main" id="{57C65E96-7A5E-4C7B-A579-35D6FCD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03897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优先做什么</a:t>
            </a:r>
          </a:p>
        </p:txBody>
      </p:sp>
    </p:spTree>
    <p:extLst>
      <p:ext uri="{BB962C8B-B14F-4D97-AF65-F5344CB8AC3E}">
        <p14:creationId xmlns:p14="http://schemas.microsoft.com/office/powerpoint/2010/main" val="1399162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opy-103">
            <a:extLst xmlns:a="http://schemas.openxmlformats.org/drawingml/2006/main">
              <a:ext uri="{FF2B5EF4-FFF2-40B4-BE49-F238E27FC236}">
                <a16:creationId xmlns:a16="http://schemas.microsoft.com/office/drawing/2014/main" id="{A77087BA-D325-415A-B0F5-18546F59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 · 核心能力 02</a:t>
            </a:r>
          </a:p>
        </p:txBody>
      </p:sp>
      <p:sp>
        <p:nvSpPr>
          <p:cNvPr id="2" name="title-104">
            <a:extLst xmlns:a="http://schemas.openxmlformats.org/drawingml/2006/main">
              <a:ext uri="{FF2B5EF4-FFF2-40B4-BE49-F238E27FC236}">
                <a16:creationId xmlns:a16="http://schemas.microsoft.com/office/drawing/2014/main" id="{D6D21484-3961-444E-9884-B469730E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渠道运营与增长</a:t>
            </a:r>
          </a:p>
        </p:txBody>
      </p:sp>
      <p:sp>
        <p:nvSpPr>
          <p:cNvPr id="3" name="copy-105">
            <a:extLst xmlns:a="http://schemas.openxmlformats.org/drawingml/2006/main">
              <a:ext uri="{FF2B5EF4-FFF2-40B4-BE49-F238E27FC236}">
                <a16:creationId xmlns:a16="http://schemas.microsoft.com/office/drawing/2014/main" id="{47E23C28-2DF6-482F-B3A3-4DF9D9D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让渠道选择、资源投入和日常行动服务于同一目标。</a:t>
            </a:r>
          </a:p>
        </p:txBody>
      </p:sp>
      <p:cxnSp>
        <p:nvCxnSpPr>
          <p:cNvPr id="4" name="line-106">
            <a:extLst xmlns:a="http://schemas.openxmlformats.org/drawingml/2006/main">
              <a:ext uri="{FF2B5EF4-FFF2-40B4-BE49-F238E27FC236}">
                <a16:creationId xmlns:a16="http://schemas.microsoft.com/office/drawing/2014/main" id="{B868B515-E986-4B86-98AC-FA53A01EE6BB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107">
            <a:extLst xmlns:a="http://schemas.openxmlformats.org/drawingml/2006/main">
              <a:ext uri="{FF2B5EF4-FFF2-40B4-BE49-F238E27FC236}">
                <a16:creationId xmlns:a16="http://schemas.microsoft.com/office/drawing/2014/main" id="{16C0CF68-2F5D-4458-9D31-0C4BB8D8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典型成果：渠道布局、运营行动计划、资源安排与复盘建议。</a:t>
            </a:r>
          </a:p>
        </p:txBody>
      </p:sp>
      <p:sp>
        <p:nvSpPr>
          <p:cNvPr id="6" name="copy-108">
            <a:extLst xmlns:a="http://schemas.openxmlformats.org/drawingml/2006/main">
              <a:ext uri="{FF2B5EF4-FFF2-40B4-BE49-F238E27FC236}">
                <a16:creationId xmlns:a16="http://schemas.microsoft.com/office/drawing/2014/main" id="{7C101898-7965-41A4-8BC4-48D1383E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copy-109">
            <a:extLst xmlns:a="http://schemas.openxmlformats.org/drawingml/2006/main">
              <a:ext uri="{FF2B5EF4-FFF2-40B4-BE49-F238E27FC236}">
                <a16:creationId xmlns:a16="http://schemas.microsoft.com/office/drawing/2014/main" id="{36923572-1E94-4FA2-8BCC-3D10A24C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copy-110">
            <a:extLst xmlns:a="http://schemas.openxmlformats.org/drawingml/2006/main">
              <a:ext uri="{FF2B5EF4-FFF2-40B4-BE49-F238E27FC236}">
                <a16:creationId xmlns:a16="http://schemas.microsoft.com/office/drawing/2014/main" id="{DDF4FE62-1A00-40BB-9AF6-C559953C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9813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确定渠道组合</a:t>
            </a:r>
          </a:p>
        </p:txBody>
      </p:sp>
      <p:sp>
        <p:nvSpPr>
          <p:cNvPr id="9" name="copy-111">
            <a:extLst xmlns:a="http://schemas.openxmlformats.org/drawingml/2006/main">
              <a:ext uri="{FF2B5EF4-FFF2-40B4-BE49-F238E27FC236}">
                <a16:creationId xmlns:a16="http://schemas.microsoft.com/office/drawing/2014/main" id="{4D039E24-E43E-4E9F-8F63-2C4BABBB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71800"/>
            <a:ext cx="8448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结合客户路径与业务阶段，判断社交媒体、电商平台、品牌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官网及其他渠道各自承担的作用。</a:t>
            </a:r>
          </a:p>
        </p:txBody>
      </p:sp>
      <p:sp>
        <p:nvSpPr>
          <p:cNvPr id="10" name="copy-112">
            <a:extLst xmlns:a="http://schemas.openxmlformats.org/drawingml/2006/main">
              <a:ext uri="{FF2B5EF4-FFF2-40B4-BE49-F238E27FC236}">
                <a16:creationId xmlns:a16="http://schemas.microsoft.com/office/drawing/2014/main" id="{594E64E8-E0DD-4ECF-97DE-E951626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5814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渠道角色</a:t>
            </a:r>
          </a:p>
        </p:txBody>
      </p:sp>
      <p:cxnSp>
        <p:nvCxnSpPr>
          <p:cNvPr id="11" name="line-113">
            <a:extLst xmlns:a="http://schemas.openxmlformats.org/drawingml/2006/main">
              <a:ext uri="{FF2B5EF4-FFF2-40B4-BE49-F238E27FC236}">
                <a16:creationId xmlns:a16="http://schemas.microsoft.com/office/drawing/2014/main" id="{CAFE95BA-4BEC-4C5C-BA93-05D93A333306}"/>
              </a:ext>
            </a:extLst>
          </p:cNvPr>
          <p:cNvCxnSpPr/>
          <p:nvPr/>
        </p:nvCxnSpPr>
        <p:spPr>
          <a:xfrm xmlns:a="http://schemas.openxmlformats.org/drawingml/2006/main">
            <a:off x="3714750" y="37623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760"/>
            </a:solidFill>
            <a:prstDash val="solid"/>
            <a:tailEnd type="triangle" w="sm" len="sm"/>
          </a:ln>
        </p:spPr>
      </p:cxnSp>
      <p:sp>
        <p:nvSpPr>
          <p:cNvPr id="12" name="copy-114">
            <a:extLst xmlns:a="http://schemas.openxmlformats.org/drawingml/2006/main">
              <a:ext uri="{FF2B5EF4-FFF2-40B4-BE49-F238E27FC236}">
                <a16:creationId xmlns:a16="http://schemas.microsoft.com/office/drawing/2014/main" id="{3FF7ECB2-4DAD-4198-B5D0-C424F3B0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814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渠道组合</a:t>
            </a:r>
          </a:p>
        </p:txBody>
      </p:sp>
      <p:cxnSp>
        <p:nvCxnSpPr>
          <p:cNvPr id="13" name="line-115">
            <a:extLst xmlns:a="http://schemas.openxmlformats.org/drawingml/2006/main">
              <a:ext uri="{FF2B5EF4-FFF2-40B4-BE49-F238E27FC236}">
                <a16:creationId xmlns:a16="http://schemas.microsoft.com/office/drawing/2014/main" id="{C4290BD8-01C8-4DA8-B92D-71E0544264A4}"/>
              </a:ext>
            </a:extLst>
          </p:cNvPr>
          <p:cNvCxnSpPr/>
          <p:nvPr/>
        </p:nvCxnSpPr>
        <p:spPr>
          <a:xfrm xmlns:a="http://schemas.openxmlformats.org/drawingml/2006/main">
            <a:off x="857250" y="4181475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4" name="copy-116">
            <a:extLst xmlns:a="http://schemas.openxmlformats.org/drawingml/2006/main">
              <a:ext uri="{FF2B5EF4-FFF2-40B4-BE49-F238E27FC236}">
                <a16:creationId xmlns:a16="http://schemas.microsoft.com/office/drawing/2014/main" id="{77F9D817-E769-4356-BE16-BFFBC6CB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copy-117">
            <a:extLst xmlns:a="http://schemas.openxmlformats.org/drawingml/2006/main">
              <a:ext uri="{FF2B5EF4-FFF2-40B4-BE49-F238E27FC236}">
                <a16:creationId xmlns:a16="http://schemas.microsoft.com/office/drawing/2014/main" id="{08074D6E-B42F-415B-98D4-4F6FDDB6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1960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规划投入与运营</a:t>
            </a:r>
          </a:p>
        </p:txBody>
      </p:sp>
      <p:sp>
        <p:nvSpPr>
          <p:cNvPr id="16" name="copy-118">
            <a:extLst xmlns:a="http://schemas.openxmlformats.org/drawingml/2006/main">
              <a:ext uri="{FF2B5EF4-FFF2-40B4-BE49-F238E27FC236}">
                <a16:creationId xmlns:a16="http://schemas.microsoft.com/office/drawing/2014/main" id="{9D974EAE-49DA-45EB-BB8C-E16260F9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10075"/>
            <a:ext cx="8448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安排先后顺序、预算重点、内容需求与团队分工，明确哪些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工作由谁推进、如何衔接。</a:t>
            </a:r>
          </a:p>
        </p:txBody>
      </p:sp>
      <p:sp>
        <p:nvSpPr>
          <p:cNvPr id="17" name="copy-119">
            <a:extLst xmlns:a="http://schemas.openxmlformats.org/drawingml/2006/main">
              <a:ext uri="{FF2B5EF4-FFF2-40B4-BE49-F238E27FC236}">
                <a16:creationId xmlns:a16="http://schemas.microsoft.com/office/drawing/2014/main" id="{6940F9DD-B67E-48D3-952E-1AE85A1B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0196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资源安排</a:t>
            </a:r>
          </a:p>
        </p:txBody>
      </p:sp>
      <p:cxnSp>
        <p:nvCxnSpPr>
          <p:cNvPr id="18" name="line-120">
            <a:extLst xmlns:a="http://schemas.openxmlformats.org/drawingml/2006/main">
              <a:ext uri="{FF2B5EF4-FFF2-40B4-BE49-F238E27FC236}">
                <a16:creationId xmlns:a16="http://schemas.microsoft.com/office/drawing/2014/main" id="{CAA8A64C-A3FE-4776-84E0-5B89CE75FD01}"/>
              </a:ext>
            </a:extLst>
          </p:cNvPr>
          <p:cNvCxnSpPr/>
          <p:nvPr/>
        </p:nvCxnSpPr>
        <p:spPr>
          <a:xfrm xmlns:a="http://schemas.openxmlformats.org/drawingml/2006/main">
            <a:off x="3714750" y="52006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760"/>
            </a:solidFill>
            <a:prstDash val="solid"/>
            <a:tailEnd type="triangle" w="sm" len="sm"/>
          </a:ln>
        </p:spPr>
      </p:cxnSp>
      <p:sp>
        <p:nvSpPr>
          <p:cNvPr id="19" name="copy-121">
            <a:extLst xmlns:a="http://schemas.openxmlformats.org/drawingml/2006/main">
              <a:ext uri="{FF2B5EF4-FFF2-40B4-BE49-F238E27FC236}">
                <a16:creationId xmlns:a16="http://schemas.microsoft.com/office/drawing/2014/main" id="{A4C7EEA2-A603-4E28-ACCE-3DDC26AB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19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执行分工</a:t>
            </a:r>
          </a:p>
        </p:txBody>
      </p:sp>
      <p:cxnSp>
        <p:nvCxnSpPr>
          <p:cNvPr id="20" name="line-122">
            <a:extLst xmlns:a="http://schemas.openxmlformats.org/drawingml/2006/main">
              <a:ext uri="{FF2B5EF4-FFF2-40B4-BE49-F238E27FC236}">
                <a16:creationId xmlns:a16="http://schemas.microsoft.com/office/drawing/2014/main" id="{62AA5AC6-AAF0-4293-A28C-A5C7C175AC9B}"/>
              </a:ext>
            </a:extLst>
          </p:cNvPr>
          <p:cNvCxnSpPr/>
          <p:nvPr/>
        </p:nvCxnSpPr>
        <p:spPr>
          <a:xfrm xmlns:a="http://schemas.openxmlformats.org/drawingml/2006/main">
            <a:off x="857250" y="5619750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21" name="copy-123">
            <a:extLst xmlns:a="http://schemas.openxmlformats.org/drawingml/2006/main">
              <a:ext uri="{FF2B5EF4-FFF2-40B4-BE49-F238E27FC236}">
                <a16:creationId xmlns:a16="http://schemas.microsoft.com/office/drawing/2014/main" id="{51C5B7C6-F90E-46CE-8D6B-5D468260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copy-124">
            <a:extLst xmlns:a="http://schemas.openxmlformats.org/drawingml/2006/main">
              <a:ext uri="{FF2B5EF4-FFF2-40B4-BE49-F238E27FC236}">
                <a16:creationId xmlns:a16="http://schemas.microsoft.com/office/drawing/2014/main" id="{F142475E-9FD1-4C58-A266-6F48E2C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8578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复盘并调整方向</a:t>
            </a:r>
          </a:p>
        </p:txBody>
      </p:sp>
      <p:sp>
        <p:nvSpPr>
          <p:cNvPr id="23" name="copy-125">
            <a:extLst xmlns:a="http://schemas.openxmlformats.org/drawingml/2006/main">
              <a:ext uri="{FF2B5EF4-FFF2-40B4-BE49-F238E27FC236}">
                <a16:creationId xmlns:a16="http://schemas.microsoft.com/office/drawing/2014/main" id="{382D7BB9-C336-47B2-A9B2-E9DA7BBE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48350"/>
            <a:ext cx="8448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结合渠道表现和用户反馈，识别值得继续投入的方向，调整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后续计划与执行重点。</a:t>
            </a:r>
          </a:p>
        </p:txBody>
      </p:sp>
      <p:sp>
        <p:nvSpPr>
          <p:cNvPr id="24" name="copy-126">
            <a:extLst xmlns:a="http://schemas.openxmlformats.org/drawingml/2006/main">
              <a:ext uri="{FF2B5EF4-FFF2-40B4-BE49-F238E27FC236}">
                <a16:creationId xmlns:a16="http://schemas.microsoft.com/office/drawing/2014/main" id="{E1C01FEC-129B-45FF-9372-971BB586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4579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市场反馈</a:t>
            </a:r>
          </a:p>
        </p:txBody>
      </p:sp>
      <p:cxnSp>
        <p:nvCxnSpPr>
          <p:cNvPr id="25" name="line-127">
            <a:extLst xmlns:a="http://schemas.openxmlformats.org/drawingml/2006/main">
              <a:ext uri="{FF2B5EF4-FFF2-40B4-BE49-F238E27FC236}">
                <a16:creationId xmlns:a16="http://schemas.microsoft.com/office/drawing/2014/main" id="{B5A9F644-D5E0-4633-B763-11E5AC9E2D5C}"/>
              </a:ext>
            </a:extLst>
          </p:cNvPr>
          <p:cNvCxnSpPr/>
          <p:nvPr/>
        </p:nvCxnSpPr>
        <p:spPr>
          <a:xfrm xmlns:a="http://schemas.openxmlformats.org/drawingml/2006/main">
            <a:off x="3714750" y="66389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760"/>
            </a:solidFill>
            <a:prstDash val="solid"/>
            <a:tailEnd type="triangle" w="sm" len="sm"/>
          </a:ln>
        </p:spPr>
      </p:cxnSp>
      <p:sp>
        <p:nvSpPr>
          <p:cNvPr id="26" name="copy-128">
            <a:extLst xmlns:a="http://schemas.openxmlformats.org/drawingml/2006/main">
              <a:ext uri="{FF2B5EF4-FFF2-40B4-BE49-F238E27FC236}">
                <a16:creationId xmlns:a16="http://schemas.microsoft.com/office/drawing/2014/main" id="{3511D86C-F89D-42B6-9373-826BE6CB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4579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计划调整</a:t>
            </a:r>
          </a:p>
        </p:txBody>
      </p:sp>
    </p:spTree>
    <p:extLst>
      <p:ext uri="{BB962C8B-B14F-4D97-AF65-F5344CB8AC3E}">
        <p14:creationId xmlns:p14="http://schemas.microsoft.com/office/powerpoint/2010/main" val="54553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opy-129">
            <a:extLst xmlns:a="http://schemas.openxmlformats.org/drawingml/2006/main">
              <a:ext uri="{FF2B5EF4-FFF2-40B4-BE49-F238E27FC236}">
                <a16:creationId xmlns:a16="http://schemas.microsoft.com/office/drawing/2014/main" id="{F0FEF117-FC33-45A4-BF49-204A112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 · 直接执行</a:t>
            </a:r>
          </a:p>
        </p:txBody>
      </p:sp>
      <p:sp>
        <p:nvSpPr>
          <p:cNvPr id="2" name="title-130">
            <a:extLst xmlns:a="http://schemas.openxmlformats.org/drawingml/2006/main">
              <a:ext uri="{FF2B5EF4-FFF2-40B4-BE49-F238E27FC236}">
                <a16:creationId xmlns:a16="http://schemas.microsoft.com/office/drawing/2014/main" id="{F882C9EB-C42A-4AA9-BCFB-0C63714A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三类执行能力，承接关键营销任务</a:t>
            </a:r>
          </a:p>
        </p:txBody>
      </p:sp>
      <p:sp>
        <p:nvSpPr>
          <p:cNvPr id="3" name="copy-131">
            <a:extLst xmlns:a="http://schemas.openxmlformats.org/drawingml/2006/main">
              <a:ext uri="{FF2B5EF4-FFF2-40B4-BE49-F238E27FC236}">
                <a16:creationId xmlns:a16="http://schemas.microsoft.com/office/drawing/2014/main" id="{AC4FF27A-2BA1-452A-A838-BDCACEF1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根据策略选择模块，由 Outrise 直接推进约定工作。</a:t>
            </a:r>
          </a:p>
        </p:txBody>
      </p:sp>
      <p:cxnSp>
        <p:nvCxnSpPr>
          <p:cNvPr id="4" name="line-132">
            <a:extLst xmlns:a="http://schemas.openxmlformats.org/drawingml/2006/main">
              <a:ext uri="{FF2B5EF4-FFF2-40B4-BE49-F238E27FC236}">
                <a16:creationId xmlns:a16="http://schemas.microsoft.com/office/drawing/2014/main" id="{C23275E5-8D81-44B0-9D07-080F63F15964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133">
            <a:extLst xmlns:a="http://schemas.openxmlformats.org/drawingml/2006/main">
              <a:ext uri="{FF2B5EF4-FFF2-40B4-BE49-F238E27FC236}">
                <a16:creationId xmlns:a16="http://schemas.microsoft.com/office/drawing/2014/main" id="{E12D72E1-52DE-45BA-9750-B2D686F7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执行渠道、素材数量与工作节奏，根据项目目标和范围确定。</a:t>
            </a:r>
          </a:p>
        </p:txBody>
      </p:sp>
      <p:sp>
        <p:nvSpPr>
          <p:cNvPr id="6" name="copy-134">
            <a:extLst xmlns:a="http://schemas.openxmlformats.org/drawingml/2006/main">
              <a:ext uri="{FF2B5EF4-FFF2-40B4-BE49-F238E27FC236}">
                <a16:creationId xmlns:a16="http://schemas.microsoft.com/office/drawing/2014/main" id="{4AFF6647-0333-4A75-A3F0-F005191B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copy-135">
            <a:extLst xmlns:a="http://schemas.openxmlformats.org/drawingml/2006/main">
              <a:ext uri="{FF2B5EF4-FFF2-40B4-BE49-F238E27FC236}">
                <a16:creationId xmlns:a16="http://schemas.microsoft.com/office/drawing/2014/main" id="{BDB1DB6F-A552-46B9-9667-F80D1147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copy-136">
            <a:extLst xmlns:a="http://schemas.openxmlformats.org/drawingml/2006/main">
              <a:ext uri="{FF2B5EF4-FFF2-40B4-BE49-F238E27FC236}">
                <a16:creationId xmlns:a16="http://schemas.microsoft.com/office/drawing/2014/main" id="{C4AD9E88-387D-41FF-9DD4-3E03799D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981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内容营销</a:t>
            </a:r>
          </a:p>
        </p:txBody>
      </p:sp>
      <p:sp>
        <p:nvSpPr>
          <p:cNvPr id="9" name="copy-137">
            <a:extLst xmlns:a="http://schemas.openxmlformats.org/drawingml/2006/main">
              <a:ext uri="{FF2B5EF4-FFF2-40B4-BE49-F238E27FC236}">
                <a16:creationId xmlns:a16="http://schemas.microsoft.com/office/drawing/2014/main" id="{910B46EE-E059-4BB6-A9AF-089CE8F8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39814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围绕品牌与产品价值，制定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内容方向、创意方案和传播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计划，制作约定的图文、视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频及社媒素材。</a:t>
            </a:r>
          </a:p>
        </p:txBody>
      </p:sp>
      <p:cxnSp>
        <p:nvCxnSpPr>
          <p:cNvPr id="10" name="line-138">
            <a:extLst xmlns:a="http://schemas.openxmlformats.org/drawingml/2006/main">
              <a:ext uri="{FF2B5EF4-FFF2-40B4-BE49-F238E27FC236}">
                <a16:creationId xmlns:a16="http://schemas.microsoft.com/office/drawing/2014/main" id="{68D647E4-18DF-487D-8D6F-C1A81216A15C}"/>
              </a:ext>
            </a:extLst>
          </p:cNvPr>
          <p:cNvCxnSpPr/>
          <p:nvPr/>
        </p:nvCxnSpPr>
        <p:spPr>
          <a:xfrm xmlns:a="http://schemas.openxmlformats.org/drawingml/2006/main">
            <a:off x="857250" y="6924675"/>
            <a:ext cx="394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1" name="copy-139">
            <a:extLst xmlns:a="http://schemas.openxmlformats.org/drawingml/2006/main">
              <a:ext uri="{FF2B5EF4-FFF2-40B4-BE49-F238E27FC236}">
                <a16:creationId xmlns:a16="http://schemas.microsoft.com/office/drawing/2014/main" id="{BF35E511-EC8B-4C60-AF91-8F123E3F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方向 · 创意 · 内容</a:t>
            </a:r>
          </a:p>
        </p:txBody>
      </p:sp>
      <p:cxnSp>
        <p:nvCxnSpPr>
          <p:cNvPr id="12" name="line-140">
            <a:extLst xmlns:a="http://schemas.openxmlformats.org/drawingml/2006/main">
              <a:ext uri="{FF2B5EF4-FFF2-40B4-BE49-F238E27FC236}">
                <a16:creationId xmlns:a16="http://schemas.microsoft.com/office/drawing/2014/main" id="{E49E97BF-5C9C-4170-8841-88CCFB99DCC8}"/>
              </a:ext>
            </a:extLst>
          </p:cNvPr>
          <p:cNvCxnSpPr/>
          <p:nvPr/>
        </p:nvCxnSpPr>
        <p:spPr>
          <a:xfrm xmlns:a="http://schemas.openxmlformats.org/drawingml/2006/main">
            <a:off x="5219700" y="3048000"/>
            <a:ext cx="0" cy="4191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3" name="copy-141">
            <a:extLst xmlns:a="http://schemas.openxmlformats.org/drawingml/2006/main">
              <a:ext uri="{FF2B5EF4-FFF2-40B4-BE49-F238E27FC236}">
                <a16:creationId xmlns:a16="http://schemas.microsoft.com/office/drawing/2014/main" id="{DB1823BE-025C-4497-8F16-3A38B2C4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copy-142">
            <a:extLst xmlns:a="http://schemas.openxmlformats.org/drawingml/2006/main">
              <a:ext uri="{FF2B5EF4-FFF2-40B4-BE49-F238E27FC236}">
                <a16:creationId xmlns:a16="http://schemas.microsoft.com/office/drawing/2014/main" id="{536C1FD4-3644-4458-8570-E2A8413D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3981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达人营销</a:t>
            </a:r>
          </a:p>
        </p:txBody>
      </p:sp>
      <p:sp>
        <p:nvSpPr>
          <p:cNvPr id="15" name="copy-143">
            <a:extLst xmlns:a="http://schemas.openxmlformats.org/drawingml/2006/main">
              <a:ext uri="{FF2B5EF4-FFF2-40B4-BE49-F238E27FC236}">
                <a16:creationId xmlns:a16="http://schemas.microsoft.com/office/drawing/2014/main" id="{EE76898E-D4A6-453A-99B0-14470D8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0150"/>
            <a:ext cx="39814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筛选与触达适配的达人，策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划合作方式，沟通内容要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求，推进发布并复盘合作表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现。</a:t>
            </a:r>
          </a:p>
        </p:txBody>
      </p:sp>
      <p:cxnSp>
        <p:nvCxnSpPr>
          <p:cNvPr id="16" name="line-144">
            <a:extLst xmlns:a="http://schemas.openxmlformats.org/drawingml/2006/main">
              <a:ext uri="{FF2B5EF4-FFF2-40B4-BE49-F238E27FC236}">
                <a16:creationId xmlns:a16="http://schemas.microsoft.com/office/drawing/2014/main" id="{19B9E35A-FD05-458F-ACB4-FA6FAF75F232}"/>
              </a:ext>
            </a:extLst>
          </p:cNvPr>
          <p:cNvCxnSpPr/>
          <p:nvPr/>
        </p:nvCxnSpPr>
        <p:spPr>
          <a:xfrm xmlns:a="http://schemas.openxmlformats.org/drawingml/2006/main">
            <a:off x="5619750" y="6924675"/>
            <a:ext cx="394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7" name="copy-145">
            <a:extLst xmlns:a="http://schemas.openxmlformats.org/drawingml/2006/main">
              <a:ext uri="{FF2B5EF4-FFF2-40B4-BE49-F238E27FC236}">
                <a16:creationId xmlns:a16="http://schemas.microsoft.com/office/drawing/2014/main" id="{42FFA556-6A2E-454F-9F9B-914C26B7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4375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筛选 · 合作 · 推进</a:t>
            </a:r>
          </a:p>
        </p:txBody>
      </p:sp>
      <p:cxnSp>
        <p:nvCxnSpPr>
          <p:cNvPr id="18" name="line-146">
            <a:extLst xmlns:a="http://schemas.openxmlformats.org/drawingml/2006/main">
              <a:ext uri="{FF2B5EF4-FFF2-40B4-BE49-F238E27FC236}">
                <a16:creationId xmlns:a16="http://schemas.microsoft.com/office/drawing/2014/main" id="{C06ED6C2-24AD-41F0-A97C-3FA1B9CFEF79}"/>
              </a:ext>
            </a:extLst>
          </p:cNvPr>
          <p:cNvCxnSpPr/>
          <p:nvPr/>
        </p:nvCxnSpPr>
        <p:spPr>
          <a:xfrm xmlns:a="http://schemas.openxmlformats.org/drawingml/2006/main">
            <a:off x="9982200" y="3048000"/>
            <a:ext cx="0" cy="4191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9" name="copy-147">
            <a:extLst xmlns:a="http://schemas.openxmlformats.org/drawingml/2006/main">
              <a:ext uri="{FF2B5EF4-FFF2-40B4-BE49-F238E27FC236}">
                <a16:creationId xmlns:a16="http://schemas.microsoft.com/office/drawing/2014/main" id="{746B124F-A48A-443B-83B2-2F47B0EC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copy-148">
            <a:extLst xmlns:a="http://schemas.openxmlformats.org/drawingml/2006/main">
              <a:ext uri="{FF2B5EF4-FFF2-40B4-BE49-F238E27FC236}">
                <a16:creationId xmlns:a16="http://schemas.microsoft.com/office/drawing/2014/main" id="{FE9A12D9-0943-4AFE-BB06-A46500FC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3981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广告与投放</a:t>
            </a:r>
          </a:p>
        </p:txBody>
      </p:sp>
      <p:sp>
        <p:nvSpPr>
          <p:cNvPr id="21" name="copy-149">
            <a:extLst xmlns:a="http://schemas.openxmlformats.org/drawingml/2006/main">
              <a:ext uri="{FF2B5EF4-FFF2-40B4-BE49-F238E27FC236}">
                <a16:creationId xmlns:a16="http://schemas.microsoft.com/office/drawing/2014/main" id="{8C5ED536-BE28-4394-8070-84E996B2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10150"/>
            <a:ext cx="39814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制定投放计划，协同广告素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材，执行约定渠道的广告工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作，并根据反馈持续优化。</a:t>
            </a:r>
          </a:p>
        </p:txBody>
      </p:sp>
      <p:cxnSp>
        <p:nvCxnSpPr>
          <p:cNvPr id="22" name="line-150">
            <a:extLst xmlns:a="http://schemas.openxmlformats.org/drawingml/2006/main">
              <a:ext uri="{FF2B5EF4-FFF2-40B4-BE49-F238E27FC236}">
                <a16:creationId xmlns:a16="http://schemas.microsoft.com/office/drawing/2014/main" id="{3650F86F-A37F-4E54-899E-026855E39525}"/>
              </a:ext>
            </a:extLst>
          </p:cNvPr>
          <p:cNvCxnSpPr/>
          <p:nvPr/>
        </p:nvCxnSpPr>
        <p:spPr>
          <a:xfrm xmlns:a="http://schemas.openxmlformats.org/drawingml/2006/main">
            <a:off x="10382250" y="6924675"/>
            <a:ext cx="394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23" name="copy-151">
            <a:extLst xmlns:a="http://schemas.openxmlformats.org/drawingml/2006/main">
              <a:ext uri="{FF2B5EF4-FFF2-40B4-BE49-F238E27FC236}">
                <a16:creationId xmlns:a16="http://schemas.microsoft.com/office/drawing/2014/main" id="{C9099D3C-B1D2-485F-BA06-F156A1FD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4375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计划 · 投放 · 优化</a:t>
            </a:r>
          </a:p>
        </p:txBody>
      </p:sp>
    </p:spTree>
    <p:extLst>
      <p:ext uri="{BB962C8B-B14F-4D97-AF65-F5344CB8AC3E}">
        <p14:creationId xmlns:p14="http://schemas.microsoft.com/office/powerpoint/2010/main" val="1356696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opy-152">
            <a:extLst xmlns:a="http://schemas.openxmlformats.org/drawingml/2006/main">
              <a:ext uri="{FF2B5EF4-FFF2-40B4-BE49-F238E27FC236}">
                <a16:creationId xmlns:a16="http://schemas.microsoft.com/office/drawing/2014/main" id="{CBFE456E-27CB-4DBD-BE70-A57FB7B0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 · 专业协作</a:t>
            </a:r>
          </a:p>
        </p:txBody>
      </p:sp>
      <p:sp>
        <p:nvSpPr>
          <p:cNvPr id="2" name="title-153">
            <a:extLst xmlns:a="http://schemas.openxmlformats.org/drawingml/2006/main">
              <a:ext uri="{FF2B5EF4-FFF2-40B4-BE49-F238E27FC236}">
                <a16:creationId xmlns:a16="http://schemas.microsoft.com/office/drawing/2014/main" id="{28A3FEF1-CB76-43E4-AF42-9422D7B9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按需组织专业资源，拓展项目能力</a:t>
            </a:r>
          </a:p>
        </p:txBody>
      </p:sp>
      <p:sp>
        <p:nvSpPr>
          <p:cNvPr id="3" name="copy-154">
            <a:extLst xmlns:a="http://schemas.openxmlformats.org/drawingml/2006/main">
              <a:ext uri="{FF2B5EF4-FFF2-40B4-BE49-F238E27FC236}">
                <a16:creationId xmlns:a16="http://schemas.microsoft.com/office/drawing/2014/main" id="{412B9733-EEE0-4A39-889B-820AC85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当项目需要更多本地或专项能力，Outrise 帮助触达、筛选与协调。</a:t>
            </a:r>
          </a:p>
        </p:txBody>
      </p:sp>
      <p:cxnSp>
        <p:nvCxnSpPr>
          <p:cNvPr id="4" name="line-155">
            <a:extLst xmlns:a="http://schemas.openxmlformats.org/drawingml/2006/main">
              <a:ext uri="{FF2B5EF4-FFF2-40B4-BE49-F238E27FC236}">
                <a16:creationId xmlns:a16="http://schemas.microsoft.com/office/drawing/2014/main" id="{2CCB8F28-88A6-4322-879F-C4C4858D9765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156">
            <a:extLst xmlns:a="http://schemas.openxmlformats.org/drawingml/2006/main">
              <a:ext uri="{FF2B5EF4-FFF2-40B4-BE49-F238E27FC236}">
                <a16:creationId xmlns:a16="http://schemas.microsoft.com/office/drawing/2014/main" id="{265AF211-D325-4327-930D-BD7379FE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客户统一对接 Outrise；伙伴参与方式与工作范围在方案中明确。</a:t>
            </a:r>
          </a:p>
        </p:txBody>
      </p:sp>
      <p:sp>
        <p:nvSpPr>
          <p:cNvPr id="6" name="copy-157">
            <a:extLst xmlns:a="http://schemas.openxmlformats.org/drawingml/2006/main">
              <a:ext uri="{FF2B5EF4-FFF2-40B4-BE49-F238E27FC236}">
                <a16:creationId xmlns:a16="http://schemas.microsoft.com/office/drawing/2014/main" id="{CBEAC2DC-5868-46C9-84C6-B35D1363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rect-158">
            <a:extLst xmlns:a="http://schemas.openxmlformats.org/drawingml/2006/main">
              <a:ext uri="{FF2B5EF4-FFF2-40B4-BE49-F238E27FC236}">
                <a16:creationId xmlns:a16="http://schemas.microsoft.com/office/drawing/2014/main" id="{B0113D23-38F6-48C3-90CA-2323B750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76550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-159">
            <a:extLst xmlns:a="http://schemas.openxmlformats.org/drawingml/2006/main">
              <a:ext uri="{FF2B5EF4-FFF2-40B4-BE49-F238E27FC236}">
                <a16:creationId xmlns:a16="http://schemas.microsoft.com/office/drawing/2014/main" id="{AE7E1E3E-9CD1-443D-A3C5-12EC29E4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86100"/>
            <a:ext cx="4000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Outrise 统一组织</a:t>
            </a:r>
          </a:p>
        </p:txBody>
      </p:sp>
      <p:cxnSp>
        <p:nvCxnSpPr>
          <p:cNvPr id="9" name="line-160">
            <a:extLst xmlns:a="http://schemas.openxmlformats.org/drawingml/2006/main">
              <a:ext uri="{FF2B5EF4-FFF2-40B4-BE49-F238E27FC236}">
                <a16:creationId xmlns:a16="http://schemas.microsoft.com/office/drawing/2014/main" id="{4B8CF02D-23FE-4C45-8D5C-869CE97130E7}"/>
              </a:ext>
            </a:extLst>
          </p:cNvPr>
          <p:cNvCxnSpPr/>
          <p:nvPr/>
        </p:nvCxnSpPr>
        <p:spPr>
          <a:xfrm xmlns:a="http://schemas.openxmlformats.org/drawingml/2006/main">
            <a:off x="7620000" y="37909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0" name="line-161">
            <a:extLst xmlns:a="http://schemas.openxmlformats.org/drawingml/2006/main">
              <a:ext uri="{FF2B5EF4-FFF2-40B4-BE49-F238E27FC236}">
                <a16:creationId xmlns:a16="http://schemas.microsoft.com/office/drawing/2014/main" id="{11F8DABD-DF56-47C1-A531-533EBAB8F0CE}"/>
              </a:ext>
            </a:extLst>
          </p:cNvPr>
          <p:cNvCxnSpPr/>
          <p:nvPr/>
        </p:nvCxnSpPr>
        <p:spPr>
          <a:xfrm xmlns:a="http://schemas.openxmlformats.org/drawingml/2006/main">
            <a:off x="2857500" y="4229100"/>
            <a:ext cx="95250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1" name="line-162">
            <a:extLst xmlns:a="http://schemas.openxmlformats.org/drawingml/2006/main">
              <a:ext uri="{FF2B5EF4-FFF2-40B4-BE49-F238E27FC236}">
                <a16:creationId xmlns:a16="http://schemas.microsoft.com/office/drawing/2014/main" id="{A379F053-3490-47E4-B7BE-AA09BA424727}"/>
              </a:ext>
            </a:extLst>
          </p:cNvPr>
          <p:cNvCxnSpPr/>
          <p:nvPr/>
        </p:nvCxnSpPr>
        <p:spPr>
          <a:xfrm xmlns:a="http://schemas.openxmlformats.org/drawingml/2006/main">
            <a:off x="2857500" y="4229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2" name="copy-163">
            <a:extLst xmlns:a="http://schemas.openxmlformats.org/drawingml/2006/main">
              <a:ext uri="{FF2B5EF4-FFF2-40B4-BE49-F238E27FC236}">
                <a16:creationId xmlns:a16="http://schemas.microsoft.com/office/drawing/2014/main" id="{B191993C-F875-41FB-BE07-F4AFF5ED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本地渠道拓展</a:t>
            </a:r>
          </a:p>
        </p:txBody>
      </p:sp>
      <p:sp>
        <p:nvSpPr>
          <p:cNvPr id="13" name="copy-164">
            <a:extLst xmlns:a="http://schemas.openxmlformats.org/drawingml/2006/main">
              <a:ext uri="{FF2B5EF4-FFF2-40B4-BE49-F238E27FC236}">
                <a16:creationId xmlns:a16="http://schemas.microsoft.com/office/drawing/2014/main" id="{ABA941B4-1825-4314-88CD-56A6CA38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围绕市场目标，识别适合接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触的渠道与资源，推进沟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通，并协调后续合作机会。</a:t>
            </a:r>
          </a:p>
        </p:txBody>
      </p:sp>
      <p:cxnSp>
        <p:nvCxnSpPr>
          <p:cNvPr id="14" name="line-165">
            <a:extLst xmlns:a="http://schemas.openxmlformats.org/drawingml/2006/main">
              <a:ext uri="{FF2B5EF4-FFF2-40B4-BE49-F238E27FC236}">
                <a16:creationId xmlns:a16="http://schemas.microsoft.com/office/drawing/2014/main" id="{CEBD0F9E-9320-420B-8CC4-F73234B572CE}"/>
              </a:ext>
            </a:extLst>
          </p:cNvPr>
          <p:cNvCxnSpPr/>
          <p:nvPr/>
        </p:nvCxnSpPr>
        <p:spPr>
          <a:xfrm xmlns:a="http://schemas.openxmlformats.org/drawingml/2006/main">
            <a:off x="7620000" y="4229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5" name="copy-166">
            <a:extLst xmlns:a="http://schemas.openxmlformats.org/drawingml/2006/main">
              <a:ext uri="{FF2B5EF4-FFF2-40B4-BE49-F238E27FC236}">
                <a16:creationId xmlns:a16="http://schemas.microsoft.com/office/drawing/2014/main" id="{939EB74B-7918-4D0A-98FD-15DF02E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529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落地执行支持</a:t>
            </a:r>
          </a:p>
        </p:txBody>
      </p:sp>
      <p:sp>
        <p:nvSpPr>
          <p:cNvPr id="16" name="copy-167">
            <a:extLst xmlns:a="http://schemas.openxmlformats.org/drawingml/2006/main">
              <a:ext uri="{FF2B5EF4-FFF2-40B4-BE49-F238E27FC236}">
                <a16:creationId xmlns:a16="http://schemas.microsoft.com/office/drawing/2014/main" id="{E4B33FA5-BF5D-49F3-860E-3938D76B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34025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根据项目安排，对接相应的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本地专业团队，协调任务要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求、执行节奏与交付衔接。</a:t>
            </a:r>
          </a:p>
        </p:txBody>
      </p:sp>
      <p:cxnSp>
        <p:nvCxnSpPr>
          <p:cNvPr id="17" name="line-168">
            <a:extLst xmlns:a="http://schemas.openxmlformats.org/drawingml/2006/main">
              <a:ext uri="{FF2B5EF4-FFF2-40B4-BE49-F238E27FC236}">
                <a16:creationId xmlns:a16="http://schemas.microsoft.com/office/drawing/2014/main" id="{5A6851A9-2F39-4BD8-AAAE-6367D0E0407F}"/>
              </a:ext>
            </a:extLst>
          </p:cNvPr>
          <p:cNvCxnSpPr/>
          <p:nvPr/>
        </p:nvCxnSpPr>
        <p:spPr>
          <a:xfrm xmlns:a="http://schemas.openxmlformats.org/drawingml/2006/main">
            <a:off x="12382500" y="4229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8" name="copy-169">
            <a:extLst xmlns:a="http://schemas.openxmlformats.org/drawingml/2006/main">
              <a:ext uri="{FF2B5EF4-FFF2-40B4-BE49-F238E27FC236}">
                <a16:creationId xmlns:a16="http://schemas.microsoft.com/office/drawing/2014/main" id="{DD0756B3-52AF-46E0-AF81-2BD2CA9A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529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公共关系（PR）</a:t>
            </a:r>
          </a:p>
        </p:txBody>
      </p:sp>
      <p:sp>
        <p:nvSpPr>
          <p:cNvPr id="19" name="copy-170">
            <a:extLst xmlns:a="http://schemas.openxmlformats.org/drawingml/2006/main">
              <a:ext uri="{FF2B5EF4-FFF2-40B4-BE49-F238E27FC236}">
                <a16:creationId xmlns:a16="http://schemas.microsoft.com/office/drawing/2014/main" id="{9DE53CC2-59A0-4D1A-974F-B355FDA1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34025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根据传播或业务需求，引入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匹配的专业伙伴，共同明确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工作内容、责任与推进方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式。</a:t>
            </a:r>
          </a:p>
        </p:txBody>
      </p:sp>
    </p:spTree>
    <p:extLst>
      <p:ext uri="{BB962C8B-B14F-4D97-AF65-F5344CB8AC3E}">
        <p14:creationId xmlns:p14="http://schemas.microsoft.com/office/powerpoint/2010/main" val="1496603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02197D-C201-4D71-A841-4F2AC21F48CF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857750" y="5686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7BDA5A-95A4-407D-9555-4909B5CE24B8}"/>
              </a:ext>
            </a:extLst>
          </p:cNvPr>
          <p:cNvCxnSpPr>
            <a:stCxn xmlns:a="http://schemas.openxmlformats.org/drawingml/2006/main" id="21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9620250" y="5686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ECCFBC-289A-478A-8BE7-AC1EEAB3325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620250" y="3286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2B8E3E-FBF8-4437-9EFA-9EBACF9024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57750" y="3286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41" name="copy-171">
            <a:extLst xmlns:a="http://schemas.openxmlformats.org/drawingml/2006/main">
              <a:ext uri="{FF2B5EF4-FFF2-40B4-BE49-F238E27FC236}">
                <a16:creationId xmlns:a16="http://schemas.microsoft.com/office/drawing/2014/main" id="{79678D4A-DD99-489C-B515-7E0D0B4F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怎样推进项目</a:t>
            </a:r>
          </a:p>
        </p:txBody>
      </p:sp>
      <p:sp>
        <p:nvSpPr>
          <p:cNvPr id="2" name="title-172">
            <a:extLst xmlns:a="http://schemas.openxmlformats.org/drawingml/2006/main">
              <a:ext uri="{FF2B5EF4-FFF2-40B4-BE49-F238E27FC236}">
                <a16:creationId xmlns:a16="http://schemas.microsoft.com/office/drawing/2014/main" id="{631A8000-6D3D-42CC-A2D6-0619C07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从业务目标出发，持续推进与调整</a:t>
            </a:r>
          </a:p>
        </p:txBody>
      </p:sp>
      <p:sp>
        <p:nvSpPr>
          <p:cNvPr id="3" name="copy-173">
            <a:extLst xmlns:a="http://schemas.openxmlformats.org/drawingml/2006/main">
              <a:ext uri="{FF2B5EF4-FFF2-40B4-BE49-F238E27FC236}">
                <a16:creationId xmlns:a16="http://schemas.microsoft.com/office/drawing/2014/main" id="{AF9D4DE2-7002-47EC-8930-042A38F3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六个工作环节，让判断、计划与执行相互衔接。</a:t>
            </a:r>
          </a:p>
        </p:txBody>
      </p:sp>
      <p:cxnSp>
        <p:nvCxnSpPr>
          <p:cNvPr id="4" name="line-174">
            <a:extLst xmlns:a="http://schemas.openxmlformats.org/drawingml/2006/main">
              <a:ext uri="{FF2B5EF4-FFF2-40B4-BE49-F238E27FC236}">
                <a16:creationId xmlns:a16="http://schemas.microsoft.com/office/drawing/2014/main" id="{E42224A7-C48D-4EF6-9CE3-DE475CC9C34D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175">
            <a:extLst xmlns:a="http://schemas.openxmlformats.org/drawingml/2006/main">
              <a:ext uri="{FF2B5EF4-FFF2-40B4-BE49-F238E27FC236}">
                <a16:creationId xmlns:a16="http://schemas.microsoft.com/office/drawing/2014/main" id="{D5769C75-961F-452C-A8C0-F9B50FC9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按项目阶段开展工作；复盘结果持续影响后续判断与计划。</a:t>
            </a:r>
          </a:p>
        </p:txBody>
      </p:sp>
      <p:sp>
        <p:nvSpPr>
          <p:cNvPr id="6" name="copy-176">
            <a:extLst xmlns:a="http://schemas.openxmlformats.org/drawingml/2006/main">
              <a:ext uri="{FF2B5EF4-FFF2-40B4-BE49-F238E27FC236}">
                <a16:creationId xmlns:a16="http://schemas.microsoft.com/office/drawing/2014/main" id="{C101E968-FE96-4351-B58C-51F06667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rect-177">
            <a:extLst xmlns:a="http://schemas.openxmlformats.org/drawingml/2006/main">
              <a:ext uri="{FF2B5EF4-FFF2-40B4-BE49-F238E27FC236}">
                <a16:creationId xmlns:a16="http://schemas.microsoft.com/office/drawing/2014/main" id="{E71D6DBE-C6B7-456B-BCC5-A8D4E6A1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copy-178">
            <a:extLst xmlns:a="http://schemas.openxmlformats.org/drawingml/2006/main">
              <a:ext uri="{FF2B5EF4-FFF2-40B4-BE49-F238E27FC236}">
                <a16:creationId xmlns:a16="http://schemas.microsoft.com/office/drawing/2014/main" id="{33318834-60CB-4ED0-8975-DC20928C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copy-179">
            <a:extLst xmlns:a="http://schemas.openxmlformats.org/drawingml/2006/main">
              <a:ext uri="{FF2B5EF4-FFF2-40B4-BE49-F238E27FC236}">
                <a16:creationId xmlns:a16="http://schemas.microsoft.com/office/drawing/2014/main" id="{35C84FFC-6093-4D90-81DC-2DA64ABA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0480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理解业务</a:t>
            </a:r>
          </a:p>
        </p:txBody>
      </p:sp>
      <p:sp>
        <p:nvSpPr>
          <p:cNvPr id="10" name="copy-180">
            <a:extLst xmlns:a="http://schemas.openxmlformats.org/drawingml/2006/main">
              <a:ext uri="{FF2B5EF4-FFF2-40B4-BE49-F238E27FC236}">
                <a16:creationId xmlns:a16="http://schemas.microsoft.com/office/drawing/2014/main" id="{DE39CC89-6D71-49D4-9F81-C6BB666D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明确产品、目标、现有基础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与资源约束。</a:t>
            </a:r>
          </a:p>
        </p:txBody>
      </p:sp>
      <p:sp>
        <p:nvSpPr>
          <p:cNvPr id="11" name="copy-181">
            <a:extLst xmlns:a="http://schemas.openxmlformats.org/drawingml/2006/main">
              <a:ext uri="{FF2B5EF4-FFF2-40B4-BE49-F238E27FC236}">
                <a16:creationId xmlns:a16="http://schemas.microsoft.com/office/drawing/2014/main" id="{B489AA99-6FA1-46C8-8064-B2BCD62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客户参与：提供背景与目标</a:t>
            </a:r>
          </a:p>
        </p:txBody>
      </p:sp>
      <p:sp>
        <p:nvSpPr>
          <p:cNvPr id="12" name="rect-182">
            <a:extLst xmlns:a="http://schemas.openxmlformats.org/drawingml/2006/main">
              <a:ext uri="{FF2B5EF4-FFF2-40B4-BE49-F238E27FC236}">
                <a16:creationId xmlns:a16="http://schemas.microsoft.com/office/drawing/2014/main" id="{94F9335A-27A6-46FE-B9DF-B39CB0F1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copy-183">
            <a:extLst xmlns:a="http://schemas.openxmlformats.org/drawingml/2006/main">
              <a:ext uri="{FF2B5EF4-FFF2-40B4-BE49-F238E27FC236}">
                <a16:creationId xmlns:a16="http://schemas.microsoft.com/office/drawing/2014/main" id="{07AB5AB7-D3B6-4C49-80CF-593F5CFC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copy-184">
            <a:extLst xmlns:a="http://schemas.openxmlformats.org/drawingml/2006/main">
              <a:ext uri="{FF2B5EF4-FFF2-40B4-BE49-F238E27FC236}">
                <a16:creationId xmlns:a16="http://schemas.microsoft.com/office/drawing/2014/main" id="{60BC317D-5BA7-4DF7-95D6-32BA4333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480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建立判断</a:t>
            </a:r>
          </a:p>
        </p:txBody>
      </p:sp>
      <p:sp>
        <p:nvSpPr>
          <p:cNvPr id="15" name="copy-185">
            <a:extLst xmlns:a="http://schemas.openxmlformats.org/drawingml/2006/main">
              <a:ext uri="{FF2B5EF4-FFF2-40B4-BE49-F238E27FC236}">
                <a16:creationId xmlns:a16="http://schemas.microsoft.com/office/drawing/2014/main" id="{49329348-51B2-4F35-9F6E-03E6C9E9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研究市场与用户，识别核心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营销问题。</a:t>
            </a:r>
          </a:p>
        </p:txBody>
      </p:sp>
      <p:sp>
        <p:nvSpPr>
          <p:cNvPr id="16" name="rect-186">
            <a:extLst xmlns:a="http://schemas.openxmlformats.org/drawingml/2006/main">
              <a:ext uri="{FF2B5EF4-FFF2-40B4-BE49-F238E27FC236}">
                <a16:creationId xmlns:a16="http://schemas.microsoft.com/office/drawing/2014/main" id="{9D5655DF-7E6C-4A38-91B1-9FF88BB3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99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copy-187">
            <a:extLst xmlns:a="http://schemas.openxmlformats.org/drawingml/2006/main">
              <a:ext uri="{FF2B5EF4-FFF2-40B4-BE49-F238E27FC236}">
                <a16:creationId xmlns:a16="http://schemas.microsoft.com/office/drawing/2014/main" id="{D9BA6BE0-C2DA-4BD4-8FA3-6D85215F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99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copy-188">
            <a:extLst xmlns:a="http://schemas.openxmlformats.org/drawingml/2006/main">
              <a:ext uri="{FF2B5EF4-FFF2-40B4-BE49-F238E27FC236}">
                <a16:creationId xmlns:a16="http://schemas.microsoft.com/office/drawing/2014/main" id="{8E8268A0-A3B1-44EA-BA49-C4BBCA76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30480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确定选择</a:t>
            </a:r>
          </a:p>
        </p:txBody>
      </p:sp>
      <p:sp>
        <p:nvSpPr>
          <p:cNvPr id="19" name="copy-189">
            <a:extLst xmlns:a="http://schemas.openxmlformats.org/drawingml/2006/main">
              <a:ext uri="{FF2B5EF4-FFF2-40B4-BE49-F238E27FC236}">
                <a16:creationId xmlns:a16="http://schemas.microsoft.com/office/drawing/2014/main" id="{77F01605-68A7-479D-982B-B8922840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19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提出方向与优先级，共同确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认重点。</a:t>
            </a:r>
          </a:p>
        </p:txBody>
      </p:sp>
      <p:sp>
        <p:nvSpPr>
          <p:cNvPr id="20" name="copy-190">
            <a:extLst xmlns:a="http://schemas.openxmlformats.org/drawingml/2006/main">
              <a:ext uri="{FF2B5EF4-FFF2-40B4-BE49-F238E27FC236}">
                <a16:creationId xmlns:a16="http://schemas.microsoft.com/office/drawing/2014/main" id="{E7E785D0-1A8B-4F86-AAF6-659761C8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19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客户参与：确认关键选择</a:t>
            </a:r>
          </a:p>
        </p:txBody>
      </p:sp>
      <p:sp>
        <p:nvSpPr>
          <p:cNvPr id="21" name="rect-191">
            <a:extLst xmlns:a="http://schemas.openxmlformats.org/drawingml/2006/main">
              <a:ext uri="{FF2B5EF4-FFF2-40B4-BE49-F238E27FC236}">
                <a16:creationId xmlns:a16="http://schemas.microsoft.com/office/drawing/2014/main" id="{40049FFB-5A12-4B61-9855-46728E64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10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copy-192">
            <a:extLst xmlns:a="http://schemas.openxmlformats.org/drawingml/2006/main">
              <a:ext uri="{FF2B5EF4-FFF2-40B4-BE49-F238E27FC236}">
                <a16:creationId xmlns:a16="http://schemas.microsoft.com/office/drawing/2014/main" id="{3129327B-A746-410B-9A54-09055288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102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copy-193">
            <a:extLst xmlns:a="http://schemas.openxmlformats.org/drawingml/2006/main">
              <a:ext uri="{FF2B5EF4-FFF2-40B4-BE49-F238E27FC236}">
                <a16:creationId xmlns:a16="http://schemas.microsoft.com/office/drawing/2014/main" id="{2F47C3E5-EA60-42EC-B57B-66754695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54483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制定规划</a:t>
            </a:r>
          </a:p>
        </p:txBody>
      </p:sp>
      <p:sp>
        <p:nvSpPr>
          <p:cNvPr id="24" name="copy-194">
            <a:extLst xmlns:a="http://schemas.openxmlformats.org/drawingml/2006/main">
              <a:ext uri="{FF2B5EF4-FFF2-40B4-BE49-F238E27FC236}">
                <a16:creationId xmlns:a16="http://schemas.microsoft.com/office/drawing/2014/main" id="{F224EB99-FB4D-4DB9-8FA7-F81495AD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722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形成阶段计划、任务分工和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资源安排。</a:t>
            </a:r>
          </a:p>
        </p:txBody>
      </p:sp>
      <p:sp>
        <p:nvSpPr>
          <p:cNvPr id="25" name="rect-195">
            <a:extLst xmlns:a="http://schemas.openxmlformats.org/drawingml/2006/main">
              <a:ext uri="{FF2B5EF4-FFF2-40B4-BE49-F238E27FC236}">
                <a16:creationId xmlns:a16="http://schemas.microsoft.com/office/drawing/2014/main" id="{B9343C3D-3FC6-48C7-A862-070FA4B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10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copy-196">
            <a:extLst xmlns:a="http://schemas.openxmlformats.org/drawingml/2006/main">
              <a:ext uri="{FF2B5EF4-FFF2-40B4-BE49-F238E27FC236}">
                <a16:creationId xmlns:a16="http://schemas.microsoft.com/office/drawing/2014/main" id="{4CB144F8-CA64-49E6-9BF9-85F2F32D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102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copy-197">
            <a:extLst xmlns:a="http://schemas.openxmlformats.org/drawingml/2006/main">
              <a:ext uri="{FF2B5EF4-FFF2-40B4-BE49-F238E27FC236}">
                <a16:creationId xmlns:a16="http://schemas.microsoft.com/office/drawing/2014/main" id="{AB3BF7E1-CC6E-4F13-BFB3-E7DEEB3C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4483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推进执行</a:t>
            </a:r>
          </a:p>
        </p:txBody>
      </p:sp>
      <p:sp>
        <p:nvSpPr>
          <p:cNvPr id="28" name="copy-198">
            <a:extLst xmlns:a="http://schemas.openxmlformats.org/drawingml/2006/main">
              <a:ext uri="{FF2B5EF4-FFF2-40B4-BE49-F238E27FC236}">
                <a16:creationId xmlns:a16="http://schemas.microsoft.com/office/drawing/2014/main" id="{1FEB204B-F8F8-407B-A5EF-A5D5A60C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722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承担关键任务，协调团队与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专业伙伴。</a:t>
            </a:r>
          </a:p>
        </p:txBody>
      </p:sp>
      <p:sp>
        <p:nvSpPr>
          <p:cNvPr id="29" name="rect-199">
            <a:extLst xmlns:a="http://schemas.openxmlformats.org/drawingml/2006/main">
              <a:ext uri="{FF2B5EF4-FFF2-40B4-BE49-F238E27FC236}">
                <a16:creationId xmlns:a16="http://schemas.microsoft.com/office/drawing/2014/main" id="{200486FC-F994-4602-82FF-F8CDF3EA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copy-200">
            <a:extLst xmlns:a="http://schemas.openxmlformats.org/drawingml/2006/main">
              <a:ext uri="{FF2B5EF4-FFF2-40B4-BE49-F238E27FC236}">
                <a16:creationId xmlns:a16="http://schemas.microsoft.com/office/drawing/2014/main" id="{315FA328-AE78-4267-8DF2-A3384ADC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copy-201">
            <a:extLst xmlns:a="http://schemas.openxmlformats.org/drawingml/2006/main">
              <a:ext uri="{FF2B5EF4-FFF2-40B4-BE49-F238E27FC236}">
                <a16:creationId xmlns:a16="http://schemas.microsoft.com/office/drawing/2014/main" id="{B1489AD5-3CAC-4D11-9706-BA42D993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4483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复盘调整</a:t>
            </a:r>
          </a:p>
        </p:txBody>
      </p:sp>
      <p:sp>
        <p:nvSpPr>
          <p:cNvPr id="32" name="copy-202">
            <a:extLst xmlns:a="http://schemas.openxmlformats.org/drawingml/2006/main">
              <a:ext uri="{FF2B5EF4-FFF2-40B4-BE49-F238E27FC236}">
                <a16:creationId xmlns:a16="http://schemas.microsoft.com/office/drawing/2014/main" id="{C2C48663-908D-4F3C-9D4B-F96E6ADA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722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结合市场反馈，确定下一步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行动。</a:t>
            </a:r>
          </a:p>
        </p:txBody>
      </p:sp>
      <p:sp>
        <p:nvSpPr>
          <p:cNvPr id="33" name="copy-203">
            <a:extLst xmlns:a="http://schemas.openxmlformats.org/drawingml/2006/main">
              <a:ext uri="{FF2B5EF4-FFF2-40B4-BE49-F238E27FC236}">
                <a16:creationId xmlns:a16="http://schemas.microsoft.com/office/drawing/2014/main" id="{97DF9429-0A3C-4599-8B5F-310596BB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199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客户参与：共同复盘与调整</a:t>
            </a:r>
          </a:p>
        </p:txBody>
      </p:sp>
      <p:cxnSp>
        <p:nvCxnSpPr>
          <p:cNvPr id="36" name="line-204">
            <a:extLst xmlns:a="http://schemas.openxmlformats.org/drawingml/2006/main">
              <a:ext uri="{FF2B5EF4-FFF2-40B4-BE49-F238E27FC236}">
                <a16:creationId xmlns:a16="http://schemas.microsoft.com/office/drawing/2014/main" id="{D9D5ACF3-DA9B-4C3B-94DC-164E27640995}"/>
              </a:ext>
            </a:extLst>
          </p:cNvPr>
          <p:cNvCxnSpPr/>
          <p:nvPr/>
        </p:nvCxnSpPr>
        <p:spPr>
          <a:xfrm xmlns:a="http://schemas.openxmlformats.org/drawingml/2006/main">
            <a:off x="1438275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</a:ln>
        </p:spPr>
      </p:cxnSp>
      <p:cxnSp>
        <p:nvCxnSpPr>
          <p:cNvPr id="37" name="line-205">
            <a:extLst xmlns:a="http://schemas.openxmlformats.org/drawingml/2006/main">
              <a:ext uri="{FF2B5EF4-FFF2-40B4-BE49-F238E27FC236}">
                <a16:creationId xmlns:a16="http://schemas.microsoft.com/office/drawing/2014/main" id="{E6450ABD-9B1A-4BFA-B87C-0E9088EBC1AB}"/>
              </a:ext>
            </a:extLst>
          </p:cNvPr>
          <p:cNvCxnSpPr/>
          <p:nvPr/>
        </p:nvCxnSpPr>
        <p:spPr>
          <a:xfrm xmlns:a="http://schemas.openxmlformats.org/drawingml/2006/main">
            <a:off x="14668500" y="3286125"/>
            <a:ext cx="0" cy="2400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</a:ln>
        </p:spPr>
      </p:cxnSp>
      <p:cxnSp>
        <p:nvCxnSpPr>
          <p:cNvPr id="38" name="line-206">
            <a:extLst xmlns:a="http://schemas.openxmlformats.org/drawingml/2006/main">
              <a:ext uri="{FF2B5EF4-FFF2-40B4-BE49-F238E27FC236}">
                <a16:creationId xmlns:a16="http://schemas.microsoft.com/office/drawing/2014/main" id="{1E2118C1-2614-46F0-955F-47FBC841EBA0}"/>
              </a:ext>
            </a:extLst>
          </p:cNvPr>
          <p:cNvCxnSpPr/>
          <p:nvPr/>
        </p:nvCxnSpPr>
        <p:spPr>
          <a:xfrm xmlns:a="http://schemas.openxmlformats.org/drawingml/2006/main">
            <a:off x="14382750" y="5686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816356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py-207">
            <a:extLst xmlns:a="http://schemas.openxmlformats.org/drawingml/2006/main">
              <a:ext uri="{FF2B5EF4-FFF2-40B4-BE49-F238E27FC236}">
                <a16:creationId xmlns:a16="http://schemas.microsoft.com/office/drawing/2014/main" id="{F51416F9-5B18-4557-9CC4-21ED9201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怎样推进项目</a:t>
            </a:r>
          </a:p>
        </p:txBody>
      </p:sp>
      <p:sp>
        <p:nvSpPr>
          <p:cNvPr id="2" name="title-208">
            <a:extLst xmlns:a="http://schemas.openxmlformats.org/drawingml/2006/main">
              <a:ext uri="{FF2B5EF4-FFF2-40B4-BE49-F238E27FC236}">
                <a16:creationId xmlns:a16="http://schemas.microsoft.com/office/drawing/2014/main" id="{FD7450C5-F95E-4818-A043-E56A5381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客户获得清晰方向，也获得推进依据</a:t>
            </a:r>
          </a:p>
        </p:txBody>
      </p:sp>
      <p:sp>
        <p:nvSpPr>
          <p:cNvPr id="3" name="copy-209">
            <a:extLst xmlns:a="http://schemas.openxmlformats.org/drawingml/2006/main">
              <a:ext uri="{FF2B5EF4-FFF2-40B4-BE49-F238E27FC236}">
                <a16:creationId xmlns:a16="http://schemas.microsoft.com/office/drawing/2014/main" id="{3B5B450D-0644-49C8-B3A7-D7DC5F8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交付涵盖策略、规划与约定的执行成果，并用于支持持续决策。</a:t>
            </a:r>
          </a:p>
        </p:txBody>
      </p:sp>
      <p:cxnSp>
        <p:nvCxnSpPr>
          <p:cNvPr id="4" name="line-210">
            <a:extLst xmlns:a="http://schemas.openxmlformats.org/drawingml/2006/main">
              <a:ext uri="{FF2B5EF4-FFF2-40B4-BE49-F238E27FC236}">
                <a16:creationId xmlns:a16="http://schemas.microsoft.com/office/drawing/2014/main" id="{3BF77CDD-0E0D-4D2F-9295-C7EA0606310F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211">
            <a:extLst xmlns:a="http://schemas.openxmlformats.org/drawingml/2006/main">
              <a:ext uri="{FF2B5EF4-FFF2-40B4-BE49-F238E27FC236}">
                <a16:creationId xmlns:a16="http://schemas.microsoft.com/office/drawing/2014/main" id="{D50A24B8-0D2C-4C5F-A559-B02C0A6C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交付内容与评估方式在合作前明确，并随已确认的项目安排推进。</a:t>
            </a:r>
          </a:p>
        </p:txBody>
      </p:sp>
      <p:sp>
        <p:nvSpPr>
          <p:cNvPr id="6" name="copy-212">
            <a:extLst xmlns:a="http://schemas.openxmlformats.org/drawingml/2006/main">
              <a:ext uri="{FF2B5EF4-FFF2-40B4-BE49-F238E27FC236}">
                <a16:creationId xmlns:a16="http://schemas.microsoft.com/office/drawing/2014/main" id="{528A162F-DA6E-4DF2-A911-243AC8D1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copy-213">
            <a:extLst xmlns:a="http://schemas.openxmlformats.org/drawingml/2006/main">
              <a:ext uri="{FF2B5EF4-FFF2-40B4-BE49-F238E27FC236}">
                <a16:creationId xmlns:a16="http://schemas.microsoft.com/office/drawing/2014/main" id="{0FC46A3C-604A-4BEE-8903-FE88CEE1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904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copy-214">
            <a:extLst xmlns:a="http://schemas.openxmlformats.org/drawingml/2006/main">
              <a:ext uri="{FF2B5EF4-FFF2-40B4-BE49-F238E27FC236}">
                <a16:creationId xmlns:a16="http://schemas.microsoft.com/office/drawing/2014/main" id="{01B3A625-F797-4B6B-A9DC-9D1B30D5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策略判断与表达</a:t>
            </a:r>
          </a:p>
        </p:txBody>
      </p:sp>
      <p:sp>
        <p:nvSpPr>
          <p:cNvPr id="9" name="copy-215">
            <a:extLst xmlns:a="http://schemas.openxmlformats.org/drawingml/2006/main">
              <a:ext uri="{FF2B5EF4-FFF2-40B4-BE49-F238E27FC236}">
                <a16:creationId xmlns:a16="http://schemas.microsoft.com/office/drawing/2014/main" id="{354CE94D-1A42-4704-8C76-DDA34A07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735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说明目标用户、品牌或产品价值、营销重点，以及重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要选择背后的判断依据。</a:t>
            </a:r>
          </a:p>
        </p:txBody>
      </p:sp>
      <p:cxnSp>
        <p:nvCxnSpPr>
          <p:cNvPr id="10" name="line-216">
            <a:extLst xmlns:a="http://schemas.openxmlformats.org/drawingml/2006/main">
              <a:ext uri="{FF2B5EF4-FFF2-40B4-BE49-F238E27FC236}">
                <a16:creationId xmlns:a16="http://schemas.microsoft.com/office/drawing/2014/main" id="{EBB18DA0-50BC-49E3-B9DD-91490CCD0BD9}"/>
              </a:ext>
            </a:extLst>
          </p:cNvPr>
          <p:cNvCxnSpPr/>
          <p:nvPr/>
        </p:nvCxnSpPr>
        <p:spPr>
          <a:xfrm xmlns:a="http://schemas.openxmlformats.org/drawingml/2006/main">
            <a:off x="857250" y="3905250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1" name="copy-217">
            <a:extLst xmlns:a="http://schemas.openxmlformats.org/drawingml/2006/main">
              <a:ext uri="{FF2B5EF4-FFF2-40B4-BE49-F238E27FC236}">
                <a16:creationId xmlns:a16="http://schemas.microsoft.com/office/drawing/2014/main" id="{F174F328-7B22-4A4B-8FA2-AEEF72E6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904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copy-218">
            <a:extLst xmlns:a="http://schemas.openxmlformats.org/drawingml/2006/main">
              <a:ext uri="{FF2B5EF4-FFF2-40B4-BE49-F238E27FC236}">
                <a16:creationId xmlns:a16="http://schemas.microsoft.com/office/drawing/2014/main" id="{146D4741-94E0-4D98-BBB2-91E48688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阶段路线与资源安排</a:t>
            </a:r>
          </a:p>
        </p:txBody>
      </p:sp>
      <p:sp>
        <p:nvSpPr>
          <p:cNvPr id="13" name="copy-219">
            <a:extLst xmlns:a="http://schemas.openxmlformats.org/drawingml/2006/main">
              <a:ext uri="{FF2B5EF4-FFF2-40B4-BE49-F238E27FC236}">
                <a16:creationId xmlns:a16="http://schemas.microsoft.com/office/drawing/2014/main" id="{84563249-860B-4BDF-944C-F8CDD165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735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明确渠道优先级、阶段行动、预算重点与责任分工，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让各方知道下一步做什么。</a:t>
            </a:r>
          </a:p>
        </p:txBody>
      </p:sp>
      <p:cxnSp>
        <p:nvCxnSpPr>
          <p:cNvPr id="14" name="line-220">
            <a:extLst xmlns:a="http://schemas.openxmlformats.org/drawingml/2006/main">
              <a:ext uri="{FF2B5EF4-FFF2-40B4-BE49-F238E27FC236}">
                <a16:creationId xmlns:a16="http://schemas.microsoft.com/office/drawing/2014/main" id="{63EEC464-2059-4861-B238-94B33CDB57CF}"/>
              </a:ext>
            </a:extLst>
          </p:cNvPr>
          <p:cNvCxnSpPr/>
          <p:nvPr/>
        </p:nvCxnSpPr>
        <p:spPr>
          <a:xfrm xmlns:a="http://schemas.openxmlformats.org/drawingml/2006/main">
            <a:off x="857250" y="5019675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5" name="copy-221">
            <a:extLst xmlns:a="http://schemas.openxmlformats.org/drawingml/2006/main">
              <a:ext uri="{FF2B5EF4-FFF2-40B4-BE49-F238E27FC236}">
                <a16:creationId xmlns:a16="http://schemas.microsoft.com/office/drawing/2014/main" id="{9ADDD569-2B9B-4605-8671-1011C417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904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copy-222">
            <a:extLst xmlns:a="http://schemas.openxmlformats.org/drawingml/2006/main">
              <a:ext uri="{FF2B5EF4-FFF2-40B4-BE49-F238E27FC236}">
                <a16:creationId xmlns:a16="http://schemas.microsoft.com/office/drawing/2014/main" id="{8C906477-DA7E-4A6F-8020-446EE5F9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29225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关键执行成果</a:t>
            </a:r>
          </a:p>
        </p:txBody>
      </p:sp>
      <p:sp>
        <p:nvSpPr>
          <p:cNvPr id="17" name="copy-223">
            <a:extLst xmlns:a="http://schemas.openxmlformats.org/drawingml/2006/main">
              <a:ext uri="{FF2B5EF4-FFF2-40B4-BE49-F238E27FC236}">
                <a16:creationId xmlns:a16="http://schemas.microsoft.com/office/drawing/2014/main" id="{D5A05666-4C88-434E-A21D-A5A63508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00650"/>
            <a:ext cx="735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按合作范围交付内容素材、达人合作、广告工作或其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他已约定的执行成果。</a:t>
            </a:r>
          </a:p>
        </p:txBody>
      </p:sp>
      <p:cxnSp>
        <p:nvCxnSpPr>
          <p:cNvPr id="18" name="line-224">
            <a:extLst xmlns:a="http://schemas.openxmlformats.org/drawingml/2006/main">
              <a:ext uri="{FF2B5EF4-FFF2-40B4-BE49-F238E27FC236}">
                <a16:creationId xmlns:a16="http://schemas.microsoft.com/office/drawing/2014/main" id="{90D9796B-13D4-49F7-803F-5C1B3C3BCCAF}"/>
              </a:ext>
            </a:extLst>
          </p:cNvPr>
          <p:cNvCxnSpPr/>
          <p:nvPr/>
        </p:nvCxnSpPr>
        <p:spPr>
          <a:xfrm xmlns:a="http://schemas.openxmlformats.org/drawingml/2006/main">
            <a:off x="857250" y="6134100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9" name="copy-225">
            <a:extLst xmlns:a="http://schemas.openxmlformats.org/drawingml/2006/main">
              <a:ext uri="{FF2B5EF4-FFF2-40B4-BE49-F238E27FC236}">
                <a16:creationId xmlns:a16="http://schemas.microsoft.com/office/drawing/2014/main" id="{E12D2E61-8A11-4D82-B689-16ED23DB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15075"/>
            <a:ext cx="904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copy-226">
            <a:extLst xmlns:a="http://schemas.openxmlformats.org/drawingml/2006/main">
              <a:ext uri="{FF2B5EF4-FFF2-40B4-BE49-F238E27FC236}">
                <a16:creationId xmlns:a16="http://schemas.microsoft.com/office/drawing/2014/main" id="{E8369EC3-EDB8-40AA-959F-D0A670C7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3436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复盘与后续建议</a:t>
            </a:r>
          </a:p>
        </p:txBody>
      </p:sp>
      <p:sp>
        <p:nvSpPr>
          <p:cNvPr id="21" name="copy-227">
            <a:extLst xmlns:a="http://schemas.openxmlformats.org/drawingml/2006/main">
              <a:ext uri="{FF2B5EF4-FFF2-40B4-BE49-F238E27FC236}">
                <a16:creationId xmlns:a16="http://schemas.microsoft.com/office/drawing/2014/main" id="{D7DE2528-7CE2-4D6A-9C93-893B727E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315075"/>
            <a:ext cx="735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整理执行反馈与阶段表现，提出继续、调整或新增工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作的建议。</a:t>
            </a:r>
          </a:p>
        </p:txBody>
      </p:sp>
    </p:spTree>
    <p:extLst>
      <p:ext uri="{BB962C8B-B14F-4D97-AF65-F5344CB8AC3E}">
        <p14:creationId xmlns:p14="http://schemas.microsoft.com/office/powerpoint/2010/main" val="1306817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opy-228">
            <a:extLst xmlns:a="http://schemas.openxmlformats.org/drawingml/2006/main">
              <a:ext uri="{FF2B5EF4-FFF2-40B4-BE49-F238E27FC236}">
                <a16:creationId xmlns:a16="http://schemas.microsoft.com/office/drawing/2014/main" id="{7C80E4EC-BA73-4CE1-B419-1EB107F8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为什么选择我们 · AI-native</a:t>
            </a:r>
          </a:p>
        </p:txBody>
      </p:sp>
      <p:sp>
        <p:nvSpPr>
          <p:cNvPr id="2" name="title-229">
            <a:extLst xmlns:a="http://schemas.openxmlformats.org/drawingml/2006/main">
              <a:ext uri="{FF2B5EF4-FFF2-40B4-BE49-F238E27FC236}">
                <a16:creationId xmlns:a16="http://schemas.microsoft.com/office/drawing/2014/main" id="{B75C6C15-17BF-4A4A-AEC9-F00E9BED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AI 已经融入我们的内部执行体系</a:t>
            </a:r>
          </a:p>
        </p:txBody>
      </p:sp>
      <p:sp>
        <p:nvSpPr>
          <p:cNvPr id="3" name="copy-230">
            <a:extLst xmlns:a="http://schemas.openxmlformats.org/drawingml/2006/main">
              <a:ext uri="{FF2B5EF4-FFF2-40B4-BE49-F238E27FC236}">
                <a16:creationId xmlns:a16="http://schemas.microsoft.com/office/drawing/2014/main" id="{06E0A04A-54BB-4FFC-B75C-99F8479F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Outrise 已建立高度自动化、智能化、以 AI 为驱动的执行体系。</a:t>
            </a:r>
          </a:p>
        </p:txBody>
      </p:sp>
      <p:cxnSp>
        <p:nvCxnSpPr>
          <p:cNvPr id="4" name="line-231">
            <a:extLst xmlns:a="http://schemas.openxmlformats.org/drawingml/2006/main">
              <a:ext uri="{FF2B5EF4-FFF2-40B4-BE49-F238E27FC236}">
                <a16:creationId xmlns:a16="http://schemas.microsoft.com/office/drawing/2014/main" id="{C3755D8A-F9D5-450A-BA75-86721564BC89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232">
            <a:extLst xmlns:a="http://schemas.openxmlformats.org/drawingml/2006/main">
              <a:ext uri="{FF2B5EF4-FFF2-40B4-BE49-F238E27FC236}">
                <a16:creationId xmlns:a16="http://schemas.microsoft.com/office/drawing/2014/main" id="{DC7B8A74-7658-44B2-BF2A-237E63C7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AI 支持工作衔接与迭代，团队承担商业判断和交付责任。</a:t>
            </a:r>
          </a:p>
        </p:txBody>
      </p:sp>
      <p:sp>
        <p:nvSpPr>
          <p:cNvPr id="6" name="copy-233">
            <a:extLst xmlns:a="http://schemas.openxmlformats.org/drawingml/2006/main">
              <a:ext uri="{FF2B5EF4-FFF2-40B4-BE49-F238E27FC236}">
                <a16:creationId xmlns:a16="http://schemas.microsoft.com/office/drawing/2014/main" id="{621A5B0D-10CB-44BF-A3CF-35D57B1A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copy-234">
            <a:extLst xmlns:a="http://schemas.openxmlformats.org/drawingml/2006/main">
              <a:ext uri="{FF2B5EF4-FFF2-40B4-BE49-F238E27FC236}">
                <a16:creationId xmlns:a16="http://schemas.microsoft.com/office/drawing/2014/main" id="{CACDC96B-3BFC-4A59-9DEC-F7BA6820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AI 支持营销工作的环节示意</a:t>
            </a:r>
          </a:p>
        </p:txBody>
      </p:sp>
      <p:sp>
        <p:nvSpPr>
          <p:cNvPr id="8" name="copy-235">
            <a:extLst xmlns:a="http://schemas.openxmlformats.org/drawingml/2006/main">
              <a:ext uri="{FF2B5EF4-FFF2-40B4-BE49-F238E27FC236}">
                <a16:creationId xmlns:a16="http://schemas.microsoft.com/office/drawing/2014/main" id="{0DD75A39-9C0B-4285-8365-F549147B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cxnSp>
        <p:nvCxnSpPr>
          <p:cNvPr id="9" name="line-236">
            <a:extLst xmlns:a="http://schemas.openxmlformats.org/drawingml/2006/main">
              <a:ext uri="{FF2B5EF4-FFF2-40B4-BE49-F238E27FC236}">
                <a16:creationId xmlns:a16="http://schemas.microsoft.com/office/drawing/2014/main" id="{D8E11055-A7D8-48CF-97D0-2C43B32E5B59}"/>
              </a:ext>
            </a:extLst>
          </p:cNvPr>
          <p:cNvCxnSpPr/>
          <p:nvPr/>
        </p:nvCxnSpPr>
        <p:spPr>
          <a:xfrm xmlns:a="http://schemas.openxmlformats.org/drawingml/2006/main">
            <a:off x="1857375" y="32861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10" name="copy-237">
            <a:extLst xmlns:a="http://schemas.openxmlformats.org/drawingml/2006/main">
              <a:ext uri="{FF2B5EF4-FFF2-40B4-BE49-F238E27FC236}">
                <a16:creationId xmlns:a16="http://schemas.microsoft.com/office/drawing/2014/main" id="{820DAD4A-2FE8-444A-BEFE-028D90D7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838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研究与知识积累</a:t>
            </a:r>
          </a:p>
        </p:txBody>
      </p:sp>
      <p:sp>
        <p:nvSpPr>
          <p:cNvPr id="11" name="copy-238">
            <a:extLst xmlns:a="http://schemas.openxmlformats.org/drawingml/2006/main">
              <a:ext uri="{FF2B5EF4-FFF2-40B4-BE49-F238E27FC236}">
                <a16:creationId xmlns:a16="http://schemas.microsoft.com/office/drawing/2014/main" id="{7740CF13-2EA5-4093-A3E0-2AB671B0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838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将研究资料、业务信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息与项目经验组织为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可持续使用的知识基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础，支持后续判断。</a:t>
            </a:r>
          </a:p>
        </p:txBody>
      </p:sp>
      <p:sp>
        <p:nvSpPr>
          <p:cNvPr id="12" name="copy-239">
            <a:extLst xmlns:a="http://schemas.openxmlformats.org/drawingml/2006/main">
              <a:ext uri="{FF2B5EF4-FFF2-40B4-BE49-F238E27FC236}">
                <a16:creationId xmlns:a16="http://schemas.microsoft.com/office/drawing/2014/main" id="{17AB767E-ADFD-4D18-B3E2-DFBCC940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cxnSp>
        <p:nvCxnSpPr>
          <p:cNvPr id="13" name="line-240">
            <a:extLst xmlns:a="http://schemas.openxmlformats.org/drawingml/2006/main">
              <a:ext uri="{FF2B5EF4-FFF2-40B4-BE49-F238E27FC236}">
                <a16:creationId xmlns:a16="http://schemas.microsoft.com/office/drawing/2014/main" id="{94F0EED6-E422-4F70-A26A-ECAE1492DB36}"/>
              </a:ext>
            </a:extLst>
          </p:cNvPr>
          <p:cNvCxnSpPr/>
          <p:nvPr/>
        </p:nvCxnSpPr>
        <p:spPr>
          <a:xfrm xmlns:a="http://schemas.openxmlformats.org/drawingml/2006/main">
            <a:off x="5429250" y="32861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14" name="copy-241">
            <a:extLst xmlns:a="http://schemas.openxmlformats.org/drawingml/2006/main">
              <a:ext uri="{FF2B5EF4-FFF2-40B4-BE49-F238E27FC236}">
                <a16:creationId xmlns:a16="http://schemas.microsoft.com/office/drawing/2014/main" id="{C3CBC0C4-14AA-4DAC-B002-F769CC5D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38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规划与任务推进</a:t>
            </a:r>
          </a:p>
        </p:txBody>
      </p:sp>
      <p:sp>
        <p:nvSpPr>
          <p:cNvPr id="15" name="copy-242">
            <a:extLst xmlns:a="http://schemas.openxmlformats.org/drawingml/2006/main">
              <a:ext uri="{FF2B5EF4-FFF2-40B4-BE49-F238E27FC236}">
                <a16:creationId xmlns:a16="http://schemas.microsoft.com/office/drawing/2014/main" id="{271377D8-1363-4D35-9ED9-F7B7B7F2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43450"/>
            <a:ext cx="2838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让信息、计划和任务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衔接，支持团队协调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工作、跟进进度和处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理反馈。</a:t>
            </a:r>
          </a:p>
        </p:txBody>
      </p:sp>
      <p:sp>
        <p:nvSpPr>
          <p:cNvPr id="16" name="copy-243">
            <a:extLst xmlns:a="http://schemas.openxmlformats.org/drawingml/2006/main">
              <a:ext uri="{FF2B5EF4-FFF2-40B4-BE49-F238E27FC236}">
                <a16:creationId xmlns:a16="http://schemas.microsoft.com/office/drawing/2014/main" id="{C60E1960-3CF1-4BA1-8001-26E66AA1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17" name="line-244">
            <a:extLst xmlns:a="http://schemas.openxmlformats.org/drawingml/2006/main">
              <a:ext uri="{FF2B5EF4-FFF2-40B4-BE49-F238E27FC236}">
                <a16:creationId xmlns:a16="http://schemas.microsoft.com/office/drawing/2014/main" id="{358E5692-0904-481B-B2C1-36188AA24781}"/>
              </a:ext>
            </a:extLst>
          </p:cNvPr>
          <p:cNvCxnSpPr/>
          <p:nvPr/>
        </p:nvCxnSpPr>
        <p:spPr>
          <a:xfrm xmlns:a="http://schemas.openxmlformats.org/drawingml/2006/main">
            <a:off x="9001125" y="32861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18" name="copy-245">
            <a:extLst xmlns:a="http://schemas.openxmlformats.org/drawingml/2006/main">
              <a:ext uri="{FF2B5EF4-FFF2-40B4-BE49-F238E27FC236}">
                <a16:creationId xmlns:a16="http://schemas.microsoft.com/office/drawing/2014/main" id="{6C6CA77B-1AC1-46E4-94C2-B3CB8383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38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内容与创意生产</a:t>
            </a:r>
          </a:p>
        </p:txBody>
      </p:sp>
      <p:sp>
        <p:nvSpPr>
          <p:cNvPr id="19" name="copy-246">
            <a:extLst xmlns:a="http://schemas.openxmlformats.org/drawingml/2006/main">
              <a:ext uri="{FF2B5EF4-FFF2-40B4-BE49-F238E27FC236}">
                <a16:creationId xmlns:a16="http://schemas.microsoft.com/office/drawing/2014/main" id="{58EEA707-706E-4BDF-A14A-B5042CF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2838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运用 AI 支持创意探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索、素材生产与迭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代，由团队负责方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向、质量与最终判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断。</a:t>
            </a:r>
          </a:p>
        </p:txBody>
      </p:sp>
      <p:sp>
        <p:nvSpPr>
          <p:cNvPr id="20" name="copy-247">
            <a:extLst xmlns:a="http://schemas.openxmlformats.org/drawingml/2006/main">
              <a:ext uri="{FF2B5EF4-FFF2-40B4-BE49-F238E27FC236}">
                <a16:creationId xmlns:a16="http://schemas.microsoft.com/office/drawing/2014/main" id="{330D606B-73C0-4CAA-8C8B-48A65FB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0289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copy-248">
            <a:extLst xmlns:a="http://schemas.openxmlformats.org/drawingml/2006/main">
              <a:ext uri="{FF2B5EF4-FFF2-40B4-BE49-F238E27FC236}">
                <a16:creationId xmlns:a16="http://schemas.microsoft.com/office/drawing/2014/main" id="{086E9C7D-26DF-4978-A31F-FF7F1E5D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905250"/>
            <a:ext cx="2838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反馈与持续改进</a:t>
            </a:r>
          </a:p>
        </p:txBody>
      </p:sp>
      <p:sp>
        <p:nvSpPr>
          <p:cNvPr id="22" name="copy-249">
            <a:extLst xmlns:a="http://schemas.openxmlformats.org/drawingml/2006/main">
              <a:ext uri="{FF2B5EF4-FFF2-40B4-BE49-F238E27FC236}">
                <a16:creationId xmlns:a16="http://schemas.microsoft.com/office/drawing/2014/main" id="{4CEB6EF0-7C65-4A6D-929C-06EC2DDC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743450"/>
            <a:ext cx="2838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把执行反馈带回知识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与工作流程，让项目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经验持续服务于下一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轮行动。</a:t>
            </a:r>
          </a:p>
        </p:txBody>
      </p:sp>
      <p:cxnSp>
        <p:nvCxnSpPr>
          <p:cNvPr id="23" name="line-250">
            <a:extLst xmlns:a="http://schemas.openxmlformats.org/drawingml/2006/main">
              <a:ext uri="{FF2B5EF4-FFF2-40B4-BE49-F238E27FC236}">
                <a16:creationId xmlns:a16="http://schemas.microsoft.com/office/drawing/2014/main" id="{A2E76E05-7188-4A54-8857-A6C7B0044A14}"/>
              </a:ext>
            </a:extLst>
          </p:cNvPr>
          <p:cNvCxnSpPr/>
          <p:nvPr/>
        </p:nvCxnSpPr>
        <p:spPr>
          <a:xfrm xmlns:a="http://schemas.openxmlformats.org/drawingml/2006/main">
            <a:off x="12992100" y="642937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760"/>
            </a:solidFill>
            <a:prstDash val="solid"/>
          </a:ln>
        </p:spPr>
      </p:cxnSp>
      <p:cxnSp>
        <p:nvCxnSpPr>
          <p:cNvPr id="24" name="line-251">
            <a:extLst xmlns:a="http://schemas.openxmlformats.org/drawingml/2006/main">
              <a:ext uri="{FF2B5EF4-FFF2-40B4-BE49-F238E27FC236}">
                <a16:creationId xmlns:a16="http://schemas.microsoft.com/office/drawing/2014/main" id="{A1D8B6E2-ABAD-4147-8C89-DA6BC9E2742E}"/>
              </a:ext>
            </a:extLst>
          </p:cNvPr>
          <p:cNvCxnSpPr/>
          <p:nvPr/>
        </p:nvCxnSpPr>
        <p:spPr>
          <a:xfrm xmlns:a="http://schemas.openxmlformats.org/drawingml/2006/main">
            <a:off x="2276475" y="6686550"/>
            <a:ext cx="107156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760"/>
            </a:solidFill>
            <a:prstDash val="solid"/>
          </a:ln>
        </p:spPr>
      </p:cxnSp>
      <p:cxnSp>
        <p:nvCxnSpPr>
          <p:cNvPr id="25" name="line-252">
            <a:extLst xmlns:a="http://schemas.openxmlformats.org/drawingml/2006/main">
              <a:ext uri="{FF2B5EF4-FFF2-40B4-BE49-F238E27FC236}">
                <a16:creationId xmlns:a16="http://schemas.microsoft.com/office/drawing/2014/main" id="{F39239D4-22E8-41B9-B23E-97933F4439B5}"/>
              </a:ext>
            </a:extLst>
          </p:cNvPr>
          <p:cNvCxnSpPr/>
          <p:nvPr/>
        </p:nvCxnSpPr>
        <p:spPr>
          <a:xfrm xmlns:a="http://schemas.openxmlformats.org/drawingml/2006/main">
            <a:off x="2276475" y="642937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760"/>
            </a:solidFill>
            <a:prstDash val="solid"/>
            <a:headEnd type="triangle" w="sm" len="sm"/>
          </a:ln>
        </p:spPr>
      </p:cxnSp>
      <p:sp>
        <p:nvSpPr>
          <p:cNvPr id="26" name="rect-253">
            <a:extLst xmlns:a="http://schemas.openxmlformats.org/drawingml/2006/main">
              <a:ext uri="{FF2B5EF4-FFF2-40B4-BE49-F238E27FC236}">
                <a16:creationId xmlns:a16="http://schemas.microsoft.com/office/drawing/2014/main" id="{616590F7-08DA-42EC-B529-A3074456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86575"/>
            <a:ext cx="13544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py-254">
            <a:extLst xmlns:a="http://schemas.openxmlformats.org/drawingml/2006/main">
              <a:ext uri="{FF2B5EF4-FFF2-40B4-BE49-F238E27FC236}">
                <a16:creationId xmlns:a16="http://schemas.microsoft.com/office/drawing/2014/main" id="{43F839B3-F27F-4A0C-A5E1-6CB53705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29450"/>
            <a:ext cx="1308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团队负责商业判断、方向与质量</a:t>
            </a:r>
          </a:p>
        </p:txBody>
      </p:sp>
    </p:spTree>
    <p:extLst>
      <p:ext uri="{BB962C8B-B14F-4D97-AF65-F5344CB8AC3E}">
        <p14:creationId xmlns:p14="http://schemas.microsoft.com/office/powerpoint/2010/main" val="6480992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91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py-255">
            <a:extLst xmlns:a="http://schemas.openxmlformats.org/drawingml/2006/main">
              <a:ext uri="{FF2B5EF4-FFF2-40B4-BE49-F238E27FC236}">
                <a16:creationId xmlns:a16="http://schemas.microsoft.com/office/drawing/2014/main" id="{337274C1-1553-466F-8EB1-4F743F25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为什么选择我们 · 市场理解</a:t>
            </a:r>
          </a:p>
        </p:txBody>
      </p:sp>
      <p:sp>
        <p:nvSpPr>
          <p:cNvPr id="2" name="title-256">
            <a:extLst xmlns:a="http://schemas.openxmlformats.org/drawingml/2006/main">
              <a:ext uri="{FF2B5EF4-FFF2-40B4-BE49-F238E27FC236}">
                <a16:creationId xmlns:a16="http://schemas.microsoft.com/office/drawing/2014/main" id="{60C6F5F7-EDDE-4421-9CB1-D08EAA57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理解 AI 技术，也理解它带来的市场变化</a:t>
            </a:r>
          </a:p>
        </p:txBody>
      </p:sp>
      <p:sp>
        <p:nvSpPr>
          <p:cNvPr id="3" name="copy-257">
            <a:extLst xmlns:a="http://schemas.openxmlformats.org/drawingml/2006/main">
              <a:ext uri="{FF2B5EF4-FFF2-40B4-BE49-F238E27FC236}">
                <a16:creationId xmlns:a16="http://schemas.microsoft.com/office/drawing/2014/main" id="{4A8AA4F1-F801-49EA-983E-3E68500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把对技术与市场的理解，转化为更灵活的营销判断与行动。</a:t>
            </a:r>
          </a:p>
        </p:txBody>
      </p:sp>
      <p:cxnSp>
        <p:nvCxnSpPr>
          <p:cNvPr id="4" name="line-258">
            <a:extLst xmlns:a="http://schemas.openxmlformats.org/drawingml/2006/main">
              <a:ext uri="{FF2B5EF4-FFF2-40B4-BE49-F238E27FC236}">
                <a16:creationId xmlns:a16="http://schemas.microsoft.com/office/drawing/2014/main" id="{6F36CAA2-3AFF-42C1-AC70-F82F8D06A694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4F47"/>
            </a:solidFill>
            <a:prstDash val="solid"/>
          </a:ln>
        </p:spPr>
      </p:cxnSp>
      <p:sp>
        <p:nvSpPr>
          <p:cNvPr id="5" name="copy-259">
            <a:extLst xmlns:a="http://schemas.openxmlformats.org/drawingml/2006/main">
              <a:ext uri="{FF2B5EF4-FFF2-40B4-BE49-F238E27FC236}">
                <a16:creationId xmlns:a16="http://schemas.microsoft.com/office/drawing/2014/main" id="{B814D59B-1353-48B4-8E2F-AB96500C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专注北美市场，让技术理解与当地营销实践共同服务业务目标。</a:t>
            </a:r>
          </a:p>
        </p:txBody>
      </p:sp>
      <p:sp>
        <p:nvSpPr>
          <p:cNvPr id="6" name="copy-260">
            <a:extLst xmlns:a="http://schemas.openxmlformats.org/drawingml/2006/main">
              <a:ext uri="{FF2B5EF4-FFF2-40B4-BE49-F238E27FC236}">
                <a16:creationId xmlns:a16="http://schemas.microsoft.com/office/drawing/2014/main" id="{9837665E-8FB8-484F-9912-E0CB2713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copy-261">
            <a:extLst xmlns:a="http://schemas.openxmlformats.org/drawingml/2006/main">
              <a:ext uri="{FF2B5EF4-FFF2-40B4-BE49-F238E27FC236}">
                <a16:creationId xmlns:a16="http://schemas.microsoft.com/office/drawing/2014/main" id="{3070BC85-7BFF-4EA7-82C1-0FB1DAF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52387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技术理解</a:t>
            </a:r>
          </a:p>
          <a:p xmlns:a="http://schemas.openxmlformats.org/drawingml/2006/main">
            <a: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市场判断</a:t>
            </a:r>
          </a:p>
          <a:p xmlns:a="http://schemas.openxmlformats.org/drawingml/2006/main">
            <a: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快速适应</a:t>
            </a:r>
          </a:p>
        </p:txBody>
      </p:sp>
      <p:cxnSp>
        <p:nvCxnSpPr>
          <p:cNvPr id="8" name="line-262">
            <a:extLst xmlns:a="http://schemas.openxmlformats.org/drawingml/2006/main">
              <a:ext uri="{FF2B5EF4-FFF2-40B4-BE49-F238E27FC236}">
                <a16:creationId xmlns:a16="http://schemas.microsoft.com/office/drawing/2014/main" id="{F7BD4442-7B0D-474E-8408-F3DC8DD36492}"/>
              </a:ext>
            </a:extLst>
          </p:cNvPr>
          <p:cNvCxnSpPr/>
          <p:nvPr/>
        </p:nvCxnSpPr>
        <p:spPr>
          <a:xfrm xmlns:a="http://schemas.openxmlformats.org/drawingml/2006/main">
            <a:off x="6257925" y="3133725"/>
            <a:ext cx="0" cy="40290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D4F47"/>
            </a:solidFill>
            <a:prstDash val="solid"/>
          </a:ln>
        </p:spPr>
      </p:cxnSp>
      <p:sp>
        <p:nvSpPr>
          <p:cNvPr id="9" name="copy-263">
            <a:extLst xmlns:a="http://schemas.openxmlformats.org/drawingml/2006/main">
              <a:ext uri="{FF2B5EF4-FFF2-40B4-BE49-F238E27FC236}">
                <a16:creationId xmlns:a16="http://schemas.microsoft.com/office/drawing/2014/main" id="{B0081A42-9F89-4165-805F-3B1139A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754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读懂科技产品的价值</a:t>
            </a:r>
          </a:p>
        </p:txBody>
      </p:sp>
      <p:sp>
        <p:nvSpPr>
          <p:cNvPr id="10" name="copy-264">
            <a:extLst xmlns:a="http://schemas.openxmlformats.org/drawingml/2006/main">
              <a:ext uri="{FF2B5EF4-FFF2-40B4-BE49-F238E27FC236}">
                <a16:creationId xmlns:a16="http://schemas.microsoft.com/office/drawing/2014/main" id="{F9CAAD25-1EAA-4041-8A8F-F5F85564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7543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理解科技公司的产品逻辑、目标与需求，把技术能力转</a:t>
            </a:r>
          </a:p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化为用户能够理解的价值和场景。</a:t>
            </a:r>
          </a:p>
        </p:txBody>
      </p:sp>
      <p:sp>
        <p:nvSpPr>
          <p:cNvPr id="11" name="copy-265">
            <a:extLst xmlns:a="http://schemas.openxmlformats.org/drawingml/2006/main">
              <a:ext uri="{FF2B5EF4-FFF2-40B4-BE49-F238E27FC236}">
                <a16:creationId xmlns:a16="http://schemas.microsoft.com/office/drawing/2014/main" id="{71CF34AC-EF56-432F-84F1-2B214E84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754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跟随市场与渠道变化</a:t>
            </a:r>
          </a:p>
        </p:txBody>
      </p:sp>
      <p:sp>
        <p:nvSpPr>
          <p:cNvPr id="12" name="copy-266">
            <a:extLst xmlns:a="http://schemas.openxmlformats.org/drawingml/2006/main">
              <a:ext uri="{FF2B5EF4-FFF2-40B4-BE49-F238E27FC236}">
                <a16:creationId xmlns:a16="http://schemas.microsoft.com/office/drawing/2014/main" id="{E415B9B0-1695-49D0-9450-BD28FF72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7543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关注 AI 对信息发现、内容传播和用户决策的影响，持</a:t>
            </a:r>
          </a:p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续调整策略与渠道选择。</a:t>
            </a:r>
          </a:p>
        </p:txBody>
      </p:sp>
      <p:sp>
        <p:nvSpPr>
          <p:cNvPr id="13" name="copy-267">
            <a:extLst xmlns:a="http://schemas.openxmlformats.org/drawingml/2006/main">
              <a:ext uri="{FF2B5EF4-FFF2-40B4-BE49-F238E27FC236}">
                <a16:creationId xmlns:a16="http://schemas.microsoft.com/office/drawing/2014/main" id="{60D6275F-944A-4759-BA7D-E068C7F3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43600"/>
            <a:ext cx="754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更灵活地推进探索</a:t>
            </a:r>
          </a:p>
        </p:txBody>
      </p:sp>
      <p:sp>
        <p:nvSpPr>
          <p:cNvPr id="14" name="copy-268">
            <a:extLst xmlns:a="http://schemas.openxmlformats.org/drawingml/2006/main">
              <a:ext uri="{FF2B5EF4-FFF2-40B4-BE49-F238E27FC236}">
                <a16:creationId xmlns:a16="http://schemas.microsoft.com/office/drawing/2014/main" id="{FB243CBC-466D-48A2-B6C3-BB09EB5B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34150"/>
            <a:ext cx="7543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依托内部 AI 执行体系衔接研究、创意与反馈，更快组</a:t>
            </a:r>
          </a:p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织尝试，并据此调整下一轮行动。</a:t>
            </a:r>
          </a:p>
        </p:txBody>
      </p:sp>
    </p:spTree>
    <p:extLst>
      <p:ext uri="{BB962C8B-B14F-4D97-AF65-F5344CB8AC3E}">
        <p14:creationId xmlns:p14="http://schemas.microsoft.com/office/powerpoint/2010/main" val="2010506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E7BBB-433D-4684-B617-C14817385AF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05925" y="420052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0A0BC-6412-4D26-A41B-9A9C277AC36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20052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22" name="copy-269">
            <a:extLst xmlns:a="http://schemas.openxmlformats.org/drawingml/2006/main">
              <a:ext uri="{FF2B5EF4-FFF2-40B4-BE49-F238E27FC236}">
                <a16:creationId xmlns:a16="http://schemas.microsoft.com/office/drawing/2014/main" id="{293B6CA5-3FF2-406F-B700-2CABFE0F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项目经验</a:t>
            </a:r>
          </a:p>
        </p:txBody>
      </p:sp>
      <p:sp>
        <p:nvSpPr>
          <p:cNvPr id="2" name="title-270">
            <a:extLst xmlns:a="http://schemas.openxmlformats.org/drawingml/2006/main">
              <a:ext uri="{FF2B5EF4-FFF2-40B4-BE49-F238E27FC236}">
                <a16:creationId xmlns:a16="http://schemas.microsoft.com/office/drawing/2014/main" id="{8735FB7F-44F1-46FA-AC02-9DCDEC17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箱包品牌的北美多渠道实践</a:t>
            </a:r>
          </a:p>
        </p:txBody>
      </p:sp>
      <p:sp>
        <p:nvSpPr>
          <p:cNvPr id="3" name="copy-271">
            <a:extLst xmlns:a="http://schemas.openxmlformats.org/drawingml/2006/main">
              <a:ext uri="{FF2B5EF4-FFF2-40B4-BE49-F238E27FC236}">
                <a16:creationId xmlns:a16="http://schemas.microsoft.com/office/drawing/2014/main" id="{9C439F3E-08B2-40EB-BDA0-B2714F15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围绕品牌、内容与渠道，连接营销规划和执行工作。</a:t>
            </a:r>
          </a:p>
        </p:txBody>
      </p:sp>
      <p:cxnSp>
        <p:nvCxnSpPr>
          <p:cNvPr id="4" name="line-272">
            <a:extLst xmlns:a="http://schemas.openxmlformats.org/drawingml/2006/main">
              <a:ext uri="{FF2B5EF4-FFF2-40B4-BE49-F238E27FC236}">
                <a16:creationId xmlns:a16="http://schemas.microsoft.com/office/drawing/2014/main" id="{16CCB52E-BEDE-4652-A59D-AFB0896382FE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273">
            <a:extLst xmlns:a="http://schemas.openxmlformats.org/drawingml/2006/main">
              <a:ext uri="{FF2B5EF4-FFF2-40B4-BE49-F238E27FC236}">
                <a16:creationId xmlns:a16="http://schemas.microsoft.com/office/drawing/2014/main" id="{0AE551D0-B19C-46D3-B642-7CF557AC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匿名项目经验｜展示项目工作范围与协同方式。</a:t>
            </a:r>
          </a:p>
        </p:txBody>
      </p:sp>
      <p:sp>
        <p:nvSpPr>
          <p:cNvPr id="6" name="copy-274">
            <a:extLst xmlns:a="http://schemas.openxmlformats.org/drawingml/2006/main">
              <a:ext uri="{FF2B5EF4-FFF2-40B4-BE49-F238E27FC236}">
                <a16:creationId xmlns:a16="http://schemas.microsoft.com/office/drawing/2014/main" id="{7186E080-CCDD-46CE-AE38-07F52585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copy-275">
            <a:extLst xmlns:a="http://schemas.openxmlformats.org/drawingml/2006/main">
              <a:ext uri="{FF2B5EF4-FFF2-40B4-BE49-F238E27FC236}">
                <a16:creationId xmlns:a16="http://schemas.microsoft.com/office/drawing/2014/main" id="{3D831158-61FC-4B85-9AB2-602A7F30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354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服务面向北美市场的消费箱包品牌，相关工作涉及品牌表达、内容、达人及多个线上渠道。</a:t>
            </a:r>
          </a:p>
        </p:txBody>
      </p:sp>
      <p:sp>
        <p:nvSpPr>
          <p:cNvPr id="8" name="rect-276">
            <a:extLst xmlns:a="http://schemas.openxmlformats.org/drawingml/2006/main">
              <a:ext uri="{FF2B5EF4-FFF2-40B4-BE49-F238E27FC236}">
                <a16:creationId xmlns:a16="http://schemas.microsoft.com/office/drawing/2014/main" id="{78849614-8AB5-4758-A0A9-D0D7F86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9" name="rect-277">
            <a:extLst xmlns:a="http://schemas.openxmlformats.org/drawingml/2006/main">
              <a:ext uri="{FF2B5EF4-FFF2-40B4-BE49-F238E27FC236}">
                <a16:creationId xmlns:a16="http://schemas.microsoft.com/office/drawing/2014/main" id="{78A24725-0321-49FA-8AE0-ED06CCD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719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-278">
            <a:extLst xmlns:a="http://schemas.openxmlformats.org/drawingml/2006/main">
              <a:ext uri="{FF2B5EF4-FFF2-40B4-BE49-F238E27FC236}">
                <a16:creationId xmlns:a16="http://schemas.microsoft.com/office/drawing/2014/main" id="{B324E8E9-E31E-4343-B254-1730E028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71900"/>
            <a:ext cx="4076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11" name="copy-279">
            <a:extLst xmlns:a="http://schemas.openxmlformats.org/drawingml/2006/main">
              <a:ext uri="{FF2B5EF4-FFF2-40B4-BE49-F238E27FC236}">
                <a16:creationId xmlns:a16="http://schemas.microsoft.com/office/drawing/2014/main" id="{33CEE2EF-8EAF-4AFD-9234-88EF2D75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814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品牌与产品表达</a:t>
            </a:r>
          </a:p>
        </p:txBody>
      </p:sp>
      <p:sp>
        <p:nvSpPr>
          <p:cNvPr id="12" name="copy-280">
            <a:extLst xmlns:a="http://schemas.openxmlformats.org/drawingml/2006/main">
              <a:ext uri="{FF2B5EF4-FFF2-40B4-BE49-F238E27FC236}">
                <a16:creationId xmlns:a16="http://schemas.microsoft.com/office/drawing/2014/main" id="{F256E9A3-2F10-4623-8030-D6BB265E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内容与达人合作</a:t>
            </a:r>
          </a:p>
        </p:txBody>
      </p:sp>
      <p:sp>
        <p:nvSpPr>
          <p:cNvPr id="13" name="copy-281">
            <a:extLst xmlns:a="http://schemas.openxmlformats.org/drawingml/2006/main">
              <a:ext uri="{FF2B5EF4-FFF2-40B4-BE49-F238E27FC236}">
                <a16:creationId xmlns:a16="http://schemas.microsoft.com/office/drawing/2014/main" id="{2FA43B8D-0E08-4D47-9961-7B3788D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0290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Amazon / TikTok / 官网</a:t>
            </a:r>
          </a:p>
        </p:txBody>
      </p:sp>
      <p:sp>
        <p:nvSpPr>
          <p:cNvPr id="16" name="copy-282">
            <a:extLst xmlns:a="http://schemas.openxmlformats.org/drawingml/2006/main">
              <a:ext uri="{FF2B5EF4-FFF2-40B4-BE49-F238E27FC236}">
                <a16:creationId xmlns:a16="http://schemas.microsoft.com/office/drawing/2014/main" id="{314EE7C2-8D25-48A9-AAAD-148068B9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规划与协同</a:t>
            </a:r>
          </a:p>
        </p:txBody>
      </p:sp>
      <p:sp>
        <p:nvSpPr>
          <p:cNvPr id="17" name="copy-283">
            <a:extLst xmlns:a="http://schemas.openxmlformats.org/drawingml/2006/main">
              <a:ext uri="{FF2B5EF4-FFF2-40B4-BE49-F238E27FC236}">
                <a16:creationId xmlns:a16="http://schemas.microsoft.com/office/drawing/2014/main" id="{2D938497-0615-447C-9F43-8828ABBA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86425"/>
            <a:ext cx="4000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围绕品牌与产品信息组织营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销工作，协调内容、达人与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渠道任务之间的衔接。</a:t>
            </a:r>
          </a:p>
        </p:txBody>
      </p:sp>
      <p:sp>
        <p:nvSpPr>
          <p:cNvPr id="18" name="copy-284">
            <a:extLst xmlns:a="http://schemas.openxmlformats.org/drawingml/2006/main">
              <a:ext uri="{FF2B5EF4-FFF2-40B4-BE49-F238E27FC236}">
                <a16:creationId xmlns:a16="http://schemas.microsoft.com/office/drawing/2014/main" id="{4C4539C6-57C3-46F2-8C1D-E11DC6FC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关键工作范围</a:t>
            </a:r>
          </a:p>
        </p:txBody>
      </p:sp>
      <p:sp>
        <p:nvSpPr>
          <p:cNvPr id="19" name="copy-285">
            <a:extLst xmlns:a="http://schemas.openxmlformats.org/drawingml/2006/main">
              <a:ext uri="{FF2B5EF4-FFF2-40B4-BE49-F238E27FC236}">
                <a16:creationId xmlns:a16="http://schemas.microsoft.com/office/drawing/2014/main" id="{5DF94F5C-0F0B-4838-BA78-6B0F2C5D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86425"/>
            <a:ext cx="4000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产品与店铺优化、达人筛选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与建联、Amazon 广告调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整，以及 TikTok、Amazon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和品牌官网的渠道规划。</a:t>
            </a:r>
          </a:p>
        </p:txBody>
      </p:sp>
      <p:sp>
        <p:nvSpPr>
          <p:cNvPr id="20" name="copy-286">
            <a:extLst xmlns:a="http://schemas.openxmlformats.org/drawingml/2006/main">
              <a:ext uri="{FF2B5EF4-FFF2-40B4-BE49-F238E27FC236}">
                <a16:creationId xmlns:a16="http://schemas.microsoft.com/office/drawing/2014/main" id="{36B1EF52-7395-425F-8430-6872F22B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48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持续复盘视角</a:t>
            </a:r>
          </a:p>
        </p:txBody>
      </p:sp>
      <p:sp>
        <p:nvSpPr>
          <p:cNvPr id="21" name="copy-287">
            <a:extLst xmlns:a="http://schemas.openxmlformats.org/drawingml/2006/main">
              <a:ext uri="{FF2B5EF4-FFF2-40B4-BE49-F238E27FC236}">
                <a16:creationId xmlns:a16="http://schemas.microsoft.com/office/drawing/2014/main" id="{574CD4D5-B0E8-4CD7-BD3E-24A3D397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86425"/>
            <a:ext cx="4000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把渠道表现、内容反馈和协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作情况放在一起看，为后续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营销选择提供依据。</a:t>
            </a:r>
          </a:p>
        </p:txBody>
      </p:sp>
    </p:spTree>
    <p:extLst>
      <p:ext uri="{BB962C8B-B14F-4D97-AF65-F5344CB8AC3E}">
        <p14:creationId xmlns:p14="http://schemas.microsoft.com/office/powerpoint/2010/main" val="492742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5EEB5-B832-454E-9545-A270E9EA4F9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3471863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26" name="copy-288">
            <a:extLst xmlns:a="http://schemas.openxmlformats.org/drawingml/2006/main">
              <a:ext uri="{FF2B5EF4-FFF2-40B4-BE49-F238E27FC236}">
                <a16:creationId xmlns:a16="http://schemas.microsoft.com/office/drawing/2014/main" id="{D97709ED-D76C-48FF-9C7C-524C0F9F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谁来为客户负责</a:t>
            </a:r>
          </a:p>
        </p:txBody>
      </p:sp>
      <p:sp>
        <p:nvSpPr>
          <p:cNvPr id="2" name="title-289">
            <a:extLst xmlns:a="http://schemas.openxmlformats.org/drawingml/2006/main">
              <a:ext uri="{FF2B5EF4-FFF2-40B4-BE49-F238E27FC236}">
                <a16:creationId xmlns:a16="http://schemas.microsoft.com/office/drawing/2014/main" id="{9039B730-E5EE-44D5-9C17-5AB853E5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一个合作入口，由 Outrise 统一负责</a:t>
            </a:r>
          </a:p>
        </p:txBody>
      </p:sp>
      <p:sp>
        <p:nvSpPr>
          <p:cNvPr id="3" name="copy-290">
            <a:extLst xmlns:a="http://schemas.openxmlformats.org/drawingml/2006/main">
              <a:ext uri="{FF2B5EF4-FFF2-40B4-BE49-F238E27FC236}">
                <a16:creationId xmlns:a16="http://schemas.microsoft.com/office/drawing/2014/main" id="{7E00F7C1-47C9-47EE-94BB-D0C723BB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在约定合作范围内，我们统筹策略、进度、质量与专业伙伴，对整体合作交付负责并背书。</a:t>
            </a:r>
          </a:p>
        </p:txBody>
      </p:sp>
      <p:cxnSp>
        <p:nvCxnSpPr>
          <p:cNvPr id="4" name="line-291">
            <a:extLst xmlns:a="http://schemas.openxmlformats.org/drawingml/2006/main">
              <a:ext uri="{FF2B5EF4-FFF2-40B4-BE49-F238E27FC236}">
                <a16:creationId xmlns:a16="http://schemas.microsoft.com/office/drawing/2014/main" id="{EA074814-633E-4917-8441-9877675A732B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292">
            <a:extLst xmlns:a="http://schemas.openxmlformats.org/drawingml/2006/main">
              <a:ext uri="{FF2B5EF4-FFF2-40B4-BE49-F238E27FC236}">
                <a16:creationId xmlns:a16="http://schemas.microsoft.com/office/drawing/2014/main" id="{C51F4F6E-0EC7-4677-A510-A79AE73C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无论哪些角色参与，客户始终由 Outrise 统一承接。</a:t>
            </a:r>
          </a:p>
        </p:txBody>
      </p:sp>
      <p:sp>
        <p:nvSpPr>
          <p:cNvPr id="6" name="copy-293">
            <a:extLst xmlns:a="http://schemas.openxmlformats.org/drawingml/2006/main">
              <a:ext uri="{FF2B5EF4-FFF2-40B4-BE49-F238E27FC236}">
                <a16:creationId xmlns:a16="http://schemas.microsoft.com/office/drawing/2014/main" id="{44C9FB9A-7A94-49A4-8A3A-14D3C15A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rect-294">
            <a:extLst xmlns:a="http://schemas.openxmlformats.org/drawingml/2006/main">
              <a:ext uri="{FF2B5EF4-FFF2-40B4-BE49-F238E27FC236}">
                <a16:creationId xmlns:a16="http://schemas.microsoft.com/office/drawing/2014/main" id="{CE1B0328-A8B3-4A19-AE50-62D4AE8D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619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8" name="rect-295">
            <a:extLst xmlns:a="http://schemas.openxmlformats.org/drawingml/2006/main">
              <a:ext uri="{FF2B5EF4-FFF2-40B4-BE49-F238E27FC236}">
                <a16:creationId xmlns:a16="http://schemas.microsoft.com/office/drawing/2014/main" id="{C2366325-DE14-4E0A-894E-341277B6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00375"/>
            <a:ext cx="70961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py-296">
            <a:extLst xmlns:a="http://schemas.openxmlformats.org/drawingml/2006/main">
              <a:ext uri="{FF2B5EF4-FFF2-40B4-BE49-F238E27FC236}">
                <a16:creationId xmlns:a16="http://schemas.microsoft.com/office/drawing/2014/main" id="{668F3B5E-43AB-4168-9CB7-464E6340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28975"/>
            <a:ext cx="2200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sp>
        <p:nvSpPr>
          <p:cNvPr id="10" name="copy-297">
            <a:extLst xmlns:a="http://schemas.openxmlformats.org/drawingml/2006/main">
              <a:ext uri="{FF2B5EF4-FFF2-40B4-BE49-F238E27FC236}">
                <a16:creationId xmlns:a16="http://schemas.microsoft.com/office/drawing/2014/main" id="{71E40342-91DB-4962-8D5A-142CA7EA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28975"/>
            <a:ext cx="6619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Outrise 统一负责与背书</a:t>
            </a:r>
          </a:p>
        </p:txBody>
      </p:sp>
      <p:cxnSp>
        <p:nvCxnSpPr>
          <p:cNvPr id="12" name="line-298">
            <a:extLst xmlns:a="http://schemas.openxmlformats.org/drawingml/2006/main">
              <a:ext uri="{FF2B5EF4-FFF2-40B4-BE49-F238E27FC236}">
                <a16:creationId xmlns:a16="http://schemas.microsoft.com/office/drawing/2014/main" id="{5D1A1424-D413-437E-A2D4-43E5CAD9D86F}"/>
              </a:ext>
            </a:extLst>
          </p:cNvPr>
          <p:cNvCxnSpPr/>
          <p:nvPr/>
        </p:nvCxnSpPr>
        <p:spPr>
          <a:xfrm xmlns:a="http://schemas.openxmlformats.org/drawingml/2006/main">
            <a:off x="8924925" y="394335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3" name="line-299">
            <a:extLst xmlns:a="http://schemas.openxmlformats.org/drawingml/2006/main">
              <a:ext uri="{FF2B5EF4-FFF2-40B4-BE49-F238E27FC236}">
                <a16:creationId xmlns:a16="http://schemas.microsoft.com/office/drawing/2014/main" id="{E1DFEFDA-DA2E-42C8-8701-04C9F1CBC771}"/>
              </a:ext>
            </a:extLst>
          </p:cNvPr>
          <p:cNvCxnSpPr/>
          <p:nvPr/>
        </p:nvCxnSpPr>
        <p:spPr>
          <a:xfrm xmlns:a="http://schemas.openxmlformats.org/drawingml/2006/main">
            <a:off x="2476500" y="455295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4" name="line-300">
            <a:extLst xmlns:a="http://schemas.openxmlformats.org/drawingml/2006/main">
              <a:ext uri="{FF2B5EF4-FFF2-40B4-BE49-F238E27FC236}">
                <a16:creationId xmlns:a16="http://schemas.microsoft.com/office/drawing/2014/main" id="{CB1E37CE-4B26-4B8B-BB70-290DDC992E41}"/>
              </a:ext>
            </a:extLst>
          </p:cNvPr>
          <p:cNvCxnSpPr/>
          <p:nvPr/>
        </p:nvCxnSpPr>
        <p:spPr>
          <a:xfrm xmlns:a="http://schemas.openxmlformats.org/drawingml/2006/main">
            <a:off x="2476500" y="4552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5" name="copy-301">
            <a:extLst xmlns:a="http://schemas.openxmlformats.org/drawingml/2006/main">
              <a:ext uri="{FF2B5EF4-FFF2-40B4-BE49-F238E27FC236}">
                <a16:creationId xmlns:a16="http://schemas.microsoft.com/office/drawing/2014/main" id="{D18AFDA6-6FF1-4252-86A4-4EAAD3A1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3114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策略与决策</a:t>
            </a:r>
          </a:p>
        </p:txBody>
      </p:sp>
      <p:sp>
        <p:nvSpPr>
          <p:cNvPr id="16" name="copy-302">
            <a:extLst xmlns:a="http://schemas.openxmlformats.org/drawingml/2006/main">
              <a:ext uri="{FF2B5EF4-FFF2-40B4-BE49-F238E27FC236}">
                <a16:creationId xmlns:a16="http://schemas.microsoft.com/office/drawing/2014/main" id="{FC8F5115-08A1-4615-B2FD-3C29A086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31146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理解业务，提出判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断，制定方向与阶段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规划。</a:t>
            </a:r>
          </a:p>
        </p:txBody>
      </p:sp>
      <p:cxnSp>
        <p:nvCxnSpPr>
          <p:cNvPr id="17" name="line-303">
            <a:extLst xmlns:a="http://schemas.openxmlformats.org/drawingml/2006/main">
              <a:ext uri="{FF2B5EF4-FFF2-40B4-BE49-F238E27FC236}">
                <a16:creationId xmlns:a16="http://schemas.microsoft.com/office/drawing/2014/main" id="{C9F27B03-6E40-4862-93C1-E3387C0D2167}"/>
              </a:ext>
            </a:extLst>
          </p:cNvPr>
          <p:cNvCxnSpPr/>
          <p:nvPr/>
        </p:nvCxnSpPr>
        <p:spPr>
          <a:xfrm xmlns:a="http://schemas.openxmlformats.org/drawingml/2006/main">
            <a:off x="5953125" y="4552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8" name="copy-304">
            <a:extLst xmlns:a="http://schemas.openxmlformats.org/drawingml/2006/main">
              <a:ext uri="{FF2B5EF4-FFF2-40B4-BE49-F238E27FC236}">
                <a16:creationId xmlns:a16="http://schemas.microsoft.com/office/drawing/2014/main" id="{F2A853D0-41A1-4002-A879-F9C92CAA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3114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项目统筹</a:t>
            </a:r>
          </a:p>
        </p:txBody>
      </p:sp>
      <p:sp>
        <p:nvSpPr>
          <p:cNvPr id="19" name="copy-305">
            <a:extLst xmlns:a="http://schemas.openxmlformats.org/drawingml/2006/main">
              <a:ext uri="{FF2B5EF4-FFF2-40B4-BE49-F238E27FC236}">
                <a16:creationId xmlns:a16="http://schemas.microsoft.com/office/drawing/2014/main" id="{D46AF1B3-1D3A-477E-8B7A-209C04E6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05500"/>
            <a:ext cx="31146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协调任务、进度与沟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通，跟进交付并处理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协作问题。</a:t>
            </a:r>
          </a:p>
        </p:txBody>
      </p:sp>
      <p:cxnSp>
        <p:nvCxnSpPr>
          <p:cNvPr id="20" name="line-306">
            <a:extLst xmlns:a="http://schemas.openxmlformats.org/drawingml/2006/main">
              <a:ext uri="{FF2B5EF4-FFF2-40B4-BE49-F238E27FC236}">
                <a16:creationId xmlns:a16="http://schemas.microsoft.com/office/drawing/2014/main" id="{EF46F02B-AD24-48B8-B62D-254B8F3667AE}"/>
              </a:ext>
            </a:extLst>
          </p:cNvPr>
          <p:cNvCxnSpPr/>
          <p:nvPr/>
        </p:nvCxnSpPr>
        <p:spPr>
          <a:xfrm xmlns:a="http://schemas.openxmlformats.org/drawingml/2006/main">
            <a:off x="9429750" y="4552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1" name="copy-307">
            <a:extLst xmlns:a="http://schemas.openxmlformats.org/drawingml/2006/main">
              <a:ext uri="{FF2B5EF4-FFF2-40B4-BE49-F238E27FC236}">
                <a16:creationId xmlns:a16="http://schemas.microsoft.com/office/drawing/2014/main" id="{A10116D3-BD5F-4607-9A8B-EEA06A88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114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直接执行</a:t>
            </a:r>
          </a:p>
        </p:txBody>
      </p:sp>
      <p:sp>
        <p:nvSpPr>
          <p:cNvPr id="22" name="copy-308">
            <a:extLst xmlns:a="http://schemas.openxmlformats.org/drawingml/2006/main">
              <a:ext uri="{FF2B5EF4-FFF2-40B4-BE49-F238E27FC236}">
                <a16:creationId xmlns:a16="http://schemas.microsoft.com/office/drawing/2014/main" id="{509D97D9-F988-406D-A427-DBD26C7E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05500"/>
            <a:ext cx="31146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承担约定的内容、达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人、广告与投放等关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键工作。</a:t>
            </a:r>
          </a:p>
        </p:txBody>
      </p:sp>
      <p:cxnSp>
        <p:nvCxnSpPr>
          <p:cNvPr id="23" name="line-309">
            <a:extLst xmlns:a="http://schemas.openxmlformats.org/drawingml/2006/main">
              <a:ext uri="{FF2B5EF4-FFF2-40B4-BE49-F238E27FC236}">
                <a16:creationId xmlns:a16="http://schemas.microsoft.com/office/drawing/2014/main" id="{6EAB61A7-4168-46EB-B8C0-BC5F9A73EF14}"/>
              </a:ext>
            </a:extLst>
          </p:cNvPr>
          <p:cNvCxnSpPr/>
          <p:nvPr/>
        </p:nvCxnSpPr>
        <p:spPr>
          <a:xfrm xmlns:a="http://schemas.openxmlformats.org/drawingml/2006/main">
            <a:off x="12906375" y="4552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4" name="copy-310">
            <a:extLst xmlns:a="http://schemas.openxmlformats.org/drawingml/2006/main">
              <a:ext uri="{FF2B5EF4-FFF2-40B4-BE49-F238E27FC236}">
                <a16:creationId xmlns:a16="http://schemas.microsoft.com/office/drawing/2014/main" id="{B7779F3F-4FD0-4B7E-A56E-0855A0D2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219700"/>
            <a:ext cx="3114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专业协作</a:t>
            </a:r>
          </a:p>
        </p:txBody>
      </p:sp>
      <p:sp>
        <p:nvSpPr>
          <p:cNvPr id="25" name="copy-311">
            <a:extLst xmlns:a="http://schemas.openxmlformats.org/drawingml/2006/main">
              <a:ext uri="{FF2B5EF4-FFF2-40B4-BE49-F238E27FC236}">
                <a16:creationId xmlns:a16="http://schemas.microsoft.com/office/drawing/2014/main" id="{D93BC4FB-7AB7-4B74-866D-3AE1CD6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905500"/>
            <a:ext cx="31146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组织专项伙伴，明确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要求与分工，衔接整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体交付。</a:t>
            </a:r>
          </a:p>
        </p:txBody>
      </p:sp>
    </p:spTree>
    <p:extLst>
      <p:ext uri="{BB962C8B-B14F-4D97-AF65-F5344CB8AC3E}">
        <p14:creationId xmlns:p14="http://schemas.microsoft.com/office/powerpoint/2010/main" val="7142391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py-312">
            <a:extLst xmlns:a="http://schemas.openxmlformats.org/drawingml/2006/main">
              <a:ext uri="{FF2B5EF4-FFF2-40B4-BE49-F238E27FC236}">
                <a16:creationId xmlns:a16="http://schemas.microsoft.com/office/drawing/2014/main" id="{E619DE4E-464F-4338-9193-8B584C5E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如何与我们合作</a:t>
            </a:r>
          </a:p>
        </p:txBody>
      </p:sp>
      <p:sp>
        <p:nvSpPr>
          <p:cNvPr id="2" name="title-313">
            <a:extLst xmlns:a="http://schemas.openxmlformats.org/drawingml/2006/main">
              <a:ext uri="{FF2B5EF4-FFF2-40B4-BE49-F238E27FC236}">
                <a16:creationId xmlns:a16="http://schemas.microsoft.com/office/drawing/2014/main" id="{D421E0B8-7EEF-45EE-B1C9-B51F33C6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按业务阶段，选择合适的合作深度</a:t>
            </a:r>
          </a:p>
        </p:txBody>
      </p:sp>
      <p:sp>
        <p:nvSpPr>
          <p:cNvPr id="3" name="copy-314">
            <a:extLst xmlns:a="http://schemas.openxmlformats.org/drawingml/2006/main">
              <a:ext uri="{FF2B5EF4-FFF2-40B4-BE49-F238E27FC236}">
                <a16:creationId xmlns:a16="http://schemas.microsoft.com/office/drawing/2014/main" id="{481162AB-C56B-4B62-B82B-5B5A4393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以策略咨询为核心，结合目标约定工作范围与执行支持。</a:t>
            </a:r>
          </a:p>
        </p:txBody>
      </p:sp>
      <p:cxnSp>
        <p:nvCxnSpPr>
          <p:cNvPr id="4" name="line-315">
            <a:extLst xmlns:a="http://schemas.openxmlformats.org/drawingml/2006/main">
              <a:ext uri="{FF2B5EF4-FFF2-40B4-BE49-F238E27FC236}">
                <a16:creationId xmlns:a16="http://schemas.microsoft.com/office/drawing/2014/main" id="{63D09194-7E51-4F38-BE43-B2393764FC25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316">
            <a:extLst xmlns:a="http://schemas.openxmlformats.org/drawingml/2006/main">
              <a:ext uri="{FF2B5EF4-FFF2-40B4-BE49-F238E27FC236}">
                <a16:creationId xmlns:a16="http://schemas.microsoft.com/office/drawing/2014/main" id="{36EAE6A0-78D0-46A3-88A7-C06FCCA0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每次合作共同明确：目标、交付、分工与评估方式。</a:t>
            </a:r>
          </a:p>
        </p:txBody>
      </p:sp>
      <p:sp>
        <p:nvSpPr>
          <p:cNvPr id="6" name="copy-317">
            <a:extLst xmlns:a="http://schemas.openxmlformats.org/drawingml/2006/main">
              <a:ext uri="{FF2B5EF4-FFF2-40B4-BE49-F238E27FC236}">
                <a16:creationId xmlns:a16="http://schemas.microsoft.com/office/drawing/2014/main" id="{5032316E-9C2D-44D9-A9D9-3928E292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cxnSp>
        <p:nvCxnSpPr>
          <p:cNvPr id="7" name="line-318">
            <a:extLst xmlns:a="http://schemas.openxmlformats.org/drawingml/2006/main">
              <a:ext uri="{FF2B5EF4-FFF2-40B4-BE49-F238E27FC236}">
                <a16:creationId xmlns:a16="http://schemas.microsoft.com/office/drawing/2014/main" id="{8CA3144A-C6D2-4A22-BD8A-3A08794A4B6C}"/>
              </a:ext>
            </a:extLst>
          </p:cNvPr>
          <p:cNvCxnSpPr/>
          <p:nvPr/>
        </p:nvCxnSpPr>
        <p:spPr>
          <a:xfrm xmlns:a="http://schemas.openxmlformats.org/drawingml/2006/main">
            <a:off x="857250" y="30575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8" name="copy-319">
            <a:extLst xmlns:a="http://schemas.openxmlformats.org/drawingml/2006/main">
              <a:ext uri="{FF2B5EF4-FFF2-40B4-BE49-F238E27FC236}">
                <a16:creationId xmlns:a16="http://schemas.microsoft.com/office/drawing/2014/main" id="{F096D423-3E30-4479-A73D-6349FFD0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000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策略咨询</a:t>
            </a:r>
          </a:p>
        </p:txBody>
      </p:sp>
      <p:sp>
        <p:nvSpPr>
          <p:cNvPr id="9" name="copy-320">
            <a:extLst xmlns:a="http://schemas.openxmlformats.org/drawingml/2006/main">
              <a:ext uri="{FF2B5EF4-FFF2-40B4-BE49-F238E27FC236}">
                <a16:creationId xmlns:a16="http://schemas.microsoft.com/office/drawing/2014/main" id="{8800FC8C-4901-449E-9A76-DD856766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厘清问题，确定方向</a:t>
            </a:r>
          </a:p>
        </p:txBody>
      </p:sp>
      <p:sp>
        <p:nvSpPr>
          <p:cNvPr id="10" name="copy-321">
            <a:extLst xmlns:a="http://schemas.openxmlformats.org/drawingml/2006/main">
              <a:ext uri="{FF2B5EF4-FFF2-40B4-BE49-F238E27FC236}">
                <a16:creationId xmlns:a16="http://schemas.microsoft.com/office/drawing/2014/main" id="{7CF70E95-5412-4E64-8325-CC8689F5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40005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适合需要理清市场、定位或</a:t>
            </a:r>
          </a:p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渠道选择的团队。围绕明确</a:t>
            </a:r>
          </a:p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问题形成判断、建议与行动</a:t>
            </a:r>
          </a:p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方向。</a:t>
            </a:r>
          </a:p>
        </p:txBody>
      </p:sp>
      <p:cxnSp>
        <p:nvCxnSpPr>
          <p:cNvPr id="11" name="line-322">
            <a:extLst xmlns:a="http://schemas.openxmlformats.org/drawingml/2006/main">
              <a:ext uri="{FF2B5EF4-FFF2-40B4-BE49-F238E27FC236}">
                <a16:creationId xmlns:a16="http://schemas.microsoft.com/office/drawing/2014/main" id="{36634144-9A31-4329-A930-E55452CCA283}"/>
              </a:ext>
            </a:extLst>
          </p:cNvPr>
          <p:cNvCxnSpPr/>
          <p:nvPr/>
        </p:nvCxnSpPr>
        <p:spPr>
          <a:xfrm xmlns:a="http://schemas.openxmlformats.org/drawingml/2006/main">
            <a:off x="5619750" y="30575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2" name="copy-323">
            <a:extLst xmlns:a="http://schemas.openxmlformats.org/drawingml/2006/main">
              <a:ext uri="{FF2B5EF4-FFF2-40B4-BE49-F238E27FC236}">
                <a16:creationId xmlns:a16="http://schemas.microsoft.com/office/drawing/2014/main" id="{C8ACE306-FD2E-42FE-8463-4A39D3E0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4000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阶段性 GTM / 品牌</a:t>
            </a:r>
          </a:p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3" name="copy-324">
            <a:extLst xmlns:a="http://schemas.openxmlformats.org/drawingml/2006/main">
              <a:ext uri="{FF2B5EF4-FFF2-40B4-BE49-F238E27FC236}">
                <a16:creationId xmlns:a16="http://schemas.microsoft.com/office/drawing/2014/main" id="{C84A82CD-25DF-4C06-9EF7-6E91B87D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43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围绕目标，推进一段工作</a:t>
            </a:r>
          </a:p>
        </p:txBody>
      </p:sp>
      <p:sp>
        <p:nvSpPr>
          <p:cNvPr id="14" name="copy-325">
            <a:extLst xmlns:a="http://schemas.openxmlformats.org/drawingml/2006/main">
              <a:ext uri="{FF2B5EF4-FFF2-40B4-BE49-F238E27FC236}">
                <a16:creationId xmlns:a16="http://schemas.microsoft.com/office/drawing/2014/main" id="{39147389-A045-4544-A345-D5AD8B1A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67375"/>
            <a:ext cx="40005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适合有明确阶段目标的品牌</a:t>
            </a:r>
          </a:p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与产品。共同制定方案，完</a:t>
            </a:r>
          </a:p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成规划与选定的关键执行。</a:t>
            </a:r>
          </a:p>
        </p:txBody>
      </p:sp>
      <p:cxnSp>
        <p:nvCxnSpPr>
          <p:cNvPr id="15" name="line-326">
            <a:extLst xmlns:a="http://schemas.openxmlformats.org/drawingml/2006/main">
              <a:ext uri="{FF2B5EF4-FFF2-40B4-BE49-F238E27FC236}">
                <a16:creationId xmlns:a16="http://schemas.microsoft.com/office/drawing/2014/main" id="{FB4FB5C6-2CE4-4DF4-9BBC-5F856EE5308E}"/>
              </a:ext>
            </a:extLst>
          </p:cNvPr>
          <p:cNvCxnSpPr/>
          <p:nvPr/>
        </p:nvCxnSpPr>
        <p:spPr>
          <a:xfrm xmlns:a="http://schemas.openxmlformats.org/drawingml/2006/main">
            <a:off x="10382250" y="30575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6" name="copy-327">
            <a:extLst xmlns:a="http://schemas.openxmlformats.org/drawingml/2006/main">
              <a:ext uri="{FF2B5EF4-FFF2-40B4-BE49-F238E27FC236}">
                <a16:creationId xmlns:a16="http://schemas.microsoft.com/office/drawing/2014/main" id="{F3E2702E-3969-4935-B608-2922ADFC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71850"/>
            <a:ext cx="4000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持续外部 CMO</a:t>
            </a:r>
          </a:p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与营销团队支持</a:t>
            </a:r>
          </a:p>
        </p:txBody>
      </p:sp>
      <p:sp>
        <p:nvSpPr>
          <p:cNvPr id="17" name="copy-328">
            <a:extLst xmlns:a="http://schemas.openxmlformats.org/drawingml/2006/main">
              <a:ext uri="{FF2B5EF4-FFF2-40B4-BE49-F238E27FC236}">
                <a16:creationId xmlns:a16="http://schemas.microsoft.com/office/drawing/2014/main" id="{D7A6954F-8441-433A-9C1D-FF321693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43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持续参与，动态调整</a:t>
            </a:r>
          </a:p>
        </p:txBody>
      </p:sp>
      <p:sp>
        <p:nvSpPr>
          <p:cNvPr id="18" name="copy-329">
            <a:extLst xmlns:a="http://schemas.openxmlformats.org/drawingml/2006/main">
              <a:ext uri="{FF2B5EF4-FFF2-40B4-BE49-F238E27FC236}">
                <a16:creationId xmlns:a16="http://schemas.microsoft.com/office/drawing/2014/main" id="{B55B2388-D4C0-426F-A369-5B888F94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67375"/>
            <a:ext cx="40005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适合需要持续营销判断与推</a:t>
            </a:r>
          </a:p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进的团队。参与决策、规划</a:t>
            </a:r>
          </a:p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和复盘，协调工作并承担约</a:t>
            </a:r>
          </a:p>
          <a:p xmlns:a="http://schemas.openxmlformats.org/drawingml/2006/main">
            <a:pPr algn="l">
              <a:def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定执行。</a:t>
            </a:r>
          </a:p>
        </p:txBody>
      </p:sp>
    </p:spTree>
    <p:extLst>
      <p:ext uri="{BB962C8B-B14F-4D97-AF65-F5344CB8AC3E}">
        <p14:creationId xmlns:p14="http://schemas.microsoft.com/office/powerpoint/2010/main" val="18591110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91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line-330">
            <a:extLst xmlns:a="http://schemas.openxmlformats.org/drawingml/2006/main">
              <a:ext uri="{FF2B5EF4-FFF2-40B4-BE49-F238E27FC236}">
                <a16:creationId xmlns:a16="http://schemas.microsoft.com/office/drawing/2014/main" id="{992A4820-01EF-44FA-9993-BC43CB80F2A1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4F47"/>
            </a:solidFill>
            <a:prstDash val="solid"/>
          </a:ln>
        </p:spPr>
      </p:cxnSp>
      <p:sp>
        <p:nvSpPr>
          <p:cNvPr id="2" name="copy-331">
            <a:extLst xmlns:a="http://schemas.openxmlformats.org/drawingml/2006/main">
              <a:ext uri="{FF2B5EF4-FFF2-40B4-BE49-F238E27FC236}">
                <a16:creationId xmlns:a16="http://schemas.microsoft.com/office/drawing/2014/main" id="{10C45780-936B-466B-B4C0-A91EA1C0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专注北美市场的外部 CMO 与营销团队</a:t>
            </a:r>
          </a:p>
        </p:txBody>
      </p:sp>
      <p:sp>
        <p:nvSpPr>
          <p:cNvPr id="3" name="copy-332">
            <a:extLst xmlns:a="http://schemas.openxmlformats.org/drawingml/2006/main">
              <a:ext uri="{FF2B5EF4-FFF2-40B4-BE49-F238E27FC236}">
                <a16:creationId xmlns:a16="http://schemas.microsoft.com/office/drawing/2014/main" id="{D70CFAED-2D42-4E93-BB85-F41130A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copy-333">
            <a:extLst xmlns:a="http://schemas.openxmlformats.org/drawingml/2006/main">
              <a:ext uri="{FF2B5EF4-FFF2-40B4-BE49-F238E27FC236}">
                <a16:creationId xmlns:a16="http://schemas.microsoft.com/office/drawing/2014/main" id="{FB61C0E4-ADF6-43C5-85EF-AC34B0F8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OUTRISE</a:t>
            </a:r>
          </a:p>
        </p:txBody>
      </p:sp>
      <p:sp>
        <p:nvSpPr>
          <p:cNvPr id="5" name="copy-334">
            <a:extLst xmlns:a="http://schemas.openxmlformats.org/drawingml/2006/main">
              <a:ext uri="{FF2B5EF4-FFF2-40B4-BE49-F238E27FC236}">
                <a16:creationId xmlns:a16="http://schemas.microsoft.com/office/drawing/2014/main" id="{02EFCA37-259F-441F-9D6C-40C166B9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382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从你的北美</a:t>
            </a:r>
          </a:p>
          <a:p xmlns:a="http://schemas.openxmlformats.org/drawingml/2006/main">
            <a: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市场目标开始</a:t>
            </a:r>
          </a:p>
        </p:txBody>
      </p:sp>
      <p:sp>
        <p:nvSpPr>
          <p:cNvPr id="6" name="copy-335">
            <a:extLst xmlns:a="http://schemas.openxmlformats.org/drawingml/2006/main">
              <a:ext uri="{FF2B5EF4-FFF2-40B4-BE49-F238E27FC236}">
                <a16:creationId xmlns:a16="http://schemas.microsoft.com/office/drawing/2014/main" id="{A2C20086-1916-4303-BF53-A40A2AFA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72104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告诉我们你的产品、目标与当前营销难题，一</a:t>
            </a:r>
          </a:p>
          <a:p xmlns:a="http://schemas.openxmlformats.org/drawingml/2006/main">
            <a: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起确定合适的合作切入点。</a:t>
            </a:r>
          </a:p>
        </p:txBody>
      </p:sp>
      <p:sp>
        <p:nvSpPr>
          <p:cNvPr id="7" name="copy-336">
            <a:extLst xmlns:a="http://schemas.openxmlformats.org/drawingml/2006/main">
              <a:ext uri="{FF2B5EF4-FFF2-40B4-BE49-F238E27FC236}">
                <a16:creationId xmlns:a16="http://schemas.microsoft.com/office/drawing/2014/main" id="{6DEF928F-B8B3-4B76-9352-BB7A408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532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hello@outrisetech.com</a:t>
            </a:r>
          </a:p>
        </p:txBody>
      </p:sp>
      <p:sp>
        <p:nvSpPr>
          <p:cNvPr id="8" name="copy-337">
            <a:extLst xmlns:a="http://schemas.openxmlformats.org/drawingml/2006/main">
              <a:ext uri="{FF2B5EF4-FFF2-40B4-BE49-F238E27FC236}">
                <a16:creationId xmlns:a16="http://schemas.microsoft.com/office/drawing/2014/main" id="{DF998F24-1AE4-40E7-BB17-E47B1FE3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954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copy-338">
            <a:extLst xmlns:a="http://schemas.openxmlformats.org/drawingml/2006/main">
              <a:ext uri="{FF2B5EF4-FFF2-40B4-BE49-F238E27FC236}">
                <a16:creationId xmlns:a16="http://schemas.microsoft.com/office/drawing/2014/main" id="{3D2AA2DC-9635-4E40-ACAF-EDD4EA3B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95475"/>
            <a:ext cx="354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你的产品与业务</a:t>
            </a:r>
          </a:p>
        </p:txBody>
      </p:sp>
      <p:sp>
        <p:nvSpPr>
          <p:cNvPr id="10" name="copy-339">
            <a:extLst xmlns:a="http://schemas.openxmlformats.org/drawingml/2006/main">
              <a:ext uri="{FF2B5EF4-FFF2-40B4-BE49-F238E27FC236}">
                <a16:creationId xmlns:a16="http://schemas.microsoft.com/office/drawing/2014/main" id="{0CBB9901-58E1-4892-A709-70B6BE59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52700"/>
            <a:ext cx="354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你为谁提供什么价值？</a:t>
            </a:r>
          </a:p>
        </p:txBody>
      </p:sp>
      <p:sp>
        <p:nvSpPr>
          <p:cNvPr id="11" name="copy-340">
            <a:extLst xmlns:a="http://schemas.openxmlformats.org/drawingml/2006/main">
              <a:ext uri="{FF2B5EF4-FFF2-40B4-BE49-F238E27FC236}">
                <a16:creationId xmlns:a16="http://schemas.microsoft.com/office/drawing/2014/main" id="{E3854B1C-0A81-4ED4-9CB9-AFC7F95C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623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copy-341">
            <a:extLst xmlns:a="http://schemas.openxmlformats.org/drawingml/2006/main">
              <a:ext uri="{FF2B5EF4-FFF2-40B4-BE49-F238E27FC236}">
                <a16:creationId xmlns:a16="http://schemas.microsoft.com/office/drawing/2014/main" id="{025A1760-858A-49DA-8EE9-B4A90C5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562350"/>
            <a:ext cx="354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你的北美市场目标</a:t>
            </a:r>
          </a:p>
        </p:txBody>
      </p:sp>
      <p:sp>
        <p:nvSpPr>
          <p:cNvPr id="13" name="copy-342">
            <a:extLst xmlns:a="http://schemas.openxmlformats.org/drawingml/2006/main">
              <a:ext uri="{FF2B5EF4-FFF2-40B4-BE49-F238E27FC236}">
                <a16:creationId xmlns:a16="http://schemas.microsoft.com/office/drawing/2014/main" id="{7C2CADE8-CFE6-4F4B-A6D8-9C12DB9D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19575"/>
            <a:ext cx="354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当前最希望推进什么？</a:t>
            </a:r>
          </a:p>
        </p:txBody>
      </p:sp>
      <p:sp>
        <p:nvSpPr>
          <p:cNvPr id="14" name="copy-343">
            <a:extLst xmlns:a="http://schemas.openxmlformats.org/drawingml/2006/main">
              <a:ext uri="{FF2B5EF4-FFF2-40B4-BE49-F238E27FC236}">
                <a16:creationId xmlns:a16="http://schemas.microsoft.com/office/drawing/2014/main" id="{EACF2650-C060-4F89-88AE-CFDE67E9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292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copy-344">
            <a:extLst xmlns:a="http://schemas.openxmlformats.org/drawingml/2006/main">
              <a:ext uri="{FF2B5EF4-FFF2-40B4-BE49-F238E27FC236}">
                <a16:creationId xmlns:a16="http://schemas.microsoft.com/office/drawing/2014/main" id="{E098B858-B40A-4A0B-9C2F-E41F18B1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29225"/>
            <a:ext cx="354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你的营销难题</a:t>
            </a:r>
          </a:p>
        </p:txBody>
      </p:sp>
      <p:sp>
        <p:nvSpPr>
          <p:cNvPr id="16" name="copy-345">
            <a:extLst xmlns:a="http://schemas.openxmlformats.org/drawingml/2006/main">
              <a:ext uri="{FF2B5EF4-FFF2-40B4-BE49-F238E27FC236}">
                <a16:creationId xmlns:a16="http://schemas.microsoft.com/office/drawing/2014/main" id="{C111BE9D-5B51-47D8-A6FF-512DA0C6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886450"/>
            <a:ext cx="354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哪些判断或行动需要支</a:t>
            </a:r>
          </a:p>
          <a:p xmlns:a="http://schemas.openxmlformats.org/drawingml/2006/main">
            <a: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持？</a:t>
            </a:r>
          </a:p>
        </p:txBody>
      </p:sp>
    </p:spTree>
    <p:extLst>
      <p:ext uri="{BB962C8B-B14F-4D97-AF65-F5344CB8AC3E}">
        <p14:creationId xmlns:p14="http://schemas.microsoft.com/office/powerpoint/2010/main" val="764565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2026-10-18T20:11:48.2550000Z</dcterms:created>
  <dcterms:modified xsi:type="dcterms:W3CDTF">2026-10-18T20:11:48.2550000Z</dcterms:modified>
</coreProperties>
</file>