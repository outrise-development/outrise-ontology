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1183722d064d55" /><Relationship Type="http://schemas.openxmlformats.org/officeDocument/2006/relationships/extended-properties" Target="/docProps/app.xml" Id="R785a1bc5cb774c7e" /><Relationship Type="http://schemas.openxmlformats.org/officeDocument/2006/relationships/officeDocument" Target="/ppt/presentation.xml" Id="R97e71a36ccc846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dcad01cbd64180"/>
  </p:sldMasterIdLst>
  <p:notesMasterIdLst>
    <p:notesMasterId xmlns:r="http://schemas.openxmlformats.org/officeDocument/2006/relationships" r:id="R8a27d91b66574e7e"/>
  </p:notesMasterIdLst>
  <p:sldIdLst>
    <p:sldId xmlns:r="http://schemas.openxmlformats.org/officeDocument/2006/relationships" id="256" r:id="R105cf78734924103"/>
    <p:sldId xmlns:r="http://schemas.openxmlformats.org/officeDocument/2006/relationships" id="257" r:id="R75f9706c11694a35"/>
    <p:sldId xmlns:r="http://schemas.openxmlformats.org/officeDocument/2006/relationships" id="258" r:id="R1b0063a00e5b414e"/>
    <p:sldId xmlns:r="http://schemas.openxmlformats.org/officeDocument/2006/relationships" id="259" r:id="R54be008a63074aae"/>
    <p:sldId xmlns:r="http://schemas.openxmlformats.org/officeDocument/2006/relationships" id="260" r:id="R8464c981dc06470c"/>
    <p:sldId xmlns:r="http://schemas.openxmlformats.org/officeDocument/2006/relationships" id="261" r:id="R6c28ccd7a8164234"/>
    <p:sldId xmlns:r="http://schemas.openxmlformats.org/officeDocument/2006/relationships" id="262" r:id="R7a407508714b4d14"/>
    <p:sldId xmlns:r="http://schemas.openxmlformats.org/officeDocument/2006/relationships" id="263" r:id="R3f4c750719db4413"/>
    <p:sldId xmlns:r="http://schemas.openxmlformats.org/officeDocument/2006/relationships" id="264" r:id="Red60a0498d9b4f38"/>
    <p:sldId xmlns:r="http://schemas.openxmlformats.org/officeDocument/2006/relationships" id="265" r:id="Re8af332d71404731"/>
    <p:sldId xmlns:r="http://schemas.openxmlformats.org/officeDocument/2006/relationships" id="266" r:id="R9e7520f9fdfb4244"/>
    <p:sldId xmlns:r="http://schemas.openxmlformats.org/officeDocument/2006/relationships" id="267" r:id="Rfab3a3ee5c5b4bca"/>
    <p:sldId xmlns:r="http://schemas.openxmlformats.org/officeDocument/2006/relationships" id="268" r:id="R2eb191a24bde41f9"/>
    <p:sldId xmlns:r="http://schemas.openxmlformats.org/officeDocument/2006/relationships" id="269" r:id="R5b5da04fab204175"/>
    <p:sldId xmlns:r="http://schemas.openxmlformats.org/officeDocument/2006/relationships" id="270" r:id="R95839205fd654547"/>
    <p:sldId xmlns:r="http://schemas.openxmlformats.org/officeDocument/2006/relationships" id="271" r:id="R63e535470bd24e6a"/>
    <p:sldId xmlns:r="http://schemas.openxmlformats.org/officeDocument/2006/relationships" id="272" r:id="R9b86e3f889024f3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8db136123a4990" /><Relationship Type="http://schemas.openxmlformats.org/officeDocument/2006/relationships/slideMaster" Target="/ppt/slideMasters/slideMaster1.xml" Id="Rfedcad01cbd64180" /><Relationship Type="http://schemas.openxmlformats.org/officeDocument/2006/relationships/notesMaster" Target="/ppt/notesMasters/notesMaster1.xml" Id="R8a27d91b66574e7e" /><Relationship Type="http://schemas.openxmlformats.org/officeDocument/2006/relationships/presProps" Target="/ppt/presProps.xml" Id="Re4031c8fa8e14837" /><Relationship Type="http://schemas.openxmlformats.org/officeDocument/2006/relationships/tableStyles" Target="/ppt/tableStyles.xml" Id="R8eaced96f21b4693" /><Relationship Type="http://schemas.openxmlformats.org/officeDocument/2006/relationships/slide" Target="/ppt/slides/slide1.xml" Id="R105cf78734924103" /><Relationship Type="http://schemas.openxmlformats.org/officeDocument/2006/relationships/slide" Target="/ppt/slides/slide2.xml" Id="R75f9706c11694a35" /><Relationship Type="http://schemas.openxmlformats.org/officeDocument/2006/relationships/slide" Target="/ppt/slides/slide3.xml" Id="R1b0063a00e5b414e" /><Relationship Type="http://schemas.openxmlformats.org/officeDocument/2006/relationships/slide" Target="/ppt/slides/slide4.xml" Id="R54be008a63074aae" /><Relationship Type="http://schemas.openxmlformats.org/officeDocument/2006/relationships/slide" Target="/ppt/slides/slide5.xml" Id="R8464c981dc06470c" /><Relationship Type="http://schemas.openxmlformats.org/officeDocument/2006/relationships/slide" Target="/ppt/slides/slide6.xml" Id="R6c28ccd7a8164234" /><Relationship Type="http://schemas.openxmlformats.org/officeDocument/2006/relationships/slide" Target="/ppt/slides/slide7.xml" Id="R7a407508714b4d14" /><Relationship Type="http://schemas.openxmlformats.org/officeDocument/2006/relationships/slide" Target="/ppt/slides/slide8.xml" Id="R3f4c750719db4413" /><Relationship Type="http://schemas.openxmlformats.org/officeDocument/2006/relationships/slide" Target="/ppt/slides/slide9.xml" Id="Red60a0498d9b4f38" /><Relationship Type="http://schemas.openxmlformats.org/officeDocument/2006/relationships/slide" Target="/ppt/slides/slide10.xml" Id="Re8af332d71404731" /><Relationship Type="http://schemas.openxmlformats.org/officeDocument/2006/relationships/slide" Target="/ppt/slides/slide11.xml" Id="R9e7520f9fdfb4244" /><Relationship Type="http://schemas.openxmlformats.org/officeDocument/2006/relationships/slide" Target="/ppt/slides/slide12.xml" Id="Rfab3a3ee5c5b4bca" /><Relationship Type="http://schemas.openxmlformats.org/officeDocument/2006/relationships/slide" Target="/ppt/slides/slide13.xml" Id="R2eb191a24bde41f9" /><Relationship Type="http://schemas.openxmlformats.org/officeDocument/2006/relationships/slide" Target="/ppt/slides/slide14.xml" Id="R5b5da04fab204175" /><Relationship Type="http://schemas.openxmlformats.org/officeDocument/2006/relationships/slide" Target="/ppt/slides/slide15.xml" Id="R95839205fd654547" /><Relationship Type="http://schemas.openxmlformats.org/officeDocument/2006/relationships/slide" Target="/ppt/slides/slide16.xml" Id="R63e535470bd24e6a" /><Relationship Type="http://schemas.openxmlformats.org/officeDocument/2006/relationships/slide" Target="/ppt/slides/slide17.xml" Id="R9b86e3f889024f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2a4148ea5e40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471a7d21e04d03" /><Relationship Type="http://schemas.openxmlformats.org/officeDocument/2006/relationships/notesMaster" Target="/ppt/notesMasters/notesMaster1.xml" Id="R05b26cb3863041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4d60473faa449b" /><Relationship Type="http://schemas.openxmlformats.org/officeDocument/2006/relationships/notesMaster" Target="/ppt/notesMasters/notesMaster1.xml" Id="Rfe5d29e3e8e042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bd8a354f7e433c" /><Relationship Type="http://schemas.openxmlformats.org/officeDocument/2006/relationships/notesMaster" Target="/ppt/notesMasters/notesMaster1.xml" Id="Re24821b704364a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a1e0cfda6c4dc1" /><Relationship Type="http://schemas.openxmlformats.org/officeDocument/2006/relationships/notesMaster" Target="/ppt/notesMasters/notesMaster1.xml" Id="Rbff562af476349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e650b97f3046bb" /><Relationship Type="http://schemas.openxmlformats.org/officeDocument/2006/relationships/notesMaster" Target="/ppt/notesMasters/notesMaster1.xml" Id="Rcab00aadd37c48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b7a8a33856460a" /><Relationship Type="http://schemas.openxmlformats.org/officeDocument/2006/relationships/notesMaster" Target="/ppt/notesMasters/notesMaster1.xml" Id="Rcd6a551842d34c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173bf51a174dd5" /><Relationship Type="http://schemas.openxmlformats.org/officeDocument/2006/relationships/notesMaster" Target="/ppt/notesMasters/notesMaster1.xml" Id="Ra2bef1bea9e940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c39bb29c754a74" /><Relationship Type="http://schemas.openxmlformats.org/officeDocument/2006/relationships/notesMaster" Target="/ppt/notesMasters/notesMaster1.xml" Id="R8f78efcf877e47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a9010996a44009" /><Relationship Type="http://schemas.openxmlformats.org/officeDocument/2006/relationships/notesMaster" Target="/ppt/notesMasters/notesMaster1.xml" Id="R2e754b873d3c4c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24307febc8404f" /><Relationship Type="http://schemas.openxmlformats.org/officeDocument/2006/relationships/notesMaster" Target="/ppt/notesMasters/notesMaster1.xml" Id="R361c459dfea046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42efd31537421d" /><Relationship Type="http://schemas.openxmlformats.org/officeDocument/2006/relationships/notesMaster" Target="/ppt/notesMasters/notesMaster1.xml" Id="R585c6defc19740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6acec133514a7a" /><Relationship Type="http://schemas.openxmlformats.org/officeDocument/2006/relationships/notesMaster" Target="/ppt/notesMasters/notesMaster1.xml" Id="R7da2ffed1fdc4b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8c704cd47e4f7c" /><Relationship Type="http://schemas.openxmlformats.org/officeDocument/2006/relationships/notesMaster" Target="/ppt/notesMasters/notesMaster1.xml" Id="R4729fe62c75842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5f6ef7ca714df6" /><Relationship Type="http://schemas.openxmlformats.org/officeDocument/2006/relationships/notesMaster" Target="/ppt/notesMasters/notesMaster1.xml" Id="Rf99b4e28fb894f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4fdfa2d6354c77" /><Relationship Type="http://schemas.openxmlformats.org/officeDocument/2006/relationships/notesMaster" Target="/ppt/notesMasters/notesMaster1.xml" Id="R64377cbf566a4e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d6951966fe34ea9" /><Relationship Type="http://schemas.openxmlformats.org/officeDocument/2006/relationships/notesMaster" Target="/ppt/notesMasters/notesMaster1.xml" Id="Rda6a185cdd8744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6068f6b0864b0d" /><Relationship Type="http://schemas.openxmlformats.org/officeDocument/2006/relationships/notesMaster" Target="/ppt/notesMasters/notesMaster1.xml" Id="Ra2cce83e987546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b9496905c945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43c8d107344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2e1bda9044c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494bbcd9e49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6fb61be074b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40fe3ad8442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205543-FD97-49EA-973B-299FF1686F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B920D24-EF87-4224-8048-DA417C1BBD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79178EE-6A51-4AA6-B633-A9D3E591C9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E33A48-148B-4FAD-919F-1ACB81A5FA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E59EA0-FD60-4307-9507-A03788DA7A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7456371-1E97-49B0-AFF4-967ABCE68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E4A96E-3B7A-4831-A2CA-FFE94C7A32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282D18-6C55-4E17-992B-776EEC302A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DA2743-F38A-4B13-840C-B34C4A8089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C4FB32-F341-4FF3-B47C-E452A06673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3b6fad9de64fb2" /><Relationship Type="http://schemas.openxmlformats.org/officeDocument/2006/relationships/slideLayout" Target="/ppt/slideLayouts/slideLayout1.xml" Id="R2efd9a472746442d" /><Relationship Type="http://schemas.openxmlformats.org/officeDocument/2006/relationships/slideLayout" Target="/ppt/slideLayouts/slideLayout2.xml" Id="R21c3086c95a54398" /><Relationship Type="http://schemas.openxmlformats.org/officeDocument/2006/relationships/slideLayout" Target="/ppt/slideLayouts/slideLayout3.xml" Id="Rd4f9eb33aa4c46b4" /><Relationship Type="http://schemas.openxmlformats.org/officeDocument/2006/relationships/slideLayout" Target="/ppt/slideLayouts/slideLayout4.xml" Id="Rf6da906aef7043c0" /><Relationship Type="http://schemas.openxmlformats.org/officeDocument/2006/relationships/slideLayout" Target="/ppt/slideLayouts/slideLayout5.xml" Id="Rae866aba0c644216" /><Relationship Type="http://schemas.openxmlformats.org/officeDocument/2006/relationships/slideLayout" Target="/ppt/slideLayouts/slideLayout6.xml" Id="R331be61ee2e142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fd9a472746442d"/>
    <p:sldLayoutId xmlns:r="http://schemas.openxmlformats.org/officeDocument/2006/relationships" id="2147483650" r:id="R21c3086c95a54398"/>
    <p:sldLayoutId xmlns:r="http://schemas.openxmlformats.org/officeDocument/2006/relationships" id="2147483651" r:id="Rd4f9eb33aa4c46b4"/>
    <p:sldLayoutId xmlns:r="http://schemas.openxmlformats.org/officeDocument/2006/relationships" id="2147483652" r:id="Rf6da906aef7043c0"/>
    <p:sldLayoutId xmlns:r="http://schemas.openxmlformats.org/officeDocument/2006/relationships" id="2147483653" r:id="Rae866aba0c644216"/>
    <p:sldLayoutId xmlns:r="http://schemas.openxmlformats.org/officeDocument/2006/relationships" id="2147483654" r:id="R331be61ee2e142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533708d8ab48cf" /><Relationship Type="http://schemas.openxmlformats.org/officeDocument/2006/relationships/notesSlide" Target="/ppt/notesSlides/notesSlide1.xml" Id="R21fe38ddb2f144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059e05eb66478e" /><Relationship Type="http://schemas.openxmlformats.org/officeDocument/2006/relationships/notesSlide" Target="/ppt/notesSlides/notesSlide2.xml" Id="Rae4c9ffa4a1848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0cd413c7a242a1" /><Relationship Type="http://schemas.openxmlformats.org/officeDocument/2006/relationships/notesSlide" Target="/ppt/notesSlides/notesSlide3.xml" Id="R1a7a0eacd27046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8fd7b1b7c74a76" /><Relationship Type="http://schemas.openxmlformats.org/officeDocument/2006/relationships/notesSlide" Target="/ppt/notesSlides/notesSlide4.xml" Id="R10d8fb2baab64b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503fc6edc64ed2" /><Relationship Type="http://schemas.openxmlformats.org/officeDocument/2006/relationships/notesSlide" Target="/ppt/notesSlides/notesSlide5.xml" Id="R43b152f8a52a48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2b7d642d2543fc" /><Relationship Type="http://schemas.openxmlformats.org/officeDocument/2006/relationships/notesSlide" Target="/ppt/notesSlides/notesSlide6.xml" Id="R75d5c76134db42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cea6c20cc0460f" /><Relationship Type="http://schemas.openxmlformats.org/officeDocument/2006/relationships/notesSlide" Target="/ppt/notesSlides/notesSlide7.xml" Id="R26c08b8e9da244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7bc914a73e4342" /><Relationship Type="http://schemas.openxmlformats.org/officeDocument/2006/relationships/notesSlide" Target="/ppt/notesSlides/notesSlide8.xml" Id="R52b9ef53e76e42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6a39f8233148dd" /><Relationship Type="http://schemas.openxmlformats.org/officeDocument/2006/relationships/notesSlide" Target="/ppt/notesSlides/notesSlide9.xml" Id="R8bdfd1bf58ba4d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dc12780fa4c61" /><Relationship Type="http://schemas.openxmlformats.org/officeDocument/2006/relationships/notesSlide" Target="/ppt/notesSlides/notesSlide10.xml" Id="R41ec8d3aa65b48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41a76084424434" /><Relationship Type="http://schemas.openxmlformats.org/officeDocument/2006/relationships/notesSlide" Target="/ppt/notesSlides/notesSlide11.xml" Id="R1f97c2f842004c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34ce5f89104d91" /><Relationship Type="http://schemas.openxmlformats.org/officeDocument/2006/relationships/notesSlide" Target="/ppt/notesSlides/notesSlide12.xml" Id="Rd94ca2cd601240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69babb93c4dca" /><Relationship Type="http://schemas.openxmlformats.org/officeDocument/2006/relationships/notesSlide" Target="/ppt/notesSlides/notesSlide13.xml" Id="R4750e596067249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5a62724694026" /><Relationship Type="http://schemas.openxmlformats.org/officeDocument/2006/relationships/notesSlide" Target="/ppt/notesSlides/notesSlide14.xml" Id="Re0a596f9dd7f42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9451c45714100" /><Relationship Type="http://schemas.openxmlformats.org/officeDocument/2006/relationships/notesSlide" Target="/ppt/notesSlides/notesSlide15.xml" Id="Rcb23d246b3b049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79282d58a4964" /><Relationship Type="http://schemas.openxmlformats.org/officeDocument/2006/relationships/notesSlide" Target="/ppt/notesSlides/notesSlide16.xml" Id="Rf918176245b7494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41e0ba0c384487" /><Relationship Type="http://schemas.openxmlformats.org/officeDocument/2006/relationships/notesSlide" Target="/ppt/notesSlides/notesSlide17.xml" Id="R8c52868d0d2e46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1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924479DC-ED1C-4C00-842C-AC9340D9A3E8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4F47"/>
            </a:solidFill>
            <a:prstDash val="solid"/>
          </a:ln>
        </p:spPr>
      </p:cxnSp>
      <p:sp>
        <p:nvSpPr>
          <p:cNvPr id="2" name="copy-2">
            <a:extLst xmlns:a="http://schemas.openxmlformats.org/drawingml/2006/main">
              <a:ext uri="{FF2B5EF4-FFF2-40B4-BE49-F238E27FC236}">
                <a16:creationId xmlns:a16="http://schemas.microsoft.com/office/drawing/2014/main" id="{E4D704F0-095D-41CF-BA69-9ED19BBC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copy-3">
            <a:extLst xmlns:a="http://schemas.openxmlformats.org/drawingml/2006/main">
              <a:ext uri="{FF2B5EF4-FFF2-40B4-BE49-F238E27FC236}">
                <a16:creationId xmlns:a16="http://schemas.microsoft.com/office/drawing/2014/main" id="{8C39D5C4-00E6-444B-8178-3B3D0CC8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NORTH AMERICA FOCUSED</a:t>
            </a:r>
          </a:p>
        </p:txBody>
      </p:sp>
      <p:sp>
        <p:nvSpPr>
          <p:cNvPr id="4" name="copy-4">
            <a:extLst xmlns:a="http://schemas.openxmlformats.org/drawingml/2006/main">
              <a:ext uri="{FF2B5EF4-FFF2-40B4-BE49-F238E27FC236}">
                <a16:creationId xmlns:a16="http://schemas.microsoft.com/office/drawing/2014/main" id="{0B59E46D-6D29-4425-9093-605D9C3F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3144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Outrise</a:t>
            </a:r>
          </a:p>
        </p:txBody>
      </p:sp>
      <p:sp>
        <p:nvSpPr>
          <p:cNvPr id="5" name="copy-5">
            <a:extLst xmlns:a="http://schemas.openxmlformats.org/drawingml/2006/main">
              <a:ext uri="{FF2B5EF4-FFF2-40B4-BE49-F238E27FC236}">
                <a16:creationId xmlns:a16="http://schemas.microsoft.com/office/drawing/2014/main" id="{67B00854-99D2-4A3F-AE5E-546057BE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30492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专注北美市场的 AI-native 营销与增长团队</a:t>
            </a:r>
          </a:p>
        </p:txBody>
      </p:sp>
      <p:cxnSp>
        <p:nvCxnSpPr>
          <p:cNvPr id="6" name="line-6">
            <a:extLst xmlns:a="http://schemas.openxmlformats.org/drawingml/2006/main">
              <a:ext uri="{FF2B5EF4-FFF2-40B4-BE49-F238E27FC236}">
                <a16:creationId xmlns:a16="http://schemas.microsoft.com/office/drawing/2014/main" id="{974E98F6-0146-447E-A61A-5CD35B94C8A7}"/>
              </a:ext>
            </a:extLst>
          </p:cNvPr>
          <p:cNvCxnSpPr/>
          <p:nvPr/>
        </p:nvCxnSpPr>
        <p:spPr>
          <a:xfrm xmlns:a="http://schemas.openxmlformats.org/drawingml/2006/main">
            <a:off x="876300" y="4981575"/>
            <a:ext cx="134874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D4F47"/>
            </a:solidFill>
            <a:prstDash val="solid"/>
          </a:ln>
        </p:spPr>
      </p:cxnSp>
      <p:sp>
        <p:nvSpPr>
          <p:cNvPr id="7" name="copy-7">
            <a:extLst xmlns:a="http://schemas.openxmlformats.org/drawingml/2006/main">
              <a:ext uri="{FF2B5EF4-FFF2-40B4-BE49-F238E27FC236}">
                <a16:creationId xmlns:a16="http://schemas.microsoft.com/office/drawing/2014/main" id="{0E4091D0-FE18-4CB4-8D47-BC0F6A22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策略判断 · 营销规划 · 关键执行</a:t>
            </a:r>
          </a:p>
        </p:txBody>
      </p:sp>
      <p:sp>
        <p:nvSpPr>
          <p:cNvPr id="8" name="copy-8">
            <a:extLst xmlns:a="http://schemas.openxmlformats.org/drawingml/2006/main">
              <a:ext uri="{FF2B5EF4-FFF2-40B4-BE49-F238E27FC236}">
                <a16:creationId xmlns:a16="http://schemas.microsoft.com/office/drawing/2014/main" id="{179770A7-931A-429C-8A2C-41F103A7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34000"/>
            <a:ext cx="62674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为消费品牌与科技创业公司，判断方向、</a:t>
            </a:r>
          </a:p>
          <a:p xmlns:a="http://schemas.openxmlformats.org/drawingml/2006/main">
            <a: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做出选择、制定规划，推进关键</a:t>
            </a:r>
          </a:p>
          <a:p xmlns:a="http://schemas.openxmlformats.org/drawingml/2006/main">
            <a: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营销工作。</a:t>
            </a:r>
          </a:p>
        </p:txBody>
      </p:sp>
    </p:spTree>
    <p:extLst>
      <p:ext uri="{BB962C8B-B14F-4D97-AF65-F5344CB8AC3E}">
        <p14:creationId xmlns:p14="http://schemas.microsoft.com/office/powerpoint/2010/main" val="11311698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line-9">
            <a:extLst xmlns:a="http://schemas.openxmlformats.org/drawingml/2006/main">
              <a:ext uri="{FF2B5EF4-FFF2-40B4-BE49-F238E27FC236}">
                <a16:creationId xmlns:a16="http://schemas.microsoft.com/office/drawing/2014/main" id="{52CCF2F3-54F0-4D17-B994-814C16E8FE3A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2" name="copy-10">
            <a:extLst xmlns:a="http://schemas.openxmlformats.org/drawingml/2006/main">
              <a:ext uri="{FF2B5EF4-FFF2-40B4-BE49-F238E27FC236}">
                <a16:creationId xmlns:a16="http://schemas.microsoft.com/office/drawing/2014/main" id="{69F2A3C7-A10E-4A8D-B471-88541F38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copy-11">
            <a:extLst xmlns:a="http://schemas.openxmlformats.org/drawingml/2006/main">
              <a:ext uri="{FF2B5EF4-FFF2-40B4-BE49-F238E27FC236}">
                <a16:creationId xmlns:a16="http://schemas.microsoft.com/office/drawing/2014/main" id="{269AA040-B8DB-4CA2-B384-ABD1D65A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我们是谁</a:t>
            </a:r>
          </a:p>
        </p:txBody>
      </p:sp>
      <p:sp>
        <p:nvSpPr>
          <p:cNvPr id="4" name="title-12">
            <a:extLst xmlns:a="http://schemas.openxmlformats.org/drawingml/2006/main">
              <a:ext uri="{FF2B5EF4-FFF2-40B4-BE49-F238E27FC236}">
                <a16:creationId xmlns:a16="http://schemas.microsoft.com/office/drawing/2014/main" id="{97EACB57-65E6-4B0D-9503-541A8847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专注北美的 AI-native 营销与增长团队</a:t>
            </a:r>
          </a:p>
        </p:txBody>
      </p:sp>
      <p:sp>
        <p:nvSpPr>
          <p:cNvPr id="5" name="copy-13">
            <a:extLst xmlns:a="http://schemas.openxmlformats.org/drawingml/2006/main">
              <a:ext uri="{FF2B5EF4-FFF2-40B4-BE49-F238E27FC236}">
                <a16:creationId xmlns:a16="http://schemas.microsoft.com/office/drawing/2014/main" id="{811C5BD0-C0EC-4FFA-8619-766137E2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35445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Outrise 为消费品牌与科技创业公司提供北美市场的营销支持。我们从产品、业务目标和用</a:t>
            </a:r>
          </a:p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户需求出发，帮助团队明确市场方向、建立品牌表达、规划渠道投入，并推进关键</a:t>
            </a:r>
          </a:p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营销工作。</a:t>
            </a:r>
          </a:p>
        </p:txBody>
      </p:sp>
      <p:cxnSp>
        <p:nvCxnSpPr>
          <p:cNvPr id="6" name="line-14">
            <a:extLst xmlns:a="http://schemas.openxmlformats.org/drawingml/2006/main">
              <a:ext uri="{FF2B5EF4-FFF2-40B4-BE49-F238E27FC236}">
                <a16:creationId xmlns:a16="http://schemas.microsoft.com/office/drawing/2014/main" id="{ABF80CF8-F84F-4425-9801-6B986FD76077}"/>
              </a:ext>
            </a:extLst>
          </p:cNvPr>
          <p:cNvCxnSpPr/>
          <p:nvPr/>
        </p:nvCxnSpPr>
        <p:spPr>
          <a:xfrm xmlns:a="http://schemas.openxmlformats.org/drawingml/2006/main">
            <a:off x="857250" y="3619500"/>
            <a:ext cx="13544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7" name="copy-15">
            <a:extLst xmlns:a="http://schemas.openxmlformats.org/drawingml/2006/main">
              <a:ext uri="{FF2B5EF4-FFF2-40B4-BE49-F238E27FC236}">
                <a16:creationId xmlns:a16="http://schemas.microsoft.com/office/drawing/2014/main" id="{2F66F685-B4A7-40CA-82DF-38B040BE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专门聚焦北美市场</a:t>
            </a:r>
          </a:p>
        </p:txBody>
      </p:sp>
      <p:sp>
        <p:nvSpPr>
          <p:cNvPr id="8" name="copy-16">
            <a:extLst xmlns:a="http://schemas.openxmlformats.org/drawingml/2006/main">
              <a:ext uri="{FF2B5EF4-FFF2-40B4-BE49-F238E27FC236}">
                <a16:creationId xmlns:a16="http://schemas.microsoft.com/office/drawing/2014/main" id="{13D976AD-047C-405D-A76F-23C76FF6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围绕北美用户、市场环境与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渠道特点开展工作，让营销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选择贴合目标市场。</a:t>
            </a:r>
          </a:p>
        </p:txBody>
      </p:sp>
      <p:cxnSp>
        <p:nvCxnSpPr>
          <p:cNvPr id="9" name="line-17">
            <a:extLst xmlns:a="http://schemas.openxmlformats.org/drawingml/2006/main">
              <a:ext uri="{FF2B5EF4-FFF2-40B4-BE49-F238E27FC236}">
                <a16:creationId xmlns:a16="http://schemas.microsoft.com/office/drawing/2014/main" id="{286E01C4-A738-4A1B-8B0E-B48A7303A5B7}"/>
              </a:ext>
            </a:extLst>
          </p:cNvPr>
          <p:cNvCxnSpPr/>
          <p:nvPr/>
        </p:nvCxnSpPr>
        <p:spPr>
          <a:xfrm xmlns:a="http://schemas.openxmlformats.org/drawingml/2006/main">
            <a:off x="5219700" y="4086225"/>
            <a:ext cx="0" cy="2876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10" name="copy-18">
            <a:extLst xmlns:a="http://schemas.openxmlformats.org/drawingml/2006/main">
              <a:ext uri="{FF2B5EF4-FFF2-40B4-BE49-F238E27FC236}">
                <a16:creationId xmlns:a16="http://schemas.microsoft.com/office/drawing/2014/main" id="{A4D3DBAA-F51F-4B8D-AE69-3AE69CC1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5275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以策略判断为核心</a:t>
            </a:r>
          </a:p>
        </p:txBody>
      </p:sp>
      <p:sp>
        <p:nvSpPr>
          <p:cNvPr id="11" name="copy-19">
            <a:extLst xmlns:a="http://schemas.openxmlformats.org/drawingml/2006/main">
              <a:ext uri="{FF2B5EF4-FFF2-40B4-BE49-F238E27FC236}">
                <a16:creationId xmlns:a16="http://schemas.microsoft.com/office/drawing/2014/main" id="{3A616F97-EFAE-4D5B-928E-9026941B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1970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帮助客户明确面向谁、传递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什么价值、优先投入哪里，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把业务目标转化为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营销方向。</a:t>
            </a:r>
          </a:p>
        </p:txBody>
      </p:sp>
      <p:cxnSp>
        <p:nvCxnSpPr>
          <p:cNvPr id="12" name="line-20">
            <a:extLst xmlns:a="http://schemas.openxmlformats.org/drawingml/2006/main">
              <a:ext uri="{FF2B5EF4-FFF2-40B4-BE49-F238E27FC236}">
                <a16:creationId xmlns:a16="http://schemas.microsoft.com/office/drawing/2014/main" id="{8EC6F561-7BC1-4194-B30E-6F6EEE3FA363}"/>
              </a:ext>
            </a:extLst>
          </p:cNvPr>
          <p:cNvCxnSpPr/>
          <p:nvPr/>
        </p:nvCxnSpPr>
        <p:spPr>
          <a:xfrm xmlns:a="http://schemas.openxmlformats.org/drawingml/2006/main">
            <a:off x="9982200" y="4086225"/>
            <a:ext cx="0" cy="2876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13" name="copy-21">
            <a:extLst xmlns:a="http://schemas.openxmlformats.org/drawingml/2006/main">
              <a:ext uri="{FF2B5EF4-FFF2-40B4-BE49-F238E27FC236}">
                <a16:creationId xmlns:a16="http://schemas.microsoft.com/office/drawing/2014/main" id="{29CC141A-400B-4C3F-AA89-7D2D5482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05275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以 AI-native 方式</a:t>
            </a:r>
          </a:p>
          <a:p xmlns:a="http://schemas.openxmlformats.org/drawingml/2006/main">
            <a: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组织工作</a:t>
            </a:r>
          </a:p>
        </p:txBody>
      </p:sp>
      <p:sp>
        <p:nvSpPr>
          <p:cNvPr id="14" name="copy-22">
            <a:extLst xmlns:a="http://schemas.openxmlformats.org/drawingml/2006/main">
              <a:ext uri="{FF2B5EF4-FFF2-40B4-BE49-F238E27FC236}">
                <a16:creationId xmlns:a16="http://schemas.microsoft.com/office/drawing/2014/main" id="{32A810C3-7264-4D7E-87F2-06798E55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1970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将 AI 融入研究、知识积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累、任务协同与内容生产，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由团队承担商业判断和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质量责任。</a:t>
            </a:r>
          </a:p>
        </p:txBody>
      </p:sp>
    </p:spTree>
    <p:extLst>
      <p:ext uri="{BB962C8B-B14F-4D97-AF65-F5344CB8AC3E}">
        <p14:creationId xmlns:p14="http://schemas.microsoft.com/office/powerpoint/2010/main" val="896456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py-23">
            <a:extLst xmlns:a="http://schemas.openxmlformats.org/drawingml/2006/main">
              <a:ext uri="{FF2B5EF4-FFF2-40B4-BE49-F238E27FC236}">
                <a16:creationId xmlns:a16="http://schemas.microsoft.com/office/drawing/2014/main" id="{5FBD43BC-8D35-4F24-ADCB-F64E8069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我们是谁</a:t>
            </a:r>
          </a:p>
        </p:txBody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D0C2A665-C990-4B8C-B36E-A463CF70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参与营销决策，统筹关键工作</a:t>
            </a:r>
          </a:p>
        </p:txBody>
      </p:sp>
      <p:sp>
        <p:nvSpPr>
          <p:cNvPr id="3" name="copy-25">
            <a:extLst xmlns:a="http://schemas.openxmlformats.org/drawingml/2006/main">
              <a:ext uri="{FF2B5EF4-FFF2-40B4-BE49-F238E27FC236}">
                <a16:creationId xmlns:a16="http://schemas.microsoft.com/office/drawing/2014/main" id="{D8FFFBA1-A796-4C6F-B1EA-38435C05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我们深入理解你的业务，与团队一起确定营销重点、安排资源，并持续推进双方确认的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关键工作。</a:t>
            </a:r>
          </a:p>
        </p:txBody>
      </p:sp>
      <p:cxnSp>
        <p:nvCxnSpPr>
          <p:cNvPr id="4" name="line-26">
            <a:extLst xmlns:a="http://schemas.openxmlformats.org/drawingml/2006/main">
              <a:ext uri="{FF2B5EF4-FFF2-40B4-BE49-F238E27FC236}">
                <a16:creationId xmlns:a16="http://schemas.microsoft.com/office/drawing/2014/main" id="{52B256AC-A8EB-4F4D-B1A9-6F9189CA4DBD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27">
            <a:extLst xmlns:a="http://schemas.openxmlformats.org/drawingml/2006/main">
              <a:ext uri="{FF2B5EF4-FFF2-40B4-BE49-F238E27FC236}">
                <a16:creationId xmlns:a16="http://schemas.microsoft.com/office/drawing/2014/main" id="{C56E5D66-83FF-44F3-9FEA-7254BFD7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从关键选择到后续推进，让你的团队获得持续的营销判断与协作支持。</a:t>
            </a:r>
          </a:p>
        </p:txBody>
      </p:sp>
      <p:sp>
        <p:nvSpPr>
          <p:cNvPr id="6" name="copy-28">
            <a:extLst xmlns:a="http://schemas.openxmlformats.org/drawingml/2006/main">
              <a:ext uri="{FF2B5EF4-FFF2-40B4-BE49-F238E27FC236}">
                <a16:creationId xmlns:a16="http://schemas.microsoft.com/office/drawing/2014/main" id="{7C27E0ED-1403-4799-B430-3028BDE7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copy-29">
            <a:extLst xmlns:a="http://schemas.openxmlformats.org/drawingml/2006/main">
              <a:ext uri="{FF2B5EF4-FFF2-40B4-BE49-F238E27FC236}">
                <a16:creationId xmlns:a16="http://schemas.microsoft.com/office/drawing/2014/main" id="{F7CB8EAC-4946-4F80-9F3C-321BE7F9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cxnSp>
        <p:nvCxnSpPr>
          <p:cNvPr id="8" name="line-30">
            <a:extLst xmlns:a="http://schemas.openxmlformats.org/drawingml/2006/main">
              <a:ext uri="{FF2B5EF4-FFF2-40B4-BE49-F238E27FC236}">
                <a16:creationId xmlns:a16="http://schemas.microsoft.com/office/drawing/2014/main" id="{8D78A61A-C55B-4578-992C-A86196846C86}"/>
              </a:ext>
            </a:extLst>
          </p:cNvPr>
          <p:cNvCxnSpPr/>
          <p:nvPr/>
        </p:nvCxnSpPr>
        <p:spPr>
          <a:xfrm xmlns:a="http://schemas.openxmlformats.org/drawingml/2006/main">
            <a:off x="1981200" y="3457575"/>
            <a:ext cx="31813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91A18"/>
            </a:solidFill>
            <a:prstDash val="solid"/>
            <a:tailEnd type="triangle" w="sm" len="sm"/>
          </a:ln>
        </p:spPr>
      </p:cxnSp>
      <p:sp>
        <p:nvSpPr>
          <p:cNvPr id="9" name="copy-31">
            <a:extLst xmlns:a="http://schemas.openxmlformats.org/drawingml/2006/main">
              <a:ext uri="{FF2B5EF4-FFF2-40B4-BE49-F238E27FC236}">
                <a16:creationId xmlns:a16="http://schemas.microsoft.com/office/drawing/2014/main" id="{A098337A-E2B7-4FC1-8689-82538071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一起判断，确定重点</a:t>
            </a:r>
          </a:p>
        </p:txBody>
      </p:sp>
      <p:sp>
        <p:nvSpPr>
          <p:cNvPr id="10" name="copy-32">
            <a:extLst xmlns:a="http://schemas.openxmlformats.org/drawingml/2006/main">
              <a:ext uri="{FF2B5EF4-FFF2-40B4-BE49-F238E27FC236}">
                <a16:creationId xmlns:a16="http://schemas.microsoft.com/office/drawing/2014/main" id="{93D091AA-E1B0-4909-A402-7B683A2D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4000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将产品与业务信息放进市场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和用户视角中讨论，帮助团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队判断方向、比较选择、明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确优先级。</a:t>
            </a:r>
          </a:p>
        </p:txBody>
      </p:sp>
      <p:sp>
        <p:nvSpPr>
          <p:cNvPr id="11" name="copy-33">
            <a:extLst xmlns:a="http://schemas.openxmlformats.org/drawingml/2006/main">
              <a:ext uri="{FF2B5EF4-FFF2-40B4-BE49-F238E27FC236}">
                <a16:creationId xmlns:a16="http://schemas.microsoft.com/office/drawing/2014/main" id="{BCDBB42F-16BD-4410-A01B-2E42CB0C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718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cxnSp>
        <p:nvCxnSpPr>
          <p:cNvPr id="12" name="line-34">
            <a:extLst xmlns:a="http://schemas.openxmlformats.org/drawingml/2006/main">
              <a:ext uri="{FF2B5EF4-FFF2-40B4-BE49-F238E27FC236}">
                <a16:creationId xmlns:a16="http://schemas.microsoft.com/office/drawing/2014/main" id="{212BA727-80CC-4FED-A3E4-4520B136AAE6}"/>
              </a:ext>
            </a:extLst>
          </p:cNvPr>
          <p:cNvCxnSpPr/>
          <p:nvPr/>
        </p:nvCxnSpPr>
        <p:spPr>
          <a:xfrm xmlns:a="http://schemas.openxmlformats.org/drawingml/2006/main">
            <a:off x="6743700" y="3457575"/>
            <a:ext cx="31813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91A18"/>
            </a:solidFill>
            <a:prstDash val="solid"/>
            <a:tailEnd type="triangle" w="sm" len="sm"/>
          </a:ln>
        </p:spPr>
      </p:cxnSp>
      <p:sp>
        <p:nvSpPr>
          <p:cNvPr id="13" name="copy-35">
            <a:extLst xmlns:a="http://schemas.openxmlformats.org/drawingml/2006/main">
              <a:ext uri="{FF2B5EF4-FFF2-40B4-BE49-F238E27FC236}">
                <a16:creationId xmlns:a16="http://schemas.microsoft.com/office/drawing/2014/main" id="{DCFD5463-84E4-4B71-89F9-E2F16BBA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719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统筹规划，协调资源</a:t>
            </a:r>
          </a:p>
        </p:txBody>
      </p:sp>
      <p:sp>
        <p:nvSpPr>
          <p:cNvPr id="14" name="copy-36">
            <a:extLst xmlns:a="http://schemas.openxmlformats.org/drawingml/2006/main">
              <a:ext uri="{FF2B5EF4-FFF2-40B4-BE49-F238E27FC236}">
                <a16:creationId xmlns:a16="http://schemas.microsoft.com/office/drawing/2014/main" id="{E70CA4BB-0A5A-43A2-8B2A-F98AD364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00650"/>
            <a:ext cx="4000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把营销目标转化为阶段计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划，协调客户团队、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Outrise 与专业伙伴的分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工，让渠道、内容和资源安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排相互衔接。</a:t>
            </a:r>
          </a:p>
        </p:txBody>
      </p:sp>
      <p:sp>
        <p:nvSpPr>
          <p:cNvPr id="15" name="copy-37">
            <a:extLst xmlns:a="http://schemas.openxmlformats.org/drawingml/2006/main">
              <a:ext uri="{FF2B5EF4-FFF2-40B4-BE49-F238E27FC236}">
                <a16:creationId xmlns:a16="http://schemas.microsoft.com/office/drawing/2014/main" id="{BEE33B74-1FB8-4C2F-B71A-7C8AB443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718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copy-38">
            <a:extLst xmlns:a="http://schemas.openxmlformats.org/drawingml/2006/main">
              <a:ext uri="{FF2B5EF4-FFF2-40B4-BE49-F238E27FC236}">
                <a16:creationId xmlns:a16="http://schemas.microsoft.com/office/drawing/2014/main" id="{DA5FE363-023C-4979-AA0A-BC145DAC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719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推进工作，持续调整</a:t>
            </a:r>
          </a:p>
        </p:txBody>
      </p:sp>
      <p:sp>
        <p:nvSpPr>
          <p:cNvPr id="17" name="copy-39">
            <a:extLst xmlns:a="http://schemas.openxmlformats.org/drawingml/2006/main">
              <a:ext uri="{FF2B5EF4-FFF2-40B4-BE49-F238E27FC236}">
                <a16:creationId xmlns:a16="http://schemas.microsoft.com/office/drawing/2014/main" id="{7FBBC23C-2651-432B-BE20-87CD34EA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00650"/>
            <a:ext cx="4000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承担约定的关键执行，跟进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工作进展，把市场反馈带回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讨论，推动下一轮决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策与调整。</a:t>
            </a:r>
          </a:p>
        </p:txBody>
      </p:sp>
    </p:spTree>
    <p:extLst>
      <p:ext uri="{BB962C8B-B14F-4D97-AF65-F5344CB8AC3E}">
        <p14:creationId xmlns:p14="http://schemas.microsoft.com/office/powerpoint/2010/main" val="707133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py-40">
            <a:extLst xmlns:a="http://schemas.openxmlformats.org/drawingml/2006/main">
              <a:ext uri="{FF2B5EF4-FFF2-40B4-BE49-F238E27FC236}">
                <a16:creationId xmlns:a16="http://schemas.microsoft.com/office/drawing/2014/main" id="{6EEE9A9A-A16B-4877-B4C7-9A884209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我们服务谁</a:t>
            </a:r>
          </a:p>
        </p:txBody>
      </p:sp>
      <p:sp>
        <p:nvSpPr>
          <p:cNvPr id="2" name="title-41">
            <a:extLst xmlns:a="http://schemas.openxmlformats.org/drawingml/2006/main">
              <a:ext uri="{FF2B5EF4-FFF2-40B4-BE49-F238E27FC236}">
                <a16:creationId xmlns:a16="http://schemas.microsoft.com/office/drawing/2014/main" id="{00C269B6-2B21-473B-A0CB-424EFE32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服务消费品牌与科技创业公司</a:t>
            </a:r>
          </a:p>
        </p:txBody>
      </p:sp>
      <p:sp>
        <p:nvSpPr>
          <p:cNvPr id="3" name="copy-42">
            <a:extLst xmlns:a="http://schemas.openxmlformats.org/drawingml/2006/main">
              <a:ext uri="{FF2B5EF4-FFF2-40B4-BE49-F238E27FC236}">
                <a16:creationId xmlns:a16="http://schemas.microsoft.com/office/drawing/2014/main" id="{B6D4081F-23ED-42C9-BB81-E4D23A98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同样聚焦北美，回应不同的业务需求。</a:t>
            </a:r>
          </a:p>
        </p:txBody>
      </p:sp>
      <p:cxnSp>
        <p:nvCxnSpPr>
          <p:cNvPr id="4" name="line-43">
            <a:extLst xmlns:a="http://schemas.openxmlformats.org/drawingml/2006/main">
              <a:ext uri="{FF2B5EF4-FFF2-40B4-BE49-F238E27FC236}">
                <a16:creationId xmlns:a16="http://schemas.microsoft.com/office/drawing/2014/main" id="{BA233A04-BB61-4A07-BD2A-2A1530E774C6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44">
            <a:extLst xmlns:a="http://schemas.openxmlformats.org/drawingml/2006/main">
              <a:ext uri="{FF2B5EF4-FFF2-40B4-BE49-F238E27FC236}">
                <a16:creationId xmlns:a16="http://schemas.microsoft.com/office/drawing/2014/main" id="{BD4101D1-4797-4B2A-B9E9-ECDAB4DB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cxnSp>
        <p:nvCxnSpPr>
          <p:cNvPr id="6" name="line-45">
            <a:extLst xmlns:a="http://schemas.openxmlformats.org/drawingml/2006/main">
              <a:ext uri="{FF2B5EF4-FFF2-40B4-BE49-F238E27FC236}">
                <a16:creationId xmlns:a16="http://schemas.microsoft.com/office/drawing/2014/main" id="{A9FCF0A2-F369-4D01-AEE4-D0E93AFBB6C1}"/>
              </a:ext>
            </a:extLst>
          </p:cNvPr>
          <p:cNvCxnSpPr/>
          <p:nvPr/>
        </p:nvCxnSpPr>
        <p:spPr>
          <a:xfrm xmlns:a="http://schemas.openxmlformats.org/drawingml/2006/main">
            <a:off x="7620000" y="3057525"/>
            <a:ext cx="0" cy="41338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7" name="copy-46">
            <a:extLst xmlns:a="http://schemas.openxmlformats.org/drawingml/2006/main">
              <a:ext uri="{FF2B5EF4-FFF2-40B4-BE49-F238E27FC236}">
                <a16:creationId xmlns:a16="http://schemas.microsoft.com/office/drawing/2014/main" id="{A7F95089-07E9-476B-A668-A92B6440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01 / CONSUMER BRANDS</a:t>
            </a:r>
          </a:p>
        </p:txBody>
      </p:sp>
      <p:sp>
        <p:nvSpPr>
          <p:cNvPr id="8" name="copy-47">
            <a:extLst xmlns:a="http://schemas.openxmlformats.org/drawingml/2006/main">
              <a:ext uri="{FF2B5EF4-FFF2-40B4-BE49-F238E27FC236}">
                <a16:creationId xmlns:a16="http://schemas.microsoft.com/office/drawing/2014/main" id="{399F3F07-0937-46DC-A6C8-7358C9C6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6096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消费品牌出海</a:t>
            </a:r>
          </a:p>
        </p:txBody>
      </p:sp>
      <p:sp>
        <p:nvSpPr>
          <p:cNvPr id="9" name="copy-48">
            <a:extLst xmlns:a="http://schemas.openxmlformats.org/drawingml/2006/main">
              <a:ext uri="{FF2B5EF4-FFF2-40B4-BE49-F238E27FC236}">
                <a16:creationId xmlns:a16="http://schemas.microsoft.com/office/drawing/2014/main" id="{DB2C08D0-A4E9-440E-97A5-2F8DBB95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86325"/>
            <a:ext cx="6076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面向希望进入或拓展北美市场的 To C 品</a:t>
            </a:r>
          </a:p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牌，兼顾电商销售增长，以及品牌认知、</a:t>
            </a:r>
          </a:p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定位与持续传播。</a:t>
            </a:r>
          </a:p>
        </p:txBody>
      </p:sp>
      <p:cxnSp>
        <p:nvCxnSpPr>
          <p:cNvPr id="10" name="line-49">
            <a:extLst xmlns:a="http://schemas.openxmlformats.org/drawingml/2006/main">
              <a:ext uri="{FF2B5EF4-FFF2-40B4-BE49-F238E27FC236}">
                <a16:creationId xmlns:a16="http://schemas.microsoft.com/office/drawing/2014/main" id="{D91C9D58-F23C-42AC-956D-AB445C1906F8}"/>
              </a:ext>
            </a:extLst>
          </p:cNvPr>
          <p:cNvCxnSpPr/>
          <p:nvPr/>
        </p:nvCxnSpPr>
        <p:spPr>
          <a:xfrm xmlns:a="http://schemas.openxmlformats.org/drawingml/2006/main">
            <a:off x="857250" y="6686550"/>
            <a:ext cx="590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1A18"/>
            </a:solidFill>
            <a:prstDash val="solid"/>
          </a:ln>
        </p:spPr>
      </p:cxnSp>
      <p:sp>
        <p:nvSpPr>
          <p:cNvPr id="11" name="copy-50">
            <a:extLst xmlns:a="http://schemas.openxmlformats.org/drawingml/2006/main">
              <a:ext uri="{FF2B5EF4-FFF2-40B4-BE49-F238E27FC236}">
                <a16:creationId xmlns:a16="http://schemas.microsoft.com/office/drawing/2014/main" id="{41226D96-D3E0-4569-A62E-8B215715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9342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品牌建设／电商增长</a:t>
            </a:r>
          </a:p>
        </p:txBody>
      </p:sp>
      <p:sp>
        <p:nvSpPr>
          <p:cNvPr id="12" name="copy-51">
            <a:extLst xmlns:a="http://schemas.openxmlformats.org/drawingml/2006/main">
              <a:ext uri="{FF2B5EF4-FFF2-40B4-BE49-F238E27FC236}">
                <a16:creationId xmlns:a16="http://schemas.microsoft.com/office/drawing/2014/main" id="{44532C6C-17CA-4A32-978A-C65FE9B4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861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02 / TECH STARTUPS</a:t>
            </a:r>
          </a:p>
        </p:txBody>
      </p:sp>
      <p:sp>
        <p:nvSpPr>
          <p:cNvPr id="13" name="copy-52">
            <a:extLst xmlns:a="http://schemas.openxmlformats.org/drawingml/2006/main">
              <a:ext uri="{FF2B5EF4-FFF2-40B4-BE49-F238E27FC236}">
                <a16:creationId xmlns:a16="http://schemas.microsoft.com/office/drawing/2014/main" id="{71F42C86-7677-4C35-92A5-27521779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86175"/>
            <a:ext cx="6096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科技创业公司的市场进入与增长</a:t>
            </a:r>
          </a:p>
        </p:txBody>
      </p:sp>
      <p:sp>
        <p:nvSpPr>
          <p:cNvPr id="14" name="copy-53">
            <a:extLst xmlns:a="http://schemas.openxmlformats.org/drawingml/2006/main">
              <a:ext uri="{FF2B5EF4-FFF2-40B4-BE49-F238E27FC236}">
                <a16:creationId xmlns:a16="http://schemas.microsoft.com/office/drawing/2014/main" id="{BB8FBFDE-9AC1-463A-83CD-54BBD10F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86325"/>
            <a:ext cx="6076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面向不同类型的科技创业公司，围绕市场</a:t>
            </a:r>
          </a:p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进入与增长（GTM），帮助团队讲清产</a:t>
            </a:r>
          </a:p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品价值、明确目标用户，并确定当前阶段</a:t>
            </a:r>
          </a:p>
          <a:p xmlns:a="http://schemas.openxmlformats.org/drawingml/2006/main">
            <a:pPr algn="l">
              <a:def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的营销重点。</a:t>
            </a:r>
          </a:p>
        </p:txBody>
      </p:sp>
      <p:cxnSp>
        <p:nvCxnSpPr>
          <p:cNvPr id="15" name="line-54">
            <a:extLst xmlns:a="http://schemas.openxmlformats.org/drawingml/2006/main">
              <a:ext uri="{FF2B5EF4-FFF2-40B4-BE49-F238E27FC236}">
                <a16:creationId xmlns:a16="http://schemas.microsoft.com/office/drawing/2014/main" id="{95FEA810-D711-4EF5-86F0-F36C34688CC4}"/>
              </a:ext>
            </a:extLst>
          </p:cNvPr>
          <p:cNvCxnSpPr/>
          <p:nvPr/>
        </p:nvCxnSpPr>
        <p:spPr>
          <a:xfrm xmlns:a="http://schemas.openxmlformats.org/drawingml/2006/main">
            <a:off x="8305800" y="6686550"/>
            <a:ext cx="590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1A18"/>
            </a:solidFill>
            <a:prstDash val="solid"/>
          </a:ln>
        </p:spPr>
      </p:cxnSp>
      <p:sp>
        <p:nvSpPr>
          <p:cNvPr id="16" name="copy-55">
            <a:extLst xmlns:a="http://schemas.openxmlformats.org/drawingml/2006/main">
              <a:ext uri="{FF2B5EF4-FFF2-40B4-BE49-F238E27FC236}">
                <a16:creationId xmlns:a16="http://schemas.microsoft.com/office/drawing/2014/main" id="{3F8636EB-05D5-480A-8914-86FF5E7D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9342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市场进入／增长规划</a:t>
            </a:r>
          </a:p>
        </p:txBody>
      </p:sp>
    </p:spTree>
    <p:extLst>
      <p:ext uri="{BB962C8B-B14F-4D97-AF65-F5344CB8AC3E}">
        <p14:creationId xmlns:p14="http://schemas.microsoft.com/office/powerpoint/2010/main" val="17123649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copy-56">
            <a:extLst xmlns:a="http://schemas.openxmlformats.org/drawingml/2006/main">
              <a:ext uri="{FF2B5EF4-FFF2-40B4-BE49-F238E27FC236}">
                <a16:creationId xmlns:a16="http://schemas.microsoft.com/office/drawing/2014/main" id="{B08A11A5-4637-488B-BA29-F6B29700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我们做什么</a:t>
            </a:r>
          </a:p>
        </p:txBody>
      </p:sp>
      <p:sp>
        <p:nvSpPr>
          <p:cNvPr id="2" name="title-57">
            <a:extLst xmlns:a="http://schemas.openxmlformats.org/drawingml/2006/main">
              <a:ext uri="{FF2B5EF4-FFF2-40B4-BE49-F238E27FC236}">
                <a16:creationId xmlns:a16="http://schemas.microsoft.com/office/drawing/2014/main" id="{F5A3DAA1-D43F-4558-9200-7B68D207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两项核心能力，连接策略与行动</a:t>
            </a:r>
          </a:p>
        </p:txBody>
      </p:sp>
      <p:sp>
        <p:nvSpPr>
          <p:cNvPr id="3" name="copy-58">
            <a:extLst xmlns:a="http://schemas.openxmlformats.org/drawingml/2006/main">
              <a:ext uri="{FF2B5EF4-FFF2-40B4-BE49-F238E27FC236}">
                <a16:creationId xmlns:a16="http://schemas.microsoft.com/office/drawing/2014/main" id="{15B775F2-04A2-48C5-ABCD-C8A04925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以营销判断和渠道规划统筹工作，按目标组合执行能力。</a:t>
            </a:r>
          </a:p>
        </p:txBody>
      </p:sp>
      <p:cxnSp>
        <p:nvCxnSpPr>
          <p:cNvPr id="4" name="line-59">
            <a:extLst xmlns:a="http://schemas.openxmlformats.org/drawingml/2006/main">
              <a:ext uri="{FF2B5EF4-FFF2-40B4-BE49-F238E27FC236}">
                <a16:creationId xmlns:a16="http://schemas.microsoft.com/office/drawing/2014/main" id="{A3133CA6-07F7-4269-9182-FF3EA20FED4B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60">
            <a:extLst xmlns:a="http://schemas.openxmlformats.org/drawingml/2006/main">
              <a:ext uri="{FF2B5EF4-FFF2-40B4-BE49-F238E27FC236}">
                <a16:creationId xmlns:a16="http://schemas.microsoft.com/office/drawing/2014/main" id="{1C6C199E-AA2B-43DD-A94F-4801034E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copy-61">
            <a:extLst xmlns:a="http://schemas.openxmlformats.org/drawingml/2006/main">
              <a:ext uri="{FF2B5EF4-FFF2-40B4-BE49-F238E27FC236}">
                <a16:creationId xmlns:a16="http://schemas.microsoft.com/office/drawing/2014/main" id="{73EFD636-41A4-4C42-B66D-D5152E75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7" name="rect-62">
            <a:extLst xmlns:a="http://schemas.openxmlformats.org/drawingml/2006/main">
              <a:ext uri="{FF2B5EF4-FFF2-40B4-BE49-F238E27FC236}">
                <a16:creationId xmlns:a16="http://schemas.microsoft.com/office/drawing/2014/main" id="{6BC6B525-803E-4419-93B2-AE7F0031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81300"/>
            <a:ext cx="5657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-63">
            <a:extLst xmlns:a="http://schemas.openxmlformats.org/drawingml/2006/main">
              <a:ext uri="{FF2B5EF4-FFF2-40B4-BE49-F238E27FC236}">
                <a16:creationId xmlns:a16="http://schemas.microsoft.com/office/drawing/2014/main" id="{F306A882-272E-4F8D-956F-A799CAB0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5657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py-64">
            <a:extLst xmlns:a="http://schemas.openxmlformats.org/drawingml/2006/main">
              <a:ext uri="{FF2B5EF4-FFF2-40B4-BE49-F238E27FC236}">
                <a16:creationId xmlns:a16="http://schemas.microsoft.com/office/drawing/2014/main" id="{DC1250A9-BB0C-489C-99B4-24386446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9900"/>
            <a:ext cx="510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营销策略与品牌基础</a:t>
            </a:r>
          </a:p>
        </p:txBody>
      </p:sp>
      <p:sp>
        <p:nvSpPr>
          <p:cNvPr id="10" name="copy-65">
            <a:extLst xmlns:a="http://schemas.openxmlformats.org/drawingml/2006/main">
              <a:ext uri="{FF2B5EF4-FFF2-40B4-BE49-F238E27FC236}">
                <a16:creationId xmlns:a16="http://schemas.microsoft.com/office/drawing/2014/main" id="{196A2B62-A448-486F-80B3-A288A1D7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57600"/>
            <a:ext cx="510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理解市场与用户，明确品牌定位。</a:t>
            </a:r>
          </a:p>
          <a:p xmlns:a="http://schemas.openxmlformats.org/drawingml/2006/main">
            <a: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规划价值表达、GTM 与营销优先级。</a:t>
            </a:r>
          </a:p>
        </p:txBody>
      </p:sp>
      <p:sp>
        <p:nvSpPr>
          <p:cNvPr id="11" name="copy-66">
            <a:extLst xmlns:a="http://schemas.openxmlformats.org/drawingml/2006/main">
              <a:ext uri="{FF2B5EF4-FFF2-40B4-BE49-F238E27FC236}">
                <a16:creationId xmlns:a16="http://schemas.microsoft.com/office/drawing/2014/main" id="{F746FD5C-5F97-4388-81AC-50E2D130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510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渠道运营与增长</a:t>
            </a:r>
          </a:p>
        </p:txBody>
      </p:sp>
      <p:sp>
        <p:nvSpPr>
          <p:cNvPr id="12" name="copy-67">
            <a:extLst xmlns:a="http://schemas.openxmlformats.org/drawingml/2006/main">
              <a:ext uri="{FF2B5EF4-FFF2-40B4-BE49-F238E27FC236}">
                <a16:creationId xmlns:a16="http://schemas.microsoft.com/office/drawing/2014/main" id="{2F5A6FBF-EAB9-4234-8762-43DDAF06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57600"/>
            <a:ext cx="510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规划渠道组合、运营路径和资源投入。</a:t>
            </a:r>
          </a:p>
          <a:p xmlns:a="http://schemas.openxmlformats.org/drawingml/2006/main">
            <a:pPr algn="l">
              <a:def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建立复盘机制，推进关键增长工作。</a:t>
            </a:r>
          </a:p>
        </p:txBody>
      </p:sp>
      <p:cxnSp>
        <p:nvCxnSpPr>
          <p:cNvPr id="13" name="line-68">
            <a:extLst xmlns:a="http://schemas.openxmlformats.org/drawingml/2006/main">
              <a:ext uri="{FF2B5EF4-FFF2-40B4-BE49-F238E27FC236}">
                <a16:creationId xmlns:a16="http://schemas.microsoft.com/office/drawing/2014/main" id="{DD62F44B-0413-4087-AB07-E56411376F1C}"/>
              </a:ext>
            </a:extLst>
          </p:cNvPr>
          <p:cNvCxnSpPr/>
          <p:nvPr/>
        </p:nvCxnSpPr>
        <p:spPr>
          <a:xfrm xmlns:a="http://schemas.openxmlformats.org/drawingml/2006/main">
            <a:off x="5572125" y="43624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cxnSp>
        <p:nvCxnSpPr>
          <p:cNvPr id="14" name="line-69">
            <a:extLst xmlns:a="http://schemas.openxmlformats.org/drawingml/2006/main">
              <a:ext uri="{FF2B5EF4-FFF2-40B4-BE49-F238E27FC236}">
                <a16:creationId xmlns:a16="http://schemas.microsoft.com/office/drawing/2014/main" id="{6F691F27-18E4-4E29-B656-3B0A69E597AC}"/>
              </a:ext>
            </a:extLst>
          </p:cNvPr>
          <p:cNvCxnSpPr/>
          <p:nvPr/>
        </p:nvCxnSpPr>
        <p:spPr>
          <a:xfrm xmlns:a="http://schemas.openxmlformats.org/drawingml/2006/main">
            <a:off x="11572875" y="43624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cxnSp>
        <p:nvCxnSpPr>
          <p:cNvPr id="15" name="line-70">
            <a:extLst xmlns:a="http://schemas.openxmlformats.org/drawingml/2006/main">
              <a:ext uri="{FF2B5EF4-FFF2-40B4-BE49-F238E27FC236}">
                <a16:creationId xmlns:a16="http://schemas.microsoft.com/office/drawing/2014/main" id="{250CFB7A-7615-40CD-95DD-8FA3D0CCD95F}"/>
              </a:ext>
            </a:extLst>
          </p:cNvPr>
          <p:cNvCxnSpPr/>
          <p:nvPr/>
        </p:nvCxnSpPr>
        <p:spPr>
          <a:xfrm xmlns:a="http://schemas.openxmlformats.org/drawingml/2006/main">
            <a:off x="4572000" y="4667250"/>
            <a:ext cx="80010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16" name="copy-71">
            <a:extLst xmlns:a="http://schemas.openxmlformats.org/drawingml/2006/main">
              <a:ext uri="{FF2B5EF4-FFF2-40B4-BE49-F238E27FC236}">
                <a16:creationId xmlns:a16="http://schemas.microsoft.com/office/drawing/2014/main" id="{BA9D1930-CF37-42F2-9676-DBB53D48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直接执行</a:t>
            </a:r>
          </a:p>
        </p:txBody>
      </p:sp>
      <p:sp>
        <p:nvSpPr>
          <p:cNvPr id="17" name="rect-72">
            <a:extLst xmlns:a="http://schemas.openxmlformats.org/drawingml/2006/main">
              <a:ext uri="{FF2B5EF4-FFF2-40B4-BE49-F238E27FC236}">
                <a16:creationId xmlns:a16="http://schemas.microsoft.com/office/drawing/2014/main" id="{232138A6-C81E-4A6B-B6CB-A2DE10FD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0"/>
            <a:ext cx="3657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A18"/>
            </a:solidFill>
            <a:prstDash val="solid"/>
          </a:ln>
        </p:spPr>
      </p:sp>
      <p:sp>
        <p:nvSpPr>
          <p:cNvPr id="18" name="copy-73">
            <a:extLst xmlns:a="http://schemas.openxmlformats.org/drawingml/2006/main">
              <a:ext uri="{FF2B5EF4-FFF2-40B4-BE49-F238E27FC236}">
                <a16:creationId xmlns:a16="http://schemas.microsoft.com/office/drawing/2014/main" id="{C2B7523D-D08A-4329-81C4-3C3EE2E1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578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内容营销</a:t>
            </a:r>
          </a:p>
        </p:txBody>
      </p:sp>
      <p:cxnSp>
        <p:nvCxnSpPr>
          <p:cNvPr id="19" name="line-74">
            <a:extLst xmlns:a="http://schemas.openxmlformats.org/drawingml/2006/main">
              <a:ext uri="{FF2B5EF4-FFF2-40B4-BE49-F238E27FC236}">
                <a16:creationId xmlns:a16="http://schemas.microsoft.com/office/drawing/2014/main" id="{E27824AE-E71C-43C7-B04C-A5B9BB14CE9A}"/>
              </a:ext>
            </a:extLst>
          </p:cNvPr>
          <p:cNvCxnSpPr/>
          <p:nvPr/>
        </p:nvCxnSpPr>
        <p:spPr>
          <a:xfrm xmlns:a="http://schemas.openxmlformats.org/drawingml/2006/main">
            <a:off x="4572000" y="4667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20" name="rect-75">
            <a:extLst xmlns:a="http://schemas.openxmlformats.org/drawingml/2006/main">
              <a:ext uri="{FF2B5EF4-FFF2-40B4-BE49-F238E27FC236}">
                <a16:creationId xmlns:a16="http://schemas.microsoft.com/office/drawing/2014/main" id="{A605FE36-A0C1-4584-B959-8572C2FD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3657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A18"/>
            </a:solidFill>
            <a:prstDash val="solid"/>
          </a:ln>
        </p:spPr>
      </p:sp>
      <p:sp>
        <p:nvSpPr>
          <p:cNvPr id="21" name="copy-76">
            <a:extLst xmlns:a="http://schemas.openxmlformats.org/drawingml/2006/main">
              <a:ext uri="{FF2B5EF4-FFF2-40B4-BE49-F238E27FC236}">
                <a16:creationId xmlns:a16="http://schemas.microsoft.com/office/drawing/2014/main" id="{4D908F2E-C5CC-4F8D-BB8F-FB473F91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578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达人营销</a:t>
            </a:r>
          </a:p>
        </p:txBody>
      </p:sp>
      <p:cxnSp>
        <p:nvCxnSpPr>
          <p:cNvPr id="22" name="line-77">
            <a:extLst xmlns:a="http://schemas.openxmlformats.org/drawingml/2006/main">
              <a:ext uri="{FF2B5EF4-FFF2-40B4-BE49-F238E27FC236}">
                <a16:creationId xmlns:a16="http://schemas.microsoft.com/office/drawing/2014/main" id="{850F0552-5117-4AFA-AA48-87749A77000B}"/>
              </a:ext>
            </a:extLst>
          </p:cNvPr>
          <p:cNvCxnSpPr/>
          <p:nvPr/>
        </p:nvCxnSpPr>
        <p:spPr>
          <a:xfrm xmlns:a="http://schemas.openxmlformats.org/drawingml/2006/main">
            <a:off x="8572500" y="4667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23" name="rect-78">
            <a:extLst xmlns:a="http://schemas.openxmlformats.org/drawingml/2006/main">
              <a:ext uri="{FF2B5EF4-FFF2-40B4-BE49-F238E27FC236}">
                <a16:creationId xmlns:a16="http://schemas.microsoft.com/office/drawing/2014/main" id="{23686700-18A4-4DA3-9068-18EB6BE1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29200"/>
            <a:ext cx="3657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A18"/>
            </a:solidFill>
            <a:prstDash val="solid"/>
          </a:ln>
        </p:spPr>
      </p:sp>
      <p:sp>
        <p:nvSpPr>
          <p:cNvPr id="24" name="copy-79">
            <a:extLst xmlns:a="http://schemas.openxmlformats.org/drawingml/2006/main">
              <a:ext uri="{FF2B5EF4-FFF2-40B4-BE49-F238E27FC236}">
                <a16:creationId xmlns:a16="http://schemas.microsoft.com/office/drawing/2014/main" id="{BDA767CF-36CF-4776-9E83-CC157DFD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2578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广告与投放</a:t>
            </a:r>
          </a:p>
        </p:txBody>
      </p:sp>
      <p:cxnSp>
        <p:nvCxnSpPr>
          <p:cNvPr id="25" name="line-80">
            <a:extLst xmlns:a="http://schemas.openxmlformats.org/drawingml/2006/main">
              <a:ext uri="{FF2B5EF4-FFF2-40B4-BE49-F238E27FC236}">
                <a16:creationId xmlns:a16="http://schemas.microsoft.com/office/drawing/2014/main" id="{4D761B9D-A922-479C-AA70-8F9D5ACCA834}"/>
              </a:ext>
            </a:extLst>
          </p:cNvPr>
          <p:cNvCxnSpPr/>
          <p:nvPr/>
        </p:nvCxnSpPr>
        <p:spPr>
          <a:xfrm xmlns:a="http://schemas.openxmlformats.org/drawingml/2006/main">
            <a:off x="12573000" y="4667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26" name="copy-81">
            <a:extLst xmlns:a="http://schemas.openxmlformats.org/drawingml/2006/main">
              <a:ext uri="{FF2B5EF4-FFF2-40B4-BE49-F238E27FC236}">
                <a16:creationId xmlns:a16="http://schemas.microsoft.com/office/drawing/2014/main" id="{791E2952-B0B0-4ACF-A920-45AD265E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72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专业伙伴</a:t>
            </a:r>
          </a:p>
        </p:txBody>
      </p:sp>
      <p:sp>
        <p:nvSpPr>
          <p:cNvPr id="27" name="rect-82">
            <a:extLst xmlns:a="http://schemas.openxmlformats.org/drawingml/2006/main">
              <a:ext uri="{FF2B5EF4-FFF2-40B4-BE49-F238E27FC236}">
                <a16:creationId xmlns:a16="http://schemas.microsoft.com/office/drawing/2014/main" id="{7424708D-2401-4287-B482-B37A8ED2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343650"/>
            <a:ext cx="11658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py-83">
            <a:extLst xmlns:a="http://schemas.openxmlformats.org/drawingml/2006/main">
              <a:ext uri="{FF2B5EF4-FFF2-40B4-BE49-F238E27FC236}">
                <a16:creationId xmlns:a16="http://schemas.microsoft.com/office/drawing/2014/main" id="{EB3579F5-09C0-422F-B98A-73944A39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4770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本地渠道拓展 / 落地执行 / 公共关系（PR）等</a:t>
            </a:r>
          </a:p>
        </p:txBody>
      </p:sp>
      <p:sp>
        <p:nvSpPr>
          <p:cNvPr id="29" name="copy-84">
            <a:extLst xmlns:a="http://schemas.openxmlformats.org/drawingml/2006/main">
              <a:ext uri="{FF2B5EF4-FFF2-40B4-BE49-F238E27FC236}">
                <a16:creationId xmlns:a16="http://schemas.microsoft.com/office/drawing/2014/main" id="{E8222468-94AF-4782-A96C-164441B5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915150"/>
            <a:ext cx="1112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按需触达、筛选和协调专业资源，由 Outrise 统一推进。</a:t>
            </a:r>
          </a:p>
        </p:txBody>
      </p:sp>
    </p:spTree>
    <p:extLst>
      <p:ext uri="{BB962C8B-B14F-4D97-AF65-F5344CB8AC3E}">
        <p14:creationId xmlns:p14="http://schemas.microsoft.com/office/powerpoint/2010/main" val="4580328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opy-85">
            <a:extLst xmlns:a="http://schemas.openxmlformats.org/drawingml/2006/main">
              <a:ext uri="{FF2B5EF4-FFF2-40B4-BE49-F238E27FC236}">
                <a16:creationId xmlns:a16="http://schemas.microsoft.com/office/drawing/2014/main" id="{B5B2EB5F-BBBB-4BBE-861E-D94BBD77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我们做什么 · 核心能力 01</a:t>
            </a:r>
          </a:p>
        </p:txBody>
      </p:sp>
      <p:sp>
        <p:nvSpPr>
          <p:cNvPr id="2" name="title-86">
            <a:extLst xmlns:a="http://schemas.openxmlformats.org/drawingml/2006/main">
              <a:ext uri="{FF2B5EF4-FFF2-40B4-BE49-F238E27FC236}">
                <a16:creationId xmlns:a16="http://schemas.microsoft.com/office/drawing/2014/main" id="{8DA10CE4-F88A-436B-BF28-1B413AE6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营销策略与品牌基础</a:t>
            </a:r>
          </a:p>
        </p:txBody>
      </p:sp>
      <p:sp>
        <p:nvSpPr>
          <p:cNvPr id="3" name="copy-87">
            <a:extLst xmlns:a="http://schemas.openxmlformats.org/drawingml/2006/main">
              <a:ext uri="{FF2B5EF4-FFF2-40B4-BE49-F238E27FC236}">
                <a16:creationId xmlns:a16="http://schemas.microsoft.com/office/drawing/2014/main" id="{497301A9-2CFB-4D62-AB01-97CD94A1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先形成清晰判断，再确定值得投入的方向。</a:t>
            </a:r>
          </a:p>
        </p:txBody>
      </p:sp>
      <p:cxnSp>
        <p:nvCxnSpPr>
          <p:cNvPr id="4" name="line-88">
            <a:extLst xmlns:a="http://schemas.openxmlformats.org/drawingml/2006/main">
              <a:ext uri="{FF2B5EF4-FFF2-40B4-BE49-F238E27FC236}">
                <a16:creationId xmlns:a16="http://schemas.microsoft.com/office/drawing/2014/main" id="{60126571-344B-4F78-B49C-0503772E67A5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89">
            <a:extLst xmlns:a="http://schemas.openxmlformats.org/drawingml/2006/main">
              <a:ext uri="{FF2B5EF4-FFF2-40B4-BE49-F238E27FC236}">
                <a16:creationId xmlns:a16="http://schemas.microsoft.com/office/drawing/2014/main" id="{03ACA2BE-9E7D-427D-B4B6-D930CE69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cxnSp>
        <p:nvCxnSpPr>
          <p:cNvPr id="6" name="line-90">
            <a:extLst xmlns:a="http://schemas.openxmlformats.org/drawingml/2006/main">
              <a:ext uri="{FF2B5EF4-FFF2-40B4-BE49-F238E27FC236}">
                <a16:creationId xmlns:a16="http://schemas.microsoft.com/office/drawing/2014/main" id="{CD6ED58D-86E4-435B-B4CF-71A01D8B712F}"/>
              </a:ext>
            </a:extLst>
          </p:cNvPr>
          <p:cNvCxnSpPr/>
          <p:nvPr/>
        </p:nvCxnSpPr>
        <p:spPr>
          <a:xfrm xmlns:a="http://schemas.openxmlformats.org/drawingml/2006/main">
            <a:off x="1095375" y="3390900"/>
            <a:ext cx="13192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BAB1"/>
            </a:solidFill>
            <a:prstDash val="solid"/>
          </a:ln>
        </p:spPr>
      </p:cxnSp>
      <p:sp>
        <p:nvSpPr>
          <p:cNvPr id="7" name="rect-91">
            <a:extLst xmlns:a="http://schemas.openxmlformats.org/drawingml/2006/main">
              <a:ext uri="{FF2B5EF4-FFF2-40B4-BE49-F238E27FC236}">
                <a16:creationId xmlns:a16="http://schemas.microsoft.com/office/drawing/2014/main" id="{4DCD8FDA-E710-4405-B9C4-5F1C5C4E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-92">
            <a:extLst xmlns:a="http://schemas.openxmlformats.org/drawingml/2006/main">
              <a:ext uri="{FF2B5EF4-FFF2-40B4-BE49-F238E27FC236}">
                <a16:creationId xmlns:a16="http://schemas.microsoft.com/office/drawing/2014/main" id="{F2806A00-D800-42F6-8565-C1598089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copy-93">
            <a:extLst xmlns:a="http://schemas.openxmlformats.org/drawingml/2006/main">
              <a:ext uri="{FF2B5EF4-FFF2-40B4-BE49-F238E27FC236}">
                <a16:creationId xmlns:a16="http://schemas.microsoft.com/office/drawing/2014/main" id="{C93A8897-A59D-44F3-87B2-6978E8AA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理解市场与用户</a:t>
            </a:r>
          </a:p>
        </p:txBody>
      </p:sp>
      <p:sp>
        <p:nvSpPr>
          <p:cNvPr id="10" name="copy-94">
            <a:extLst xmlns:a="http://schemas.openxmlformats.org/drawingml/2006/main">
              <a:ext uri="{FF2B5EF4-FFF2-40B4-BE49-F238E27FC236}">
                <a16:creationId xmlns:a16="http://schemas.microsoft.com/office/drawing/2014/main" id="{CDE80D21-915A-4DA8-B5A8-2C18C0D5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400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梳理业务目标、产品特点与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目标人群，判断客户的需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求、使用场景和购买考虑。</a:t>
            </a:r>
          </a:p>
        </p:txBody>
      </p:sp>
      <p:sp>
        <p:nvSpPr>
          <p:cNvPr id="11" name="rect-95">
            <a:extLst xmlns:a="http://schemas.openxmlformats.org/drawingml/2006/main">
              <a:ext uri="{FF2B5EF4-FFF2-40B4-BE49-F238E27FC236}">
                <a16:creationId xmlns:a16="http://schemas.microsoft.com/office/drawing/2014/main" id="{1B65AB53-5EF2-4B72-AB5B-2EC7F16E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52775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py-96">
            <a:extLst xmlns:a="http://schemas.openxmlformats.org/drawingml/2006/main">
              <a:ext uri="{FF2B5EF4-FFF2-40B4-BE49-F238E27FC236}">
                <a16:creationId xmlns:a16="http://schemas.microsoft.com/office/drawing/2014/main" id="{261A2F22-C12D-4118-8301-30F37E6C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copy-97">
            <a:extLst xmlns:a="http://schemas.openxmlformats.org/drawingml/2006/main">
              <a:ext uri="{FF2B5EF4-FFF2-40B4-BE49-F238E27FC236}">
                <a16:creationId xmlns:a16="http://schemas.microsoft.com/office/drawing/2014/main" id="{E8BD29E6-CCAA-4FEE-8A48-D1E7DFFC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386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建立定位与价值表达</a:t>
            </a:r>
          </a:p>
        </p:txBody>
      </p:sp>
      <p:sp>
        <p:nvSpPr>
          <p:cNvPr id="14" name="copy-98">
            <a:extLst xmlns:a="http://schemas.openxmlformats.org/drawingml/2006/main">
              <a:ext uri="{FF2B5EF4-FFF2-40B4-BE49-F238E27FC236}">
                <a16:creationId xmlns:a16="http://schemas.microsoft.com/office/drawing/2014/main" id="{C7E5E91D-B894-4F69-A0F2-AC51857B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38700"/>
            <a:ext cx="400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明确品牌或产品为谁创造什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么价值，形成适合北美市场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的定位、叙事和沟通重点。</a:t>
            </a:r>
          </a:p>
        </p:txBody>
      </p:sp>
      <p:sp>
        <p:nvSpPr>
          <p:cNvPr id="15" name="rect-99">
            <a:extLst xmlns:a="http://schemas.openxmlformats.org/drawingml/2006/main">
              <a:ext uri="{FF2B5EF4-FFF2-40B4-BE49-F238E27FC236}">
                <a16:creationId xmlns:a16="http://schemas.microsoft.com/office/drawing/2014/main" id="{A1BEC5D1-C725-4566-AE37-B23C3D9E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52775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py-100">
            <a:extLst xmlns:a="http://schemas.openxmlformats.org/drawingml/2006/main">
              <a:ext uri="{FF2B5EF4-FFF2-40B4-BE49-F238E27FC236}">
                <a16:creationId xmlns:a16="http://schemas.microsoft.com/office/drawing/2014/main" id="{B184DDAC-1009-4702-8063-4F49F5A8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6705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copy-101">
            <a:extLst xmlns:a="http://schemas.openxmlformats.org/drawingml/2006/main">
              <a:ext uri="{FF2B5EF4-FFF2-40B4-BE49-F238E27FC236}">
                <a16:creationId xmlns:a16="http://schemas.microsoft.com/office/drawing/2014/main" id="{48479171-0FBE-49A9-9AF2-A88A9876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386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制定 GTM 与营销路线</a:t>
            </a:r>
          </a:p>
        </p:txBody>
      </p:sp>
      <p:sp>
        <p:nvSpPr>
          <p:cNvPr id="18" name="copy-102">
            <a:extLst xmlns:a="http://schemas.openxmlformats.org/drawingml/2006/main">
              <a:ext uri="{FF2B5EF4-FFF2-40B4-BE49-F238E27FC236}">
                <a16:creationId xmlns:a16="http://schemas.microsoft.com/office/drawing/2014/main" id="{FC99CD99-B4CA-42C7-B613-7A6BB725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38700"/>
            <a:ext cx="400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确定阶段重点、渠道优先级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与资源安排，把策略落实为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团队可以推进的行动计划。</a:t>
            </a:r>
          </a:p>
        </p:txBody>
      </p:sp>
      <p:cxnSp>
        <p:nvCxnSpPr>
          <p:cNvPr id="19" name="line-103">
            <a:extLst xmlns:a="http://schemas.openxmlformats.org/drawingml/2006/main">
              <a:ext uri="{FF2B5EF4-FFF2-40B4-BE49-F238E27FC236}">
                <a16:creationId xmlns:a16="http://schemas.microsoft.com/office/drawing/2014/main" id="{A8D3350B-81E1-4BDF-AFF3-B898FD77A252}"/>
              </a:ext>
            </a:extLst>
          </p:cNvPr>
          <p:cNvCxnSpPr/>
          <p:nvPr/>
        </p:nvCxnSpPr>
        <p:spPr>
          <a:xfrm xmlns:a="http://schemas.openxmlformats.org/drawingml/2006/main">
            <a:off x="857250" y="6838950"/>
            <a:ext cx="13544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20" name="copy-104">
            <a:extLst xmlns:a="http://schemas.openxmlformats.org/drawingml/2006/main">
              <a:ext uri="{FF2B5EF4-FFF2-40B4-BE49-F238E27FC236}">
                <a16:creationId xmlns:a16="http://schemas.microsoft.com/office/drawing/2014/main" id="{F31685CC-DC29-403D-BDA3-EE113DE3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961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帮助客户回答</a:t>
            </a:r>
          </a:p>
        </p:txBody>
      </p:sp>
      <p:sp>
        <p:nvSpPr>
          <p:cNvPr id="21" name="copy-105">
            <a:extLst xmlns:a="http://schemas.openxmlformats.org/drawingml/2006/main">
              <a:ext uri="{FF2B5EF4-FFF2-40B4-BE49-F238E27FC236}">
                <a16:creationId xmlns:a16="http://schemas.microsoft.com/office/drawing/2014/main" id="{1A117504-5302-443C-A45B-635D6ACD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0389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面向谁</a:t>
            </a:r>
          </a:p>
        </p:txBody>
      </p:sp>
      <p:sp>
        <p:nvSpPr>
          <p:cNvPr id="22" name="copy-106">
            <a:extLst xmlns:a="http://schemas.openxmlformats.org/drawingml/2006/main">
              <a:ext uri="{FF2B5EF4-FFF2-40B4-BE49-F238E27FC236}">
                <a16:creationId xmlns:a16="http://schemas.microsoft.com/office/drawing/2014/main" id="{3BEF6F46-96BB-4B9D-8917-880742C8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0389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表达什么价值</a:t>
            </a:r>
          </a:p>
        </p:txBody>
      </p:sp>
      <p:sp>
        <p:nvSpPr>
          <p:cNvPr id="23" name="copy-107">
            <a:extLst xmlns:a="http://schemas.openxmlformats.org/drawingml/2006/main">
              <a:ext uri="{FF2B5EF4-FFF2-40B4-BE49-F238E27FC236}">
                <a16:creationId xmlns:a16="http://schemas.microsoft.com/office/drawing/2014/main" id="{B0B0C5AB-BFA3-4A44-92E1-7821B6ED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038975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优先做什么</a:t>
            </a:r>
          </a:p>
        </p:txBody>
      </p:sp>
    </p:spTree>
    <p:extLst>
      <p:ext uri="{BB962C8B-B14F-4D97-AF65-F5344CB8AC3E}">
        <p14:creationId xmlns:p14="http://schemas.microsoft.com/office/powerpoint/2010/main" val="333829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copy-108">
            <a:extLst xmlns:a="http://schemas.openxmlformats.org/drawingml/2006/main">
              <a:ext uri="{FF2B5EF4-FFF2-40B4-BE49-F238E27FC236}">
                <a16:creationId xmlns:a16="http://schemas.microsoft.com/office/drawing/2014/main" id="{913CD11C-D72E-482C-9EC0-E1CCE727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我们做什么 · 核心能力 02</a:t>
            </a:r>
          </a:p>
        </p:txBody>
      </p:sp>
      <p:sp>
        <p:nvSpPr>
          <p:cNvPr id="2" name="title-109">
            <a:extLst xmlns:a="http://schemas.openxmlformats.org/drawingml/2006/main">
              <a:ext uri="{FF2B5EF4-FFF2-40B4-BE49-F238E27FC236}">
                <a16:creationId xmlns:a16="http://schemas.microsoft.com/office/drawing/2014/main" id="{00149143-BCDB-4746-8074-955DEC2D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渠道运营与增长</a:t>
            </a:r>
          </a:p>
        </p:txBody>
      </p:sp>
      <p:sp>
        <p:nvSpPr>
          <p:cNvPr id="3" name="copy-110">
            <a:extLst xmlns:a="http://schemas.openxmlformats.org/drawingml/2006/main">
              <a:ext uri="{FF2B5EF4-FFF2-40B4-BE49-F238E27FC236}">
                <a16:creationId xmlns:a16="http://schemas.microsoft.com/office/drawing/2014/main" id="{16120DC0-9583-4C7A-A743-54E374CA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让渠道选择、资源投入和日常行动服务于同一目标。</a:t>
            </a:r>
          </a:p>
        </p:txBody>
      </p:sp>
      <p:cxnSp>
        <p:nvCxnSpPr>
          <p:cNvPr id="4" name="line-111">
            <a:extLst xmlns:a="http://schemas.openxmlformats.org/drawingml/2006/main">
              <a:ext uri="{FF2B5EF4-FFF2-40B4-BE49-F238E27FC236}">
                <a16:creationId xmlns:a16="http://schemas.microsoft.com/office/drawing/2014/main" id="{756874A7-532A-405A-A80A-F464061EB2C5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112">
            <a:extLst xmlns:a="http://schemas.openxmlformats.org/drawingml/2006/main">
              <a:ext uri="{FF2B5EF4-FFF2-40B4-BE49-F238E27FC236}">
                <a16:creationId xmlns:a16="http://schemas.microsoft.com/office/drawing/2014/main" id="{BF3D16EA-1B87-44E1-BE67-2C7141FC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copy-113">
            <a:extLst xmlns:a="http://schemas.openxmlformats.org/drawingml/2006/main">
              <a:ext uri="{FF2B5EF4-FFF2-40B4-BE49-F238E27FC236}">
                <a16:creationId xmlns:a16="http://schemas.microsoft.com/office/drawing/2014/main" id="{88D7A09B-E553-4AAF-BA5B-0CC424C4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85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copy-114">
            <a:extLst xmlns:a="http://schemas.openxmlformats.org/drawingml/2006/main">
              <a:ext uri="{FF2B5EF4-FFF2-40B4-BE49-F238E27FC236}">
                <a16:creationId xmlns:a16="http://schemas.microsoft.com/office/drawing/2014/main" id="{1C3B070E-A1BC-4879-BC26-31EF0050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98132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确定渠道组合</a:t>
            </a:r>
          </a:p>
        </p:txBody>
      </p:sp>
      <p:sp>
        <p:nvSpPr>
          <p:cNvPr id="8" name="copy-115">
            <a:extLst xmlns:a="http://schemas.openxmlformats.org/drawingml/2006/main">
              <a:ext uri="{FF2B5EF4-FFF2-40B4-BE49-F238E27FC236}">
                <a16:creationId xmlns:a16="http://schemas.microsoft.com/office/drawing/2014/main" id="{12A0C860-2C66-44A8-8659-2CB119F0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71800"/>
            <a:ext cx="84486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结合客户路径与业务阶段，判断社交媒体、电商平台、品牌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官网及其他渠道各自承担的作用。</a:t>
            </a:r>
          </a:p>
        </p:txBody>
      </p:sp>
      <p:sp>
        <p:nvSpPr>
          <p:cNvPr id="9" name="copy-116">
            <a:extLst xmlns:a="http://schemas.openxmlformats.org/drawingml/2006/main">
              <a:ext uri="{FF2B5EF4-FFF2-40B4-BE49-F238E27FC236}">
                <a16:creationId xmlns:a16="http://schemas.microsoft.com/office/drawing/2014/main" id="{942A314B-36ED-4C16-A1B0-1716D167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5814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渠道角色</a:t>
            </a:r>
          </a:p>
        </p:txBody>
      </p:sp>
      <p:cxnSp>
        <p:nvCxnSpPr>
          <p:cNvPr id="10" name="line-117">
            <a:extLst xmlns:a="http://schemas.openxmlformats.org/drawingml/2006/main">
              <a:ext uri="{FF2B5EF4-FFF2-40B4-BE49-F238E27FC236}">
                <a16:creationId xmlns:a16="http://schemas.microsoft.com/office/drawing/2014/main" id="{2BE28A88-9961-4487-A039-DA5A5FC65F68}"/>
              </a:ext>
            </a:extLst>
          </p:cNvPr>
          <p:cNvCxnSpPr/>
          <p:nvPr/>
        </p:nvCxnSpPr>
        <p:spPr>
          <a:xfrm xmlns:a="http://schemas.openxmlformats.org/drawingml/2006/main">
            <a:off x="3714750" y="37623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760"/>
            </a:solidFill>
            <a:prstDash val="solid"/>
            <a:tailEnd type="triangle" w="sm" len="sm"/>
          </a:ln>
        </p:spPr>
      </p:cxnSp>
      <p:sp>
        <p:nvSpPr>
          <p:cNvPr id="11" name="copy-118">
            <a:extLst xmlns:a="http://schemas.openxmlformats.org/drawingml/2006/main">
              <a:ext uri="{FF2B5EF4-FFF2-40B4-BE49-F238E27FC236}">
                <a16:creationId xmlns:a16="http://schemas.microsoft.com/office/drawing/2014/main" id="{FDC43FFB-C53D-4908-8D17-58BF5080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814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渠道组合</a:t>
            </a:r>
          </a:p>
        </p:txBody>
      </p:sp>
      <p:cxnSp>
        <p:nvCxnSpPr>
          <p:cNvPr id="12" name="line-119">
            <a:extLst xmlns:a="http://schemas.openxmlformats.org/drawingml/2006/main">
              <a:ext uri="{FF2B5EF4-FFF2-40B4-BE49-F238E27FC236}">
                <a16:creationId xmlns:a16="http://schemas.microsoft.com/office/drawing/2014/main" id="{DB1CCAA3-5A54-4452-A2CB-40F0953772AD}"/>
              </a:ext>
            </a:extLst>
          </p:cNvPr>
          <p:cNvCxnSpPr/>
          <p:nvPr/>
        </p:nvCxnSpPr>
        <p:spPr>
          <a:xfrm xmlns:a="http://schemas.openxmlformats.org/drawingml/2006/main">
            <a:off x="857250" y="4181475"/>
            <a:ext cx="13544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13" name="copy-120">
            <a:extLst xmlns:a="http://schemas.openxmlformats.org/drawingml/2006/main">
              <a:ext uri="{FF2B5EF4-FFF2-40B4-BE49-F238E27FC236}">
                <a16:creationId xmlns:a16="http://schemas.microsoft.com/office/drawing/2014/main" id="{C1F52980-A65C-4F21-943E-BDC6C748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0075"/>
            <a:ext cx="85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copy-121">
            <a:extLst xmlns:a="http://schemas.openxmlformats.org/drawingml/2006/main">
              <a:ext uri="{FF2B5EF4-FFF2-40B4-BE49-F238E27FC236}">
                <a16:creationId xmlns:a16="http://schemas.microsoft.com/office/drawing/2014/main" id="{5583586A-213F-403F-9D7C-591B8BC3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1960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规划投入与运营</a:t>
            </a:r>
          </a:p>
        </p:txBody>
      </p:sp>
      <p:sp>
        <p:nvSpPr>
          <p:cNvPr id="15" name="copy-122">
            <a:extLst xmlns:a="http://schemas.openxmlformats.org/drawingml/2006/main">
              <a:ext uri="{FF2B5EF4-FFF2-40B4-BE49-F238E27FC236}">
                <a16:creationId xmlns:a16="http://schemas.microsoft.com/office/drawing/2014/main" id="{FB39573C-75A6-48D6-9E57-0A82E6B4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10075"/>
            <a:ext cx="84486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安排先后顺序、预算重点、内容需求与团队分工，明确哪些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工作由谁推进、如何衔接。</a:t>
            </a:r>
          </a:p>
        </p:txBody>
      </p:sp>
      <p:sp>
        <p:nvSpPr>
          <p:cNvPr id="16" name="copy-123">
            <a:extLst xmlns:a="http://schemas.openxmlformats.org/drawingml/2006/main">
              <a:ext uri="{FF2B5EF4-FFF2-40B4-BE49-F238E27FC236}">
                <a16:creationId xmlns:a16="http://schemas.microsoft.com/office/drawing/2014/main" id="{56530949-889E-431D-840D-74A9356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0196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资源安排</a:t>
            </a:r>
          </a:p>
        </p:txBody>
      </p:sp>
      <p:cxnSp>
        <p:nvCxnSpPr>
          <p:cNvPr id="17" name="line-124">
            <a:extLst xmlns:a="http://schemas.openxmlformats.org/drawingml/2006/main">
              <a:ext uri="{FF2B5EF4-FFF2-40B4-BE49-F238E27FC236}">
                <a16:creationId xmlns:a16="http://schemas.microsoft.com/office/drawing/2014/main" id="{992FC42E-4E71-4A48-A7FD-11063F87CDF5}"/>
              </a:ext>
            </a:extLst>
          </p:cNvPr>
          <p:cNvCxnSpPr/>
          <p:nvPr/>
        </p:nvCxnSpPr>
        <p:spPr>
          <a:xfrm xmlns:a="http://schemas.openxmlformats.org/drawingml/2006/main">
            <a:off x="3714750" y="52006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760"/>
            </a:solidFill>
            <a:prstDash val="solid"/>
            <a:tailEnd type="triangle" w="sm" len="sm"/>
          </a:ln>
        </p:spPr>
      </p:cxnSp>
      <p:sp>
        <p:nvSpPr>
          <p:cNvPr id="18" name="copy-125">
            <a:extLst xmlns:a="http://schemas.openxmlformats.org/drawingml/2006/main">
              <a:ext uri="{FF2B5EF4-FFF2-40B4-BE49-F238E27FC236}">
                <a16:creationId xmlns:a16="http://schemas.microsoft.com/office/drawing/2014/main" id="{CF9CA921-1722-4126-97FE-9B581A31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196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执行分工</a:t>
            </a:r>
          </a:p>
        </p:txBody>
      </p:sp>
      <p:cxnSp>
        <p:nvCxnSpPr>
          <p:cNvPr id="19" name="line-126">
            <a:extLst xmlns:a="http://schemas.openxmlformats.org/drawingml/2006/main">
              <a:ext uri="{FF2B5EF4-FFF2-40B4-BE49-F238E27FC236}">
                <a16:creationId xmlns:a16="http://schemas.microsoft.com/office/drawing/2014/main" id="{1F23606E-16A5-4736-ACEF-DCB39BD194A2}"/>
              </a:ext>
            </a:extLst>
          </p:cNvPr>
          <p:cNvCxnSpPr/>
          <p:nvPr/>
        </p:nvCxnSpPr>
        <p:spPr>
          <a:xfrm xmlns:a="http://schemas.openxmlformats.org/drawingml/2006/main">
            <a:off x="857250" y="5619750"/>
            <a:ext cx="13544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20" name="copy-127">
            <a:extLst xmlns:a="http://schemas.openxmlformats.org/drawingml/2006/main">
              <a:ext uri="{FF2B5EF4-FFF2-40B4-BE49-F238E27FC236}">
                <a16:creationId xmlns:a16="http://schemas.microsoft.com/office/drawing/2014/main" id="{A1E6AE96-3CC8-4EF3-AAAE-16984C9B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857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copy-128">
            <a:extLst xmlns:a="http://schemas.openxmlformats.org/drawingml/2006/main">
              <a:ext uri="{FF2B5EF4-FFF2-40B4-BE49-F238E27FC236}">
                <a16:creationId xmlns:a16="http://schemas.microsoft.com/office/drawing/2014/main" id="{17EDCE8C-52E6-4FEF-8699-FBA5CE75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85787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复盘并调整方向</a:t>
            </a:r>
          </a:p>
        </p:txBody>
      </p:sp>
      <p:sp>
        <p:nvSpPr>
          <p:cNvPr id="22" name="copy-129">
            <a:extLst xmlns:a="http://schemas.openxmlformats.org/drawingml/2006/main">
              <a:ext uri="{FF2B5EF4-FFF2-40B4-BE49-F238E27FC236}">
                <a16:creationId xmlns:a16="http://schemas.microsoft.com/office/drawing/2014/main" id="{632C2698-F18E-4616-8AA4-EE9C2D33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848350"/>
            <a:ext cx="84486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结合渠道表现和用户反馈，识别值得继续投入的方向，调整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后续计划与执行重点。</a:t>
            </a:r>
          </a:p>
        </p:txBody>
      </p:sp>
      <p:sp>
        <p:nvSpPr>
          <p:cNvPr id="23" name="copy-130">
            <a:extLst xmlns:a="http://schemas.openxmlformats.org/drawingml/2006/main">
              <a:ext uri="{FF2B5EF4-FFF2-40B4-BE49-F238E27FC236}">
                <a16:creationId xmlns:a16="http://schemas.microsoft.com/office/drawing/2014/main" id="{895A5E71-062F-4F42-BB35-22905758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64579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市场反馈</a:t>
            </a:r>
          </a:p>
        </p:txBody>
      </p:sp>
      <p:cxnSp>
        <p:nvCxnSpPr>
          <p:cNvPr id="24" name="line-131">
            <a:extLst xmlns:a="http://schemas.openxmlformats.org/drawingml/2006/main">
              <a:ext uri="{FF2B5EF4-FFF2-40B4-BE49-F238E27FC236}">
                <a16:creationId xmlns:a16="http://schemas.microsoft.com/office/drawing/2014/main" id="{403A783D-07C6-4FC6-B055-E48687F26674}"/>
              </a:ext>
            </a:extLst>
          </p:cNvPr>
          <p:cNvCxnSpPr/>
          <p:nvPr/>
        </p:nvCxnSpPr>
        <p:spPr>
          <a:xfrm xmlns:a="http://schemas.openxmlformats.org/drawingml/2006/main">
            <a:off x="3714750" y="66389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760"/>
            </a:solidFill>
            <a:prstDash val="solid"/>
            <a:tailEnd type="triangle" w="sm" len="sm"/>
          </a:ln>
        </p:spPr>
      </p:cxnSp>
      <p:sp>
        <p:nvSpPr>
          <p:cNvPr id="25" name="copy-132">
            <a:extLst xmlns:a="http://schemas.openxmlformats.org/drawingml/2006/main">
              <a:ext uri="{FF2B5EF4-FFF2-40B4-BE49-F238E27FC236}">
                <a16:creationId xmlns:a16="http://schemas.microsoft.com/office/drawing/2014/main" id="{B4263BA8-E7AD-415F-9BC8-136F42BD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64579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计划调整</a:t>
            </a:r>
          </a:p>
        </p:txBody>
      </p:sp>
    </p:spTree>
    <p:extLst>
      <p:ext uri="{BB962C8B-B14F-4D97-AF65-F5344CB8AC3E}">
        <p14:creationId xmlns:p14="http://schemas.microsoft.com/office/powerpoint/2010/main" val="1448353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opy-133">
            <a:extLst xmlns:a="http://schemas.openxmlformats.org/drawingml/2006/main">
              <a:ext uri="{FF2B5EF4-FFF2-40B4-BE49-F238E27FC236}">
                <a16:creationId xmlns:a16="http://schemas.microsoft.com/office/drawing/2014/main" id="{0329E13C-5A2A-4992-93C6-3BDFC70B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我们做什么 · 直接执行</a:t>
            </a:r>
          </a:p>
        </p:txBody>
      </p:sp>
      <p:sp>
        <p:nvSpPr>
          <p:cNvPr id="2" name="title-134">
            <a:extLst xmlns:a="http://schemas.openxmlformats.org/drawingml/2006/main">
              <a:ext uri="{FF2B5EF4-FFF2-40B4-BE49-F238E27FC236}">
                <a16:creationId xmlns:a16="http://schemas.microsoft.com/office/drawing/2014/main" id="{232C4425-25EE-4864-A190-2DBB06D7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三类执行能力，承接关键营销任务</a:t>
            </a:r>
          </a:p>
        </p:txBody>
      </p:sp>
      <p:sp>
        <p:nvSpPr>
          <p:cNvPr id="3" name="copy-135">
            <a:extLst xmlns:a="http://schemas.openxmlformats.org/drawingml/2006/main">
              <a:ext uri="{FF2B5EF4-FFF2-40B4-BE49-F238E27FC236}">
                <a16:creationId xmlns:a16="http://schemas.microsoft.com/office/drawing/2014/main" id="{419C258E-129D-4BD0-BB5A-82BBD1F1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根据策略选择模块，由 Outrise 直接推进约定工作。</a:t>
            </a:r>
          </a:p>
        </p:txBody>
      </p:sp>
      <p:cxnSp>
        <p:nvCxnSpPr>
          <p:cNvPr id="4" name="line-136">
            <a:extLst xmlns:a="http://schemas.openxmlformats.org/drawingml/2006/main">
              <a:ext uri="{FF2B5EF4-FFF2-40B4-BE49-F238E27FC236}">
                <a16:creationId xmlns:a16="http://schemas.microsoft.com/office/drawing/2014/main" id="{5EC98C3E-FD74-420F-A810-4FB70AA9C8EF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137">
            <a:extLst xmlns:a="http://schemas.openxmlformats.org/drawingml/2006/main">
              <a:ext uri="{FF2B5EF4-FFF2-40B4-BE49-F238E27FC236}">
                <a16:creationId xmlns:a16="http://schemas.microsoft.com/office/drawing/2014/main" id="{62C495AB-043E-419A-ABD1-25AFBF33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copy-138">
            <a:extLst xmlns:a="http://schemas.openxmlformats.org/drawingml/2006/main">
              <a:ext uri="{FF2B5EF4-FFF2-40B4-BE49-F238E27FC236}">
                <a16:creationId xmlns:a16="http://schemas.microsoft.com/office/drawing/2014/main" id="{3460B409-5A2D-4CB0-B5A4-3CB0B555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33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copy-139">
            <a:extLst xmlns:a="http://schemas.openxmlformats.org/drawingml/2006/main">
              <a:ext uri="{FF2B5EF4-FFF2-40B4-BE49-F238E27FC236}">
                <a16:creationId xmlns:a16="http://schemas.microsoft.com/office/drawing/2014/main" id="{8F6FE8A2-508B-4819-8B42-877D1E47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981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内容营销</a:t>
            </a:r>
          </a:p>
        </p:txBody>
      </p:sp>
      <p:sp>
        <p:nvSpPr>
          <p:cNvPr id="8" name="copy-140">
            <a:extLst xmlns:a="http://schemas.openxmlformats.org/drawingml/2006/main">
              <a:ext uri="{FF2B5EF4-FFF2-40B4-BE49-F238E27FC236}">
                <a16:creationId xmlns:a16="http://schemas.microsoft.com/office/drawing/2014/main" id="{0A1DD21F-8D9C-4CE8-821B-A0E6B800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398145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围绕品牌与产品价值，制定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内容方向、创意方案和传播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计划，制作约定的图文、视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频及社媒素材。</a:t>
            </a:r>
          </a:p>
        </p:txBody>
      </p:sp>
      <p:cxnSp>
        <p:nvCxnSpPr>
          <p:cNvPr id="9" name="line-141">
            <a:extLst xmlns:a="http://schemas.openxmlformats.org/drawingml/2006/main">
              <a:ext uri="{FF2B5EF4-FFF2-40B4-BE49-F238E27FC236}">
                <a16:creationId xmlns:a16="http://schemas.microsoft.com/office/drawing/2014/main" id="{C0486F93-7B3C-4264-B247-CE83EEAEB563}"/>
              </a:ext>
            </a:extLst>
          </p:cNvPr>
          <p:cNvCxnSpPr/>
          <p:nvPr/>
        </p:nvCxnSpPr>
        <p:spPr>
          <a:xfrm xmlns:a="http://schemas.openxmlformats.org/drawingml/2006/main">
            <a:off x="857250" y="6924675"/>
            <a:ext cx="394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1A18"/>
            </a:solidFill>
            <a:prstDash val="solid"/>
          </a:ln>
        </p:spPr>
      </p:cxnSp>
      <p:sp>
        <p:nvSpPr>
          <p:cNvPr id="10" name="copy-142">
            <a:extLst xmlns:a="http://schemas.openxmlformats.org/drawingml/2006/main">
              <a:ext uri="{FF2B5EF4-FFF2-40B4-BE49-F238E27FC236}">
                <a16:creationId xmlns:a16="http://schemas.microsoft.com/office/drawing/2014/main" id="{1C56FD49-B15A-4932-8939-63AF20BC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0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方向 · 创意 · 内容</a:t>
            </a:r>
          </a:p>
        </p:txBody>
      </p:sp>
      <p:cxnSp>
        <p:nvCxnSpPr>
          <p:cNvPr id="11" name="line-143">
            <a:extLst xmlns:a="http://schemas.openxmlformats.org/drawingml/2006/main">
              <a:ext uri="{FF2B5EF4-FFF2-40B4-BE49-F238E27FC236}">
                <a16:creationId xmlns:a16="http://schemas.microsoft.com/office/drawing/2014/main" id="{769D7C23-D05A-4D1B-97B0-4A142E1DFFE1}"/>
              </a:ext>
            </a:extLst>
          </p:cNvPr>
          <p:cNvCxnSpPr/>
          <p:nvPr/>
        </p:nvCxnSpPr>
        <p:spPr>
          <a:xfrm xmlns:a="http://schemas.openxmlformats.org/drawingml/2006/main">
            <a:off x="5219700" y="3048000"/>
            <a:ext cx="0" cy="4191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12" name="copy-144">
            <a:extLst xmlns:a="http://schemas.openxmlformats.org/drawingml/2006/main">
              <a:ext uri="{FF2B5EF4-FFF2-40B4-BE49-F238E27FC236}">
                <a16:creationId xmlns:a16="http://schemas.microsoft.com/office/drawing/2014/main" id="{9F92CCE5-FCE8-499C-B3FB-D629A95D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0375"/>
            <a:ext cx="133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copy-145">
            <a:extLst xmlns:a="http://schemas.openxmlformats.org/drawingml/2006/main">
              <a:ext uri="{FF2B5EF4-FFF2-40B4-BE49-F238E27FC236}">
                <a16:creationId xmlns:a16="http://schemas.microsoft.com/office/drawing/2014/main" id="{02714ED5-CEBC-4E03-B54B-F9701F3F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3981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达人营销</a:t>
            </a:r>
          </a:p>
        </p:txBody>
      </p:sp>
      <p:sp>
        <p:nvSpPr>
          <p:cNvPr id="14" name="copy-146">
            <a:extLst xmlns:a="http://schemas.openxmlformats.org/drawingml/2006/main">
              <a:ext uri="{FF2B5EF4-FFF2-40B4-BE49-F238E27FC236}">
                <a16:creationId xmlns:a16="http://schemas.microsoft.com/office/drawing/2014/main" id="{0A76FDB3-F08A-4D1C-8E78-89FDBAA4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10150"/>
            <a:ext cx="398145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筛选与触达适配的达人，策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划合作方式，沟通内容要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求，推进发布并复盘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合作表现。</a:t>
            </a:r>
          </a:p>
        </p:txBody>
      </p:sp>
      <p:cxnSp>
        <p:nvCxnSpPr>
          <p:cNvPr id="15" name="line-147">
            <a:extLst xmlns:a="http://schemas.openxmlformats.org/drawingml/2006/main">
              <a:ext uri="{FF2B5EF4-FFF2-40B4-BE49-F238E27FC236}">
                <a16:creationId xmlns:a16="http://schemas.microsoft.com/office/drawing/2014/main" id="{0C249017-A3EF-487A-A64A-702B7232AC42}"/>
              </a:ext>
            </a:extLst>
          </p:cNvPr>
          <p:cNvCxnSpPr/>
          <p:nvPr/>
        </p:nvCxnSpPr>
        <p:spPr>
          <a:xfrm xmlns:a="http://schemas.openxmlformats.org/drawingml/2006/main">
            <a:off x="5619750" y="6924675"/>
            <a:ext cx="394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1A18"/>
            </a:solidFill>
            <a:prstDash val="solid"/>
          </a:ln>
        </p:spPr>
      </p:cxnSp>
      <p:sp>
        <p:nvSpPr>
          <p:cNvPr id="16" name="copy-148">
            <a:extLst xmlns:a="http://schemas.openxmlformats.org/drawingml/2006/main">
              <a:ext uri="{FF2B5EF4-FFF2-40B4-BE49-F238E27FC236}">
                <a16:creationId xmlns:a16="http://schemas.microsoft.com/office/drawing/2014/main" id="{AC8F5EDA-8612-4025-BDD1-AF67367C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43750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筛选 · 合作 · 推进</a:t>
            </a:r>
          </a:p>
        </p:txBody>
      </p:sp>
      <p:cxnSp>
        <p:nvCxnSpPr>
          <p:cNvPr id="17" name="line-149">
            <a:extLst xmlns:a="http://schemas.openxmlformats.org/drawingml/2006/main">
              <a:ext uri="{FF2B5EF4-FFF2-40B4-BE49-F238E27FC236}">
                <a16:creationId xmlns:a16="http://schemas.microsoft.com/office/drawing/2014/main" id="{0DEA2F8F-D5BF-4EC2-AAA6-905850C79BE1}"/>
              </a:ext>
            </a:extLst>
          </p:cNvPr>
          <p:cNvCxnSpPr/>
          <p:nvPr/>
        </p:nvCxnSpPr>
        <p:spPr>
          <a:xfrm xmlns:a="http://schemas.openxmlformats.org/drawingml/2006/main">
            <a:off x="9982200" y="3048000"/>
            <a:ext cx="0" cy="4191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18" name="copy-150">
            <a:extLst xmlns:a="http://schemas.openxmlformats.org/drawingml/2006/main">
              <a:ext uri="{FF2B5EF4-FFF2-40B4-BE49-F238E27FC236}">
                <a16:creationId xmlns:a16="http://schemas.microsoft.com/office/drawing/2014/main" id="{25FC5818-A1C4-40E8-8F66-8DB8C876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00375"/>
            <a:ext cx="133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copy-151">
            <a:extLst xmlns:a="http://schemas.openxmlformats.org/drawingml/2006/main">
              <a:ext uri="{FF2B5EF4-FFF2-40B4-BE49-F238E27FC236}">
                <a16:creationId xmlns:a16="http://schemas.microsoft.com/office/drawing/2014/main" id="{DBFCD1D8-FA33-49CC-B2D0-918FD894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95750"/>
            <a:ext cx="3981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广告与投放</a:t>
            </a:r>
          </a:p>
        </p:txBody>
      </p:sp>
      <p:sp>
        <p:nvSpPr>
          <p:cNvPr id="20" name="copy-152">
            <a:extLst xmlns:a="http://schemas.openxmlformats.org/drawingml/2006/main">
              <a:ext uri="{FF2B5EF4-FFF2-40B4-BE49-F238E27FC236}">
                <a16:creationId xmlns:a16="http://schemas.microsoft.com/office/drawing/2014/main" id="{3B2B392D-B196-4A4A-962E-FCB33E62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010150"/>
            <a:ext cx="398145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制定投放计划，协同广告素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材，执行约定渠道的广告工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作，并根据反馈持续优化。</a:t>
            </a:r>
          </a:p>
        </p:txBody>
      </p:sp>
      <p:cxnSp>
        <p:nvCxnSpPr>
          <p:cNvPr id="21" name="line-153">
            <a:extLst xmlns:a="http://schemas.openxmlformats.org/drawingml/2006/main">
              <a:ext uri="{FF2B5EF4-FFF2-40B4-BE49-F238E27FC236}">
                <a16:creationId xmlns:a16="http://schemas.microsoft.com/office/drawing/2014/main" id="{0D8AB4AE-BB44-4889-B2B4-D1FC39A22CF4}"/>
              </a:ext>
            </a:extLst>
          </p:cNvPr>
          <p:cNvCxnSpPr/>
          <p:nvPr/>
        </p:nvCxnSpPr>
        <p:spPr>
          <a:xfrm xmlns:a="http://schemas.openxmlformats.org/drawingml/2006/main">
            <a:off x="10382250" y="6924675"/>
            <a:ext cx="394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1A18"/>
            </a:solidFill>
            <a:prstDash val="solid"/>
          </a:ln>
        </p:spPr>
      </p:cxnSp>
      <p:sp>
        <p:nvSpPr>
          <p:cNvPr id="22" name="copy-154">
            <a:extLst xmlns:a="http://schemas.openxmlformats.org/drawingml/2006/main">
              <a:ext uri="{FF2B5EF4-FFF2-40B4-BE49-F238E27FC236}">
                <a16:creationId xmlns:a16="http://schemas.microsoft.com/office/drawing/2014/main" id="{112A1A97-E205-416D-B06D-FDD61CD7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143750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计划 · 投放 · 优化</a:t>
            </a:r>
          </a:p>
        </p:txBody>
      </p:sp>
    </p:spTree>
    <p:extLst>
      <p:ext uri="{BB962C8B-B14F-4D97-AF65-F5344CB8AC3E}">
        <p14:creationId xmlns:p14="http://schemas.microsoft.com/office/powerpoint/2010/main" val="5663107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opy-155">
            <a:extLst xmlns:a="http://schemas.openxmlformats.org/drawingml/2006/main">
              <a:ext uri="{FF2B5EF4-FFF2-40B4-BE49-F238E27FC236}">
                <a16:creationId xmlns:a16="http://schemas.microsoft.com/office/drawing/2014/main" id="{EAA60954-5023-409A-9673-55C57A87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我们做什么 · 专业协作</a:t>
            </a:r>
          </a:p>
        </p:txBody>
      </p:sp>
      <p:sp>
        <p:nvSpPr>
          <p:cNvPr id="2" name="title-156">
            <a:extLst xmlns:a="http://schemas.openxmlformats.org/drawingml/2006/main">
              <a:ext uri="{FF2B5EF4-FFF2-40B4-BE49-F238E27FC236}">
                <a16:creationId xmlns:a16="http://schemas.microsoft.com/office/drawing/2014/main" id="{D604A6C0-3369-423B-AD11-1636B62E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按需组织专业资源，拓展项目能力</a:t>
            </a:r>
          </a:p>
        </p:txBody>
      </p:sp>
      <p:sp>
        <p:nvSpPr>
          <p:cNvPr id="3" name="copy-157">
            <a:extLst xmlns:a="http://schemas.openxmlformats.org/drawingml/2006/main">
              <a:ext uri="{FF2B5EF4-FFF2-40B4-BE49-F238E27FC236}">
                <a16:creationId xmlns:a16="http://schemas.microsoft.com/office/drawing/2014/main" id="{621EAC01-7798-4662-AF37-578FF9DE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当项目需要更多本地或专项能力，Outrise 帮助触达、筛选与协调。</a:t>
            </a:r>
          </a:p>
        </p:txBody>
      </p:sp>
      <p:cxnSp>
        <p:nvCxnSpPr>
          <p:cNvPr id="4" name="line-158">
            <a:extLst xmlns:a="http://schemas.openxmlformats.org/drawingml/2006/main">
              <a:ext uri="{FF2B5EF4-FFF2-40B4-BE49-F238E27FC236}">
                <a16:creationId xmlns:a16="http://schemas.microsoft.com/office/drawing/2014/main" id="{E54F33E6-8B77-4F01-A4DC-BB5D63C2F688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159">
            <a:extLst xmlns:a="http://schemas.openxmlformats.org/drawingml/2006/main">
              <a:ext uri="{FF2B5EF4-FFF2-40B4-BE49-F238E27FC236}">
                <a16:creationId xmlns:a16="http://schemas.microsoft.com/office/drawing/2014/main" id="{492AA25B-4AB2-49DB-8526-B7D81E1E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客户统一对接 Outrise；伙伴参与方式与工作范围在方案中明确。</a:t>
            </a:r>
          </a:p>
        </p:txBody>
      </p:sp>
      <p:sp>
        <p:nvSpPr>
          <p:cNvPr id="6" name="copy-160">
            <a:extLst xmlns:a="http://schemas.openxmlformats.org/drawingml/2006/main">
              <a:ext uri="{FF2B5EF4-FFF2-40B4-BE49-F238E27FC236}">
                <a16:creationId xmlns:a16="http://schemas.microsoft.com/office/drawing/2014/main" id="{33D792C1-AC27-4778-9E80-C3C6C768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rect-161">
            <a:extLst xmlns:a="http://schemas.openxmlformats.org/drawingml/2006/main">
              <a:ext uri="{FF2B5EF4-FFF2-40B4-BE49-F238E27FC236}">
                <a16:creationId xmlns:a16="http://schemas.microsoft.com/office/drawing/2014/main" id="{20F05A96-EA28-4203-B57A-688F949F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76550"/>
            <a:ext cx="447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-162">
            <a:extLst xmlns:a="http://schemas.openxmlformats.org/drawingml/2006/main">
              <a:ext uri="{FF2B5EF4-FFF2-40B4-BE49-F238E27FC236}">
                <a16:creationId xmlns:a16="http://schemas.microsoft.com/office/drawing/2014/main" id="{F4EB957C-D5E9-40D9-A357-B25D9076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86100"/>
            <a:ext cx="4000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Outrise 统一组织</a:t>
            </a:r>
          </a:p>
        </p:txBody>
      </p:sp>
      <p:cxnSp>
        <p:nvCxnSpPr>
          <p:cNvPr id="9" name="line-163">
            <a:extLst xmlns:a="http://schemas.openxmlformats.org/drawingml/2006/main">
              <a:ext uri="{FF2B5EF4-FFF2-40B4-BE49-F238E27FC236}">
                <a16:creationId xmlns:a16="http://schemas.microsoft.com/office/drawing/2014/main" id="{BB63848D-AB0D-43A6-A20E-890945BB9E07}"/>
              </a:ext>
            </a:extLst>
          </p:cNvPr>
          <p:cNvCxnSpPr/>
          <p:nvPr/>
        </p:nvCxnSpPr>
        <p:spPr>
          <a:xfrm xmlns:a="http://schemas.openxmlformats.org/drawingml/2006/main">
            <a:off x="7620000" y="37909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cxnSp>
        <p:nvCxnSpPr>
          <p:cNvPr id="10" name="line-164">
            <a:extLst xmlns:a="http://schemas.openxmlformats.org/drawingml/2006/main">
              <a:ext uri="{FF2B5EF4-FFF2-40B4-BE49-F238E27FC236}">
                <a16:creationId xmlns:a16="http://schemas.microsoft.com/office/drawing/2014/main" id="{FFA80633-D74F-44A1-8EDA-2E38E7791762}"/>
              </a:ext>
            </a:extLst>
          </p:cNvPr>
          <p:cNvCxnSpPr/>
          <p:nvPr/>
        </p:nvCxnSpPr>
        <p:spPr>
          <a:xfrm xmlns:a="http://schemas.openxmlformats.org/drawingml/2006/main">
            <a:off x="2857500" y="4229100"/>
            <a:ext cx="95250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cxnSp>
        <p:nvCxnSpPr>
          <p:cNvPr id="11" name="line-165">
            <a:extLst xmlns:a="http://schemas.openxmlformats.org/drawingml/2006/main">
              <a:ext uri="{FF2B5EF4-FFF2-40B4-BE49-F238E27FC236}">
                <a16:creationId xmlns:a16="http://schemas.microsoft.com/office/drawing/2014/main" id="{2904AA8E-A65F-4E49-85A6-3B3BAA501607}"/>
              </a:ext>
            </a:extLst>
          </p:cNvPr>
          <p:cNvCxnSpPr/>
          <p:nvPr/>
        </p:nvCxnSpPr>
        <p:spPr>
          <a:xfrm xmlns:a="http://schemas.openxmlformats.org/drawingml/2006/main">
            <a:off x="2857500" y="42291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12" name="copy-166">
            <a:extLst xmlns:a="http://schemas.openxmlformats.org/drawingml/2006/main">
              <a:ext uri="{FF2B5EF4-FFF2-40B4-BE49-F238E27FC236}">
                <a16:creationId xmlns:a16="http://schemas.microsoft.com/office/drawing/2014/main" id="{CA8031CB-3CCF-4678-925D-CC6BDB58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529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本地渠道拓展</a:t>
            </a:r>
          </a:p>
        </p:txBody>
      </p:sp>
      <p:sp>
        <p:nvSpPr>
          <p:cNvPr id="13" name="copy-167">
            <a:extLst xmlns:a="http://schemas.openxmlformats.org/drawingml/2006/main">
              <a:ext uri="{FF2B5EF4-FFF2-40B4-BE49-F238E27FC236}">
                <a16:creationId xmlns:a16="http://schemas.microsoft.com/office/drawing/2014/main" id="{AC35D218-153E-4031-80BD-F329B470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400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围绕市场目标，识别适合接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触的渠道与资源，推进沟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通，并协调后续合作机会。</a:t>
            </a:r>
          </a:p>
        </p:txBody>
      </p:sp>
      <p:cxnSp>
        <p:nvCxnSpPr>
          <p:cNvPr id="14" name="line-168">
            <a:extLst xmlns:a="http://schemas.openxmlformats.org/drawingml/2006/main">
              <a:ext uri="{FF2B5EF4-FFF2-40B4-BE49-F238E27FC236}">
                <a16:creationId xmlns:a16="http://schemas.microsoft.com/office/drawing/2014/main" id="{0A121C6C-3DAE-48F8-A5F7-7D4439C3F1F9}"/>
              </a:ext>
            </a:extLst>
          </p:cNvPr>
          <p:cNvCxnSpPr/>
          <p:nvPr/>
        </p:nvCxnSpPr>
        <p:spPr>
          <a:xfrm xmlns:a="http://schemas.openxmlformats.org/drawingml/2006/main">
            <a:off x="7620000" y="42291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15" name="copy-169">
            <a:extLst xmlns:a="http://schemas.openxmlformats.org/drawingml/2006/main">
              <a:ext uri="{FF2B5EF4-FFF2-40B4-BE49-F238E27FC236}">
                <a16:creationId xmlns:a16="http://schemas.microsoft.com/office/drawing/2014/main" id="{736B7F75-0CCC-45D5-92C9-FA7BC9F1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529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落地执行支持</a:t>
            </a:r>
          </a:p>
        </p:txBody>
      </p:sp>
      <p:sp>
        <p:nvSpPr>
          <p:cNvPr id="16" name="copy-170">
            <a:extLst xmlns:a="http://schemas.openxmlformats.org/drawingml/2006/main">
              <a:ext uri="{FF2B5EF4-FFF2-40B4-BE49-F238E27FC236}">
                <a16:creationId xmlns:a16="http://schemas.microsoft.com/office/drawing/2014/main" id="{0DACB896-5EC4-49C4-9D94-20BE8F29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34025"/>
            <a:ext cx="400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根据项目安排，对接相应的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本地专业团队，协调任务要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求、执行节奏与交付衔接。</a:t>
            </a:r>
          </a:p>
        </p:txBody>
      </p:sp>
      <p:cxnSp>
        <p:nvCxnSpPr>
          <p:cNvPr id="17" name="line-171">
            <a:extLst xmlns:a="http://schemas.openxmlformats.org/drawingml/2006/main">
              <a:ext uri="{FF2B5EF4-FFF2-40B4-BE49-F238E27FC236}">
                <a16:creationId xmlns:a16="http://schemas.microsoft.com/office/drawing/2014/main" id="{99FABBCB-F596-40E2-9435-A54241445D95}"/>
              </a:ext>
            </a:extLst>
          </p:cNvPr>
          <p:cNvCxnSpPr/>
          <p:nvPr/>
        </p:nvCxnSpPr>
        <p:spPr>
          <a:xfrm xmlns:a="http://schemas.openxmlformats.org/drawingml/2006/main">
            <a:off x="12382500" y="42291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18" name="copy-172">
            <a:extLst xmlns:a="http://schemas.openxmlformats.org/drawingml/2006/main">
              <a:ext uri="{FF2B5EF4-FFF2-40B4-BE49-F238E27FC236}">
                <a16:creationId xmlns:a16="http://schemas.microsoft.com/office/drawing/2014/main" id="{9EA1FCD7-EF02-424B-8615-3207B286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529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公共关系（PR）</a:t>
            </a:r>
          </a:p>
        </p:txBody>
      </p:sp>
      <p:sp>
        <p:nvSpPr>
          <p:cNvPr id="19" name="copy-173">
            <a:extLst xmlns:a="http://schemas.openxmlformats.org/drawingml/2006/main">
              <a:ext uri="{FF2B5EF4-FFF2-40B4-BE49-F238E27FC236}">
                <a16:creationId xmlns:a16="http://schemas.microsoft.com/office/drawing/2014/main" id="{D4CFC3BE-CEE4-4B03-801A-40DF0622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34025"/>
            <a:ext cx="400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根据传播或业务需求，引入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匹配的专业伙伴，共同明确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工作内容、责任与</a:t>
            </a:r>
          </a:p>
          <a:p xmlns:a="http://schemas.openxmlformats.org/drawingml/2006/main">
            <a:pPr algn="l">
              <a:def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推进方式。</a:t>
            </a:r>
          </a:p>
        </p:txBody>
      </p:sp>
    </p:spTree>
    <p:extLst>
      <p:ext uri="{BB962C8B-B14F-4D97-AF65-F5344CB8AC3E}">
        <p14:creationId xmlns:p14="http://schemas.microsoft.com/office/powerpoint/2010/main" val="2366047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5C81F5-E38A-4A94-8F92-01E6DE23195B}"/>
              </a:ext>
            </a:extLst>
          </p:cNvPr>
          <p:cNvCxnSpPr>
            <a:stCxn xmlns:a="http://schemas.openxmlformats.org/drawingml/2006/main" id="24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4857750" y="56864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D702C7-70A2-4870-86B3-FF948E396079}"/>
              </a:ext>
            </a:extLst>
          </p:cNvPr>
          <p:cNvCxnSpPr>
            <a:stCxn xmlns:a="http://schemas.openxmlformats.org/drawingml/2006/main" id="20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9620250" y="56864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8700FA-CD5D-4091-9778-0FC5EFBCFB9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620250" y="3286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E50385-61D9-4317-880C-8448259EFC9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57750" y="3286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sp>
        <p:nvSpPr>
          <p:cNvPr id="40" name="copy-174">
            <a:extLst xmlns:a="http://schemas.openxmlformats.org/drawingml/2006/main">
              <a:ext uri="{FF2B5EF4-FFF2-40B4-BE49-F238E27FC236}">
                <a16:creationId xmlns:a16="http://schemas.microsoft.com/office/drawing/2014/main" id="{481D8B29-DE65-4F64-963B-F439D743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怎样推进项目</a:t>
            </a:r>
          </a:p>
        </p:txBody>
      </p:sp>
      <p:sp>
        <p:nvSpPr>
          <p:cNvPr id="2" name="title-175">
            <a:extLst xmlns:a="http://schemas.openxmlformats.org/drawingml/2006/main">
              <a:ext uri="{FF2B5EF4-FFF2-40B4-BE49-F238E27FC236}">
                <a16:creationId xmlns:a16="http://schemas.microsoft.com/office/drawing/2014/main" id="{C7BE5E0F-617E-42B7-AB63-91156C08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从业务目标出发，持续推进与调整</a:t>
            </a:r>
          </a:p>
        </p:txBody>
      </p:sp>
      <p:sp>
        <p:nvSpPr>
          <p:cNvPr id="3" name="copy-176">
            <a:extLst xmlns:a="http://schemas.openxmlformats.org/drawingml/2006/main">
              <a:ext uri="{FF2B5EF4-FFF2-40B4-BE49-F238E27FC236}">
                <a16:creationId xmlns:a16="http://schemas.microsoft.com/office/drawing/2014/main" id="{BD589399-8DD8-4748-A02A-5A9C0BBF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六个工作环节，让判断、计划与执行相互衔接。</a:t>
            </a:r>
          </a:p>
        </p:txBody>
      </p:sp>
      <p:cxnSp>
        <p:nvCxnSpPr>
          <p:cNvPr id="4" name="line-177">
            <a:extLst xmlns:a="http://schemas.openxmlformats.org/drawingml/2006/main">
              <a:ext uri="{FF2B5EF4-FFF2-40B4-BE49-F238E27FC236}">
                <a16:creationId xmlns:a16="http://schemas.microsoft.com/office/drawing/2014/main" id="{9C7BD94F-D401-47CA-89F2-304FEDB8FE04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178">
            <a:extLst xmlns:a="http://schemas.openxmlformats.org/drawingml/2006/main">
              <a:ext uri="{FF2B5EF4-FFF2-40B4-BE49-F238E27FC236}">
                <a16:creationId xmlns:a16="http://schemas.microsoft.com/office/drawing/2014/main" id="{1337F937-8159-4B1A-B84D-019BBCA9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-179">
            <a:extLst xmlns:a="http://schemas.openxmlformats.org/drawingml/2006/main">
              <a:ext uri="{FF2B5EF4-FFF2-40B4-BE49-F238E27FC236}">
                <a16:creationId xmlns:a16="http://schemas.microsoft.com/office/drawing/2014/main" id="{7FBDC649-E8D2-4C57-9805-EF3FCDC4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py-180">
            <a:extLst xmlns:a="http://schemas.openxmlformats.org/drawingml/2006/main">
              <a:ext uri="{FF2B5EF4-FFF2-40B4-BE49-F238E27FC236}">
                <a16:creationId xmlns:a16="http://schemas.microsoft.com/office/drawing/2014/main" id="{B8C72C31-40F8-4AE5-A461-14E129D5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876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copy-181">
            <a:extLst xmlns:a="http://schemas.openxmlformats.org/drawingml/2006/main">
              <a:ext uri="{FF2B5EF4-FFF2-40B4-BE49-F238E27FC236}">
                <a16:creationId xmlns:a16="http://schemas.microsoft.com/office/drawing/2014/main" id="{3B455FAB-3BE0-4C82-A1BE-D8E451B5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048000"/>
            <a:ext cx="297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理解业务</a:t>
            </a:r>
          </a:p>
        </p:txBody>
      </p:sp>
      <p:sp>
        <p:nvSpPr>
          <p:cNvPr id="9" name="copy-182">
            <a:extLst xmlns:a="http://schemas.openxmlformats.org/drawingml/2006/main">
              <a:ext uri="{FF2B5EF4-FFF2-40B4-BE49-F238E27FC236}">
                <a16:creationId xmlns:a16="http://schemas.microsoft.com/office/drawing/2014/main" id="{E52F76A5-1C97-4D88-838A-0A04EA3F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明确产品、目标、现有基础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与资源约束。</a:t>
            </a:r>
          </a:p>
        </p:txBody>
      </p:sp>
      <p:sp>
        <p:nvSpPr>
          <p:cNvPr id="10" name="copy-183">
            <a:extLst xmlns:a="http://schemas.openxmlformats.org/drawingml/2006/main">
              <a:ext uri="{FF2B5EF4-FFF2-40B4-BE49-F238E27FC236}">
                <a16:creationId xmlns:a16="http://schemas.microsoft.com/office/drawing/2014/main" id="{F18EA122-9F30-4D57-9B1F-7922FF25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客户参与：提供背景与目标</a:t>
            </a:r>
          </a:p>
        </p:txBody>
      </p:sp>
      <p:sp>
        <p:nvSpPr>
          <p:cNvPr id="11" name="rect-184">
            <a:extLst xmlns:a="http://schemas.openxmlformats.org/drawingml/2006/main">
              <a:ext uri="{FF2B5EF4-FFF2-40B4-BE49-F238E27FC236}">
                <a16:creationId xmlns:a16="http://schemas.microsoft.com/office/drawing/2014/main" id="{2C761545-C354-4A65-8BEB-FD4B86B2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99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copy-185">
            <a:extLst xmlns:a="http://schemas.openxmlformats.org/drawingml/2006/main">
              <a:ext uri="{FF2B5EF4-FFF2-40B4-BE49-F238E27FC236}">
                <a16:creationId xmlns:a16="http://schemas.microsoft.com/office/drawing/2014/main" id="{DE14C66C-1290-4FF5-847C-B33A07F9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9900"/>
            <a:ext cx="876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copy-186">
            <a:extLst xmlns:a="http://schemas.openxmlformats.org/drawingml/2006/main">
              <a:ext uri="{FF2B5EF4-FFF2-40B4-BE49-F238E27FC236}">
                <a16:creationId xmlns:a16="http://schemas.microsoft.com/office/drawing/2014/main" id="{BD7F2CF4-048C-4016-A17B-32CAB4EA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048000"/>
            <a:ext cx="297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建立判断</a:t>
            </a:r>
          </a:p>
        </p:txBody>
      </p:sp>
      <p:sp>
        <p:nvSpPr>
          <p:cNvPr id="14" name="copy-187">
            <a:extLst xmlns:a="http://schemas.openxmlformats.org/drawingml/2006/main">
              <a:ext uri="{FF2B5EF4-FFF2-40B4-BE49-F238E27FC236}">
                <a16:creationId xmlns:a16="http://schemas.microsoft.com/office/drawing/2014/main" id="{BA437B0C-C578-4683-A996-320FFAAE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719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研究市场与用户，识别核心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营销问题。</a:t>
            </a:r>
          </a:p>
        </p:txBody>
      </p:sp>
      <p:sp>
        <p:nvSpPr>
          <p:cNvPr id="15" name="rect-188">
            <a:extLst xmlns:a="http://schemas.openxmlformats.org/drawingml/2006/main">
              <a:ext uri="{FF2B5EF4-FFF2-40B4-BE49-F238E27FC236}">
                <a16:creationId xmlns:a16="http://schemas.microsoft.com/office/drawing/2014/main" id="{2B9A78FA-C431-4106-8B4C-B051573E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099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copy-189">
            <a:extLst xmlns:a="http://schemas.openxmlformats.org/drawingml/2006/main">
              <a:ext uri="{FF2B5EF4-FFF2-40B4-BE49-F238E27FC236}">
                <a16:creationId xmlns:a16="http://schemas.microsoft.com/office/drawing/2014/main" id="{04FCC71B-E1CB-4E8F-ABEC-C0BDFCAB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09900"/>
            <a:ext cx="876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copy-190">
            <a:extLst xmlns:a="http://schemas.openxmlformats.org/drawingml/2006/main">
              <a:ext uri="{FF2B5EF4-FFF2-40B4-BE49-F238E27FC236}">
                <a16:creationId xmlns:a16="http://schemas.microsoft.com/office/drawing/2014/main" id="{81A1A36E-811A-472A-8DC8-7411A244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3048000"/>
            <a:ext cx="297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确定选择</a:t>
            </a:r>
          </a:p>
        </p:txBody>
      </p:sp>
      <p:sp>
        <p:nvSpPr>
          <p:cNvPr id="18" name="copy-191">
            <a:extLst xmlns:a="http://schemas.openxmlformats.org/drawingml/2006/main">
              <a:ext uri="{FF2B5EF4-FFF2-40B4-BE49-F238E27FC236}">
                <a16:creationId xmlns:a16="http://schemas.microsoft.com/office/drawing/2014/main" id="{C17EABA0-BE0D-4AA6-B8A7-3D8674FD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719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提出方向与优先级，共同确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认重点。</a:t>
            </a:r>
          </a:p>
        </p:txBody>
      </p:sp>
      <p:sp>
        <p:nvSpPr>
          <p:cNvPr id="19" name="copy-192">
            <a:extLst xmlns:a="http://schemas.openxmlformats.org/drawingml/2006/main">
              <a:ext uri="{FF2B5EF4-FFF2-40B4-BE49-F238E27FC236}">
                <a16:creationId xmlns:a16="http://schemas.microsoft.com/office/drawing/2014/main" id="{5F8EEEB8-4024-4F8F-9715-A7DA2952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196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客户参与：确认关键选择</a:t>
            </a:r>
          </a:p>
        </p:txBody>
      </p:sp>
      <p:sp>
        <p:nvSpPr>
          <p:cNvPr id="20" name="rect-193">
            <a:extLst xmlns:a="http://schemas.openxmlformats.org/drawingml/2006/main">
              <a:ext uri="{FF2B5EF4-FFF2-40B4-BE49-F238E27FC236}">
                <a16:creationId xmlns:a16="http://schemas.microsoft.com/office/drawing/2014/main" id="{F87A52C6-E05A-41F0-A5CD-3958013A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10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copy-194">
            <a:extLst xmlns:a="http://schemas.openxmlformats.org/drawingml/2006/main">
              <a:ext uri="{FF2B5EF4-FFF2-40B4-BE49-F238E27FC236}">
                <a16:creationId xmlns:a16="http://schemas.microsoft.com/office/drawing/2014/main" id="{8A675ECB-68A6-4B55-BAA7-8EF66B75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10200"/>
            <a:ext cx="876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copy-195">
            <a:extLst xmlns:a="http://schemas.openxmlformats.org/drawingml/2006/main">
              <a:ext uri="{FF2B5EF4-FFF2-40B4-BE49-F238E27FC236}">
                <a16:creationId xmlns:a16="http://schemas.microsoft.com/office/drawing/2014/main" id="{DC53EB2A-F480-4479-9EE7-B629B010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5448300"/>
            <a:ext cx="297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制定规划</a:t>
            </a:r>
          </a:p>
        </p:txBody>
      </p:sp>
      <p:sp>
        <p:nvSpPr>
          <p:cNvPr id="23" name="copy-196">
            <a:extLst xmlns:a="http://schemas.openxmlformats.org/drawingml/2006/main">
              <a:ext uri="{FF2B5EF4-FFF2-40B4-BE49-F238E27FC236}">
                <a16:creationId xmlns:a16="http://schemas.microsoft.com/office/drawing/2014/main" id="{F07F5906-1CDF-4E09-A213-C49A4DCA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1722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形成阶段计划、任务分工和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资源安排。</a:t>
            </a:r>
          </a:p>
        </p:txBody>
      </p:sp>
      <p:sp>
        <p:nvSpPr>
          <p:cNvPr id="24" name="rect-197">
            <a:extLst xmlns:a="http://schemas.openxmlformats.org/drawingml/2006/main">
              <a:ext uri="{FF2B5EF4-FFF2-40B4-BE49-F238E27FC236}">
                <a16:creationId xmlns:a16="http://schemas.microsoft.com/office/drawing/2014/main" id="{D3F62F7A-0D96-42CC-9995-EF446C32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10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copy-198">
            <a:extLst xmlns:a="http://schemas.openxmlformats.org/drawingml/2006/main">
              <a:ext uri="{FF2B5EF4-FFF2-40B4-BE49-F238E27FC236}">
                <a16:creationId xmlns:a16="http://schemas.microsoft.com/office/drawing/2014/main" id="{A5523AE6-C3BE-4C90-9F22-D12FFB1D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10200"/>
            <a:ext cx="876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copy-199">
            <a:extLst xmlns:a="http://schemas.openxmlformats.org/drawingml/2006/main">
              <a:ext uri="{FF2B5EF4-FFF2-40B4-BE49-F238E27FC236}">
                <a16:creationId xmlns:a16="http://schemas.microsoft.com/office/drawing/2014/main" id="{71BBFBBF-0F83-4195-A27B-CBDE431F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448300"/>
            <a:ext cx="297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推进执行</a:t>
            </a:r>
          </a:p>
        </p:txBody>
      </p:sp>
      <p:sp>
        <p:nvSpPr>
          <p:cNvPr id="27" name="copy-200">
            <a:extLst xmlns:a="http://schemas.openxmlformats.org/drawingml/2006/main">
              <a:ext uri="{FF2B5EF4-FFF2-40B4-BE49-F238E27FC236}">
                <a16:creationId xmlns:a16="http://schemas.microsoft.com/office/drawing/2014/main" id="{56B4E7CD-E4D8-4F76-B96C-816D76C1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722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承担关键任务，协调团队与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专业伙伴。</a:t>
            </a:r>
          </a:p>
        </p:txBody>
      </p:sp>
      <p:sp>
        <p:nvSpPr>
          <p:cNvPr id="28" name="rect-201">
            <a:extLst xmlns:a="http://schemas.openxmlformats.org/drawingml/2006/main">
              <a:ext uri="{FF2B5EF4-FFF2-40B4-BE49-F238E27FC236}">
                <a16:creationId xmlns:a16="http://schemas.microsoft.com/office/drawing/2014/main" id="{CDF912A1-E2F7-4EF6-BB01-5BFF5136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copy-202">
            <a:extLst xmlns:a="http://schemas.openxmlformats.org/drawingml/2006/main">
              <a:ext uri="{FF2B5EF4-FFF2-40B4-BE49-F238E27FC236}">
                <a16:creationId xmlns:a16="http://schemas.microsoft.com/office/drawing/2014/main" id="{FB413878-0CF5-4918-8417-28EBE99D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876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0" name="copy-203">
            <a:extLst xmlns:a="http://schemas.openxmlformats.org/drawingml/2006/main">
              <a:ext uri="{FF2B5EF4-FFF2-40B4-BE49-F238E27FC236}">
                <a16:creationId xmlns:a16="http://schemas.microsoft.com/office/drawing/2014/main" id="{BE6D5A45-1ECB-4D2D-A437-5CD30E3A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448300"/>
            <a:ext cx="297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复盘调整</a:t>
            </a:r>
          </a:p>
        </p:txBody>
      </p:sp>
      <p:sp>
        <p:nvSpPr>
          <p:cNvPr id="31" name="copy-204">
            <a:extLst xmlns:a="http://schemas.openxmlformats.org/drawingml/2006/main">
              <a:ext uri="{FF2B5EF4-FFF2-40B4-BE49-F238E27FC236}">
                <a16:creationId xmlns:a16="http://schemas.microsoft.com/office/drawing/2014/main" id="{5938B457-8A78-423C-85A2-2C438730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722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结合市场反馈，确定下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一步行动。</a:t>
            </a:r>
          </a:p>
        </p:txBody>
      </p:sp>
      <p:sp>
        <p:nvSpPr>
          <p:cNvPr id="32" name="copy-205">
            <a:extLst xmlns:a="http://schemas.openxmlformats.org/drawingml/2006/main">
              <a:ext uri="{FF2B5EF4-FFF2-40B4-BE49-F238E27FC236}">
                <a16:creationId xmlns:a16="http://schemas.microsoft.com/office/drawing/2014/main" id="{8B37098F-1D4F-4D79-B2F7-06465F88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199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客户参与：共同复盘与调整</a:t>
            </a:r>
          </a:p>
        </p:txBody>
      </p:sp>
      <p:cxnSp>
        <p:nvCxnSpPr>
          <p:cNvPr id="35" name="line-206">
            <a:extLst xmlns:a="http://schemas.openxmlformats.org/drawingml/2006/main">
              <a:ext uri="{FF2B5EF4-FFF2-40B4-BE49-F238E27FC236}">
                <a16:creationId xmlns:a16="http://schemas.microsoft.com/office/drawing/2014/main" id="{95DDBE6E-5BBC-44CF-B167-8E4E1D25CE5B}"/>
              </a:ext>
            </a:extLst>
          </p:cNvPr>
          <p:cNvCxnSpPr/>
          <p:nvPr/>
        </p:nvCxnSpPr>
        <p:spPr>
          <a:xfrm xmlns:a="http://schemas.openxmlformats.org/drawingml/2006/main">
            <a:off x="1438275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</a:ln>
        </p:spPr>
      </p:cxnSp>
      <p:cxnSp>
        <p:nvCxnSpPr>
          <p:cNvPr id="36" name="line-207">
            <a:extLst xmlns:a="http://schemas.openxmlformats.org/drawingml/2006/main">
              <a:ext uri="{FF2B5EF4-FFF2-40B4-BE49-F238E27FC236}">
                <a16:creationId xmlns:a16="http://schemas.microsoft.com/office/drawing/2014/main" id="{4CEE8C8F-36F5-4F80-A80E-7648518E6369}"/>
              </a:ext>
            </a:extLst>
          </p:cNvPr>
          <p:cNvCxnSpPr/>
          <p:nvPr/>
        </p:nvCxnSpPr>
        <p:spPr>
          <a:xfrm xmlns:a="http://schemas.openxmlformats.org/drawingml/2006/main">
            <a:off x="14668500" y="3286125"/>
            <a:ext cx="0" cy="2400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</a:ln>
        </p:spPr>
      </p:cxnSp>
      <p:cxnSp>
        <p:nvCxnSpPr>
          <p:cNvPr id="37" name="line-208">
            <a:extLst xmlns:a="http://schemas.openxmlformats.org/drawingml/2006/main">
              <a:ext uri="{FF2B5EF4-FFF2-40B4-BE49-F238E27FC236}">
                <a16:creationId xmlns:a16="http://schemas.microsoft.com/office/drawing/2014/main" id="{C850FA14-E590-4898-91FE-FF3FFC5E4337}"/>
              </a:ext>
            </a:extLst>
          </p:cNvPr>
          <p:cNvCxnSpPr/>
          <p:nvPr/>
        </p:nvCxnSpPr>
        <p:spPr>
          <a:xfrm xmlns:a="http://schemas.openxmlformats.org/drawingml/2006/main">
            <a:off x="14382750" y="56864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head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8442743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opy-209">
            <a:extLst xmlns:a="http://schemas.openxmlformats.org/drawingml/2006/main">
              <a:ext uri="{FF2B5EF4-FFF2-40B4-BE49-F238E27FC236}">
                <a16:creationId xmlns:a16="http://schemas.microsoft.com/office/drawing/2014/main" id="{2AC27B2D-349C-4419-8264-64D5F25D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怎样推进项目</a:t>
            </a:r>
          </a:p>
        </p:txBody>
      </p:sp>
      <p:sp>
        <p:nvSpPr>
          <p:cNvPr id="2" name="title-210">
            <a:extLst xmlns:a="http://schemas.openxmlformats.org/drawingml/2006/main">
              <a:ext uri="{FF2B5EF4-FFF2-40B4-BE49-F238E27FC236}">
                <a16:creationId xmlns:a16="http://schemas.microsoft.com/office/drawing/2014/main" id="{409DE30D-7567-4A81-B215-931F11A0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客户获得清晰方向，也获得推进依据</a:t>
            </a:r>
          </a:p>
        </p:txBody>
      </p:sp>
      <p:sp>
        <p:nvSpPr>
          <p:cNvPr id="3" name="copy-211">
            <a:extLst xmlns:a="http://schemas.openxmlformats.org/drawingml/2006/main">
              <a:ext uri="{FF2B5EF4-FFF2-40B4-BE49-F238E27FC236}">
                <a16:creationId xmlns:a16="http://schemas.microsoft.com/office/drawing/2014/main" id="{3BEF573B-F661-4725-8FBD-86142260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交付涵盖策略、规划与约定的执行成果，并用于支持持续决策。</a:t>
            </a:r>
          </a:p>
        </p:txBody>
      </p:sp>
      <p:cxnSp>
        <p:nvCxnSpPr>
          <p:cNvPr id="4" name="line-212">
            <a:extLst xmlns:a="http://schemas.openxmlformats.org/drawingml/2006/main">
              <a:ext uri="{FF2B5EF4-FFF2-40B4-BE49-F238E27FC236}">
                <a16:creationId xmlns:a16="http://schemas.microsoft.com/office/drawing/2014/main" id="{96895B5C-C075-4A42-8336-914A8D50A3D5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213">
            <a:extLst xmlns:a="http://schemas.openxmlformats.org/drawingml/2006/main">
              <a:ext uri="{FF2B5EF4-FFF2-40B4-BE49-F238E27FC236}">
                <a16:creationId xmlns:a16="http://schemas.microsoft.com/office/drawing/2014/main" id="{92444F01-0F38-4F41-9B29-BB8B0DEB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copy-214">
            <a:extLst xmlns:a="http://schemas.openxmlformats.org/drawingml/2006/main">
              <a:ext uri="{FF2B5EF4-FFF2-40B4-BE49-F238E27FC236}">
                <a16:creationId xmlns:a16="http://schemas.microsoft.com/office/drawing/2014/main" id="{69ABD84C-5575-4840-ABDF-69896DD8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904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copy-215">
            <a:extLst xmlns:a="http://schemas.openxmlformats.org/drawingml/2006/main">
              <a:ext uri="{FF2B5EF4-FFF2-40B4-BE49-F238E27FC236}">
                <a16:creationId xmlns:a16="http://schemas.microsoft.com/office/drawing/2014/main" id="{4EDCC53E-5343-4368-9F77-E74F392C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0375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策略判断与表达</a:t>
            </a:r>
          </a:p>
        </p:txBody>
      </p:sp>
      <p:sp>
        <p:nvSpPr>
          <p:cNvPr id="8" name="copy-216">
            <a:extLst xmlns:a="http://schemas.openxmlformats.org/drawingml/2006/main">
              <a:ext uri="{FF2B5EF4-FFF2-40B4-BE49-F238E27FC236}">
                <a16:creationId xmlns:a16="http://schemas.microsoft.com/office/drawing/2014/main" id="{99F7E3AF-2623-43AD-8061-067CE06C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7353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说明目标用户、品牌或产品价值、营销重点，以及重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要选择背后的判断依据。</a:t>
            </a:r>
          </a:p>
        </p:txBody>
      </p:sp>
      <p:cxnSp>
        <p:nvCxnSpPr>
          <p:cNvPr id="9" name="line-217">
            <a:extLst xmlns:a="http://schemas.openxmlformats.org/drawingml/2006/main">
              <a:ext uri="{FF2B5EF4-FFF2-40B4-BE49-F238E27FC236}">
                <a16:creationId xmlns:a16="http://schemas.microsoft.com/office/drawing/2014/main" id="{869C765B-7B3C-4AAC-AC23-0D024DA11AAC}"/>
              </a:ext>
            </a:extLst>
          </p:cNvPr>
          <p:cNvCxnSpPr/>
          <p:nvPr/>
        </p:nvCxnSpPr>
        <p:spPr>
          <a:xfrm xmlns:a="http://schemas.openxmlformats.org/drawingml/2006/main">
            <a:off x="857250" y="3905250"/>
            <a:ext cx="13544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10" name="copy-218">
            <a:extLst xmlns:a="http://schemas.openxmlformats.org/drawingml/2006/main">
              <a:ext uri="{FF2B5EF4-FFF2-40B4-BE49-F238E27FC236}">
                <a16:creationId xmlns:a16="http://schemas.microsoft.com/office/drawing/2014/main" id="{17E8F262-FFB2-4DBC-9A8F-9D595FDE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86225"/>
            <a:ext cx="904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copy-219">
            <a:extLst xmlns:a="http://schemas.openxmlformats.org/drawingml/2006/main">
              <a:ext uri="{FF2B5EF4-FFF2-40B4-BE49-F238E27FC236}">
                <a16:creationId xmlns:a16="http://schemas.microsoft.com/office/drawing/2014/main" id="{2BD1AFFB-0BE6-4DF1-8E6F-C7942E51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阶段路线与资源安排</a:t>
            </a:r>
          </a:p>
        </p:txBody>
      </p:sp>
      <p:sp>
        <p:nvSpPr>
          <p:cNvPr id="12" name="copy-220">
            <a:extLst xmlns:a="http://schemas.openxmlformats.org/drawingml/2006/main">
              <a:ext uri="{FF2B5EF4-FFF2-40B4-BE49-F238E27FC236}">
                <a16:creationId xmlns:a16="http://schemas.microsoft.com/office/drawing/2014/main" id="{839411EF-4FC9-4316-AEC8-C67E1F6E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86225"/>
            <a:ext cx="7353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明确渠道优先级、阶段行动、预算重点与责任分工，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让各方知道下一步做什么。</a:t>
            </a:r>
          </a:p>
        </p:txBody>
      </p:sp>
      <p:cxnSp>
        <p:nvCxnSpPr>
          <p:cNvPr id="13" name="line-221">
            <a:extLst xmlns:a="http://schemas.openxmlformats.org/drawingml/2006/main">
              <a:ext uri="{FF2B5EF4-FFF2-40B4-BE49-F238E27FC236}">
                <a16:creationId xmlns:a16="http://schemas.microsoft.com/office/drawing/2014/main" id="{B393EE56-B3B5-4BB6-8FF7-663752D9F651}"/>
              </a:ext>
            </a:extLst>
          </p:cNvPr>
          <p:cNvCxnSpPr/>
          <p:nvPr/>
        </p:nvCxnSpPr>
        <p:spPr>
          <a:xfrm xmlns:a="http://schemas.openxmlformats.org/drawingml/2006/main">
            <a:off x="857250" y="5019675"/>
            <a:ext cx="13544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14" name="copy-222">
            <a:extLst xmlns:a="http://schemas.openxmlformats.org/drawingml/2006/main">
              <a:ext uri="{FF2B5EF4-FFF2-40B4-BE49-F238E27FC236}">
                <a16:creationId xmlns:a16="http://schemas.microsoft.com/office/drawing/2014/main" id="{092D457F-CE16-4F25-AC36-11940C6D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904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copy-223">
            <a:extLst xmlns:a="http://schemas.openxmlformats.org/drawingml/2006/main">
              <a:ext uri="{FF2B5EF4-FFF2-40B4-BE49-F238E27FC236}">
                <a16:creationId xmlns:a16="http://schemas.microsoft.com/office/drawing/2014/main" id="{80D4C00B-58FB-4D8E-AF72-7273F665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29225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关键执行成果</a:t>
            </a:r>
          </a:p>
        </p:txBody>
      </p:sp>
      <p:sp>
        <p:nvSpPr>
          <p:cNvPr id="16" name="copy-224">
            <a:extLst xmlns:a="http://schemas.openxmlformats.org/drawingml/2006/main">
              <a:ext uri="{FF2B5EF4-FFF2-40B4-BE49-F238E27FC236}">
                <a16:creationId xmlns:a16="http://schemas.microsoft.com/office/drawing/2014/main" id="{ED290585-51D0-456F-A009-498699B7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00650"/>
            <a:ext cx="7353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按合作范围交付内容素材、达人合作、广告工作或其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他已约定的执行成果。</a:t>
            </a:r>
          </a:p>
        </p:txBody>
      </p:sp>
      <p:cxnSp>
        <p:nvCxnSpPr>
          <p:cNvPr id="17" name="line-225">
            <a:extLst xmlns:a="http://schemas.openxmlformats.org/drawingml/2006/main">
              <a:ext uri="{FF2B5EF4-FFF2-40B4-BE49-F238E27FC236}">
                <a16:creationId xmlns:a16="http://schemas.microsoft.com/office/drawing/2014/main" id="{789E8619-7A5E-438A-A030-1F7AA9E86844}"/>
              </a:ext>
            </a:extLst>
          </p:cNvPr>
          <p:cNvCxnSpPr/>
          <p:nvPr/>
        </p:nvCxnSpPr>
        <p:spPr>
          <a:xfrm xmlns:a="http://schemas.openxmlformats.org/drawingml/2006/main">
            <a:off x="857250" y="6134100"/>
            <a:ext cx="13544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BAB1"/>
            </a:solidFill>
            <a:prstDash val="solid"/>
          </a:ln>
        </p:spPr>
      </p:cxnSp>
      <p:sp>
        <p:nvSpPr>
          <p:cNvPr id="18" name="copy-226">
            <a:extLst xmlns:a="http://schemas.openxmlformats.org/drawingml/2006/main">
              <a:ext uri="{FF2B5EF4-FFF2-40B4-BE49-F238E27FC236}">
                <a16:creationId xmlns:a16="http://schemas.microsoft.com/office/drawing/2014/main" id="{C51681D3-F54A-4087-8949-18E252DB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15075"/>
            <a:ext cx="904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copy-227">
            <a:extLst xmlns:a="http://schemas.openxmlformats.org/drawingml/2006/main">
              <a:ext uri="{FF2B5EF4-FFF2-40B4-BE49-F238E27FC236}">
                <a16:creationId xmlns:a16="http://schemas.microsoft.com/office/drawing/2014/main" id="{E29B4699-E20B-4ABC-BBFF-AEDF39B9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343650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复盘与后续建议</a:t>
            </a:r>
          </a:p>
        </p:txBody>
      </p:sp>
      <p:sp>
        <p:nvSpPr>
          <p:cNvPr id="20" name="copy-228">
            <a:extLst xmlns:a="http://schemas.openxmlformats.org/drawingml/2006/main">
              <a:ext uri="{FF2B5EF4-FFF2-40B4-BE49-F238E27FC236}">
                <a16:creationId xmlns:a16="http://schemas.microsoft.com/office/drawing/2014/main" id="{6F9A9F2C-55C8-4842-BCDB-36BF8E96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315075"/>
            <a:ext cx="7353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整理执行反馈与阶段表现，提出继续、调整或新增工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作的建议。</a:t>
            </a:r>
          </a:p>
        </p:txBody>
      </p:sp>
    </p:spTree>
    <p:extLst>
      <p:ext uri="{BB962C8B-B14F-4D97-AF65-F5344CB8AC3E}">
        <p14:creationId xmlns:p14="http://schemas.microsoft.com/office/powerpoint/2010/main" val="1422117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opy-229">
            <a:extLst xmlns:a="http://schemas.openxmlformats.org/drawingml/2006/main">
              <a:ext uri="{FF2B5EF4-FFF2-40B4-BE49-F238E27FC236}">
                <a16:creationId xmlns:a16="http://schemas.microsoft.com/office/drawing/2014/main" id="{6288D921-F302-43B7-A7AE-181459E6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为什么选择我们 · AI-native</a:t>
            </a:r>
          </a:p>
        </p:txBody>
      </p:sp>
      <p:sp>
        <p:nvSpPr>
          <p:cNvPr id="2" name="title-230">
            <a:extLst xmlns:a="http://schemas.openxmlformats.org/drawingml/2006/main">
              <a:ext uri="{FF2B5EF4-FFF2-40B4-BE49-F238E27FC236}">
                <a16:creationId xmlns:a16="http://schemas.microsoft.com/office/drawing/2014/main" id="{8542130A-B420-49BB-A98D-9A270F29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AI 已经融入我们的内部执行体系</a:t>
            </a:r>
          </a:p>
        </p:txBody>
      </p:sp>
      <p:sp>
        <p:nvSpPr>
          <p:cNvPr id="3" name="copy-231">
            <a:extLst xmlns:a="http://schemas.openxmlformats.org/drawingml/2006/main">
              <a:ext uri="{FF2B5EF4-FFF2-40B4-BE49-F238E27FC236}">
                <a16:creationId xmlns:a16="http://schemas.microsoft.com/office/drawing/2014/main" id="{DA622E71-6CA0-467C-A27D-D6927974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Outrise 已建立高度自动化、智能化、以 AI 为驱动的执行体系。</a:t>
            </a:r>
          </a:p>
        </p:txBody>
      </p:sp>
      <p:cxnSp>
        <p:nvCxnSpPr>
          <p:cNvPr id="4" name="line-232">
            <a:extLst xmlns:a="http://schemas.openxmlformats.org/drawingml/2006/main">
              <a:ext uri="{FF2B5EF4-FFF2-40B4-BE49-F238E27FC236}">
                <a16:creationId xmlns:a16="http://schemas.microsoft.com/office/drawing/2014/main" id="{3F20ABC1-D3FD-4884-9B9D-CDCEEF24DFFB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233">
            <a:extLst xmlns:a="http://schemas.openxmlformats.org/drawingml/2006/main">
              <a:ext uri="{FF2B5EF4-FFF2-40B4-BE49-F238E27FC236}">
                <a16:creationId xmlns:a16="http://schemas.microsoft.com/office/drawing/2014/main" id="{B8A4EFFE-6C61-4A3A-8B85-B33C7AC9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copy-234">
            <a:extLst xmlns:a="http://schemas.openxmlformats.org/drawingml/2006/main">
              <a:ext uri="{FF2B5EF4-FFF2-40B4-BE49-F238E27FC236}">
                <a16:creationId xmlns:a16="http://schemas.microsoft.com/office/drawing/2014/main" id="{921D23B2-FC52-4E35-8AF8-F5CCAC80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0325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AI 支持营销工作的环节示意</a:t>
            </a:r>
          </a:p>
        </p:txBody>
      </p:sp>
      <p:sp>
        <p:nvSpPr>
          <p:cNvPr id="7" name="copy-235">
            <a:extLst xmlns:a="http://schemas.openxmlformats.org/drawingml/2006/main">
              <a:ext uri="{FF2B5EF4-FFF2-40B4-BE49-F238E27FC236}">
                <a16:creationId xmlns:a16="http://schemas.microsoft.com/office/drawing/2014/main" id="{91B8F5FB-2041-469B-935E-233C0762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cxnSp>
        <p:nvCxnSpPr>
          <p:cNvPr id="8" name="line-236">
            <a:extLst xmlns:a="http://schemas.openxmlformats.org/drawingml/2006/main">
              <a:ext uri="{FF2B5EF4-FFF2-40B4-BE49-F238E27FC236}">
                <a16:creationId xmlns:a16="http://schemas.microsoft.com/office/drawing/2014/main" id="{FF685B79-207F-435A-B06E-189E1FD97F0E}"/>
              </a:ext>
            </a:extLst>
          </p:cNvPr>
          <p:cNvCxnSpPr/>
          <p:nvPr/>
        </p:nvCxnSpPr>
        <p:spPr>
          <a:xfrm xmlns:a="http://schemas.openxmlformats.org/drawingml/2006/main">
            <a:off x="1857375" y="3286125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sp>
        <p:nvSpPr>
          <p:cNvPr id="9" name="copy-237">
            <a:extLst xmlns:a="http://schemas.openxmlformats.org/drawingml/2006/main">
              <a:ext uri="{FF2B5EF4-FFF2-40B4-BE49-F238E27FC236}">
                <a16:creationId xmlns:a16="http://schemas.microsoft.com/office/drawing/2014/main" id="{6B664B7D-FC53-43AB-AF7D-4C811438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838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研究与知识积累</a:t>
            </a:r>
          </a:p>
        </p:txBody>
      </p:sp>
      <p:sp>
        <p:nvSpPr>
          <p:cNvPr id="10" name="copy-238">
            <a:extLst xmlns:a="http://schemas.openxmlformats.org/drawingml/2006/main">
              <a:ext uri="{FF2B5EF4-FFF2-40B4-BE49-F238E27FC236}">
                <a16:creationId xmlns:a16="http://schemas.microsoft.com/office/drawing/2014/main" id="{BE894F74-D0A7-44AC-ACDB-79163B27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28384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将研究资料、业务信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息与项目经验组织为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可持续使用的知识基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础，支持后续判断。</a:t>
            </a:r>
          </a:p>
        </p:txBody>
      </p:sp>
      <p:sp>
        <p:nvSpPr>
          <p:cNvPr id="11" name="copy-239">
            <a:extLst xmlns:a="http://schemas.openxmlformats.org/drawingml/2006/main">
              <a:ext uri="{FF2B5EF4-FFF2-40B4-BE49-F238E27FC236}">
                <a16:creationId xmlns:a16="http://schemas.microsoft.com/office/drawing/2014/main" id="{F7DB933D-49EE-4C46-A8A8-21F8A591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cxnSp>
        <p:nvCxnSpPr>
          <p:cNvPr id="12" name="line-240">
            <a:extLst xmlns:a="http://schemas.openxmlformats.org/drawingml/2006/main">
              <a:ext uri="{FF2B5EF4-FFF2-40B4-BE49-F238E27FC236}">
                <a16:creationId xmlns:a16="http://schemas.microsoft.com/office/drawing/2014/main" id="{D6245903-4E4B-4843-99A1-44A2CB204C70}"/>
              </a:ext>
            </a:extLst>
          </p:cNvPr>
          <p:cNvCxnSpPr/>
          <p:nvPr/>
        </p:nvCxnSpPr>
        <p:spPr>
          <a:xfrm xmlns:a="http://schemas.openxmlformats.org/drawingml/2006/main">
            <a:off x="5429250" y="3286125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sp>
        <p:nvSpPr>
          <p:cNvPr id="13" name="copy-241">
            <a:extLst xmlns:a="http://schemas.openxmlformats.org/drawingml/2006/main">
              <a:ext uri="{FF2B5EF4-FFF2-40B4-BE49-F238E27FC236}">
                <a16:creationId xmlns:a16="http://schemas.microsoft.com/office/drawing/2014/main" id="{B7023F6C-0511-43BE-8AF5-7B077243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2838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规划与任务推进</a:t>
            </a:r>
          </a:p>
        </p:txBody>
      </p:sp>
      <p:sp>
        <p:nvSpPr>
          <p:cNvPr id="14" name="copy-242">
            <a:extLst xmlns:a="http://schemas.openxmlformats.org/drawingml/2006/main">
              <a:ext uri="{FF2B5EF4-FFF2-40B4-BE49-F238E27FC236}">
                <a16:creationId xmlns:a16="http://schemas.microsoft.com/office/drawing/2014/main" id="{9A9EAD6C-5C40-4AB0-BBA7-686BF329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43450"/>
            <a:ext cx="28384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让信息、计划和任务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衔接，支持团队协调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工作、跟进进度和处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理反馈。</a:t>
            </a:r>
          </a:p>
        </p:txBody>
      </p:sp>
      <p:sp>
        <p:nvSpPr>
          <p:cNvPr id="15" name="copy-243">
            <a:extLst xmlns:a="http://schemas.openxmlformats.org/drawingml/2006/main">
              <a:ext uri="{FF2B5EF4-FFF2-40B4-BE49-F238E27FC236}">
                <a16:creationId xmlns:a16="http://schemas.microsoft.com/office/drawing/2014/main" id="{2E126A2E-0CE8-494E-8C07-0D01B3A8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cxnSp>
        <p:nvCxnSpPr>
          <p:cNvPr id="16" name="line-244">
            <a:extLst xmlns:a="http://schemas.openxmlformats.org/drawingml/2006/main">
              <a:ext uri="{FF2B5EF4-FFF2-40B4-BE49-F238E27FC236}">
                <a16:creationId xmlns:a16="http://schemas.microsoft.com/office/drawing/2014/main" id="{43DC5DEC-CA85-48ED-8541-D9D33EE32366}"/>
              </a:ext>
            </a:extLst>
          </p:cNvPr>
          <p:cNvCxnSpPr/>
          <p:nvPr/>
        </p:nvCxnSpPr>
        <p:spPr>
          <a:xfrm xmlns:a="http://schemas.openxmlformats.org/drawingml/2006/main">
            <a:off x="9001125" y="3286125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sp>
        <p:nvSpPr>
          <p:cNvPr id="17" name="copy-245">
            <a:extLst xmlns:a="http://schemas.openxmlformats.org/drawingml/2006/main">
              <a:ext uri="{FF2B5EF4-FFF2-40B4-BE49-F238E27FC236}">
                <a16:creationId xmlns:a16="http://schemas.microsoft.com/office/drawing/2014/main" id="{A5928502-54FE-4D28-9AE0-E38C1D37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2838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内容与创意生产</a:t>
            </a:r>
          </a:p>
        </p:txBody>
      </p:sp>
      <p:sp>
        <p:nvSpPr>
          <p:cNvPr id="18" name="copy-246">
            <a:extLst xmlns:a="http://schemas.openxmlformats.org/drawingml/2006/main">
              <a:ext uri="{FF2B5EF4-FFF2-40B4-BE49-F238E27FC236}">
                <a16:creationId xmlns:a16="http://schemas.microsoft.com/office/drawing/2014/main" id="{98EDE92E-0AA2-41CB-8BAF-31C8D4B5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43450"/>
            <a:ext cx="28384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运用 AI 支持创意探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索、素材生产与迭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代，由团队负责方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向、质量与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最终判断。</a:t>
            </a:r>
          </a:p>
        </p:txBody>
      </p:sp>
      <p:sp>
        <p:nvSpPr>
          <p:cNvPr id="19" name="copy-247">
            <a:extLst xmlns:a="http://schemas.openxmlformats.org/drawingml/2006/main">
              <a:ext uri="{FF2B5EF4-FFF2-40B4-BE49-F238E27FC236}">
                <a16:creationId xmlns:a16="http://schemas.microsoft.com/office/drawing/2014/main" id="{717893A5-21B1-4AF5-ACB6-1D3B8E28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0289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copy-248">
            <a:extLst xmlns:a="http://schemas.openxmlformats.org/drawingml/2006/main">
              <a:ext uri="{FF2B5EF4-FFF2-40B4-BE49-F238E27FC236}">
                <a16:creationId xmlns:a16="http://schemas.microsoft.com/office/drawing/2014/main" id="{D9B8EF7B-4C29-49A1-A14D-3F664894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905250"/>
            <a:ext cx="2838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反馈与持续改进</a:t>
            </a:r>
          </a:p>
        </p:txBody>
      </p:sp>
      <p:sp>
        <p:nvSpPr>
          <p:cNvPr id="21" name="copy-249">
            <a:extLst xmlns:a="http://schemas.openxmlformats.org/drawingml/2006/main">
              <a:ext uri="{FF2B5EF4-FFF2-40B4-BE49-F238E27FC236}">
                <a16:creationId xmlns:a16="http://schemas.microsoft.com/office/drawing/2014/main" id="{0D7E97F7-3486-4AF7-893B-CF0D7752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743450"/>
            <a:ext cx="28384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把执行反馈带回知识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与工作流程，让项目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经验持续服务于下一</a:t>
            </a:r>
          </a:p>
          <a:p xmlns:a="http://schemas.openxmlformats.org/drawingml/2006/main">
            <a:pPr algn="l">
              <a:def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轮行动。</a:t>
            </a:r>
          </a:p>
        </p:txBody>
      </p:sp>
      <p:cxnSp>
        <p:nvCxnSpPr>
          <p:cNvPr id="22" name="line-250">
            <a:extLst xmlns:a="http://schemas.openxmlformats.org/drawingml/2006/main">
              <a:ext uri="{FF2B5EF4-FFF2-40B4-BE49-F238E27FC236}">
                <a16:creationId xmlns:a16="http://schemas.microsoft.com/office/drawing/2014/main" id="{1CAAEF3D-A2E0-4F64-907C-9FD734860349}"/>
              </a:ext>
            </a:extLst>
          </p:cNvPr>
          <p:cNvCxnSpPr/>
          <p:nvPr/>
        </p:nvCxnSpPr>
        <p:spPr>
          <a:xfrm xmlns:a="http://schemas.openxmlformats.org/drawingml/2006/main">
            <a:off x="12992100" y="642937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666760"/>
            </a:solidFill>
            <a:prstDash val="solid"/>
          </a:ln>
        </p:spPr>
      </p:cxnSp>
      <p:cxnSp>
        <p:nvCxnSpPr>
          <p:cNvPr id="23" name="line-251">
            <a:extLst xmlns:a="http://schemas.openxmlformats.org/drawingml/2006/main">
              <a:ext uri="{FF2B5EF4-FFF2-40B4-BE49-F238E27FC236}">
                <a16:creationId xmlns:a16="http://schemas.microsoft.com/office/drawing/2014/main" id="{BCC7E59F-0D03-46F4-A890-E1E4A0DC9F64}"/>
              </a:ext>
            </a:extLst>
          </p:cNvPr>
          <p:cNvCxnSpPr/>
          <p:nvPr/>
        </p:nvCxnSpPr>
        <p:spPr>
          <a:xfrm xmlns:a="http://schemas.openxmlformats.org/drawingml/2006/main">
            <a:off x="2276475" y="6686550"/>
            <a:ext cx="1071562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666760"/>
            </a:solidFill>
            <a:prstDash val="solid"/>
          </a:ln>
        </p:spPr>
      </p:cxnSp>
      <p:cxnSp>
        <p:nvCxnSpPr>
          <p:cNvPr id="24" name="line-252">
            <a:extLst xmlns:a="http://schemas.openxmlformats.org/drawingml/2006/main">
              <a:ext uri="{FF2B5EF4-FFF2-40B4-BE49-F238E27FC236}">
                <a16:creationId xmlns:a16="http://schemas.microsoft.com/office/drawing/2014/main" id="{A5EF612E-6C0D-4054-A17E-BDCA3CA86FF9}"/>
              </a:ext>
            </a:extLst>
          </p:cNvPr>
          <p:cNvCxnSpPr/>
          <p:nvPr/>
        </p:nvCxnSpPr>
        <p:spPr>
          <a:xfrm xmlns:a="http://schemas.openxmlformats.org/drawingml/2006/main">
            <a:off x="2276475" y="642937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666760"/>
            </a:solidFill>
            <a:prstDash val="solid"/>
            <a:headEnd type="triangle" w="sm" len="sm"/>
          </a:ln>
        </p:spPr>
      </p:cxnSp>
      <p:sp>
        <p:nvSpPr>
          <p:cNvPr id="25" name="rect-253">
            <a:extLst xmlns:a="http://schemas.openxmlformats.org/drawingml/2006/main">
              <a:ext uri="{FF2B5EF4-FFF2-40B4-BE49-F238E27FC236}">
                <a16:creationId xmlns:a16="http://schemas.microsoft.com/office/drawing/2014/main" id="{B1954750-0A5C-4431-A4CA-D3F48CBE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86575"/>
            <a:ext cx="135445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py-254">
            <a:extLst xmlns:a="http://schemas.openxmlformats.org/drawingml/2006/main">
              <a:ext uri="{FF2B5EF4-FFF2-40B4-BE49-F238E27FC236}">
                <a16:creationId xmlns:a16="http://schemas.microsoft.com/office/drawing/2014/main" id="{6574846E-B528-475A-99F3-C9980FFF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029450"/>
            <a:ext cx="1308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团队负责商业判断、方向与质量</a:t>
            </a:r>
          </a:p>
        </p:txBody>
      </p:sp>
    </p:spTree>
    <p:extLst>
      <p:ext uri="{BB962C8B-B14F-4D97-AF65-F5344CB8AC3E}">
        <p14:creationId xmlns:p14="http://schemas.microsoft.com/office/powerpoint/2010/main" val="6410891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91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py-255">
            <a:extLst xmlns:a="http://schemas.openxmlformats.org/drawingml/2006/main">
              <a:ext uri="{FF2B5EF4-FFF2-40B4-BE49-F238E27FC236}">
                <a16:creationId xmlns:a16="http://schemas.microsoft.com/office/drawing/2014/main" id="{8288EF6F-2C37-41D4-8E7B-05F50103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为什么选择我们 · 市场理解</a:t>
            </a:r>
          </a:p>
        </p:txBody>
      </p:sp>
      <p:sp>
        <p:nvSpPr>
          <p:cNvPr id="2" name="title-256">
            <a:extLst xmlns:a="http://schemas.openxmlformats.org/drawingml/2006/main">
              <a:ext uri="{FF2B5EF4-FFF2-40B4-BE49-F238E27FC236}">
                <a16:creationId xmlns:a16="http://schemas.microsoft.com/office/drawing/2014/main" id="{6D12E096-BF63-4A17-BAD5-F2FB8102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理解 AI 技术，也理解它带来的市场变化</a:t>
            </a:r>
          </a:p>
        </p:txBody>
      </p:sp>
      <p:sp>
        <p:nvSpPr>
          <p:cNvPr id="3" name="copy-257">
            <a:extLst xmlns:a="http://schemas.openxmlformats.org/drawingml/2006/main">
              <a:ext uri="{FF2B5EF4-FFF2-40B4-BE49-F238E27FC236}">
                <a16:creationId xmlns:a16="http://schemas.microsoft.com/office/drawing/2014/main" id="{AD668136-53BB-40F9-83B4-9E26A515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把对技术与市场的理解，转化为更灵活的营销判断与行动。</a:t>
            </a:r>
          </a:p>
        </p:txBody>
      </p:sp>
      <p:cxnSp>
        <p:nvCxnSpPr>
          <p:cNvPr id="4" name="line-258">
            <a:extLst xmlns:a="http://schemas.openxmlformats.org/drawingml/2006/main">
              <a:ext uri="{FF2B5EF4-FFF2-40B4-BE49-F238E27FC236}">
                <a16:creationId xmlns:a16="http://schemas.microsoft.com/office/drawing/2014/main" id="{F394E6B0-F07C-4A66-8F8B-94A597C51A26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4F47"/>
            </a:solidFill>
            <a:prstDash val="solid"/>
          </a:ln>
        </p:spPr>
      </p:cxnSp>
      <p:sp>
        <p:nvSpPr>
          <p:cNvPr id="5" name="copy-259">
            <a:extLst xmlns:a="http://schemas.openxmlformats.org/drawingml/2006/main">
              <a:ext uri="{FF2B5EF4-FFF2-40B4-BE49-F238E27FC236}">
                <a16:creationId xmlns:a16="http://schemas.microsoft.com/office/drawing/2014/main" id="{7F425FE5-6240-47F3-B3EF-86E0588F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copy-260">
            <a:extLst xmlns:a="http://schemas.openxmlformats.org/drawingml/2006/main">
              <a:ext uri="{FF2B5EF4-FFF2-40B4-BE49-F238E27FC236}">
                <a16:creationId xmlns:a16="http://schemas.microsoft.com/office/drawing/2014/main" id="{83CA152B-86DA-4339-A3C5-60563C69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52387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技术理解</a:t>
            </a:r>
          </a:p>
          <a:p xmlns:a="http://schemas.openxmlformats.org/drawingml/2006/main">
            <a: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市场判断</a:t>
            </a:r>
          </a:p>
          <a:p xmlns:a="http://schemas.openxmlformats.org/drawingml/2006/main">
            <a:pPr algn="l">
              <a:def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快速适应</a:t>
            </a:r>
          </a:p>
        </p:txBody>
      </p:sp>
      <p:cxnSp>
        <p:nvCxnSpPr>
          <p:cNvPr id="7" name="line-261">
            <a:extLst xmlns:a="http://schemas.openxmlformats.org/drawingml/2006/main">
              <a:ext uri="{FF2B5EF4-FFF2-40B4-BE49-F238E27FC236}">
                <a16:creationId xmlns:a16="http://schemas.microsoft.com/office/drawing/2014/main" id="{A36C6BEA-8BC5-440B-826D-A75A8C9FF836}"/>
              </a:ext>
            </a:extLst>
          </p:cNvPr>
          <p:cNvCxnSpPr/>
          <p:nvPr/>
        </p:nvCxnSpPr>
        <p:spPr>
          <a:xfrm xmlns:a="http://schemas.openxmlformats.org/drawingml/2006/main">
            <a:off x="6257925" y="3133725"/>
            <a:ext cx="0" cy="40290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4D4F47"/>
            </a:solidFill>
            <a:prstDash val="solid"/>
          </a:ln>
        </p:spPr>
      </p:cxnSp>
      <p:sp>
        <p:nvSpPr>
          <p:cNvPr id="8" name="copy-262">
            <a:extLst xmlns:a="http://schemas.openxmlformats.org/drawingml/2006/main">
              <a:ext uri="{FF2B5EF4-FFF2-40B4-BE49-F238E27FC236}">
                <a16:creationId xmlns:a16="http://schemas.microsoft.com/office/drawing/2014/main" id="{47FCE961-2BCF-4AC1-BCB9-94CEDCF5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86100"/>
            <a:ext cx="754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读懂科技产品的价值</a:t>
            </a:r>
          </a:p>
        </p:txBody>
      </p:sp>
      <p:sp>
        <p:nvSpPr>
          <p:cNvPr id="9" name="copy-263">
            <a:extLst xmlns:a="http://schemas.openxmlformats.org/drawingml/2006/main">
              <a:ext uri="{FF2B5EF4-FFF2-40B4-BE49-F238E27FC236}">
                <a16:creationId xmlns:a16="http://schemas.microsoft.com/office/drawing/2014/main" id="{8EE85A9C-840B-413F-9716-D0775239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7543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理解科技公司的产品逻辑、目标与需求，把技术能力转</a:t>
            </a:r>
          </a:p>
          <a:p xmlns:a="http://schemas.openxmlformats.org/drawingml/2006/main">
            <a: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化为用户能够理解的价值和场景。</a:t>
            </a:r>
          </a:p>
        </p:txBody>
      </p:sp>
      <p:sp>
        <p:nvSpPr>
          <p:cNvPr id="10" name="copy-264">
            <a:extLst xmlns:a="http://schemas.openxmlformats.org/drawingml/2006/main">
              <a:ext uri="{FF2B5EF4-FFF2-40B4-BE49-F238E27FC236}">
                <a16:creationId xmlns:a16="http://schemas.microsoft.com/office/drawing/2014/main" id="{EDA3CB65-68AE-4784-BB9B-A1F8D2CE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754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跟随市场与渠道变化</a:t>
            </a:r>
          </a:p>
        </p:txBody>
      </p:sp>
      <p:sp>
        <p:nvSpPr>
          <p:cNvPr id="11" name="copy-265">
            <a:extLst xmlns:a="http://schemas.openxmlformats.org/drawingml/2006/main">
              <a:ext uri="{FF2B5EF4-FFF2-40B4-BE49-F238E27FC236}">
                <a16:creationId xmlns:a16="http://schemas.microsoft.com/office/drawing/2014/main" id="{DD242627-21BA-4084-9F01-54E5849E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7543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关注 AI 对信息发现、内容传播和用户决策的影响，持</a:t>
            </a:r>
          </a:p>
          <a:p xmlns:a="http://schemas.openxmlformats.org/drawingml/2006/main">
            <a: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续调整策略与渠道选择。</a:t>
            </a:r>
          </a:p>
        </p:txBody>
      </p:sp>
      <p:sp>
        <p:nvSpPr>
          <p:cNvPr id="12" name="copy-266">
            <a:extLst xmlns:a="http://schemas.openxmlformats.org/drawingml/2006/main">
              <a:ext uri="{FF2B5EF4-FFF2-40B4-BE49-F238E27FC236}">
                <a16:creationId xmlns:a16="http://schemas.microsoft.com/office/drawing/2014/main" id="{A93EB906-76E5-4428-8AE8-C8923C69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943600"/>
            <a:ext cx="754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更灵活地推进探索</a:t>
            </a:r>
          </a:p>
        </p:txBody>
      </p:sp>
      <p:sp>
        <p:nvSpPr>
          <p:cNvPr id="13" name="copy-267">
            <a:extLst xmlns:a="http://schemas.openxmlformats.org/drawingml/2006/main">
              <a:ext uri="{FF2B5EF4-FFF2-40B4-BE49-F238E27FC236}">
                <a16:creationId xmlns:a16="http://schemas.microsoft.com/office/drawing/2014/main" id="{CF4216DA-F242-497F-8115-F5DE3074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534150"/>
            <a:ext cx="7543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依托内部 AI 执行体系衔接研究、创意与反馈，更快组</a:t>
            </a:r>
          </a:p>
          <a:p xmlns:a="http://schemas.openxmlformats.org/drawingml/2006/main">
            <a:pPr algn="l">
              <a:def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织尝试，并据此调整下一轮行动。</a:t>
            </a:r>
          </a:p>
        </p:txBody>
      </p:sp>
    </p:spTree>
    <p:extLst>
      <p:ext uri="{BB962C8B-B14F-4D97-AF65-F5344CB8AC3E}">
        <p14:creationId xmlns:p14="http://schemas.microsoft.com/office/powerpoint/2010/main" val="13125293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0487B-A37B-4616-9167-5E10D16C0D4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76625" y="3471863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sp>
        <p:nvSpPr>
          <p:cNvPr id="25" name="copy-268">
            <a:extLst xmlns:a="http://schemas.openxmlformats.org/drawingml/2006/main">
              <a:ext uri="{FF2B5EF4-FFF2-40B4-BE49-F238E27FC236}">
                <a16:creationId xmlns:a16="http://schemas.microsoft.com/office/drawing/2014/main" id="{07A4A264-0079-4570-A120-FAE3FE78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谁来为客户负责</a:t>
            </a:r>
          </a:p>
        </p:txBody>
      </p:sp>
      <p:sp>
        <p:nvSpPr>
          <p:cNvPr id="2" name="title-269">
            <a:extLst xmlns:a="http://schemas.openxmlformats.org/drawingml/2006/main">
              <a:ext uri="{FF2B5EF4-FFF2-40B4-BE49-F238E27FC236}">
                <a16:creationId xmlns:a16="http://schemas.microsoft.com/office/drawing/2014/main" id="{49C9D23F-088E-4185-878A-890B950F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一个合作入口，由 Outrise 统一负责</a:t>
            </a:r>
          </a:p>
        </p:txBody>
      </p:sp>
      <p:sp>
        <p:nvSpPr>
          <p:cNvPr id="3" name="copy-270">
            <a:extLst xmlns:a="http://schemas.openxmlformats.org/drawingml/2006/main">
              <a:ext uri="{FF2B5EF4-FFF2-40B4-BE49-F238E27FC236}">
                <a16:creationId xmlns:a16="http://schemas.microsoft.com/office/drawing/2014/main" id="{3E239632-2119-4F6D-B74E-8021AA51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在约定合作范围内，我们统筹策略、进度、质量与专业伙伴，对整体合作交付负责并背书。</a:t>
            </a:r>
          </a:p>
        </p:txBody>
      </p:sp>
      <p:cxnSp>
        <p:nvCxnSpPr>
          <p:cNvPr id="4" name="line-271">
            <a:extLst xmlns:a="http://schemas.openxmlformats.org/drawingml/2006/main">
              <a:ext uri="{FF2B5EF4-FFF2-40B4-BE49-F238E27FC236}">
                <a16:creationId xmlns:a16="http://schemas.microsoft.com/office/drawing/2014/main" id="{D5B7A943-A652-49AD-8EFA-8488BF6BA785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272">
            <a:extLst xmlns:a="http://schemas.openxmlformats.org/drawingml/2006/main">
              <a:ext uri="{FF2B5EF4-FFF2-40B4-BE49-F238E27FC236}">
                <a16:creationId xmlns:a16="http://schemas.microsoft.com/office/drawing/2014/main" id="{F97CD101-BC82-4650-A473-6BE96BE4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-273">
            <a:extLst xmlns:a="http://schemas.openxmlformats.org/drawingml/2006/main">
              <a:ext uri="{FF2B5EF4-FFF2-40B4-BE49-F238E27FC236}">
                <a16:creationId xmlns:a16="http://schemas.microsoft.com/office/drawing/2014/main" id="{96EEDCB8-9124-4987-AC69-3B2F0BF2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6193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A18"/>
            </a:solidFill>
            <a:prstDash val="solid"/>
          </a:ln>
        </p:spPr>
      </p:sp>
      <p:sp>
        <p:nvSpPr>
          <p:cNvPr id="7" name="rect-274">
            <a:extLst xmlns:a="http://schemas.openxmlformats.org/drawingml/2006/main">
              <a:ext uri="{FF2B5EF4-FFF2-40B4-BE49-F238E27FC236}">
                <a16:creationId xmlns:a16="http://schemas.microsoft.com/office/drawing/2014/main" id="{8DEC3A9F-81AD-495D-A870-236BC28B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00375"/>
            <a:ext cx="70961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py-275">
            <a:extLst xmlns:a="http://schemas.openxmlformats.org/drawingml/2006/main">
              <a:ext uri="{FF2B5EF4-FFF2-40B4-BE49-F238E27FC236}">
                <a16:creationId xmlns:a16="http://schemas.microsoft.com/office/drawing/2014/main" id="{627639FF-3604-42B1-A655-ABB9A52D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28975"/>
            <a:ext cx="2200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客户</a:t>
            </a:r>
          </a:p>
        </p:txBody>
      </p:sp>
      <p:sp>
        <p:nvSpPr>
          <p:cNvPr id="9" name="copy-276">
            <a:extLst xmlns:a="http://schemas.openxmlformats.org/drawingml/2006/main">
              <a:ext uri="{FF2B5EF4-FFF2-40B4-BE49-F238E27FC236}">
                <a16:creationId xmlns:a16="http://schemas.microsoft.com/office/drawing/2014/main" id="{CAF37EB3-D2CF-41EC-B660-737D73ED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28975"/>
            <a:ext cx="6619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Outrise 统一负责与背书</a:t>
            </a:r>
          </a:p>
        </p:txBody>
      </p:sp>
      <p:cxnSp>
        <p:nvCxnSpPr>
          <p:cNvPr id="11" name="line-277">
            <a:extLst xmlns:a="http://schemas.openxmlformats.org/drawingml/2006/main">
              <a:ext uri="{FF2B5EF4-FFF2-40B4-BE49-F238E27FC236}">
                <a16:creationId xmlns:a16="http://schemas.microsoft.com/office/drawing/2014/main" id="{9A479207-513E-4AED-8E74-68CD736851D6}"/>
              </a:ext>
            </a:extLst>
          </p:cNvPr>
          <p:cNvCxnSpPr/>
          <p:nvPr/>
        </p:nvCxnSpPr>
        <p:spPr>
          <a:xfrm xmlns:a="http://schemas.openxmlformats.org/drawingml/2006/main">
            <a:off x="8924925" y="3943350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cxnSp>
        <p:nvCxnSpPr>
          <p:cNvPr id="12" name="line-278">
            <a:extLst xmlns:a="http://schemas.openxmlformats.org/drawingml/2006/main">
              <a:ext uri="{FF2B5EF4-FFF2-40B4-BE49-F238E27FC236}">
                <a16:creationId xmlns:a16="http://schemas.microsoft.com/office/drawing/2014/main" id="{ED045B45-41B8-43BA-8B40-31210E06C027}"/>
              </a:ext>
            </a:extLst>
          </p:cNvPr>
          <p:cNvCxnSpPr/>
          <p:nvPr/>
        </p:nvCxnSpPr>
        <p:spPr>
          <a:xfrm xmlns:a="http://schemas.openxmlformats.org/drawingml/2006/main">
            <a:off x="2476500" y="4552950"/>
            <a:ext cx="104298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cxnSp>
        <p:nvCxnSpPr>
          <p:cNvPr id="13" name="line-279">
            <a:extLst xmlns:a="http://schemas.openxmlformats.org/drawingml/2006/main">
              <a:ext uri="{FF2B5EF4-FFF2-40B4-BE49-F238E27FC236}">
                <a16:creationId xmlns:a16="http://schemas.microsoft.com/office/drawing/2014/main" id="{54FB536A-8C70-450A-A0B8-3C471719D8F3}"/>
              </a:ext>
            </a:extLst>
          </p:cNvPr>
          <p:cNvCxnSpPr/>
          <p:nvPr/>
        </p:nvCxnSpPr>
        <p:spPr>
          <a:xfrm xmlns:a="http://schemas.openxmlformats.org/drawingml/2006/main">
            <a:off x="2476500" y="45529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14" name="copy-280">
            <a:extLst xmlns:a="http://schemas.openxmlformats.org/drawingml/2006/main">
              <a:ext uri="{FF2B5EF4-FFF2-40B4-BE49-F238E27FC236}">
                <a16:creationId xmlns:a16="http://schemas.microsoft.com/office/drawing/2014/main" id="{6E5D3D56-90F0-436B-B902-3CFDB76A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3114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策略与决策</a:t>
            </a:r>
          </a:p>
        </p:txBody>
      </p:sp>
      <p:sp>
        <p:nvSpPr>
          <p:cNvPr id="15" name="copy-281">
            <a:extLst xmlns:a="http://schemas.openxmlformats.org/drawingml/2006/main">
              <a:ext uri="{FF2B5EF4-FFF2-40B4-BE49-F238E27FC236}">
                <a16:creationId xmlns:a16="http://schemas.microsoft.com/office/drawing/2014/main" id="{D7939A20-C53C-4770-88E2-0A568F1F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31146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理解业务，提出判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断，制定方向与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阶段规划。</a:t>
            </a:r>
          </a:p>
        </p:txBody>
      </p:sp>
      <p:cxnSp>
        <p:nvCxnSpPr>
          <p:cNvPr id="16" name="line-282">
            <a:extLst xmlns:a="http://schemas.openxmlformats.org/drawingml/2006/main">
              <a:ext uri="{FF2B5EF4-FFF2-40B4-BE49-F238E27FC236}">
                <a16:creationId xmlns:a16="http://schemas.microsoft.com/office/drawing/2014/main" id="{9CE340EB-1A54-4A47-A1F1-CE0D2964C513}"/>
              </a:ext>
            </a:extLst>
          </p:cNvPr>
          <p:cNvCxnSpPr/>
          <p:nvPr/>
        </p:nvCxnSpPr>
        <p:spPr>
          <a:xfrm xmlns:a="http://schemas.openxmlformats.org/drawingml/2006/main">
            <a:off x="5953125" y="45529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17" name="copy-283">
            <a:extLst xmlns:a="http://schemas.openxmlformats.org/drawingml/2006/main">
              <a:ext uri="{FF2B5EF4-FFF2-40B4-BE49-F238E27FC236}">
                <a16:creationId xmlns:a16="http://schemas.microsoft.com/office/drawing/2014/main" id="{6BA7FBBE-2798-485E-929F-B990B2F8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3114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项目统筹</a:t>
            </a:r>
          </a:p>
        </p:txBody>
      </p:sp>
      <p:sp>
        <p:nvSpPr>
          <p:cNvPr id="18" name="copy-284">
            <a:extLst xmlns:a="http://schemas.openxmlformats.org/drawingml/2006/main">
              <a:ext uri="{FF2B5EF4-FFF2-40B4-BE49-F238E27FC236}">
                <a16:creationId xmlns:a16="http://schemas.microsoft.com/office/drawing/2014/main" id="{6FBC0195-AFD6-447F-B7C5-0A4C53E0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905500"/>
            <a:ext cx="31146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协调任务、进度与沟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通，跟进交付并处理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协作问题。</a:t>
            </a:r>
          </a:p>
        </p:txBody>
      </p:sp>
      <p:cxnSp>
        <p:nvCxnSpPr>
          <p:cNvPr id="19" name="line-285">
            <a:extLst xmlns:a="http://schemas.openxmlformats.org/drawingml/2006/main">
              <a:ext uri="{FF2B5EF4-FFF2-40B4-BE49-F238E27FC236}">
                <a16:creationId xmlns:a16="http://schemas.microsoft.com/office/drawing/2014/main" id="{D77DFEEE-FDD1-4771-9699-FE0E6D394E7C}"/>
              </a:ext>
            </a:extLst>
          </p:cNvPr>
          <p:cNvCxnSpPr/>
          <p:nvPr/>
        </p:nvCxnSpPr>
        <p:spPr>
          <a:xfrm xmlns:a="http://schemas.openxmlformats.org/drawingml/2006/main">
            <a:off x="9429750" y="45529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20" name="copy-286">
            <a:extLst xmlns:a="http://schemas.openxmlformats.org/drawingml/2006/main">
              <a:ext uri="{FF2B5EF4-FFF2-40B4-BE49-F238E27FC236}">
                <a16:creationId xmlns:a16="http://schemas.microsoft.com/office/drawing/2014/main" id="{39845EFD-0BFC-4529-B9DA-EEA6FEA1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3114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直接执行</a:t>
            </a:r>
          </a:p>
        </p:txBody>
      </p:sp>
      <p:sp>
        <p:nvSpPr>
          <p:cNvPr id="21" name="copy-287">
            <a:extLst xmlns:a="http://schemas.openxmlformats.org/drawingml/2006/main">
              <a:ext uri="{FF2B5EF4-FFF2-40B4-BE49-F238E27FC236}">
                <a16:creationId xmlns:a16="http://schemas.microsoft.com/office/drawing/2014/main" id="{95FED400-29A8-4E89-ADC8-5E0B0E7A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05500"/>
            <a:ext cx="31146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承担约定的内容、达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人、广告与投放等关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键工作。</a:t>
            </a:r>
          </a:p>
        </p:txBody>
      </p:sp>
      <p:cxnSp>
        <p:nvCxnSpPr>
          <p:cNvPr id="22" name="line-288">
            <a:extLst xmlns:a="http://schemas.openxmlformats.org/drawingml/2006/main">
              <a:ext uri="{FF2B5EF4-FFF2-40B4-BE49-F238E27FC236}">
                <a16:creationId xmlns:a16="http://schemas.microsoft.com/office/drawing/2014/main" id="{CFCD1527-D803-4749-899B-66989A2747FD}"/>
              </a:ext>
            </a:extLst>
          </p:cNvPr>
          <p:cNvCxnSpPr/>
          <p:nvPr/>
        </p:nvCxnSpPr>
        <p:spPr>
          <a:xfrm xmlns:a="http://schemas.openxmlformats.org/drawingml/2006/main">
            <a:off x="12906375" y="45529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91A18"/>
            </a:solidFill>
            <a:prstDash val="solid"/>
          </a:ln>
        </p:spPr>
      </p:cxnSp>
      <p:sp>
        <p:nvSpPr>
          <p:cNvPr id="23" name="copy-289">
            <a:extLst xmlns:a="http://schemas.openxmlformats.org/drawingml/2006/main">
              <a:ext uri="{FF2B5EF4-FFF2-40B4-BE49-F238E27FC236}">
                <a16:creationId xmlns:a16="http://schemas.microsoft.com/office/drawing/2014/main" id="{822ABE81-B62F-41D0-AB9B-AB9DEBF0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219700"/>
            <a:ext cx="3114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专业协作</a:t>
            </a:r>
          </a:p>
        </p:txBody>
      </p:sp>
      <p:sp>
        <p:nvSpPr>
          <p:cNvPr id="24" name="copy-290">
            <a:extLst xmlns:a="http://schemas.openxmlformats.org/drawingml/2006/main">
              <a:ext uri="{FF2B5EF4-FFF2-40B4-BE49-F238E27FC236}">
                <a16:creationId xmlns:a16="http://schemas.microsoft.com/office/drawing/2014/main" id="{F1C1F10B-7772-4DC1-8C6B-EA57CD8A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905500"/>
            <a:ext cx="31146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组织专项伙伴，明确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要求与分工，衔接整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体交付。</a:t>
            </a:r>
          </a:p>
        </p:txBody>
      </p:sp>
    </p:spTree>
    <p:extLst>
      <p:ext uri="{BB962C8B-B14F-4D97-AF65-F5344CB8AC3E}">
        <p14:creationId xmlns:p14="http://schemas.microsoft.com/office/powerpoint/2010/main" val="19019807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py-291">
            <a:extLst xmlns:a="http://schemas.openxmlformats.org/drawingml/2006/main">
              <a:ext uri="{FF2B5EF4-FFF2-40B4-BE49-F238E27FC236}">
                <a16:creationId xmlns:a16="http://schemas.microsoft.com/office/drawing/2014/main" id="{DC573234-2A69-443C-A606-17244E60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如何与我们合作</a:t>
            </a:r>
          </a:p>
        </p:txBody>
      </p:sp>
      <p:sp>
        <p:nvSpPr>
          <p:cNvPr id="2" name="title-292">
            <a:extLst xmlns:a="http://schemas.openxmlformats.org/drawingml/2006/main">
              <a:ext uri="{FF2B5EF4-FFF2-40B4-BE49-F238E27FC236}">
                <a16:creationId xmlns:a16="http://schemas.microsoft.com/office/drawing/2014/main" id="{16FDEA6F-4A0B-47E3-B2E7-FC4AE30D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按业务阶段，选择合适的合作深度</a:t>
            </a:r>
          </a:p>
        </p:txBody>
      </p:sp>
      <p:sp>
        <p:nvSpPr>
          <p:cNvPr id="3" name="copy-293">
            <a:extLst xmlns:a="http://schemas.openxmlformats.org/drawingml/2006/main">
              <a:ext uri="{FF2B5EF4-FFF2-40B4-BE49-F238E27FC236}">
                <a16:creationId xmlns:a16="http://schemas.microsoft.com/office/drawing/2014/main" id="{A0B65E47-B223-414A-9187-D50CF1E3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以策略咨询为核心，结合目标约定工作范围与执行支持。</a:t>
            </a:r>
          </a:p>
        </p:txBody>
      </p:sp>
      <p:cxnSp>
        <p:nvCxnSpPr>
          <p:cNvPr id="4" name="line-294">
            <a:extLst xmlns:a="http://schemas.openxmlformats.org/drawingml/2006/main">
              <a:ext uri="{FF2B5EF4-FFF2-40B4-BE49-F238E27FC236}">
                <a16:creationId xmlns:a16="http://schemas.microsoft.com/office/drawing/2014/main" id="{D5206768-74C8-4508-96C0-4FE983AB81E0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295">
            <a:extLst xmlns:a="http://schemas.openxmlformats.org/drawingml/2006/main">
              <a:ext uri="{FF2B5EF4-FFF2-40B4-BE49-F238E27FC236}">
                <a16:creationId xmlns:a16="http://schemas.microsoft.com/office/drawing/2014/main" id="{AFC943B1-C43B-4CEC-8853-B091AC86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每次合作共同明确：目标、交付、分工与评估方式。</a:t>
            </a:r>
          </a:p>
        </p:txBody>
      </p:sp>
      <p:sp>
        <p:nvSpPr>
          <p:cNvPr id="6" name="copy-296">
            <a:extLst xmlns:a="http://schemas.openxmlformats.org/drawingml/2006/main">
              <a:ext uri="{FF2B5EF4-FFF2-40B4-BE49-F238E27FC236}">
                <a16:creationId xmlns:a16="http://schemas.microsoft.com/office/drawing/2014/main" id="{E2C35A3E-D823-458E-84E1-009D7C12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cxnSp>
        <p:nvCxnSpPr>
          <p:cNvPr id="7" name="line-297">
            <a:extLst xmlns:a="http://schemas.openxmlformats.org/drawingml/2006/main">
              <a:ext uri="{FF2B5EF4-FFF2-40B4-BE49-F238E27FC236}">
                <a16:creationId xmlns:a16="http://schemas.microsoft.com/office/drawing/2014/main" id="{101D9150-211D-45AF-9C47-71372209F8A0}"/>
              </a:ext>
            </a:extLst>
          </p:cNvPr>
          <p:cNvCxnSpPr/>
          <p:nvPr/>
        </p:nvCxnSpPr>
        <p:spPr>
          <a:xfrm xmlns:a="http://schemas.openxmlformats.org/drawingml/2006/main">
            <a:off x="857250" y="305752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1A18"/>
            </a:solidFill>
            <a:prstDash val="solid"/>
          </a:ln>
        </p:spPr>
      </p:cxnSp>
      <p:sp>
        <p:nvSpPr>
          <p:cNvPr id="8" name="copy-298">
            <a:extLst xmlns:a="http://schemas.openxmlformats.org/drawingml/2006/main">
              <a:ext uri="{FF2B5EF4-FFF2-40B4-BE49-F238E27FC236}">
                <a16:creationId xmlns:a16="http://schemas.microsoft.com/office/drawing/2014/main" id="{527E590C-0CC7-4481-90AA-D2F505DC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4000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策略咨询</a:t>
            </a:r>
          </a:p>
        </p:txBody>
      </p:sp>
      <p:sp>
        <p:nvSpPr>
          <p:cNvPr id="9" name="copy-299">
            <a:extLst xmlns:a="http://schemas.openxmlformats.org/drawingml/2006/main">
              <a:ext uri="{FF2B5EF4-FFF2-40B4-BE49-F238E27FC236}">
                <a16:creationId xmlns:a16="http://schemas.microsoft.com/office/drawing/2014/main" id="{AB9344D7-3775-45E1-B3FB-547659B8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厘清问题，确定方向</a:t>
            </a:r>
          </a:p>
        </p:txBody>
      </p:sp>
      <p:sp>
        <p:nvSpPr>
          <p:cNvPr id="10" name="copy-300">
            <a:extLst xmlns:a="http://schemas.openxmlformats.org/drawingml/2006/main">
              <a:ext uri="{FF2B5EF4-FFF2-40B4-BE49-F238E27FC236}">
                <a16:creationId xmlns:a16="http://schemas.microsoft.com/office/drawing/2014/main" id="{8D1CE4F0-D610-403C-9529-8275EB5E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适合需要理清市场、定位或</a:t>
            </a:r>
          </a:p>
          <a:p xmlns:a="http://schemas.openxmlformats.org/drawingml/2006/main">
            <a: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渠道选择的团队。围绕明确</a:t>
            </a:r>
          </a:p>
          <a:p xmlns:a="http://schemas.openxmlformats.org/drawingml/2006/main">
            <a: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问题形成判断、建议与</a:t>
            </a:r>
          </a:p>
          <a:p xmlns:a="http://schemas.openxmlformats.org/drawingml/2006/main">
            <a: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行动方向。</a:t>
            </a:r>
          </a:p>
        </p:txBody>
      </p:sp>
      <p:cxnSp>
        <p:nvCxnSpPr>
          <p:cNvPr id="11" name="line-301">
            <a:extLst xmlns:a="http://schemas.openxmlformats.org/drawingml/2006/main">
              <a:ext uri="{FF2B5EF4-FFF2-40B4-BE49-F238E27FC236}">
                <a16:creationId xmlns:a16="http://schemas.microsoft.com/office/drawing/2014/main" id="{742635F4-6BE5-4B4A-9B4F-2C23E7BEFBE0}"/>
              </a:ext>
            </a:extLst>
          </p:cNvPr>
          <p:cNvCxnSpPr/>
          <p:nvPr/>
        </p:nvCxnSpPr>
        <p:spPr>
          <a:xfrm xmlns:a="http://schemas.openxmlformats.org/drawingml/2006/main">
            <a:off x="5619750" y="305752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1A18"/>
            </a:solidFill>
            <a:prstDash val="solid"/>
          </a:ln>
        </p:spPr>
      </p:cxnSp>
      <p:sp>
        <p:nvSpPr>
          <p:cNvPr id="12" name="copy-302">
            <a:extLst xmlns:a="http://schemas.openxmlformats.org/drawingml/2006/main">
              <a:ext uri="{FF2B5EF4-FFF2-40B4-BE49-F238E27FC236}">
                <a16:creationId xmlns:a16="http://schemas.microsoft.com/office/drawing/2014/main" id="{85DE0A39-1216-40D6-8B17-4E58B07F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71850"/>
            <a:ext cx="4000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阶段性 GTM /</a:t>
            </a:r>
          </a:p>
          <a:p xmlns:a="http://schemas.openxmlformats.org/drawingml/2006/main">
            <a: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品牌项目</a:t>
            </a:r>
          </a:p>
        </p:txBody>
      </p:sp>
      <p:sp>
        <p:nvSpPr>
          <p:cNvPr id="13" name="copy-303">
            <a:extLst xmlns:a="http://schemas.openxmlformats.org/drawingml/2006/main">
              <a:ext uri="{FF2B5EF4-FFF2-40B4-BE49-F238E27FC236}">
                <a16:creationId xmlns:a16="http://schemas.microsoft.com/office/drawing/2014/main" id="{5C576C76-7AB3-4824-A585-D7DAA40F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434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围绕目标，推进一段工作</a:t>
            </a:r>
          </a:p>
        </p:txBody>
      </p:sp>
      <p:sp>
        <p:nvSpPr>
          <p:cNvPr id="14" name="copy-304">
            <a:extLst xmlns:a="http://schemas.openxmlformats.org/drawingml/2006/main">
              <a:ext uri="{FF2B5EF4-FFF2-40B4-BE49-F238E27FC236}">
                <a16:creationId xmlns:a16="http://schemas.microsoft.com/office/drawing/2014/main" id="{A28240E5-E525-4FB7-8F92-2B1F7DB5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67350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适合有明确阶段目标的品牌</a:t>
            </a:r>
          </a:p>
          <a:p xmlns:a="http://schemas.openxmlformats.org/drawingml/2006/main">
            <a: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与产品。共同制定方案，完</a:t>
            </a:r>
          </a:p>
          <a:p xmlns:a="http://schemas.openxmlformats.org/drawingml/2006/main">
            <a: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成规划与选定的关键执行。</a:t>
            </a:r>
          </a:p>
        </p:txBody>
      </p:sp>
      <p:cxnSp>
        <p:nvCxnSpPr>
          <p:cNvPr id="15" name="line-305">
            <a:extLst xmlns:a="http://schemas.openxmlformats.org/drawingml/2006/main">
              <a:ext uri="{FF2B5EF4-FFF2-40B4-BE49-F238E27FC236}">
                <a16:creationId xmlns:a16="http://schemas.microsoft.com/office/drawing/2014/main" id="{4490FB0B-04D9-4D47-A2F2-7D720D03D2D0}"/>
              </a:ext>
            </a:extLst>
          </p:cNvPr>
          <p:cNvCxnSpPr/>
          <p:nvPr/>
        </p:nvCxnSpPr>
        <p:spPr>
          <a:xfrm xmlns:a="http://schemas.openxmlformats.org/drawingml/2006/main">
            <a:off x="10382250" y="3057525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91A18"/>
            </a:solidFill>
            <a:prstDash val="solid"/>
          </a:ln>
        </p:spPr>
      </p:cxnSp>
      <p:sp>
        <p:nvSpPr>
          <p:cNvPr id="16" name="copy-306">
            <a:extLst xmlns:a="http://schemas.openxmlformats.org/drawingml/2006/main">
              <a:ext uri="{FF2B5EF4-FFF2-40B4-BE49-F238E27FC236}">
                <a16:creationId xmlns:a16="http://schemas.microsoft.com/office/drawing/2014/main" id="{CF1302B2-BCFF-44B0-941E-6CBC4D2F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71850"/>
            <a:ext cx="4000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持续营销统筹与</a:t>
            </a:r>
          </a:p>
          <a:p xmlns:a="http://schemas.openxmlformats.org/drawingml/2006/main">
            <a:pPr algn="l">
              <a:def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团队支持</a:t>
            </a:r>
          </a:p>
        </p:txBody>
      </p:sp>
      <p:sp>
        <p:nvSpPr>
          <p:cNvPr id="17" name="copy-307">
            <a:extLst xmlns:a="http://schemas.openxmlformats.org/drawingml/2006/main">
              <a:ext uri="{FF2B5EF4-FFF2-40B4-BE49-F238E27FC236}">
                <a16:creationId xmlns:a16="http://schemas.microsoft.com/office/drawing/2014/main" id="{B6B57E22-9490-4157-BDD3-3A4D6C6C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434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持续参与，动态调整</a:t>
            </a:r>
          </a:p>
        </p:txBody>
      </p:sp>
      <p:sp>
        <p:nvSpPr>
          <p:cNvPr id="18" name="copy-308">
            <a:extLst xmlns:a="http://schemas.openxmlformats.org/drawingml/2006/main">
              <a:ext uri="{FF2B5EF4-FFF2-40B4-BE49-F238E27FC236}">
                <a16:creationId xmlns:a16="http://schemas.microsoft.com/office/drawing/2014/main" id="{49B9C41B-2DA3-4816-92E4-0B656396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67350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适合需要持续营销判断与推</a:t>
            </a:r>
          </a:p>
          <a:p xmlns:a="http://schemas.openxmlformats.org/drawingml/2006/main">
            <a: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进的团队。在持续合作中，</a:t>
            </a:r>
          </a:p>
          <a:p xmlns:a="http://schemas.openxmlformats.org/drawingml/2006/main">
            <a: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我们承担类似外部 CMO 的</a:t>
            </a:r>
          </a:p>
          <a:p xmlns:a="http://schemas.openxmlformats.org/drawingml/2006/main">
            <a: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营销统筹职责，并按约定推</a:t>
            </a:r>
          </a:p>
          <a:p xmlns:a="http://schemas.openxmlformats.org/drawingml/2006/main">
            <a:pPr algn="l">
              <a:def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进关键工作。</a:t>
            </a:r>
          </a:p>
        </p:txBody>
      </p:sp>
    </p:spTree>
    <p:extLst>
      <p:ext uri="{BB962C8B-B14F-4D97-AF65-F5344CB8AC3E}">
        <p14:creationId xmlns:p14="http://schemas.microsoft.com/office/powerpoint/2010/main" val="4184860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EED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2424C-D48D-46AB-8A91-8EBBE780BEF6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05925" y="4200525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EFCAD-F990-4A00-B3A7-569D18549B7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4200525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91A18"/>
            </a:solidFill>
            <a:prstDash val="solid"/>
            <a:tailEnd type="triangle" w="sm" len="sm"/>
          </a:ln>
        </p:spPr>
      </p:cxnSp>
      <p:sp>
        <p:nvSpPr>
          <p:cNvPr id="22" name="copy-309">
            <a:extLst xmlns:a="http://schemas.openxmlformats.org/drawingml/2006/main">
              <a:ext uri="{FF2B5EF4-FFF2-40B4-BE49-F238E27FC236}">
                <a16:creationId xmlns:a16="http://schemas.microsoft.com/office/drawing/2014/main" id="{7AB99EAB-A085-4CDE-B8B7-9DF60631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项目经验</a:t>
            </a:r>
          </a:p>
        </p:txBody>
      </p:sp>
      <p:sp>
        <p:nvSpPr>
          <p:cNvPr id="2" name="title-310">
            <a:extLst xmlns:a="http://schemas.openxmlformats.org/drawingml/2006/main">
              <a:ext uri="{FF2B5EF4-FFF2-40B4-BE49-F238E27FC236}">
                <a16:creationId xmlns:a16="http://schemas.microsoft.com/office/drawing/2014/main" id="{C21AB6FA-12E9-4128-B69A-BE83AD36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1356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箱包品牌的北美多渠道实践</a:t>
            </a:r>
          </a:p>
        </p:txBody>
      </p:sp>
      <p:sp>
        <p:nvSpPr>
          <p:cNvPr id="3" name="copy-311">
            <a:extLst xmlns:a="http://schemas.openxmlformats.org/drawingml/2006/main">
              <a:ext uri="{FF2B5EF4-FFF2-40B4-BE49-F238E27FC236}">
                <a16:creationId xmlns:a16="http://schemas.microsoft.com/office/drawing/2014/main" id="{7615770D-19AE-4C7F-AB9B-CCB34B3C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1333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围绕品牌、内容与渠道，连接营销规划和执行工作。</a:t>
            </a:r>
          </a:p>
        </p:txBody>
      </p:sp>
      <p:cxnSp>
        <p:nvCxnSpPr>
          <p:cNvPr id="4" name="line-312">
            <a:extLst xmlns:a="http://schemas.openxmlformats.org/drawingml/2006/main">
              <a:ext uri="{FF2B5EF4-FFF2-40B4-BE49-F238E27FC236}">
                <a16:creationId xmlns:a16="http://schemas.microsoft.com/office/drawing/2014/main" id="{4EC4BE40-ECF7-4C54-91F2-A3520EB7C943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BAB1"/>
            </a:solidFill>
            <a:prstDash val="solid"/>
          </a:ln>
        </p:spPr>
      </p:cxnSp>
      <p:sp>
        <p:nvSpPr>
          <p:cNvPr id="5" name="copy-313">
            <a:extLst xmlns:a="http://schemas.openxmlformats.org/drawingml/2006/main">
              <a:ext uri="{FF2B5EF4-FFF2-40B4-BE49-F238E27FC236}">
                <a16:creationId xmlns:a16="http://schemas.microsoft.com/office/drawing/2014/main" id="{B8EF9A3A-FA4C-4CB4-A3D7-6C6C4D33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匿名项目经验｜展示项目工作范围与协同方式。</a:t>
            </a:r>
          </a:p>
        </p:txBody>
      </p:sp>
      <p:sp>
        <p:nvSpPr>
          <p:cNvPr id="6" name="copy-314">
            <a:extLst xmlns:a="http://schemas.openxmlformats.org/drawingml/2006/main">
              <a:ext uri="{FF2B5EF4-FFF2-40B4-BE49-F238E27FC236}">
                <a16:creationId xmlns:a16="http://schemas.microsoft.com/office/drawing/2014/main" id="{01152C8F-1BB7-4A15-AE31-0D61CEB3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7" name="copy-315">
            <a:extLst xmlns:a="http://schemas.openxmlformats.org/drawingml/2006/main">
              <a:ext uri="{FF2B5EF4-FFF2-40B4-BE49-F238E27FC236}">
                <a16:creationId xmlns:a16="http://schemas.microsoft.com/office/drawing/2014/main" id="{BAC98B40-3938-414D-B438-FE1CDD47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354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服务面向北美市场的消费箱包品牌，相关工作涉及品牌表达、内容、达人及多个线上渠道。</a:t>
            </a:r>
          </a:p>
        </p:txBody>
      </p:sp>
      <p:sp>
        <p:nvSpPr>
          <p:cNvPr id="8" name="rect-316">
            <a:extLst xmlns:a="http://schemas.openxmlformats.org/drawingml/2006/main">
              <a:ext uri="{FF2B5EF4-FFF2-40B4-BE49-F238E27FC236}">
                <a16:creationId xmlns:a16="http://schemas.microsoft.com/office/drawing/2014/main" id="{3239F6DD-72AA-4EE5-B70E-2BF6B899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A18"/>
            </a:solidFill>
            <a:prstDash val="solid"/>
          </a:ln>
        </p:spPr>
      </p:sp>
      <p:sp>
        <p:nvSpPr>
          <p:cNvPr id="9" name="rect-317">
            <a:extLst xmlns:a="http://schemas.openxmlformats.org/drawingml/2006/main">
              <a:ext uri="{FF2B5EF4-FFF2-40B4-BE49-F238E27FC236}">
                <a16:creationId xmlns:a16="http://schemas.microsoft.com/office/drawing/2014/main" id="{98A46F2A-E721-40A7-93C4-8FB004F1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719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-318">
            <a:extLst xmlns:a="http://schemas.openxmlformats.org/drawingml/2006/main">
              <a:ext uri="{FF2B5EF4-FFF2-40B4-BE49-F238E27FC236}">
                <a16:creationId xmlns:a16="http://schemas.microsoft.com/office/drawing/2014/main" id="{E84CBE3B-6B50-4313-BC8B-2F9E609F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771900"/>
            <a:ext cx="4076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91A18"/>
            </a:solidFill>
            <a:prstDash val="solid"/>
          </a:ln>
        </p:spPr>
      </p:sp>
      <p:sp>
        <p:nvSpPr>
          <p:cNvPr id="11" name="copy-319">
            <a:extLst xmlns:a="http://schemas.openxmlformats.org/drawingml/2006/main">
              <a:ext uri="{FF2B5EF4-FFF2-40B4-BE49-F238E27FC236}">
                <a16:creationId xmlns:a16="http://schemas.microsoft.com/office/drawing/2014/main" id="{4EC110EB-9521-4FAB-88AE-569CD9D7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98145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品牌与产品表达</a:t>
            </a:r>
          </a:p>
        </p:txBody>
      </p:sp>
      <p:sp>
        <p:nvSpPr>
          <p:cNvPr id="12" name="copy-320">
            <a:extLst xmlns:a="http://schemas.openxmlformats.org/drawingml/2006/main">
              <a:ext uri="{FF2B5EF4-FFF2-40B4-BE49-F238E27FC236}">
                <a16:creationId xmlns:a16="http://schemas.microsoft.com/office/drawing/2014/main" id="{8115C619-855E-4676-ACC4-2F3FDCA7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8145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内容与达人合作</a:t>
            </a:r>
          </a:p>
        </p:txBody>
      </p:sp>
      <p:sp>
        <p:nvSpPr>
          <p:cNvPr id="13" name="copy-321">
            <a:extLst xmlns:a="http://schemas.openxmlformats.org/drawingml/2006/main">
              <a:ext uri="{FF2B5EF4-FFF2-40B4-BE49-F238E27FC236}">
                <a16:creationId xmlns:a16="http://schemas.microsoft.com/office/drawing/2014/main" id="{FF9CA643-BD92-4B9C-940B-A1B70EBF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0290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Amazon / TikTok / 官网</a:t>
            </a:r>
          </a:p>
        </p:txBody>
      </p:sp>
      <p:sp>
        <p:nvSpPr>
          <p:cNvPr id="16" name="copy-322">
            <a:extLst xmlns:a="http://schemas.openxmlformats.org/drawingml/2006/main">
              <a:ext uri="{FF2B5EF4-FFF2-40B4-BE49-F238E27FC236}">
                <a16:creationId xmlns:a16="http://schemas.microsoft.com/office/drawing/2014/main" id="{2D118610-D1E9-4376-AE04-53B12252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规划与协同</a:t>
            </a:r>
          </a:p>
        </p:txBody>
      </p:sp>
      <p:sp>
        <p:nvSpPr>
          <p:cNvPr id="17" name="copy-323">
            <a:extLst xmlns:a="http://schemas.openxmlformats.org/drawingml/2006/main">
              <a:ext uri="{FF2B5EF4-FFF2-40B4-BE49-F238E27FC236}">
                <a16:creationId xmlns:a16="http://schemas.microsoft.com/office/drawing/2014/main" id="{D89C6056-5AE4-433F-A031-3570D11D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86425"/>
            <a:ext cx="4000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围绕品牌与产品信息组织营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销工作，协调内容、达人与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渠道任务之间的衔接。</a:t>
            </a:r>
          </a:p>
        </p:txBody>
      </p:sp>
      <p:sp>
        <p:nvSpPr>
          <p:cNvPr id="18" name="copy-324">
            <a:extLst xmlns:a="http://schemas.openxmlformats.org/drawingml/2006/main">
              <a:ext uri="{FF2B5EF4-FFF2-40B4-BE49-F238E27FC236}">
                <a16:creationId xmlns:a16="http://schemas.microsoft.com/office/drawing/2014/main" id="{53DBF163-03D1-4A63-B9DF-0EC4E719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482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关键工作范围</a:t>
            </a:r>
          </a:p>
        </p:txBody>
      </p:sp>
      <p:sp>
        <p:nvSpPr>
          <p:cNvPr id="19" name="copy-325">
            <a:extLst xmlns:a="http://schemas.openxmlformats.org/drawingml/2006/main">
              <a:ext uri="{FF2B5EF4-FFF2-40B4-BE49-F238E27FC236}">
                <a16:creationId xmlns:a16="http://schemas.microsoft.com/office/drawing/2014/main" id="{97B9B577-43C4-4321-977B-EC5D1623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86425"/>
            <a:ext cx="4000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产品与店铺优化、达人筛选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与建联、Amazon 广告调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整，以及 TikTok、Amazon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和品牌官网的渠道规划。</a:t>
            </a:r>
          </a:p>
        </p:txBody>
      </p:sp>
      <p:sp>
        <p:nvSpPr>
          <p:cNvPr id="20" name="copy-326">
            <a:extLst xmlns:a="http://schemas.openxmlformats.org/drawingml/2006/main">
              <a:ext uri="{FF2B5EF4-FFF2-40B4-BE49-F238E27FC236}">
                <a16:creationId xmlns:a16="http://schemas.microsoft.com/office/drawing/2014/main" id="{C122BE25-E7CC-4EAD-B42C-10B5FF01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0482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91A18"/>
                </a:solidFill>
                <a:latin typeface="Microsoft YaHei"/>
                <a:ea typeface="Microsoft YaHei"/>
                <a:cs typeface="Microsoft YaHei"/>
              </a:rPr>
              <a:t>持续复盘视角</a:t>
            </a:r>
          </a:p>
        </p:txBody>
      </p:sp>
      <p:sp>
        <p:nvSpPr>
          <p:cNvPr id="21" name="copy-327">
            <a:extLst xmlns:a="http://schemas.openxmlformats.org/drawingml/2006/main">
              <a:ext uri="{FF2B5EF4-FFF2-40B4-BE49-F238E27FC236}">
                <a16:creationId xmlns:a16="http://schemas.microsoft.com/office/drawing/2014/main" id="{1278E37B-D70B-459A-9FBB-D5923948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686425"/>
            <a:ext cx="4000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把渠道表现、内容反馈和协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作情况放在一起看，为后续</a:t>
            </a:r>
          </a:p>
          <a:p xmlns:a="http://schemas.openxmlformats.org/drawingml/2006/main">
            <a:pPr algn="l">
              <a:def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760"/>
                </a:solidFill>
                <a:latin typeface="Microsoft YaHei"/>
                <a:ea typeface="Microsoft YaHei"/>
                <a:cs typeface="Microsoft YaHei"/>
              </a:rPr>
              <a:t>营销选择提供依据。</a:t>
            </a:r>
          </a:p>
        </p:txBody>
      </p:sp>
    </p:spTree>
    <p:extLst>
      <p:ext uri="{BB962C8B-B14F-4D97-AF65-F5344CB8AC3E}">
        <p14:creationId xmlns:p14="http://schemas.microsoft.com/office/powerpoint/2010/main" val="7571483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91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line-328">
            <a:extLst xmlns:a="http://schemas.openxmlformats.org/drawingml/2006/main">
              <a:ext uri="{FF2B5EF4-FFF2-40B4-BE49-F238E27FC236}">
                <a16:creationId xmlns:a16="http://schemas.microsoft.com/office/drawing/2014/main" id="{640C5DAB-CAC6-4714-9A00-F3B2F3B5F165}"/>
              </a:ext>
            </a:extLst>
          </p:cNvPr>
          <p:cNvCxnSpPr/>
          <p:nvPr/>
        </p:nvCxnSpPr>
        <p:spPr>
          <a:xfrm xmlns:a="http://schemas.openxmlformats.org/drawingml/2006/main">
            <a:off x="838200" y="7800975"/>
            <a:ext cx="1356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D4F47"/>
            </a:solidFill>
            <a:prstDash val="solid"/>
          </a:ln>
        </p:spPr>
      </p:cxnSp>
      <p:sp>
        <p:nvSpPr>
          <p:cNvPr id="2" name="copy-329">
            <a:extLst xmlns:a="http://schemas.openxmlformats.org/drawingml/2006/main">
              <a:ext uri="{FF2B5EF4-FFF2-40B4-BE49-F238E27FC236}">
                <a16:creationId xmlns:a16="http://schemas.microsoft.com/office/drawing/2014/main" id="{EFC5856B-941E-4BCD-8056-95D103A8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1200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专注北美市场的 AI-native 营销与增长团队</a:t>
            </a:r>
          </a:p>
        </p:txBody>
      </p:sp>
      <p:sp>
        <p:nvSpPr>
          <p:cNvPr id="3" name="copy-330">
            <a:extLst xmlns:a="http://schemas.openxmlformats.org/drawingml/2006/main">
              <a:ext uri="{FF2B5EF4-FFF2-40B4-BE49-F238E27FC236}">
                <a16:creationId xmlns:a16="http://schemas.microsoft.com/office/drawing/2014/main" id="{AC28381A-7313-472E-A73F-7551C96A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972425"/>
            <a:ext cx="742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copy-331">
            <a:extLst xmlns:a="http://schemas.openxmlformats.org/drawingml/2006/main">
              <a:ext uri="{FF2B5EF4-FFF2-40B4-BE49-F238E27FC236}">
                <a16:creationId xmlns:a16="http://schemas.microsoft.com/office/drawing/2014/main" id="{539DDB0B-B48B-45F5-9FA4-B02A6163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OUTRISE</a:t>
            </a:r>
          </a:p>
        </p:txBody>
      </p:sp>
      <p:sp>
        <p:nvSpPr>
          <p:cNvPr id="5" name="copy-332">
            <a:extLst xmlns:a="http://schemas.openxmlformats.org/drawingml/2006/main">
              <a:ext uri="{FF2B5EF4-FFF2-40B4-BE49-F238E27FC236}">
                <a16:creationId xmlns:a16="http://schemas.microsoft.com/office/drawing/2014/main" id="{027CC8FD-52C1-4F55-BE96-1DA968FB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8382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从你的北美</a:t>
            </a:r>
          </a:p>
          <a:p xmlns:a="http://schemas.openxmlformats.org/drawingml/2006/main">
            <a:pPr algn="l">
              <a:def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市场目标开始</a:t>
            </a:r>
          </a:p>
        </p:txBody>
      </p:sp>
      <p:sp>
        <p:nvSpPr>
          <p:cNvPr id="6" name="copy-333">
            <a:extLst xmlns:a="http://schemas.openxmlformats.org/drawingml/2006/main">
              <a:ext uri="{FF2B5EF4-FFF2-40B4-BE49-F238E27FC236}">
                <a16:creationId xmlns:a16="http://schemas.microsoft.com/office/drawing/2014/main" id="{C5F52D38-04F2-4626-9890-BD672A41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72104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告诉我们你的产品、目标与当前营销难题，一</a:t>
            </a:r>
          </a:p>
          <a:p xmlns:a="http://schemas.openxmlformats.org/drawingml/2006/main">
            <a:pPr algn="l">
              <a:def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起确定合适的合作切入点。</a:t>
            </a:r>
          </a:p>
        </p:txBody>
      </p:sp>
      <p:sp>
        <p:nvSpPr>
          <p:cNvPr id="7" name="copy-334">
            <a:extLst xmlns:a="http://schemas.openxmlformats.org/drawingml/2006/main">
              <a:ext uri="{FF2B5EF4-FFF2-40B4-BE49-F238E27FC236}">
                <a16:creationId xmlns:a16="http://schemas.microsoft.com/office/drawing/2014/main" id="{8AB69BBB-646F-4584-97E8-CA61CAEB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5532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hello@outrisetech.com</a:t>
            </a:r>
          </a:p>
        </p:txBody>
      </p:sp>
      <p:sp>
        <p:nvSpPr>
          <p:cNvPr id="8" name="copy-335">
            <a:extLst xmlns:a="http://schemas.openxmlformats.org/drawingml/2006/main">
              <a:ext uri="{FF2B5EF4-FFF2-40B4-BE49-F238E27FC236}">
                <a16:creationId xmlns:a16="http://schemas.microsoft.com/office/drawing/2014/main" id="{3DB59696-A952-4374-93D0-D558981E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954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copy-336">
            <a:extLst xmlns:a="http://schemas.openxmlformats.org/drawingml/2006/main">
              <a:ext uri="{FF2B5EF4-FFF2-40B4-BE49-F238E27FC236}">
                <a16:creationId xmlns:a16="http://schemas.microsoft.com/office/drawing/2014/main" id="{C5A992DD-3F55-4868-9A08-129CF318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895475"/>
            <a:ext cx="354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你的产品与业务</a:t>
            </a:r>
          </a:p>
        </p:txBody>
      </p:sp>
      <p:sp>
        <p:nvSpPr>
          <p:cNvPr id="10" name="copy-337">
            <a:extLst xmlns:a="http://schemas.openxmlformats.org/drawingml/2006/main">
              <a:ext uri="{FF2B5EF4-FFF2-40B4-BE49-F238E27FC236}">
                <a16:creationId xmlns:a16="http://schemas.microsoft.com/office/drawing/2014/main" id="{9226F907-0C76-4E9E-98E6-53DE8BB1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552700"/>
            <a:ext cx="354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你为谁提供什么价值？</a:t>
            </a:r>
          </a:p>
        </p:txBody>
      </p:sp>
      <p:sp>
        <p:nvSpPr>
          <p:cNvPr id="11" name="copy-338">
            <a:extLst xmlns:a="http://schemas.openxmlformats.org/drawingml/2006/main">
              <a:ext uri="{FF2B5EF4-FFF2-40B4-BE49-F238E27FC236}">
                <a16:creationId xmlns:a16="http://schemas.microsoft.com/office/drawing/2014/main" id="{C8602030-B10D-426A-B9A2-3A9CD38B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623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copy-339">
            <a:extLst xmlns:a="http://schemas.openxmlformats.org/drawingml/2006/main">
              <a:ext uri="{FF2B5EF4-FFF2-40B4-BE49-F238E27FC236}">
                <a16:creationId xmlns:a16="http://schemas.microsoft.com/office/drawing/2014/main" id="{27009BCB-B826-4B58-A480-5029B357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562350"/>
            <a:ext cx="354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你的北美市场目标</a:t>
            </a:r>
          </a:p>
        </p:txBody>
      </p:sp>
      <p:sp>
        <p:nvSpPr>
          <p:cNvPr id="13" name="copy-340">
            <a:extLst xmlns:a="http://schemas.openxmlformats.org/drawingml/2006/main">
              <a:ext uri="{FF2B5EF4-FFF2-40B4-BE49-F238E27FC236}">
                <a16:creationId xmlns:a16="http://schemas.microsoft.com/office/drawing/2014/main" id="{A263C523-A001-4AB4-B939-7023BAB3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19575"/>
            <a:ext cx="354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当前最希望推进什么？</a:t>
            </a:r>
          </a:p>
        </p:txBody>
      </p:sp>
      <p:sp>
        <p:nvSpPr>
          <p:cNvPr id="14" name="copy-341">
            <a:extLst xmlns:a="http://schemas.openxmlformats.org/drawingml/2006/main">
              <a:ext uri="{FF2B5EF4-FFF2-40B4-BE49-F238E27FC236}">
                <a16:creationId xmlns:a16="http://schemas.microsoft.com/office/drawing/2014/main" id="{9600F6D3-5F16-484F-A9CF-A7E17EF2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292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copy-342">
            <a:extLst xmlns:a="http://schemas.openxmlformats.org/drawingml/2006/main">
              <a:ext uri="{FF2B5EF4-FFF2-40B4-BE49-F238E27FC236}">
                <a16:creationId xmlns:a16="http://schemas.microsoft.com/office/drawing/2014/main" id="{BF1170D8-9DD7-475A-B865-F448009D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29225"/>
            <a:ext cx="354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EEDE5"/>
                </a:solidFill>
                <a:latin typeface="Microsoft YaHei"/>
                <a:ea typeface="Microsoft YaHei"/>
                <a:cs typeface="Microsoft YaHei"/>
              </a:rPr>
              <a:t>你的营销难题</a:t>
            </a:r>
          </a:p>
        </p:txBody>
      </p:sp>
      <p:sp>
        <p:nvSpPr>
          <p:cNvPr id="16" name="copy-343">
            <a:extLst xmlns:a="http://schemas.openxmlformats.org/drawingml/2006/main">
              <a:ext uri="{FF2B5EF4-FFF2-40B4-BE49-F238E27FC236}">
                <a16:creationId xmlns:a16="http://schemas.microsoft.com/office/drawing/2014/main" id="{8B37102F-8989-4FE9-B694-A7FDE139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886450"/>
            <a:ext cx="354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哪些判断或行动</a:t>
            </a:r>
          </a:p>
          <a:p xmlns:a="http://schemas.openxmlformats.org/drawingml/2006/main">
            <a:pPr algn="l">
              <a:def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7B9AD"/>
                </a:solidFill>
                <a:latin typeface="Microsoft YaHei"/>
                <a:ea typeface="Microsoft YaHei"/>
                <a:cs typeface="Microsoft YaHei"/>
              </a:rPr>
              <a:t>需要支持？</a:t>
            </a:r>
          </a:p>
        </p:txBody>
      </p:sp>
    </p:spTree>
    <p:extLst>
      <p:ext uri="{BB962C8B-B14F-4D97-AF65-F5344CB8AC3E}">
        <p14:creationId xmlns:p14="http://schemas.microsoft.com/office/powerpoint/2010/main" val="1664579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2026-10-25T00:51:19.4160000Z</dcterms:created>
  <dcterms:modified xsi:type="dcterms:W3CDTF">2026-10-25T00:51:19.4160000Z</dcterms:modified>
</coreProperties>
</file>